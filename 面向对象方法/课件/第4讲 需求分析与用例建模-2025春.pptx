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9" r:id="rId2"/>
    <p:sldId id="257" r:id="rId3"/>
    <p:sldId id="260" r:id="rId4"/>
    <p:sldId id="261" r:id="rId5"/>
    <p:sldId id="262" r:id="rId6"/>
    <p:sldId id="30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98" r:id="rId29"/>
    <p:sldId id="299" r:id="rId30"/>
    <p:sldId id="286" r:id="rId31"/>
    <p:sldId id="300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custDataLst>
    <p:tags r:id="rId46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C9EA"/>
    <a:srgbClr val="CCFF66"/>
    <a:srgbClr val="FFFFCC"/>
    <a:srgbClr val="F9DF9F"/>
    <a:srgbClr val="FFFF66"/>
    <a:srgbClr val="FF0000"/>
    <a:srgbClr val="CCECFF"/>
    <a:srgbClr val="0A0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5"/>
    <p:restoredTop sz="93689"/>
  </p:normalViewPr>
  <p:slideViewPr>
    <p:cSldViewPr snapToObjects="1" showGuides="1">
      <p:cViewPr varScale="1">
        <p:scale>
          <a:sx n="82" d="100"/>
          <a:sy n="82" d="100"/>
        </p:scale>
        <p:origin x="1315" y="77"/>
      </p:cViewPr>
      <p:guideLst>
        <p:guide orient="horz" pos="2160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7A15B48-C433-44AA-BA21-3999B4E3AF4D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980F442-E2E6-4E27-B56F-A44C56F5981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D94160-F9A2-4900-8723-0D85B05CEC05}" type="slidenum">
              <a:rPr kumimoji="0" lang="zh-CN" altLang="en-US" sz="12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</a:t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1314299689"/>
              </a:cxn>
              <a:cxn ang="0">
                <a:pos x="0" y="1314299689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DFC35B-3A1F-47DA-AE4F-97721E0120E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2025/3/18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高级语言C++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A3B7B2B-74F4-46FA-AE97-DAD1268F521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773238"/>
            <a:ext cx="4208463" cy="4751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1773238"/>
            <a:ext cx="4208462" cy="4751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38" y="304800"/>
            <a:ext cx="2141537" cy="621982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304800"/>
            <a:ext cx="6275388" cy="621982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323850" y="1773238"/>
            <a:ext cx="8569325" cy="47513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1314263702"/>
              </a:cxn>
              <a:cxn ang="0">
                <a:pos x="0" y="1314263702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/>
          <p:nvPr/>
        </p:nvSpPr>
        <p:spPr>
          <a:xfrm>
            <a:off x="900430" y="2565400"/>
            <a:ext cx="7493635" cy="35985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了解可行性研究与风险分析的方法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掌握可行性分析报告的书写格式</a:t>
            </a:r>
            <a:r>
              <a:rPr lang="zh-CN" altLang="en-US" sz="36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3600" b="1" i="0"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l" defTabSz="914400" eaLnBrk="1" fontAlgn="ctr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掌握客户需求分析的要点及需求分析规格说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明报告的书写格式</a:t>
            </a:r>
            <a:r>
              <a:rPr lang="zh-CN" altLang="en-US" sz="36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3600" b="1" i="0"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掌握通过绘制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用例图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及其正文描述来完成客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                                                                            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户需求分析的方法</a:t>
            </a:r>
            <a:r>
              <a:rPr lang="zh-CN" altLang="en-US" sz="36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3600" b="1" i="0"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掌握</a:t>
            </a: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UML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的用例模型建模方法</a:t>
            </a:r>
            <a:r>
              <a:rPr lang="zh-CN" altLang="en-US" sz="36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3600" b="1" i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23" name="Rectangle 4"/>
          <p:cNvSpPr/>
          <p:nvPr/>
        </p:nvSpPr>
        <p:spPr>
          <a:xfrm>
            <a:off x="152400" y="1779905"/>
            <a:ext cx="2699385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360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本讲目的</a:t>
            </a:r>
            <a:r>
              <a:rPr lang="zh-CN" altLang="en-US" sz="3600" i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</a:rPr>
              <a:t> </a:t>
            </a:r>
          </a:p>
        </p:txBody>
      </p:sp>
      <p:sp>
        <p:nvSpPr>
          <p:cNvPr id="5124" name="Rectangle 5"/>
          <p:cNvSpPr/>
          <p:nvPr/>
        </p:nvSpPr>
        <p:spPr>
          <a:xfrm>
            <a:off x="152400" y="228600"/>
            <a:ext cx="8763000" cy="1066800"/>
          </a:xfrm>
          <a:prstGeom prst="rect">
            <a:avLst/>
          </a:prstGeom>
          <a:noFill/>
          <a:ln w="9525">
            <a:noFill/>
          </a:ln>
        </p:spPr>
        <p:txBody>
          <a:bodyPr anchor="b">
            <a:scene3d>
              <a:camera prst="orthographicFront"/>
              <a:lightRig rig="threePt" dir="t"/>
            </a:scene3d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zh-CN" altLang="en-US" sz="4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幼圆" panose="02010509060101010101" pitchFamily="49" charset="-122"/>
              </a:rPr>
              <a:t>第四讲  需求分析与用例建模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/>
          <p:nvPr/>
        </p:nvSpPr>
        <p:spPr>
          <a:xfrm>
            <a:off x="611505" y="1844675"/>
            <a:ext cx="8687435" cy="45231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32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28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系统成本费用分析</a:t>
            </a:r>
            <a:endParaRPr lang="ko-KR" altLang="en-US" sz="2800" b="1" i="0">
              <a:solidFill>
                <a:srgbClr val="0611F2"/>
              </a:solidFill>
              <a:latin typeface="Times New Roman" panose="02020603050405020304" pitchFamily="18" charset="0"/>
              <a:ea typeface="仿宋_GB2312" charset="0"/>
            </a:endParaRPr>
          </a:p>
          <a:p>
            <a:pPr marL="56832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设备购置费用。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6832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系统开发费用。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6832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系统安装、运行和维护费用。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6832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人员培训费用。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68325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2.系统效益分析</a:t>
            </a:r>
            <a:endParaRPr lang="ko-KR" altLang="en-US" sz="2800" b="1" i="0">
              <a:solidFill>
                <a:srgbClr val="0611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6832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经济效益。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68325" algn="just" defTabSz="914400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社会效益。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147" name="Rectangle 8"/>
          <p:cNvSpPr/>
          <p:nvPr/>
        </p:nvSpPr>
        <p:spPr>
          <a:xfrm>
            <a:off x="457200" y="914400"/>
            <a:ext cx="470408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3200" b="1" dirty="0">
                <a:latin typeface="宋体" panose="02010600030101010101" pitchFamily="2" charset="-122"/>
              </a:rPr>
              <a:t>4.</a:t>
            </a:r>
            <a:r>
              <a:rPr lang="zh-CN" altLang="en-US" sz="3200" b="1" dirty="0">
                <a:latin typeface="宋体" panose="02010600030101010101" pitchFamily="2" charset="-122"/>
              </a:rPr>
              <a:t>1.1  经济可行性研究</a:t>
            </a:r>
            <a:r>
              <a:rPr lang="zh-CN" altLang="en-US" sz="3600" b="1" i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6148" name="Rectangle 9"/>
          <p:cNvSpPr/>
          <p:nvPr/>
        </p:nvSpPr>
        <p:spPr>
          <a:xfrm>
            <a:off x="152400" y="228600"/>
            <a:ext cx="8763000" cy="6858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4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</a:rPr>
              <a:t>4.</a:t>
            </a:r>
            <a:r>
              <a:rPr lang="zh-CN" altLang="en-US" sz="4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</a:rPr>
              <a:t>1  </a:t>
            </a:r>
            <a:r>
              <a:rPr lang="zh-CN" altLang="en-US" sz="4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宋体" panose="02010600030101010101" pitchFamily="2" charset="-122"/>
              </a:rPr>
              <a:t>可行性研究与风险分析</a:t>
            </a:r>
            <a:r>
              <a:rPr lang="zh-CN" altLang="en-US" sz="4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charset="-122"/>
                <a:ea typeface="幼圆" panose="02010509060101010101" pitchFamily="49" charset="-122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/>
          <p:nvPr/>
        </p:nvSpPr>
        <p:spPr>
          <a:xfrm>
            <a:off x="2576830" y="23101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7171" name="Picture 6"/>
          <p:cNvPicPr>
            <a:picLocks noChangeAspect="1"/>
          </p:cNvPicPr>
          <p:nvPr/>
        </p:nvPicPr>
        <p:blipFill>
          <a:blip r:embed="rId3"/>
          <a:srcRect l="12096" t="22954" r="13577" b="21521"/>
          <a:stretch>
            <a:fillRect/>
          </a:stretch>
        </p:blipFill>
        <p:spPr>
          <a:xfrm>
            <a:off x="0" y="476250"/>
            <a:ext cx="8686800" cy="594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/>
          <p:nvPr/>
        </p:nvSpPr>
        <p:spPr>
          <a:xfrm>
            <a:off x="457200" y="609600"/>
            <a:ext cx="8687435" cy="28594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黑体" panose="02010609060101010101" charset="-122"/>
                <a:ea typeface="仿宋_GB2312" charset="0"/>
              </a:rPr>
              <a:t>1.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风险分析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2.资源分析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800" b="1" i="0">
                <a:latin typeface="Times New Roman" panose="02020603050405020304" pitchFamily="18" charset="0"/>
                <a:ea typeface="仿宋_GB2312" charset="0"/>
              </a:rPr>
              <a:t>3.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 技术分析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568325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反映系统动态特性：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68325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综合系统的全部因素：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68325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突出系统的重要因素</a:t>
            </a:r>
            <a:r>
              <a:rPr lang="zh-CN" altLang="en-US" sz="2400" b="1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2400" b="1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ko-KR" altLang="en-US" sz="2400" b="1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68325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结构简单：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19" name="Rectangle 4"/>
          <p:cNvSpPr/>
          <p:nvPr/>
        </p:nvSpPr>
        <p:spPr>
          <a:xfrm>
            <a:off x="0" y="0"/>
            <a:ext cx="4704715" cy="584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4.1.2  技术可行性分析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9220" name="Text Box 6"/>
          <p:cNvSpPr txBox="1"/>
          <p:nvPr/>
        </p:nvSpPr>
        <p:spPr>
          <a:xfrm>
            <a:off x="0" y="3505200"/>
            <a:ext cx="5029835" cy="584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4.1.3  法律可行性分析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9221" name="Text Box 7"/>
          <p:cNvSpPr txBox="1"/>
          <p:nvPr/>
        </p:nvSpPr>
        <p:spPr>
          <a:xfrm>
            <a:off x="304800" y="4114800"/>
            <a:ext cx="6401435" cy="584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4.1.4  开发方案可行性分析研究</a:t>
            </a:r>
            <a:r>
              <a:rPr lang="zh-CN" altLang="en-US" sz="32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3200" b="1" i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222" name="Text Box 8"/>
          <p:cNvSpPr txBox="1"/>
          <p:nvPr/>
        </p:nvSpPr>
        <p:spPr>
          <a:xfrm>
            <a:off x="533400" y="4648200"/>
            <a:ext cx="4267200" cy="5194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800" b="1" dirty="0"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宋体" panose="02010600030101010101" pitchFamily="2" charset="-122"/>
              </a:rPr>
              <a:t>提出待选方案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223" name="Text Box 9"/>
          <p:cNvSpPr txBox="1"/>
          <p:nvPr/>
        </p:nvSpPr>
        <p:spPr>
          <a:xfrm>
            <a:off x="533400" y="5105400"/>
            <a:ext cx="3048000" cy="5194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800" b="1" dirty="0">
                <a:latin typeface="Times New Roman" panose="02020603050405020304" pitchFamily="18" charset="0"/>
                <a:ea typeface="仿宋_GB2312" pitchFamily="49" charset="-122"/>
              </a:rPr>
              <a:t>2. 评价待选方案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9224" name="Text Box 10"/>
          <p:cNvSpPr txBox="1"/>
          <p:nvPr/>
        </p:nvSpPr>
        <p:spPr>
          <a:xfrm>
            <a:off x="533400" y="5562600"/>
            <a:ext cx="3048000" cy="5194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800" b="1" dirty="0">
                <a:latin typeface="Times New Roman" panose="02020603050405020304" pitchFamily="18" charset="0"/>
                <a:ea typeface="仿宋_GB2312" pitchFamily="49" charset="-122"/>
              </a:rPr>
              <a:t>4.</a:t>
            </a:r>
            <a:r>
              <a:rPr lang="zh-CN" altLang="en-US" sz="2800" b="1" dirty="0">
                <a:latin typeface="Times New Roman" panose="02020603050405020304" pitchFamily="18" charset="0"/>
                <a:ea typeface="仿宋_GB2312" pitchFamily="49" charset="-122"/>
              </a:rPr>
              <a:t> 确定开发方案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/>
          <p:nvPr/>
        </p:nvSpPr>
        <p:spPr>
          <a:xfrm>
            <a:off x="0" y="0"/>
            <a:ext cx="7468235" cy="6457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sz="32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4.1.5  可行性分析报告文档格式</a:t>
            </a:r>
            <a:r>
              <a:rPr sz="3600" b="1" i="1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ko-KR" altLang="en-US" sz="3600" b="1" i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3" name="Rectangle 11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44" name="Rectangle 1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10245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4" t="38551" r="11481" b="34457"/>
          <a:stretch>
            <a:fillRect/>
          </a:stretch>
        </p:blipFill>
        <p:spPr>
          <a:xfrm>
            <a:off x="406400" y="648335"/>
            <a:ext cx="7773035" cy="502983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1265"/>
          <p:cNvSpPr/>
          <p:nvPr/>
        </p:nvSpPr>
        <p:spPr>
          <a:xfrm>
            <a:off x="0" y="762000"/>
            <a:ext cx="7468870" cy="5848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sz="3200" b="1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</a:rPr>
              <a:t>4.2.1  建造需求模型</a:t>
            </a:r>
            <a:r>
              <a:rPr lang="zh-CN" altLang="en-US" sz="32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lang="zh-CN" altLang="en-US" sz="3200" b="1" i="0">
                <a:ln w="22225" cap="flat" cmpd="sng">
                  <a:solidFill>
                    <a:schemeClr val="accent2">
                      <a:alpha val="100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用例建模</a:t>
            </a:r>
            <a:r>
              <a:rPr lang="zh-CN" altLang="en-US" sz="32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ko-KR" altLang="en-US" sz="3200" b="1" i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67" name="Rectangle 11266"/>
          <p:cNvSpPr/>
          <p:nvPr/>
        </p:nvSpPr>
        <p:spPr>
          <a:xfrm>
            <a:off x="2514600" y="2881630"/>
            <a:ext cx="9144635" cy="6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Rectangle 11267"/>
          <p:cNvSpPr/>
          <p:nvPr/>
        </p:nvSpPr>
        <p:spPr>
          <a:xfrm>
            <a:off x="2514600" y="2881630"/>
            <a:ext cx="9144635" cy="6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b="0" i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Text Box 11268"/>
          <p:cNvSpPr txBox="1"/>
          <p:nvPr/>
        </p:nvSpPr>
        <p:spPr>
          <a:xfrm>
            <a:off x="1295400" y="0"/>
            <a:ext cx="6478270" cy="64643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6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4.2  客户需求分析与用例建模</a:t>
            </a:r>
            <a:endParaRPr lang="ko-KR" altLang="en-US" sz="3600" b="1" i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70" name="Text Box 11269"/>
          <p:cNvSpPr txBox="1"/>
          <p:nvPr/>
        </p:nvSpPr>
        <p:spPr>
          <a:xfrm>
            <a:off x="408305" y="1662430"/>
            <a:ext cx="8459470" cy="114363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用例建模的</a:t>
            </a:r>
            <a:r>
              <a:rPr sz="2800" b="1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主要目标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271" name="Text Box 11270"/>
          <p:cNvSpPr txBox="1"/>
          <p:nvPr/>
        </p:nvSpPr>
        <p:spPr>
          <a:xfrm>
            <a:off x="417195" y="2468245"/>
            <a:ext cx="8459470" cy="316357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将需求规约变为可视化模型，并得到用户确认；</a:t>
            </a:r>
            <a:r>
              <a:rPr lang="zh-CN" altLang="en-US" sz="24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4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给出清晰、一致的关于</a:t>
            </a:r>
            <a:r>
              <a:rPr sz="240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系统做什么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的描述，</a:t>
            </a:r>
            <a:r>
              <a:rPr lang="zh-CN" altLang="en-US" sz="24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确定系统的功能要求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</a:t>
            </a:r>
            <a:r>
              <a:rPr lang="zh-CN" altLang="en-US" sz="24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4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提供从功能需求到系统分析、设计、实现各阶段的度量标准；</a:t>
            </a:r>
            <a:r>
              <a:rPr lang="zh-CN" altLang="en-US" sz="24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4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为最终系统测试提供基准，据此验证系统是否达到功能要求；</a:t>
            </a:r>
            <a:r>
              <a:rPr lang="zh-CN" altLang="en-US" sz="24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4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为项目目标进度管理和风险管理提供依据。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  <p:bldP spid="11270" grpId="1" animBg="1"/>
      <p:bldP spid="11271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2291" name="Rectangle 5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2292" name="Text Box 7"/>
          <p:cNvSpPr txBox="1"/>
          <p:nvPr/>
        </p:nvSpPr>
        <p:spPr>
          <a:xfrm>
            <a:off x="1187450" y="1844675"/>
            <a:ext cx="7633335" cy="31210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1.确定系统的范围和边界；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2.确定系统的执行者和用例；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3.对用例进行描述；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4.定义用例之间的关系；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5.审核用例模型。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293" name="Rectangle 10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2294" name="Text Box 12"/>
          <p:cNvSpPr txBox="1"/>
          <p:nvPr/>
        </p:nvSpPr>
        <p:spPr>
          <a:xfrm>
            <a:off x="468630" y="908050"/>
            <a:ext cx="6934835" cy="5219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sz="2800" i="0">
                <a:solidFill>
                  <a:srgbClr val="0611F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用例建模的步骤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3315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3316" name="Text Box 5"/>
          <p:cNvSpPr txBox="1"/>
          <p:nvPr/>
        </p:nvSpPr>
        <p:spPr>
          <a:xfrm>
            <a:off x="228600" y="304800"/>
            <a:ext cx="3048635" cy="584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sz="3200" b="0" i="0">
                <a:solidFill>
                  <a:srgbClr val="0611F2"/>
                </a:solidFill>
                <a:latin typeface="黑体" panose="02010609060101010101" charset="-122"/>
                <a:ea typeface="黑体" panose="02010609060101010101" charset="-122"/>
              </a:rPr>
              <a:t>4.2.2  用例图</a:t>
            </a:r>
            <a:r>
              <a:rPr lang="zh-CN" altLang="en-US" sz="2400" b="0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400" b="0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317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3318" name="Rectangle 8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13319" name="Picture 7"/>
          <p:cNvPicPr>
            <a:picLocks noChangeAspect="1"/>
          </p:cNvPicPr>
          <p:nvPr/>
        </p:nvPicPr>
        <p:blipFill>
          <a:blip r:embed="rId2"/>
          <a:srcRect l="16331" t="32446" r="15724" b="29147"/>
          <a:stretch>
            <a:fillRect/>
          </a:stretch>
        </p:blipFill>
        <p:spPr>
          <a:xfrm>
            <a:off x="468630" y="1676400"/>
            <a:ext cx="8458200" cy="518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4339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4340" name="Text Box 5"/>
          <p:cNvSpPr txBox="1"/>
          <p:nvPr/>
        </p:nvSpPr>
        <p:spPr>
          <a:xfrm>
            <a:off x="228600" y="304800"/>
            <a:ext cx="6096635" cy="584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黑体" panose="02010609060101010101" charset="-122"/>
                <a:ea typeface="黑体" panose="02010609060101010101" charset="-122"/>
              </a:rPr>
              <a:t>4.2.3  定义系统的边界和范围</a:t>
            </a:r>
            <a:r>
              <a:rPr lang="zh-CN" altLang="en-US" sz="32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3200" b="1" i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341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4342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4343" name="Text Box 9"/>
          <p:cNvSpPr txBox="1"/>
          <p:nvPr/>
        </p:nvSpPr>
        <p:spPr>
          <a:xfrm>
            <a:off x="1043305" y="1125855"/>
            <a:ext cx="6858635" cy="46964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系统边界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包括：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611F2"/>
              </a:buClr>
              <a:buFont typeface="Arial" panose="020B0604020202020204"/>
              <a:buChar char="•"/>
            </a:pP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整个组织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：如一个企业；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一个组织的</a:t>
            </a: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某个部门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：如企业的财务处；</a:t>
            </a:r>
            <a:r>
              <a:rPr lang="zh-CN" altLang="en-US" sz="24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4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计算机系统的</a:t>
            </a: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硬件</a:t>
            </a:r>
            <a:r>
              <a:rPr sz="2400" b="1" i="0">
                <a:solidFill>
                  <a:srgbClr val="0611F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软件边界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：如企业的进、销、存计算机管理系统。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．定义系统的范围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2．定义系统的边界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endParaRPr lang="ko-KR" altLang="en-US" sz="2800" b="1" i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5363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5364" name="Text Box 5"/>
          <p:cNvSpPr txBox="1"/>
          <p:nvPr/>
        </p:nvSpPr>
        <p:spPr>
          <a:xfrm>
            <a:off x="0" y="0"/>
            <a:ext cx="8763635" cy="34277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4.2.4  确定执行者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执行者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actor</a:t>
            </a: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是指在系统外部与系统交互的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人或其他系统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，他以某种方式参与了系统内用例的执行。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黑体" panose="02010609060101010101" charset="-122"/>
                <a:ea typeface="仿宋_GB2312" charset="0"/>
              </a:rPr>
              <a:t> 1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．定义执行者时应注意的几个问题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）执行者之间可以有继承关系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endParaRPr lang="ko-KR" altLang="en-US" sz="2400" b="1" i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5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5366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5367" name="Rectangle 10"/>
          <p:cNvSpPr/>
          <p:nvPr/>
        </p:nvSpPr>
        <p:spPr>
          <a:xfrm>
            <a:off x="2514600" y="2705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15368" name="Picture 9"/>
          <p:cNvPicPr>
            <a:picLocks noChangeAspect="1"/>
          </p:cNvPicPr>
          <p:nvPr/>
        </p:nvPicPr>
        <p:blipFill>
          <a:blip r:embed="rId2"/>
          <a:srcRect l="12083" t="32777" r="11478" b="31198"/>
          <a:stretch>
            <a:fillRect/>
          </a:stretch>
        </p:blipFill>
        <p:spPr>
          <a:xfrm>
            <a:off x="228600" y="2881630"/>
            <a:ext cx="8610600" cy="365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6387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6388" name="Text Box 5"/>
          <p:cNvSpPr txBox="1"/>
          <p:nvPr/>
        </p:nvSpPr>
        <p:spPr>
          <a:xfrm>
            <a:off x="197485" y="188595"/>
            <a:ext cx="8870950" cy="589661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）执行者代表</a:t>
            </a: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一种角色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而不是具体某个人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）对同一个人担任角色的限制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）执行者可分成主执行者和副执行者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）执行者还可细分为主动执行者和被动执行者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   2．寻找和确定执行者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4.2.5  确定用例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1.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用例的特征</a:t>
            </a:r>
            <a:r>
              <a:rPr lang="en-US" altLang="zh-CN" sz="2800" b="1" i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响应性。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回执性。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algn="just" defTabSz="914400" eaLnBrk="1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完整性。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389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6390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7411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7412" name="Text Box 5"/>
          <p:cNvSpPr txBox="1"/>
          <p:nvPr/>
        </p:nvSpPr>
        <p:spPr>
          <a:xfrm>
            <a:off x="0" y="0"/>
            <a:ext cx="9067800" cy="3046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1016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ea typeface="仿宋_GB2312" pitchFamily="49" charset="-122"/>
              </a:rPr>
              <a:t> </a:t>
            </a:r>
          </a:p>
          <a:p>
            <a:pPr indent="1016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 smtClean="0">
                <a:latin typeface="宋体" panose="02010600030101010101" pitchFamily="2" charset="-122"/>
                <a:ea typeface="仿宋_GB2312" pitchFamily="49" charset="-122"/>
              </a:rPr>
              <a:t>2</a:t>
            </a:r>
            <a:r>
              <a:rPr lang="en-US" altLang="zh-CN" sz="2400" b="1" dirty="0" smtClean="0">
                <a:latin typeface="宋体" panose="02010600030101010101" pitchFamily="2" charset="-122"/>
                <a:ea typeface="仿宋_GB2312" pitchFamily="49" charset="-122"/>
              </a:rPr>
              <a:t>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仿宋_GB2312" pitchFamily="49" charset="-122"/>
              </a:rPr>
              <a:t>寻找和确定用例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2" algn="just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</a:rPr>
              <a:t>系统为了维持正常运转需要增加的功能和信息的交互；</a:t>
            </a: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</a:p>
          <a:p>
            <a:pPr lvl="2" algn="just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</a:rPr>
              <a:t>这些这些信息从何而来，到哪里去？</a:t>
            </a: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</a:p>
          <a:p>
            <a:pPr lvl="2" algn="just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</a:rPr>
              <a:t>实现当前系统（可能是人工系统而不是自动化系统）的关键问题是什么？</a:t>
            </a: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7413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7414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7415" name="Text Box 8"/>
          <p:cNvSpPr txBox="1"/>
          <p:nvPr/>
        </p:nvSpPr>
        <p:spPr>
          <a:xfrm>
            <a:off x="0" y="2895600"/>
            <a:ext cx="9144635" cy="2935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  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 </a:t>
            </a:r>
            <a:r>
              <a:rPr lang="en-US" altLang="zh-CN" sz="2800" b="1" i="0">
                <a:latin typeface="Times New Roman" panose="02020603050405020304" pitchFamily="18" charset="0"/>
                <a:ea typeface="仿宋_GB2312" charset="0"/>
              </a:rPr>
              <a:t>3.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描述用例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914400" indent="0" algn="l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用例名：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914400" indent="0" algn="l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简单名：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路径名：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416" name="Rectangle 10"/>
          <p:cNvSpPr/>
          <p:nvPr/>
        </p:nvSpPr>
        <p:spPr>
          <a:xfrm>
            <a:off x="2348230" y="298640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17417" name="Picture 9"/>
          <p:cNvPicPr>
            <a:picLocks noChangeAspect="1"/>
          </p:cNvPicPr>
          <p:nvPr/>
        </p:nvPicPr>
        <p:blipFill>
          <a:blip r:embed="rId2"/>
          <a:srcRect l="12091" t="62248" r="5109" b="15799"/>
          <a:stretch>
            <a:fillRect/>
          </a:stretch>
        </p:blipFill>
        <p:spPr>
          <a:xfrm>
            <a:off x="2411730" y="2881630"/>
            <a:ext cx="6400800" cy="3124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8435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8436" name="Text Box 5"/>
          <p:cNvSpPr txBox="1"/>
          <p:nvPr/>
        </p:nvSpPr>
        <p:spPr>
          <a:xfrm>
            <a:off x="76200" y="0"/>
            <a:ext cx="9068435" cy="67411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用例的文字描述应包括以下内容: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611F2"/>
              </a:buClr>
              <a:buFont typeface="Arial" panose="020B0604020202020204"/>
              <a:buChar char="•"/>
            </a:pP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用例的目的（功能）；</a:t>
            </a:r>
            <a:endParaRPr lang="ko-KR" altLang="en-US" sz="2400" b="1" i="0">
              <a:solidFill>
                <a:srgbClr val="0611F2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611F2"/>
              </a:buClr>
              <a:buFont typeface="Arial" panose="020B0604020202020204"/>
              <a:buChar char="•"/>
            </a:pP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该用例在什么情况下被哪个执行者启动执行；</a:t>
            </a:r>
            <a:endParaRPr lang="ko-KR" altLang="en-US" sz="2400" b="1" i="0">
              <a:solidFill>
                <a:srgbClr val="0611F2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611F2"/>
              </a:buClr>
              <a:buFont typeface="Arial" panose="020B0604020202020204"/>
              <a:buChar char="•"/>
            </a:pP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用例与执行者之间交互哪些消息来通知对方作出决定；</a:t>
            </a:r>
            <a:endParaRPr lang="ko-KR" altLang="en-US" sz="2400" b="1" i="0">
              <a:solidFill>
                <a:srgbClr val="0611F2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611F2"/>
              </a:buClr>
              <a:buFont typeface="Arial" panose="020B0604020202020204"/>
              <a:buChar char="•"/>
            </a:pP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交互的主消息流及因此被使用或修改的实体；</a:t>
            </a:r>
            <a:endParaRPr lang="ko-KR" altLang="en-US" sz="2400" b="1" i="0">
              <a:solidFill>
                <a:srgbClr val="0611F2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611F2"/>
              </a:buClr>
              <a:buFont typeface="Arial" panose="020B0604020202020204"/>
              <a:buChar char="•"/>
            </a:pP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用例中可供选择的异常事件流；</a:t>
            </a:r>
            <a:endParaRPr lang="ko-KR" altLang="en-US" sz="2400" b="1" i="0">
              <a:solidFill>
                <a:srgbClr val="0611F2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611F2"/>
              </a:buClr>
              <a:buFont typeface="Arial" panose="020B0604020202020204"/>
              <a:buChar char="•"/>
            </a:pPr>
            <a:r>
              <a:rPr sz="24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用例结束标志：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给执行者返回一个可识别的值。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举例：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用例名称：学生选课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执行者：学生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目的：完成一次学生选课的完整过程。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类型：主要的、基本的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级别：一级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437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8438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9459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9460" name="Text Box 5"/>
          <p:cNvSpPr txBox="1"/>
          <p:nvPr/>
        </p:nvSpPr>
        <p:spPr>
          <a:xfrm>
            <a:off x="76200" y="0"/>
            <a:ext cx="9067800" cy="6000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800" b="1" dirty="0">
                <a:latin typeface="宋体" panose="02010600030101010101" pitchFamily="2" charset="-122"/>
              </a:rPr>
              <a:t>过程描述：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8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）学生输入标识码（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en-US" altLang="zh-CN" sz="2400" b="1" dirty="0">
                <a:latin typeface="宋体" panose="02010600030101010101" pitchFamily="2" charset="-122"/>
              </a:rPr>
              <a:t>），</a:t>
            </a:r>
            <a:r>
              <a:rPr lang="zh-CN" altLang="en-US" sz="2400" b="1" dirty="0">
                <a:latin typeface="宋体" panose="02010600030101010101" pitchFamily="2" charset="-122"/>
              </a:rPr>
              <a:t>系统识别标识码的有效性；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）对学生进行注册识别；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）流览本学期预开课程；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）选择学生自己要上的课程并确认；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）退出系统，系统给出所选课程列表及相应学分合计。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800" b="1" dirty="0">
                <a:latin typeface="宋体" panose="02010600030101010101" pitchFamily="2" charset="-122"/>
              </a:rPr>
              <a:t>异常事件流处理：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）标识码有效性检查失败，允许学生重新输入（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次机会）。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）注册识别失败，没有注册（尙未交学费）的学生不能选课。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054100" indent="-762000" algn="just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）选择课程确认失败，所选几门课程中在上课时间上发生冲  突时，系统提示重选。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461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9462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83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84" name="Text Box 5"/>
          <p:cNvSpPr txBox="1"/>
          <p:nvPr/>
        </p:nvSpPr>
        <p:spPr>
          <a:xfrm>
            <a:off x="0" y="0"/>
            <a:ext cx="9068435" cy="1327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4.2.6  用例之间的关联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Times New Roman" panose="02020603050405020304" pitchFamily="18" charset="0"/>
                <a:ea typeface="仿宋_GB2312" charset="0"/>
              </a:rPr>
              <a:t>      </a:t>
            </a:r>
            <a:r>
              <a:rPr sz="2800" b="1" i="0">
                <a:solidFill>
                  <a:srgbClr val="0611F2"/>
                </a:solidFill>
                <a:latin typeface="Times New Roman" panose="02020603050405020304" pitchFamily="18" charset="0"/>
                <a:ea typeface="仿宋_GB2312" charset="0"/>
              </a:rPr>
              <a:t>1．继承关联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</p:txBody>
      </p:sp>
      <p:sp>
        <p:nvSpPr>
          <p:cNvPr id="20485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86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0487" name="Rectangle 9"/>
          <p:cNvSpPr/>
          <p:nvPr/>
        </p:nvSpPr>
        <p:spPr>
          <a:xfrm>
            <a:off x="3148330" y="31483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0488" name="Picture 8"/>
          <p:cNvPicPr>
            <a:picLocks noChangeAspect="1"/>
          </p:cNvPicPr>
          <p:nvPr/>
        </p:nvPicPr>
        <p:blipFill>
          <a:blip r:embed="rId2"/>
          <a:srcRect l="24850" t="57573" r="22095" b="28505"/>
          <a:stretch>
            <a:fillRect/>
          </a:stretch>
        </p:blipFill>
        <p:spPr>
          <a:xfrm>
            <a:off x="1219200" y="1447800"/>
            <a:ext cx="6781800" cy="160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9" name="Text Box 10"/>
          <p:cNvSpPr txBox="1"/>
          <p:nvPr/>
        </p:nvSpPr>
        <p:spPr>
          <a:xfrm>
            <a:off x="598170" y="3364865"/>
            <a:ext cx="2683510" cy="52260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sz="28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．扩展关联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490" name="Rectangle 12"/>
          <p:cNvSpPr/>
          <p:nvPr/>
        </p:nvSpPr>
        <p:spPr>
          <a:xfrm>
            <a:off x="2705100" y="27241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0491" name="Picture 11"/>
          <p:cNvPicPr>
            <a:picLocks noChangeAspect="1"/>
          </p:cNvPicPr>
          <p:nvPr/>
        </p:nvPicPr>
        <p:blipFill>
          <a:blip r:embed="rId3"/>
          <a:srcRect l="26944" t="46463" r="3612" b="18579"/>
          <a:stretch>
            <a:fillRect/>
          </a:stretch>
        </p:blipFill>
        <p:spPr>
          <a:xfrm>
            <a:off x="1219200" y="3886200"/>
            <a:ext cx="6781800" cy="228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1507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1508" name="Text Box 5"/>
          <p:cNvSpPr txBox="1"/>
          <p:nvPr/>
        </p:nvSpPr>
        <p:spPr>
          <a:xfrm>
            <a:off x="0" y="0"/>
            <a:ext cx="906843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   </a:t>
            </a:r>
            <a:r>
              <a:rPr sz="2800" b="1" i="0">
                <a:solidFill>
                  <a:srgbClr val="0611F2"/>
                </a:solidFill>
                <a:latin typeface="Times New Roman" panose="02020603050405020304" pitchFamily="18" charset="0"/>
                <a:ea typeface="仿宋_GB2312" charset="0"/>
              </a:rPr>
              <a:t> 3.包含关联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</p:txBody>
      </p:sp>
      <p:sp>
        <p:nvSpPr>
          <p:cNvPr id="21509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1510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1511" name="Rectangle 9"/>
          <p:cNvSpPr/>
          <p:nvPr/>
        </p:nvSpPr>
        <p:spPr>
          <a:xfrm>
            <a:off x="3143250" y="302450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1512" name="Picture 8"/>
          <p:cNvPicPr>
            <a:picLocks noChangeAspect="1"/>
          </p:cNvPicPr>
          <p:nvPr/>
        </p:nvPicPr>
        <p:blipFill>
          <a:blip r:embed="rId2"/>
          <a:srcRect l="22704" t="52739" r="24219" b="27402"/>
          <a:stretch>
            <a:fillRect/>
          </a:stretch>
        </p:blipFill>
        <p:spPr>
          <a:xfrm>
            <a:off x="914400" y="609600"/>
            <a:ext cx="7010400" cy="190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3" name="Text Box 10"/>
          <p:cNvSpPr txBox="1"/>
          <p:nvPr/>
        </p:nvSpPr>
        <p:spPr>
          <a:xfrm>
            <a:off x="381000" y="3048000"/>
            <a:ext cx="259143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sz="28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．使用关联</a:t>
            </a:r>
            <a:r>
              <a:rPr lang="zh-CN" altLang="en-US" sz="28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8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1514" name="Rectangle 12"/>
          <p:cNvSpPr/>
          <p:nvPr/>
        </p:nvSpPr>
        <p:spPr>
          <a:xfrm>
            <a:off x="3148330" y="313880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1515" name="Picture 11"/>
          <p:cNvPicPr>
            <a:picLocks noChangeAspect="1"/>
          </p:cNvPicPr>
          <p:nvPr/>
        </p:nvPicPr>
        <p:blipFill>
          <a:blip r:embed="rId3"/>
          <a:srcRect l="24850" t="47827" r="22095" b="37987"/>
          <a:stretch>
            <a:fillRect/>
          </a:stretch>
        </p:blipFill>
        <p:spPr>
          <a:xfrm>
            <a:off x="1066800" y="3962400"/>
            <a:ext cx="6934200" cy="1905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2531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2532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2533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2534" name="Rectangle 9"/>
          <p:cNvSpPr/>
          <p:nvPr/>
        </p:nvSpPr>
        <p:spPr>
          <a:xfrm>
            <a:off x="2800350" y="21958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2535" name="Picture 8"/>
          <p:cNvPicPr>
            <a:picLocks noChangeAspect="1"/>
          </p:cNvPicPr>
          <p:nvPr/>
        </p:nvPicPr>
        <p:blipFill>
          <a:blip r:embed="rId2"/>
          <a:srcRect l="18456" t="22954" r="15724" b="15900"/>
          <a:stretch>
            <a:fillRect/>
          </a:stretch>
        </p:blipFill>
        <p:spPr>
          <a:xfrm>
            <a:off x="0" y="260350"/>
            <a:ext cx="8763000" cy="5791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3555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3556" name="Text Box 5"/>
          <p:cNvSpPr txBox="1"/>
          <p:nvPr/>
        </p:nvSpPr>
        <p:spPr>
          <a:xfrm>
            <a:off x="0" y="0"/>
            <a:ext cx="9068435" cy="584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sz="3200" b="0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4.2.7  用例图实例</a:t>
            </a:r>
            <a:endParaRPr lang="ko-KR" altLang="en-US" sz="3200" b="0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3557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3558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3559" name="Rectangle 9"/>
          <p:cNvSpPr/>
          <p:nvPr/>
        </p:nvSpPr>
        <p:spPr>
          <a:xfrm>
            <a:off x="2633980" y="2305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3560" name="Picture 8"/>
          <p:cNvPicPr>
            <a:picLocks noChangeAspect="1"/>
          </p:cNvPicPr>
          <p:nvPr/>
        </p:nvPicPr>
        <p:blipFill>
          <a:blip r:embed="rId2"/>
          <a:srcRect l="18469" t="22638" r="9355" b="21672"/>
          <a:stretch>
            <a:fillRect/>
          </a:stretch>
        </p:blipFill>
        <p:spPr>
          <a:xfrm>
            <a:off x="395605" y="765175"/>
            <a:ext cx="8534400" cy="49485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4579" name="Text Box 5"/>
          <p:cNvSpPr txBox="1"/>
          <p:nvPr/>
        </p:nvSpPr>
        <p:spPr>
          <a:xfrm>
            <a:off x="0" y="0"/>
            <a:ext cx="9068435" cy="35280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FontTx/>
              <a:buNone/>
            </a:pPr>
            <a:r>
              <a:rPr lang="zh-CN" altLang="en-US" sz="3600" b="1" i="0">
                <a:latin typeface="Arial" panose="020B0604020202020204" pitchFamily="34" charset="0"/>
                <a:ea typeface="黑体" panose="02010609060101010101" charset="-122"/>
              </a:rPr>
              <a:t>           </a:t>
            </a:r>
            <a:r>
              <a:rPr sz="3600" b="1" i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4.3  定义系统的对象和类</a:t>
            </a:r>
            <a:endParaRPr lang="ko-KR" altLang="en-US" sz="36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sz="32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类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sz="32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责任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sz="3200" b="1" i="0">
                <a:solidFill>
                  <a:srgbClr val="0611F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协作者</a:t>
            </a:r>
            <a:r>
              <a:rPr lang="zh-CN" altLang="en-US" sz="32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320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CRC</a:t>
            </a:r>
            <a:r>
              <a:rPr lang="zh-CN" altLang="en-US" sz="320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</a:t>
            </a:r>
            <a:endParaRPr lang="ko-KR" altLang="en-US" sz="3200" b="1" i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 (</a:t>
            </a:r>
            <a:r>
              <a:rPr lang="en-US" altLang="zh-CN" sz="2800" b="1" i="0">
                <a:latin typeface="Arial" panose="020B0604020202020204" pitchFamily="34" charset="0"/>
                <a:ea typeface="Arial" panose="020B0604020202020204" pitchFamily="34" charset="0"/>
              </a:rPr>
              <a:t>Class-Responsibility-Collaborator</a:t>
            </a: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简称</a:t>
            </a:r>
            <a:r>
              <a:rPr lang="en-US" altLang="zh-CN" sz="2800" b="1" i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CRC</a:t>
            </a: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技术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FontTx/>
              <a:buNone/>
            </a:pPr>
            <a:r>
              <a:rPr lang="zh-CN" altLang="en-US" sz="3600" b="1" i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endParaRPr lang="ko-KR" altLang="en-US" sz="3600" b="1" i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4580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4581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4582" name="Rectangle 9"/>
          <p:cNvSpPr/>
          <p:nvPr/>
        </p:nvSpPr>
        <p:spPr>
          <a:xfrm>
            <a:off x="2743200" y="27051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4583" name="Picture 8"/>
          <p:cNvPicPr>
            <a:picLocks noChangeAspect="1"/>
          </p:cNvPicPr>
          <p:nvPr/>
        </p:nvPicPr>
        <p:blipFill>
          <a:blip r:embed="rId2"/>
          <a:srcRect l="16331" t="27866" r="15724" b="36122"/>
          <a:stretch>
            <a:fillRect/>
          </a:stretch>
        </p:blipFill>
        <p:spPr>
          <a:xfrm>
            <a:off x="611505" y="3140710"/>
            <a:ext cx="6428105" cy="30689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5603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5604" name="Text Box 5"/>
          <p:cNvSpPr txBox="1"/>
          <p:nvPr/>
        </p:nvSpPr>
        <p:spPr>
          <a:xfrm>
            <a:off x="0" y="0"/>
            <a:ext cx="9068435" cy="6094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4.3.1  确定对象类</a:t>
            </a:r>
            <a:endParaRPr lang="ko-KR" altLang="en-US" sz="3200" b="1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）发现潜在对象</a:t>
            </a:r>
            <a:endParaRPr lang="ko-KR" altLang="en-US" sz="2800" b="1" i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endParaRPr lang="ko-KR" altLang="en-US" sz="2800" b="1" i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与系统交互的角色。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系统的工作环境场所。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概念实体、发生的事件或事情。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部门和设备。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与系统有关的外部实体。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）标识对象名的原则</a:t>
            </a:r>
            <a:endParaRPr lang="ko-KR" altLang="en-US" sz="2800" b="1" i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使用单个名词或名词短语标识对象名；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对象名称必须有意义、简洁明了、含义明确、易于理解；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尽量使用用户熟悉的行业标准术语。</a:t>
            </a:r>
            <a:r>
              <a:rPr lang="zh-CN" altLang="en-US" sz="24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4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605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5606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6627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6628" name="Text Box 5"/>
          <p:cNvSpPr txBox="1"/>
          <p:nvPr/>
        </p:nvSpPr>
        <p:spPr>
          <a:xfrm>
            <a:off x="76200" y="260350"/>
            <a:ext cx="9068435" cy="39490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45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8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（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）筛选对象</a:t>
            </a:r>
            <a:endParaRPr lang="ko-KR" altLang="en-US" sz="2800" b="1" i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80000"/>
              </a:lnSpc>
              <a:spcBef>
                <a:spcPts val="17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根据以下特征来选择和确定最终的对象：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关键性</a:t>
            </a:r>
            <a:r>
              <a:rPr lang="en-US" altLang="zh-CN" sz="2400" b="1" i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可操作性</a:t>
            </a:r>
            <a:r>
              <a:rPr lang="en-US" altLang="zh-CN" sz="2400" b="1" i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信息含量</a:t>
            </a:r>
            <a:r>
              <a:rPr lang="en-US" altLang="zh-CN" sz="2400" b="1" i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公共属性</a:t>
            </a:r>
            <a:r>
              <a:rPr lang="en-US" altLang="zh-CN" sz="2400" b="1" i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公共操作</a:t>
            </a:r>
            <a:r>
              <a:rPr lang="en-US" altLang="zh-CN" sz="2400" b="1" i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indent="0" algn="just" defTabSz="91440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 lang="en-US" altLang="zh-CN" sz="24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关键外部信息。</a:t>
            </a:r>
            <a:endParaRPr lang="ko-KR" altLang="en-US" sz="2800" b="1" i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（4）对象分类</a:t>
            </a:r>
            <a:endParaRPr lang="ko-KR" altLang="en-US" sz="2800" b="1" i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indent="0" algn="just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有形性</a:t>
            </a: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; 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包含性</a:t>
            </a: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;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顺序性</a:t>
            </a: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;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持久性</a:t>
            </a:r>
            <a:r>
              <a:rPr lang="en-US" altLang="zh-CN" sz="2800" b="1" i="0">
                <a:latin typeface="宋体" panose="02010600030101010101" pitchFamily="2" charset="-122"/>
                <a:ea typeface="宋体" panose="02010600030101010101" pitchFamily="2" charset="-122"/>
              </a:rPr>
              <a:t>; 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完整性。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29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6630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7651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7652" name="Text Box 5"/>
          <p:cNvSpPr txBox="1"/>
          <p:nvPr/>
        </p:nvSpPr>
        <p:spPr>
          <a:xfrm>
            <a:off x="0" y="0"/>
            <a:ext cx="9068435" cy="68961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4.3.2  标识对象类的属性</a:t>
            </a:r>
            <a:endParaRPr lang="ko-KR" altLang="en-US" sz="3200" b="1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）发现和确定对象潜在的属性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）识别和筛选对象属性的原则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）识别和筛选属性应注意的问题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）属性的命名原则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4.3.3  标识对象类的操作</a:t>
            </a:r>
            <a:endParaRPr lang="ko-KR" altLang="en-US" sz="3200" b="1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）寻找潜在的对象类操作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）筛选、确定操作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）命名操作名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）操作的说明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）操作的分类：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endParaRPr lang="ko-KR" altLang="en-US" sz="2400" b="1" i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3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7654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8675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8676" name="Text Box 5"/>
          <p:cNvSpPr txBox="1"/>
          <p:nvPr/>
        </p:nvSpPr>
        <p:spPr>
          <a:xfrm>
            <a:off x="0" y="0"/>
            <a:ext cx="9068435" cy="65252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4.3.4  标识对象类之间的关联（协作）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）建立实例连接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）消息传递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）筛选对象间的关联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4.3.5  复审类的定义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复审方法犹如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击鼓传花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4.3.6  定义类的结构和层次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）一般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特殊结构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）整体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部分结构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）子系统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ko-KR" altLang="en-US" sz="2400" b="1" i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8677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8678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9699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9700" name="Text Box 5"/>
          <p:cNvSpPr txBox="1"/>
          <p:nvPr/>
        </p:nvSpPr>
        <p:spPr>
          <a:xfrm>
            <a:off x="0" y="0"/>
            <a:ext cx="9068435" cy="6457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FontTx/>
              <a:buNone/>
            </a:pPr>
            <a:r>
              <a:rPr lang="zh-CN" altLang="en-US" sz="2400" b="0" i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</a:t>
            </a:r>
            <a:r>
              <a:rPr sz="3600" b="0" i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4.4  客户需求分析规格说明</a:t>
            </a:r>
            <a:endParaRPr lang="ko-KR" altLang="en-US" sz="3600" b="0" i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9701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9702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29703" name="Rectangle 9"/>
          <p:cNvSpPr/>
          <p:nvPr/>
        </p:nvSpPr>
        <p:spPr>
          <a:xfrm>
            <a:off x="2291080" y="191008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9704" name="Picture 8"/>
          <p:cNvPicPr>
            <a:picLocks noChangeAspect="1"/>
          </p:cNvPicPr>
          <p:nvPr/>
        </p:nvPicPr>
        <p:blipFill>
          <a:blip r:embed="rId2"/>
          <a:srcRect l="5716" t="13318" r="9355" b="11258"/>
          <a:stretch>
            <a:fillRect/>
          </a:stretch>
        </p:blipFill>
        <p:spPr>
          <a:xfrm>
            <a:off x="163830" y="641350"/>
            <a:ext cx="8903970" cy="58851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0723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0724" name="Text Box 5"/>
          <p:cNvSpPr txBox="1"/>
          <p:nvPr/>
        </p:nvSpPr>
        <p:spPr>
          <a:xfrm>
            <a:off x="0" y="0"/>
            <a:ext cx="9068435" cy="661225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zh-CN" altLang="en-US" sz="2400" b="1" i="0">
                <a:ln w="22225" cap="flat" cmpd="sng">
                  <a:solidFill>
                    <a:schemeClr val="accent2">
                      <a:alpha val="100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altLang="zh-CN" sz="3600" b="1" i="0">
                <a:ln w="22225" cap="flat" cmpd="sng">
                  <a:solidFill>
                    <a:schemeClr val="accent2">
                      <a:alpha val="100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黑体" panose="02010609060101010101" charset="-122"/>
              </a:rPr>
              <a:t>4.</a:t>
            </a:r>
            <a:r>
              <a:rPr lang="zh-CN" altLang="en-US" sz="3600" b="1" i="0">
                <a:ln w="22225" cap="flat" cmpd="sng">
                  <a:solidFill>
                    <a:schemeClr val="accent2">
                      <a:alpha val="100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黑体" panose="02010609060101010101" charset="-122"/>
              </a:rPr>
              <a:t>5  需求分析中的用例建模步骤</a:t>
            </a:r>
            <a:endParaRPr lang="ko-KR" altLang="en-US" sz="3600" b="1" i="0">
              <a:ln w="22225" cap="flat" cmpd="sng">
                <a:solidFill>
                  <a:schemeClr val="accent2">
                    <a:alpha val="100000"/>
                  </a:schemeClr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4.5.1  用例的类型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端点用例：</a:t>
            </a:r>
            <a:r>
              <a:rPr lang="zh-CN" altLang="en-US" sz="2400" b="1" i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endParaRPr lang="ko-KR" altLang="en-US" sz="24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基本用例：</a:t>
            </a:r>
            <a:r>
              <a:rPr lang="zh-CN" altLang="en-US" sz="2400" b="1" i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endParaRPr lang="ko-KR" altLang="en-US" sz="24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主要用例：</a:t>
            </a:r>
            <a:r>
              <a:rPr lang="zh-CN" altLang="en-US" sz="2400" b="1" i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endParaRPr lang="ko-KR" altLang="en-US" sz="24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辅助用例：</a:t>
            </a:r>
            <a:r>
              <a:rPr lang="zh-CN" altLang="en-US" sz="2400" b="1" i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endParaRPr lang="ko-KR" altLang="en-US" sz="3200" b="1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  4.5.2  建立用例图</a:t>
            </a:r>
            <a:endParaRPr lang="ko-KR" altLang="en-US" sz="3200" b="1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建立用例图的步骤：</a:t>
            </a:r>
            <a:r>
              <a:rPr lang="zh-CN" altLang="en-US" sz="2400" b="1" i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endParaRPr lang="ko-KR" altLang="en-US" sz="24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）确定用例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）描述用例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）筛选用例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）绘制用例图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）层次化用例图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65000"/>
              </a:lnSpc>
              <a:spcBef>
                <a:spcPts val="1500"/>
              </a:spcBef>
              <a:spcAft>
                <a:spcPts val="0"/>
              </a:spcAft>
              <a:buFontTx/>
              <a:buNone/>
            </a:pPr>
            <a:endParaRPr lang="ko-KR" altLang="en-US" sz="2400" b="1" i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0725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0726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0727" name="Rectangle 8"/>
          <p:cNvSpPr/>
          <p:nvPr/>
        </p:nvSpPr>
        <p:spPr>
          <a:xfrm>
            <a:off x="2291080" y="191008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1747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1748" name="Text Box 5"/>
          <p:cNvSpPr txBox="1"/>
          <p:nvPr/>
        </p:nvSpPr>
        <p:spPr>
          <a:xfrm>
            <a:off x="0" y="233680"/>
            <a:ext cx="9068435" cy="584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0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4.5.3  层次化用例图</a:t>
            </a:r>
            <a:endParaRPr lang="ko-KR" altLang="en-US" sz="3200" b="0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1749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1750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1751" name="Rectangle 9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31752" name="Picture 8"/>
          <p:cNvPicPr>
            <a:picLocks noChangeAspect="1"/>
          </p:cNvPicPr>
          <p:nvPr/>
        </p:nvPicPr>
        <p:blipFill>
          <a:blip r:embed="rId2"/>
          <a:srcRect l="803" t="12910" r="10666" b="9653"/>
          <a:stretch>
            <a:fillRect/>
          </a:stretch>
        </p:blipFill>
        <p:spPr>
          <a:xfrm>
            <a:off x="479425" y="922655"/>
            <a:ext cx="8261350" cy="49993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3" name="Text Box 10"/>
          <p:cNvSpPr txBox="1"/>
          <p:nvPr/>
        </p:nvSpPr>
        <p:spPr>
          <a:xfrm>
            <a:off x="596265" y="6090285"/>
            <a:ext cx="769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</a:rPr>
              <a:t>    （1）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功能需求用例图  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宋体" panose="02010600030101010101" pitchFamily="2" charset="-122"/>
              </a:rPr>
              <a:t>生存环境用例图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771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772" name="Text Box 5"/>
          <p:cNvSpPr txBox="1"/>
          <p:nvPr/>
        </p:nvSpPr>
        <p:spPr>
          <a:xfrm>
            <a:off x="363855" y="722630"/>
            <a:ext cx="8025130" cy="42487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just" defTabSz="91440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3200" b="1" i="0">
                <a:latin typeface="Arial" panose="020B0604020202020204" pitchFamily="34" charset="0"/>
                <a:ea typeface="黑体" panose="02010609060101010101" charset="-122"/>
              </a:rPr>
              <a:t>         </a:t>
            </a:r>
            <a:r>
              <a:rPr lang="en-US" altLang="zh-CN" sz="3200" b="1" i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4.</a:t>
            </a:r>
            <a:r>
              <a:rPr lang="zh-CN" altLang="en-US" sz="3200" b="1" i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6  需求分析用例建模案例</a:t>
            </a:r>
            <a:endParaRPr lang="ko-KR" altLang="en-US" sz="3200" b="1" i="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4.6.1  客户需求分析</a:t>
            </a:r>
            <a:endParaRPr lang="ko-KR" altLang="en-US" sz="3200" b="1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Arial" panose="020B0604020202020204" pitchFamily="34" charset="0"/>
                <a:ea typeface="仿宋_GB2312" charset="0"/>
              </a:rPr>
              <a:t>1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．业务组织结构（综述）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0" indent="0" algn="just" defTabSz="91440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企业综合信息管理系统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的用户是企业各级管理部门的工作人员、公司经理和系统操作人员。该系统主要提供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财务管理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人力资源管理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生产调度管理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进销存管理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设备安全管理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、和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行政事务管理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等方面的服务。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3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774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2775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795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796" name="Text Box 5"/>
          <p:cNvSpPr txBox="1"/>
          <p:nvPr/>
        </p:nvSpPr>
        <p:spPr>
          <a:xfrm>
            <a:off x="581025" y="0"/>
            <a:ext cx="7591425" cy="56534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5000"/>
              </a:lnSpc>
              <a:buFont typeface="Arial" panose="020B0604020202020204" pitchFamily="34" charset="0"/>
            </a:pPr>
            <a:endParaRPr lang="zh-CN" altLang="en-US" sz="20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800" b="1" dirty="0">
                <a:latin typeface="Arial" panose="020B0604020202020204" pitchFamily="34" charset="0"/>
                <a:ea typeface="仿宋_GB2312" pitchFamily="49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仿宋_GB2312" pitchFamily="49" charset="-122"/>
              </a:rPr>
              <a:t>．具体功能要求</a:t>
            </a:r>
            <a:endParaRPr lang="zh-CN" altLang="en-US" sz="2800" b="1" dirty="0">
              <a:latin typeface="Arial" panose="020B0604020202020204" pitchFamily="34" charset="0"/>
              <a:ea typeface="仿宋_GB2312" pitchFamily="49" charset="-122"/>
            </a:endParaRP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本案例只对其中的</a:t>
            </a:r>
            <a:r>
              <a:rPr lang="zh-CN" altLang="en-US" sz="2400" b="1" dirty="0">
                <a:latin typeface="Times New Roman" panose="02020603050405020304" pitchFamily="18" charset="0"/>
              </a:rPr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进销存管理子系统</a:t>
            </a:r>
            <a:r>
              <a:rPr lang="zh-CN" altLang="en-US" sz="2400" b="1" dirty="0">
                <a:latin typeface="Times New Roman" panose="02020603050405020304" pitchFamily="18" charset="0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进行详细的需求分析用例建模。</a:t>
            </a: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）销售管理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）制定销售计划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）与客户签订销售合同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）检查合同履约率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）生产调度管理部门组织生产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）库存管理部门对产品进行入库、出库处理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</a:rPr>
              <a:t>）财务管理部门收取客户货款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latin typeface="宋体" panose="02010600030101010101" pitchFamily="2" charset="-122"/>
              </a:rPr>
              <a:t>）售后服务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endParaRPr lang="zh-CN" altLang="en-US" sz="2400" b="1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3797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798" name="Rectangle 7"/>
          <p:cNvSpPr/>
          <p:nvPr/>
        </p:nvSpPr>
        <p:spPr>
          <a:xfrm>
            <a:off x="2771775" y="263715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3799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19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20" name="Text Box 5"/>
          <p:cNvSpPr txBox="1"/>
          <p:nvPr/>
        </p:nvSpPr>
        <p:spPr>
          <a:xfrm>
            <a:off x="508000" y="0"/>
            <a:ext cx="7880350" cy="64852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buFont typeface="Arial" panose="020B0604020202020204" pitchFamily="34" charset="0"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）采购管理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）制定原材料（零部件）采购计划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）与客户签订采购合同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）检查合同履约率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）库存管理部门对原材料进行入库验收、存储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）财务管理部门支付货款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）库存管理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）产品入库管理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）原材料（零部件）入库管理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）原材料（零部件）出库管理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）产品出库管理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）库存管理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</a:rPr>
              <a:t>）采购管理部门组织采购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latin typeface="宋体" panose="02010600030101010101" pitchFamily="2" charset="-122"/>
              </a:rPr>
              <a:t>）生产调度管理部门安排生产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）财务管理部门对库存物资进行核算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buFont typeface="Arial" panose="020B0604020202020204" pitchFamily="34" charset="0"/>
            </a:pPr>
            <a:endParaRPr lang="zh-CN" altLang="en-US" sz="2400" b="1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4821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22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4823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5843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5844" name="Text Box 5"/>
          <p:cNvSpPr txBox="1"/>
          <p:nvPr/>
        </p:nvSpPr>
        <p:spPr>
          <a:xfrm>
            <a:off x="363855" y="271780"/>
            <a:ext cx="7880350" cy="544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buFont typeface="Arial" panose="020B0604020202020204" pitchFamily="34" charset="0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仿宋_GB2312" pitchFamily="49" charset="-122"/>
              </a:rPr>
              <a:t>4.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需求补充说明</a:t>
            </a:r>
          </a:p>
          <a:p>
            <a:pPr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）数据保存</a:t>
            </a:r>
            <a:r>
              <a:rPr lang="zh-CN" altLang="en-US" sz="28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</a:rPr>
              <a:t>采购合同：每个合同执行期可能多达几个月，合同</a:t>
            </a:r>
          </a:p>
          <a:p>
            <a:pPr lvl="1"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           需要长期保留。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</a:rPr>
              <a:t>销售合同：每个合同执行期可能多达几个月，合同</a:t>
            </a:r>
          </a:p>
          <a:p>
            <a:pPr lvl="1"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           需要长期保留</a:t>
            </a:r>
            <a:r>
              <a:rPr lang="zh-CN" altLang="en-US" sz="2800" b="1" dirty="0">
                <a:latin typeface="宋体" panose="02010600030101010101" pitchFamily="2" charset="-122"/>
              </a:rPr>
              <a:t>。</a:t>
            </a:r>
            <a:r>
              <a:rPr lang="zh-CN" altLang="en-US" sz="28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</a:rPr>
              <a:t>历年履约合同：履约后的合同需要长期（几十年）</a:t>
            </a:r>
          </a:p>
          <a:p>
            <a:pPr lvl="1"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           保留，以备查使用。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</a:rPr>
              <a:t>库存货物清单：库存货物量随出、入库有所消长，</a:t>
            </a:r>
          </a:p>
          <a:p>
            <a:pPr lvl="1" algn="just" eaLnBrk="1" hangingPunct="1"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           长期保存。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</a:rPr>
              <a:t>货物损毁报表：长期保留，以备查使用。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</a:rPr>
              <a:t>入库单：长期保留，以备查核算使用。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</a:rPr>
              <a:t>出库单：长期保留，以备查核算使用。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宋体" panose="02010600030101010101" pitchFamily="2" charset="-122"/>
              </a:rPr>
              <a:t>库存货物资产核对表：长期保留，以备查使用。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</a:p>
        </p:txBody>
      </p:sp>
      <p:sp>
        <p:nvSpPr>
          <p:cNvPr id="35845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5846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5847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6867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6868" name="Text Box 5"/>
          <p:cNvSpPr txBox="1"/>
          <p:nvPr/>
        </p:nvSpPr>
        <p:spPr>
          <a:xfrm>
            <a:off x="423545" y="1052195"/>
            <a:ext cx="7808595" cy="47694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1" algn="just" eaLnBrk="1" hangingPunct="1">
              <a:buFont typeface="Arial" panose="020B0604020202020204" pitchFamily="34" charset="0"/>
            </a:pPr>
            <a:r>
              <a:rPr lang="zh-CN" altLang="en-US" sz="2800" b="1" dirty="0">
                <a:latin typeface="宋体" panose="02010600030101010101" pitchFamily="2" charset="-122"/>
              </a:rPr>
              <a:t>（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</a:rPr>
              <a:t>）系统的用户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lvl="1" algn="just" eaLnBrk="1" hangingPunct="1">
              <a:buFont typeface="Arial" panose="020B0604020202020204" pitchFamily="34" charset="0"/>
            </a:pP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</a:rPr>
              <a:t>客户、仓库管理员、销售人员、采购人员、公司经理、财务管理系统、生产调度管理系统。</a:t>
            </a:r>
          </a:p>
          <a:p>
            <a:pPr lvl="1" algn="just" eaLnBrk="1" hangingPunct="1">
              <a:buFont typeface="Arial" panose="020B0604020202020204" pitchFamily="34" charset="0"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25000"/>
              </a:lnSpc>
              <a:buFont typeface="Arial" panose="020B0604020202020204" pitchFamily="34" charset="0"/>
            </a:pPr>
            <a:r>
              <a:rPr lang="zh-CN" altLang="en-US" sz="2800" b="1" dirty="0">
                <a:latin typeface="Times New Roman" panose="02020603050405020304" pitchFamily="18" charset="0"/>
              </a:rPr>
              <a:t>（3）系统运行用户界面</a:t>
            </a:r>
          </a:p>
          <a:p>
            <a:pPr lvl="1" algn="just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</a:rPr>
              <a:t>销售合同管理用户界面：</a:t>
            </a:r>
          </a:p>
          <a:p>
            <a:pPr lvl="1" algn="just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</a:rPr>
              <a:t>采购合同管理用户界面： </a:t>
            </a:r>
          </a:p>
          <a:p>
            <a:pPr lvl="1" algn="just" eaLnBrk="1" hangingPunct="1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</a:rPr>
              <a:t>仓库货物清单管理用户界面：</a:t>
            </a:r>
          </a:p>
          <a:p>
            <a:pPr algn="just" eaLnBrk="1" hangingPunct="1">
              <a:buFont typeface="Arial" panose="020B0604020202020204" pitchFamily="34" charset="0"/>
            </a:pPr>
            <a:endParaRPr lang="zh-CN" altLang="en-US" sz="2400" b="1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6869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6870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6871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891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892" name="Text Box 5"/>
          <p:cNvSpPr txBox="1"/>
          <p:nvPr/>
        </p:nvSpPr>
        <p:spPr>
          <a:xfrm>
            <a:off x="0" y="728980"/>
            <a:ext cx="9068435" cy="532320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）系统运行的软件、硬件环境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）系统运行的软件环境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）系统运行的硬件环境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4.6.2  确定系统范围和系统边界</a:t>
            </a:r>
            <a:endParaRPr lang="ko-KR" altLang="en-US" sz="3200" b="1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1．进销存管理子系统的业务范围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2．进销存管理子系统的系统边界</a:t>
            </a:r>
            <a:endParaRPr lang="ko-KR" altLang="en-US" sz="2800" b="1" i="0">
              <a:latin typeface="Times New Roman" panose="02020603050405020304" pitchFamily="18" charset="0"/>
              <a:ea typeface="仿宋_GB2312" charset="0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Times New Roman" panose="02020603050405020304" pitchFamily="18" charset="0"/>
                <a:ea typeface="仿宋_GB2312" charset="0"/>
              </a:rPr>
              <a:t> </a:t>
            </a:r>
            <a:r>
              <a:rPr sz="32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4.6.3  确定执行者</a:t>
            </a:r>
            <a:endParaRPr lang="ko-KR" altLang="en-US" sz="3200" b="1" i="0"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进销存管理子系统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个人执行者和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个系统执行者，即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采购人员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销售人员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仓库管理员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客户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公司经理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生产调度管理子系统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和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“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财务管理子系统</a:t>
            </a:r>
            <a:r>
              <a:rPr lang="zh-CN" altLang="en-US" sz="28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2400" b="1" i="0">
              <a:latin typeface="Times New Roman" panose="02020603050405020304" pitchFamily="18" charset="0"/>
              <a:ea typeface="仿宋_GB2312" charset="0"/>
            </a:endParaRPr>
          </a:p>
        </p:txBody>
      </p:sp>
      <p:sp>
        <p:nvSpPr>
          <p:cNvPr id="37893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894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895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15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16" name="Text Box 5"/>
          <p:cNvSpPr txBox="1"/>
          <p:nvPr/>
        </p:nvSpPr>
        <p:spPr>
          <a:xfrm>
            <a:off x="76200" y="44450"/>
            <a:ext cx="8634095" cy="60725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0611F2"/>
                </a:solidFill>
                <a:latin typeface="黑体" panose="02010609060101010101" charset="-122"/>
                <a:ea typeface="黑体" panose="02010609060101010101" charset="-122"/>
              </a:rPr>
              <a:t>4.6.4  确定用例</a:t>
            </a:r>
            <a:r>
              <a:rPr lang="zh-CN" altLang="en-US" sz="28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8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黑体" panose="02010609060101010101" charset="-122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企业综合信息管理系统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中的用例（一层）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财务管理；</a:t>
            </a:r>
            <a:r>
              <a:rPr lang="zh-CN" altLang="en-US" sz="24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人力资源管理；</a:t>
            </a:r>
            <a:r>
              <a:rPr lang="zh-CN" altLang="en-US" sz="24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生产调度管理；</a:t>
            </a:r>
            <a:r>
              <a:rPr lang="zh-CN" altLang="en-US" sz="24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进销存管理；</a:t>
            </a:r>
            <a:r>
              <a:rPr lang="zh-CN" altLang="en-US" sz="24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设备安全管理；</a:t>
            </a:r>
            <a:r>
              <a:rPr lang="zh-CN" altLang="en-US" sz="24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行政事务管理。</a:t>
            </a:r>
            <a:r>
              <a:rPr lang="zh-CN" altLang="en-US" sz="24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黑体" panose="02010609060101010101" charset="-122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进销存管理子系统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中的用例（第二层）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销售管理；</a:t>
            </a:r>
            <a:r>
              <a:rPr lang="zh-CN" altLang="en-US" sz="24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采购管理；</a:t>
            </a:r>
            <a:r>
              <a:rPr lang="zh-CN" altLang="en-US" sz="24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库存管理。</a:t>
            </a:r>
            <a:r>
              <a:rPr lang="zh-CN" altLang="en-US" sz="24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400" b="1" i="0">
              <a:latin typeface="黑体" panose="02010609060101010101" charset="-122"/>
              <a:ea typeface="黑体" panose="02010609060101010101" charset="-122"/>
            </a:endParaRPr>
          </a:p>
          <a:p>
            <a:pPr marL="457200" indent="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zh-CN" altLang="en-US" sz="2400" b="1" i="0">
                <a:latin typeface="黑体" panose="02010609060101010101" charset="-122"/>
                <a:ea typeface="宋体" panose="02010600030101010101" pitchFamily="2" charset="-122"/>
                <a:cs typeface="+mn-cs"/>
              </a:rPr>
              <a:t>3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销售管理子系统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中的用例（第三层）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制定产品销售计划；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签订销售合同；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督促客户付款；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监督产品发货；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检查合同履约；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提供售后服务。</a:t>
            </a:r>
            <a:r>
              <a:rPr lang="zh-CN" altLang="en-US" sz="2800" b="1" i="0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ko-KR" altLang="en-US" sz="2800" b="1" i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8917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18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8919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9939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9940" name="Text Box 5"/>
          <p:cNvSpPr txBox="1"/>
          <p:nvPr/>
        </p:nvSpPr>
        <p:spPr>
          <a:xfrm>
            <a:off x="76200" y="0"/>
            <a:ext cx="9067800" cy="54565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1" algn="just" eaLnBrk="1" hangingPunct="1">
              <a:buFont typeface="Arial" panose="020B0604020202020204" pitchFamily="34" charset="0"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lvl="1" algn="just" eaLnBrk="1" hangingPunct="1">
              <a:buFont typeface="Arial" panose="020B0604020202020204" pitchFamily="34" charset="0"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lvl="1" algn="just" eaLnBrk="1" hangingPunct="1">
              <a:buFont typeface="Arial" panose="020B0604020202020204" pitchFamily="34" charset="0"/>
            </a:pPr>
            <a:r>
              <a:rPr lang="zh-CN" altLang="en-US" sz="2800" b="1" dirty="0">
                <a:latin typeface="宋体" panose="02010600030101010101" pitchFamily="2" charset="-122"/>
              </a:rPr>
              <a:t>（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latin typeface="宋体" panose="02010600030101010101" pitchFamily="2" charset="-122"/>
              </a:rPr>
              <a:t>采购管理子系统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zh-CN" altLang="en-US" sz="2800" b="1" dirty="0">
                <a:latin typeface="宋体" panose="02010600030101010101" pitchFamily="2" charset="-122"/>
              </a:rPr>
              <a:t>中的用例（第三层）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制定采购计划；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签订采购合同；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货物入库检验；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支付货款；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检查合同履约。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</a:pPr>
            <a:r>
              <a:rPr lang="zh-CN" altLang="en-US" sz="2800" b="1" dirty="0">
                <a:latin typeface="宋体" panose="02010600030101010101" pitchFamily="2" charset="-122"/>
              </a:rPr>
              <a:t>（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宋体" panose="02010600030101010101" pitchFamily="2" charset="-122"/>
              </a:rPr>
              <a:t>）</a:t>
            </a:r>
            <a:r>
              <a:rPr lang="zh-CN" altLang="en-US" sz="2800" b="1" dirty="0"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latin typeface="宋体" panose="02010600030101010101" pitchFamily="2" charset="-122"/>
              </a:rPr>
              <a:t>库存管理子系统</a:t>
            </a:r>
            <a:r>
              <a:rPr lang="zh-CN" altLang="en-US" sz="2800" b="1" dirty="0">
                <a:latin typeface="Times New Roman" panose="02020603050405020304" pitchFamily="18" charset="0"/>
              </a:rPr>
              <a:t>”</a:t>
            </a:r>
            <a:r>
              <a:rPr lang="zh-CN" altLang="en-US" sz="2800" b="1" dirty="0">
                <a:latin typeface="宋体" panose="02010600030101010101" pitchFamily="2" charset="-122"/>
              </a:rPr>
              <a:t>中的用例（第三层）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入库管理；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出库管理；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</a:rPr>
              <a:t> 库存管理。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85000"/>
              </a:lnSpc>
              <a:buFont typeface="Arial" panose="020B0604020202020204" pitchFamily="34" charset="0"/>
            </a:pPr>
            <a:endParaRPr lang="zh-CN" altLang="en-US" sz="28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941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9942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9943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9944" name="Rectangle 10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0963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0964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0965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0966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0967" name="Rectangle 9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0968" name="Rectangle 12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40969" name="Picture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7" t="36934" r="16405" b="11665"/>
          <a:stretch>
            <a:fillRect/>
          </a:stretch>
        </p:blipFill>
        <p:spPr>
          <a:xfrm>
            <a:off x="890270" y="1445895"/>
            <a:ext cx="7544435" cy="51060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70" name="Text Box 13"/>
          <p:cNvSpPr txBox="1"/>
          <p:nvPr/>
        </p:nvSpPr>
        <p:spPr>
          <a:xfrm>
            <a:off x="228600" y="152400"/>
            <a:ext cx="4669790" cy="1069340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45720" rIns="91440" bIns="45720" numCol="1" anchor="t">
            <a:spAutoFit/>
          </a:bodyPr>
          <a:lstStyle/>
          <a:p>
            <a:pPr marL="457200" indent="0" algn="l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600" b="1" i="0">
                <a:solidFill>
                  <a:srgbClr val="0611F2"/>
                </a:solidFill>
                <a:latin typeface="Arial" panose="020B0604020202020204" pitchFamily="34" charset="0"/>
                <a:ea typeface="黑体" panose="02010609060101010101" charset="-122"/>
              </a:rPr>
              <a:t>4.6.5  分层绘制用例图</a:t>
            </a:r>
            <a:endParaRPr lang="ko-KR" altLang="en-US" sz="3600" b="1" i="0">
              <a:solidFill>
                <a:srgbClr val="0611F2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457200" indent="0" algn="l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sz="2800" b="1" i="0">
                <a:solidFill>
                  <a:srgbClr val="80007F"/>
                </a:solidFill>
                <a:latin typeface="微软雅黑" panose="020B0503020204020204" charset="-122"/>
                <a:ea typeface="微软雅黑" panose="020B0503020204020204" charset="-122"/>
              </a:rPr>
              <a:t>1．最高层用例图</a:t>
            </a:r>
            <a:endParaRPr lang="ko-KR" altLang="en-US" sz="2800" b="1" i="0">
              <a:solidFill>
                <a:srgbClr val="8000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987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988" name="Text Box 5"/>
          <p:cNvSpPr txBox="1"/>
          <p:nvPr/>
        </p:nvSpPr>
        <p:spPr>
          <a:xfrm>
            <a:off x="76200" y="381000"/>
            <a:ext cx="90684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黑体" panose="02010609060101010101" charset="-122"/>
                <a:ea typeface="仿宋_GB2312" charset="0"/>
              </a:rPr>
              <a:t>2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．</a:t>
            </a:r>
            <a:r>
              <a:rPr sz="2800" b="1" i="0">
                <a:solidFill>
                  <a:srgbClr val="80007F"/>
                </a:solidFill>
                <a:latin typeface="Times New Roman" panose="02020603050405020304" pitchFamily="18" charset="0"/>
                <a:ea typeface="仿宋_GB2312" charset="0"/>
              </a:rPr>
              <a:t>第</a:t>
            </a:r>
            <a:r>
              <a:rPr sz="2800" b="1" i="0">
                <a:solidFill>
                  <a:srgbClr val="80007F"/>
                </a:solidFill>
                <a:latin typeface="黑体" panose="02010609060101010101" charset="-122"/>
                <a:ea typeface="仿宋_GB2312" charset="0"/>
              </a:rPr>
              <a:t>2</a:t>
            </a:r>
            <a:r>
              <a:rPr sz="2800" b="1" i="0">
                <a:solidFill>
                  <a:srgbClr val="80007F"/>
                </a:solidFill>
                <a:latin typeface="Times New Roman" panose="02020603050405020304" pitchFamily="18" charset="0"/>
                <a:ea typeface="仿宋_GB2312" charset="0"/>
              </a:rPr>
              <a:t>层用例图</a:t>
            </a:r>
            <a:endParaRPr lang="ko-KR" altLang="en-US" sz="2800" b="1" i="0">
              <a:solidFill>
                <a:srgbClr val="FF0000"/>
              </a:solidFill>
              <a:latin typeface="Times New Roman" panose="02020603050405020304" pitchFamily="18" charset="0"/>
              <a:ea typeface="仿宋_GB2312" charset="0"/>
            </a:endParaRPr>
          </a:p>
        </p:txBody>
      </p:sp>
      <p:sp>
        <p:nvSpPr>
          <p:cNvPr id="41989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990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991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992" name="Rectangle 9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993" name="Rectangle 11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994" name="Rectangle 13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1995" name="Rectangle 15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41996" name="Picture 14"/>
          <p:cNvPicPr>
            <a:picLocks noChangeAspect="1"/>
          </p:cNvPicPr>
          <p:nvPr/>
        </p:nvPicPr>
        <p:blipFill>
          <a:blip r:embed="rId2"/>
          <a:srcRect l="20598" t="20497" r="22095" b="35014"/>
          <a:stretch>
            <a:fillRect/>
          </a:stretch>
        </p:blipFill>
        <p:spPr>
          <a:xfrm>
            <a:off x="1066800" y="1371600"/>
            <a:ext cx="7162800" cy="4079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3011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3012" name="Text Box 5"/>
          <p:cNvSpPr txBox="1"/>
          <p:nvPr/>
        </p:nvSpPr>
        <p:spPr>
          <a:xfrm>
            <a:off x="76200" y="381000"/>
            <a:ext cx="90684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800" b="1" i="0">
                <a:latin typeface="黑体" panose="02010609060101010101" charset="-122"/>
                <a:ea typeface="仿宋_GB2312" charset="0"/>
              </a:rPr>
              <a:t>4.</a:t>
            </a:r>
            <a:r>
              <a:rPr sz="2800" b="1" i="0">
                <a:solidFill>
                  <a:srgbClr val="80007F"/>
                </a:solidFill>
                <a:latin typeface="Times New Roman" panose="02020603050405020304" pitchFamily="18" charset="0"/>
                <a:ea typeface="仿宋_GB2312" charset="0"/>
              </a:rPr>
              <a:t>第</a:t>
            </a:r>
            <a:r>
              <a:rPr sz="2800" b="1" i="0">
                <a:solidFill>
                  <a:srgbClr val="80007F"/>
                </a:solidFill>
                <a:latin typeface="黑体" panose="02010609060101010101" charset="-122"/>
                <a:ea typeface="仿宋_GB2312" charset="0"/>
              </a:rPr>
              <a:t>3</a:t>
            </a:r>
            <a:r>
              <a:rPr sz="2800" b="1" i="0">
                <a:solidFill>
                  <a:srgbClr val="80007F"/>
                </a:solidFill>
                <a:latin typeface="Times New Roman" panose="02020603050405020304" pitchFamily="18" charset="0"/>
                <a:ea typeface="仿宋_GB2312" charset="0"/>
              </a:rPr>
              <a:t>层用例图</a:t>
            </a:r>
            <a:endParaRPr lang="ko-KR" altLang="en-US" sz="2800" b="1" i="0">
              <a:solidFill>
                <a:srgbClr val="FF0000"/>
              </a:solidFill>
              <a:latin typeface="Times New Roman" panose="02020603050405020304" pitchFamily="18" charset="0"/>
              <a:ea typeface="仿宋_GB2312" charset="0"/>
            </a:endParaRPr>
          </a:p>
        </p:txBody>
      </p:sp>
      <p:sp>
        <p:nvSpPr>
          <p:cNvPr id="43013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3014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3015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3016" name="Rectangle 9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3017" name="Rectangle 10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3018" name="Rectangle 11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3019" name="Rectangle 12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3020" name="Rectangle 15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43021" name="Picture 14"/>
          <p:cNvPicPr>
            <a:picLocks noChangeAspect="1"/>
          </p:cNvPicPr>
          <p:nvPr/>
        </p:nvPicPr>
        <p:blipFill>
          <a:blip r:embed="rId2"/>
          <a:srcRect l="31224" t="38208" r="13602" b="18309"/>
          <a:stretch>
            <a:fillRect/>
          </a:stretch>
        </p:blipFill>
        <p:spPr>
          <a:xfrm>
            <a:off x="762000" y="1143000"/>
            <a:ext cx="7620000" cy="4283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35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36" name="Text Box 5"/>
          <p:cNvSpPr txBox="1"/>
          <p:nvPr/>
        </p:nvSpPr>
        <p:spPr>
          <a:xfrm>
            <a:off x="76200" y="381000"/>
            <a:ext cx="9068435" cy="457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457200" indent="0" algn="just" defTabSz="914400" eaLnBrk="1" fontAlgn="base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latin typeface="黑体" panose="02010609060101010101" charset="-122"/>
                <a:ea typeface="仿宋_GB2312" charset="0"/>
              </a:rPr>
              <a:t>4</a:t>
            </a:r>
            <a:r>
              <a:rPr lang="zh-CN" altLang="en-US" sz="2800" b="1" i="0">
                <a:latin typeface="Times New Roman" panose="02020603050405020304" pitchFamily="18" charset="0"/>
                <a:ea typeface="仿宋_GB2312" charset="0"/>
              </a:rPr>
              <a:t>．</a:t>
            </a:r>
            <a:r>
              <a:rPr sz="2800" b="1" i="0">
                <a:solidFill>
                  <a:srgbClr val="80007F"/>
                </a:solidFill>
                <a:latin typeface="Times New Roman" panose="02020603050405020304" pitchFamily="18" charset="0"/>
                <a:ea typeface="仿宋_GB2312" charset="0"/>
              </a:rPr>
              <a:t>第</a:t>
            </a:r>
            <a:r>
              <a:rPr sz="2800" b="1" i="0">
                <a:solidFill>
                  <a:srgbClr val="80007F"/>
                </a:solidFill>
                <a:latin typeface="黑体" panose="02010609060101010101" charset="-122"/>
                <a:ea typeface="仿宋_GB2312" charset="0"/>
              </a:rPr>
              <a:t>4</a:t>
            </a:r>
            <a:r>
              <a:rPr sz="2800" b="1" i="0">
                <a:solidFill>
                  <a:srgbClr val="80007F"/>
                </a:solidFill>
                <a:latin typeface="Times New Roman" panose="02020603050405020304" pitchFamily="18" charset="0"/>
                <a:ea typeface="仿宋_GB2312" charset="0"/>
              </a:rPr>
              <a:t>层用例图</a:t>
            </a:r>
            <a:endParaRPr lang="ko-KR" altLang="en-US" sz="2800" b="1" i="0">
              <a:solidFill>
                <a:srgbClr val="FF0000"/>
              </a:solidFill>
              <a:latin typeface="Times New Roman" panose="02020603050405020304" pitchFamily="18" charset="0"/>
              <a:ea typeface="仿宋_GB2312" charset="0"/>
            </a:endParaRPr>
          </a:p>
        </p:txBody>
      </p:sp>
      <p:sp>
        <p:nvSpPr>
          <p:cNvPr id="44037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38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39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40" name="Rectangle 9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41" name="Rectangle 10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42" name="Rectangle 11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43" name="Rectangle 12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44" name="Rectangle 13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4045" name="Rectangle 16"/>
          <p:cNvSpPr/>
          <p:nvPr/>
        </p:nvSpPr>
        <p:spPr>
          <a:xfrm>
            <a:off x="2576830" y="233870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44046" name="Picture 15"/>
          <p:cNvPicPr>
            <a:picLocks noChangeAspect="1"/>
          </p:cNvPicPr>
          <p:nvPr/>
        </p:nvPicPr>
        <p:blipFill>
          <a:blip r:embed="rId2"/>
          <a:srcRect l="20593" t="33092" r="5109" b="12878"/>
          <a:stretch>
            <a:fillRect/>
          </a:stretch>
        </p:blipFill>
        <p:spPr>
          <a:xfrm>
            <a:off x="609600" y="1066800"/>
            <a:ext cx="8001000" cy="46596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47" name="Rectangle 18"/>
          <p:cNvSpPr/>
          <p:nvPr/>
        </p:nvSpPr>
        <p:spPr>
          <a:xfrm>
            <a:off x="304800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59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0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1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2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3" name="Rectangle 9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4" name="Rectangle 10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5" name="Rectangle 11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6" name="Rectangle 12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7" name="Rectangle 13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8" name="Rectangle 14"/>
          <p:cNvSpPr/>
          <p:nvPr/>
        </p:nvSpPr>
        <p:spPr>
          <a:xfrm>
            <a:off x="2576830" y="233870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69" name="Rectangle 16"/>
          <p:cNvSpPr/>
          <p:nvPr/>
        </p:nvSpPr>
        <p:spPr>
          <a:xfrm>
            <a:off x="304800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5070" name="Rectangle 18"/>
          <p:cNvSpPr/>
          <p:nvPr/>
        </p:nvSpPr>
        <p:spPr>
          <a:xfrm>
            <a:off x="3048000" y="243395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45071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8" t="25409" r="15724" b="22717"/>
          <a:stretch>
            <a:fillRect/>
          </a:stretch>
        </p:blipFill>
        <p:spPr>
          <a:xfrm>
            <a:off x="177165" y="442595"/>
            <a:ext cx="8453755" cy="550545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83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84" name="Text Box 5"/>
          <p:cNvSpPr txBox="1"/>
          <p:nvPr/>
        </p:nvSpPr>
        <p:spPr>
          <a:xfrm>
            <a:off x="76200" y="405130"/>
            <a:ext cx="9068435" cy="58426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1816100" indent="-1257300" algn="just" defTabSz="91440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3200" b="1" i="0">
                <a:solidFill>
                  <a:srgbClr val="0611F2"/>
                </a:solidFill>
                <a:latin typeface="黑体" panose="02010609060101010101" charset="-122"/>
                <a:ea typeface="黑体" panose="02010609060101010101" charset="-122"/>
              </a:rPr>
              <a:t>4.6.6  描述用例</a:t>
            </a:r>
            <a:endParaRPr lang="ko-KR" altLang="en-US" sz="3200" b="1" i="0">
              <a:solidFill>
                <a:srgbClr val="0611F2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1816100" indent="-1257300" algn="just" defTabSz="91440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800" b="1" i="0">
                <a:solidFill>
                  <a:srgbClr val="0070C0"/>
                </a:solidFill>
                <a:latin typeface="黑体" panose="02010609060101010101" charset="-122"/>
                <a:ea typeface="仿宋_GB2312" charset="0"/>
              </a:rPr>
              <a:t>1</a:t>
            </a:r>
            <a:r>
              <a:rPr lang="zh-CN" altLang="en-US" sz="2800" b="1" i="0">
                <a:solidFill>
                  <a:srgbClr val="0070C0"/>
                </a:solidFill>
                <a:latin typeface="Times New Roman" panose="02020603050405020304" pitchFamily="18" charset="0"/>
                <a:ea typeface="仿宋_GB2312" charset="0"/>
              </a:rPr>
              <a:t>．“增加销售合同”用例</a:t>
            </a:r>
            <a:endParaRPr lang="ko-KR" altLang="en-US" sz="2800" b="1" i="0">
              <a:solidFill>
                <a:srgbClr val="0070C0"/>
              </a:solidFill>
              <a:latin typeface="Times New Roman" panose="02020603050405020304" pitchFamily="18" charset="0"/>
              <a:ea typeface="仿宋_GB2312" charset="0"/>
            </a:endParaRPr>
          </a:p>
          <a:p>
            <a:pPr marL="1816100" indent="-125730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用例编号：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04010101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（共有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层用例图结构，每层用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位数字表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16100" indent="-125730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示，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采用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位编号。）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816100" indent="-125730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用例名：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增加销售合同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816100" indent="-125730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执行者: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人执行者：合同管理员、客户、公司经理。系统执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816100" indent="-125730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行者：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财务管理子系统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和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生产调度管理子系统</a:t>
            </a:r>
            <a:r>
              <a:rPr lang="zh-CN" altLang="en-US" sz="2400" b="1" i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816100" indent="-125730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目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的: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合同管理员将与客户签订的销售合同的详细内容录入管理系统，用于对销售合同进行统计、查询、检查是否履约等，监控正在履约的合同。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816100" indent="-125730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类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型：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端点、主要的、基本的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816100" indent="-125730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级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别：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一</a:t>
            </a: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级</a:t>
            </a:r>
            <a:endParaRPr lang="ko-KR" altLang="en-US" sz="2400" b="1" i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1816100" indent="-1257300" algn="just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24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i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ko-KR" altLang="en-US" sz="2800" b="1" i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085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86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87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88" name="Rectangle 9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89" name="Rectangle 10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90" name="Rectangle 11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91" name="Rectangle 12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92" name="Rectangle 13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93" name="Rectangle 14"/>
          <p:cNvSpPr/>
          <p:nvPr/>
        </p:nvSpPr>
        <p:spPr>
          <a:xfrm>
            <a:off x="2576830" y="233870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6094" name="Rectangle 16"/>
          <p:cNvSpPr/>
          <p:nvPr/>
        </p:nvSpPr>
        <p:spPr>
          <a:xfrm>
            <a:off x="304800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07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08" name="Text Box 5"/>
          <p:cNvSpPr txBox="1"/>
          <p:nvPr/>
        </p:nvSpPr>
        <p:spPr>
          <a:xfrm>
            <a:off x="76200" y="0"/>
            <a:ext cx="9067800" cy="699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过程描述：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）合同管理员输入标识码（</a:t>
            </a:r>
            <a:r>
              <a:rPr lang="en-US" altLang="zh-CN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en-US" altLang="zh-CN" sz="2400" b="1" dirty="0">
                <a:latin typeface="宋体" panose="02010600030101010101" pitchFamily="2" charset="-122"/>
              </a:rPr>
              <a:t>），</a:t>
            </a:r>
            <a:r>
              <a:rPr lang="zh-CN" altLang="en-US" sz="2400" b="1" dirty="0">
                <a:latin typeface="宋体" panose="02010600030101010101" pitchFamily="2" charset="-122"/>
              </a:rPr>
              <a:t>系统识别标识码的有效性；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）初始化一个新销售合同，设置各种处室标志；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）输入一个新的具有唯一性的合同编号；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）将与客户签订的销售合同的详细内容录入管理系统；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）退出系统。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与其它用例的关联：过程描述（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）中包含身份验证用例；（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）中包含编号自动生成用例。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异常事件流处理：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）标识码有效性检查失败：系统检测标识码有效性失败，允许重新输入。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）编号也可以由合同管理员手动输入，系统自动进行唯一性检查。出现错误，允许重新输入。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  <a:ea typeface="仿宋_GB2312" pitchFamily="49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仿宋_GB2312" pitchFamily="49" charset="-122"/>
              </a:rPr>
              <a:t>．“修改合同”用例</a:t>
            </a:r>
            <a:endParaRPr lang="zh-CN" altLang="en-US" sz="2400" b="1" dirty="0">
              <a:latin typeface="宋体" panose="02010600030101010101" pitchFamily="2" charset="-122"/>
              <a:ea typeface="仿宋_GB2312" pitchFamily="49" charset="-122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2400" b="1" dirty="0">
                <a:latin typeface="Times New Roman" panose="02020603050405020304" pitchFamily="18" charset="0"/>
              </a:rPr>
              <a:t>……………</a:t>
            </a:r>
            <a:endParaRPr lang="zh-CN" altLang="en-US" sz="24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7109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10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11" name="Rectangle 8"/>
          <p:cNvSpPr/>
          <p:nvPr/>
        </p:nvSpPr>
        <p:spPr>
          <a:xfrm>
            <a:off x="2190750" y="1695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12" name="Rectangle 9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13" name="Rectangle 10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14" name="Rectangle 11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15" name="Rectangle 12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16" name="Rectangle 13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17" name="Rectangle 14"/>
          <p:cNvSpPr/>
          <p:nvPr/>
        </p:nvSpPr>
        <p:spPr>
          <a:xfrm>
            <a:off x="2576830" y="233870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118" name="Rectangle 15"/>
          <p:cNvSpPr/>
          <p:nvPr/>
        </p:nvSpPr>
        <p:spPr>
          <a:xfrm>
            <a:off x="304800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31" name="Rectangle 4"/>
          <p:cNvSpPr/>
          <p:nvPr/>
        </p:nvSpPr>
        <p:spPr>
          <a:xfrm>
            <a:off x="2514600" y="28816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32" name="Text Box 5"/>
          <p:cNvSpPr txBox="1"/>
          <p:nvPr/>
        </p:nvSpPr>
        <p:spPr>
          <a:xfrm>
            <a:off x="76200" y="0"/>
            <a:ext cx="9067800" cy="1365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endParaRPr lang="zh-CN" altLang="en-US" sz="3600" dirty="0">
              <a:latin typeface="Arial" panose="020B0604020202020204" pitchFamily="34" charset="0"/>
              <a:ea typeface="黑体" panose="02010609060101010101" charset="-122"/>
            </a:endParaRPr>
          </a:p>
          <a:p>
            <a:pPr marL="1816100" lvl="1" indent="-1257300" algn="just"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zh-CN" altLang="en-US" sz="4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作 业：</a:t>
            </a:r>
          </a:p>
        </p:txBody>
      </p:sp>
      <p:sp>
        <p:nvSpPr>
          <p:cNvPr id="48133" name="Rectangle 6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34" name="Rectangle 7"/>
          <p:cNvSpPr/>
          <p:nvPr/>
        </p:nvSpPr>
        <p:spPr>
          <a:xfrm>
            <a:off x="2743200" y="265303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35" name="Rectangle 9"/>
          <p:cNvSpPr/>
          <p:nvPr/>
        </p:nvSpPr>
        <p:spPr>
          <a:xfrm>
            <a:off x="2762250" y="23907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36" name="Rectangle 10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37" name="Rectangle 11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38" name="Rectangle 12"/>
          <p:cNvSpPr/>
          <p:nvPr/>
        </p:nvSpPr>
        <p:spPr>
          <a:xfrm>
            <a:off x="3034030" y="25336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39" name="Rectangle 13"/>
          <p:cNvSpPr/>
          <p:nvPr/>
        </p:nvSpPr>
        <p:spPr>
          <a:xfrm>
            <a:off x="309118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40" name="Rectangle 14"/>
          <p:cNvSpPr/>
          <p:nvPr/>
        </p:nvSpPr>
        <p:spPr>
          <a:xfrm>
            <a:off x="2576830" y="233870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41" name="Rectangle 15"/>
          <p:cNvSpPr/>
          <p:nvPr/>
        </p:nvSpPr>
        <p:spPr>
          <a:xfrm>
            <a:off x="3048000" y="34290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8142" name="Text Box 5"/>
          <p:cNvSpPr txBox="1"/>
          <p:nvPr/>
        </p:nvSpPr>
        <p:spPr>
          <a:xfrm>
            <a:off x="207865" y="1711902"/>
            <a:ext cx="8472805" cy="276075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816100" lvl="1" indent="-1257300" eaLnBrk="1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3600" dirty="0">
                <a:latin typeface="Arial" panose="020B0604020202020204" pitchFamily="34" charset="0"/>
                <a:ea typeface="黑体" panose="02010609060101010101" charset="-122"/>
              </a:rPr>
              <a:t>      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charset="-122"/>
              </a:rPr>
              <a:t>对自己选定的软件项目进行需求分</a:t>
            </a:r>
            <a:endParaRPr lang="en-US" altLang="zh-CN" sz="3600" dirty="0">
              <a:latin typeface="Arial" panose="020B0604020202020204" pitchFamily="34" charset="0"/>
              <a:ea typeface="黑体" panose="02010609060101010101" charset="-122"/>
            </a:endParaRPr>
          </a:p>
          <a:p>
            <a:pPr marL="1816100" lvl="1" indent="-1257300" eaLnBrk="1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3600" dirty="0">
                <a:latin typeface="Arial" panose="020B0604020202020204" pitchFamily="34" charset="0"/>
                <a:ea typeface="黑体" panose="02010609060101010101" charset="-122"/>
              </a:rPr>
              <a:t>析，绘制出软件项目开发的</a:t>
            </a:r>
            <a:r>
              <a:rPr lang="zh-CN" altLang="en-US" sz="36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用例图</a:t>
            </a:r>
            <a:r>
              <a:rPr lang="zh-CN" altLang="en-US" sz="3600" dirty="0">
                <a:latin typeface="Arial" panose="020B0604020202020204" pitchFamily="34" charset="0"/>
                <a:ea typeface="黑体" panose="02010609060101010101" charset="-122"/>
              </a:rPr>
              <a:t>，</a:t>
            </a:r>
            <a:endParaRPr lang="en-US" altLang="zh-CN" sz="3600" dirty="0">
              <a:latin typeface="Arial" panose="020B0604020202020204" pitchFamily="34" charset="0"/>
              <a:ea typeface="黑体" panose="02010609060101010101" charset="-122"/>
            </a:endParaRPr>
          </a:p>
          <a:p>
            <a:pPr marL="1816100" lvl="1" indent="-1257300" eaLnBrk="1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36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撰写可行性分析</a:t>
            </a:r>
            <a:r>
              <a:rPr lang="zh-CN" altLang="en-US" sz="36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报告和需求分析规格</a:t>
            </a:r>
            <a:endParaRPr lang="en-US" altLang="zh-CN" sz="36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1816100" lvl="1" indent="-1257300" eaLnBrk="1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36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说明书</a:t>
            </a:r>
            <a:r>
              <a:rPr lang="zh-CN" altLang="en-US" sz="3600" dirty="0" smtClean="0">
                <a:latin typeface="Arial" panose="020B0604020202020204" pitchFamily="34" charset="0"/>
                <a:ea typeface="黑体" panose="02010609060101010101" charset="-122"/>
              </a:rPr>
              <a:t>。</a:t>
            </a:r>
            <a:endParaRPr lang="zh-CN" altLang="en-US" sz="360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48143" name="Text Box 5"/>
          <p:cNvSpPr txBox="1"/>
          <p:nvPr/>
        </p:nvSpPr>
        <p:spPr>
          <a:xfrm>
            <a:off x="111291" y="4472658"/>
            <a:ext cx="8950325" cy="19098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>
            <a:noAutofit/>
          </a:bodyPr>
          <a:lstStyle/>
          <a:p>
            <a:pPr marL="1816100" indent="-1257300" defTabSz="91440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Tx/>
              <a:buNone/>
            </a:pPr>
            <a:r>
              <a:rPr lang="zh-CN" altLang="en-US" sz="3600" b="0" i="1" dirty="0">
                <a:solidFill>
                  <a:srgbClr val="7030A0"/>
                </a:solidFill>
                <a:latin typeface="Arial" panose="020B0604020202020204" pitchFamily="34" charset="0"/>
                <a:ea typeface="黑体" panose="02010609060101010101" charset="-122"/>
              </a:rPr>
              <a:t>要求</a:t>
            </a:r>
            <a:r>
              <a:rPr lang="zh-CN" altLang="en-US" sz="3600" b="0" i="1" dirty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：</a:t>
            </a:r>
            <a:r>
              <a:rPr lang="zh-CN" altLang="en-US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在第</a:t>
            </a:r>
            <a:r>
              <a:rPr lang="en-US" altLang="zh-CN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6</a:t>
            </a:r>
            <a:r>
              <a:rPr lang="zh-CN" altLang="en-US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周二（</a:t>
            </a:r>
            <a:r>
              <a:rPr lang="en-US" altLang="zh-CN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4</a:t>
            </a:r>
            <a:r>
              <a:rPr lang="zh-CN" altLang="en-US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月</a:t>
            </a:r>
            <a:r>
              <a:rPr lang="en-US" altLang="zh-CN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2</a:t>
            </a:r>
            <a:r>
              <a:rPr lang="zh-CN" altLang="en-US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日</a:t>
            </a:r>
            <a:r>
              <a:rPr lang="en-US" altLang="zh-CN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)</a:t>
            </a:r>
            <a:r>
              <a:rPr lang="zh-CN" altLang="en-US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上午</a:t>
            </a:r>
            <a:r>
              <a:rPr lang="en-US" altLang="zh-CN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10</a:t>
            </a:r>
            <a:r>
              <a:rPr lang="zh-CN" altLang="en-US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点前提交</a:t>
            </a:r>
            <a:endParaRPr lang="zh-CN" altLang="en-US" sz="2800" b="0" i="1" dirty="0">
              <a:solidFill>
                <a:srgbClr val="0070C0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1816100" indent="-125730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800" b="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每个小组提交</a:t>
            </a:r>
            <a:r>
              <a:rPr lang="zh-CN" altLang="en-US" sz="2800" i="1" dirty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一份， </a:t>
            </a:r>
            <a:r>
              <a:rPr lang="zh-CN" altLang="en-US" sz="280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课堂</a:t>
            </a:r>
            <a:r>
              <a:rPr lang="zh-CN" altLang="en-US" sz="2800" i="1" dirty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上</a:t>
            </a:r>
            <a:r>
              <a:rPr lang="zh-CN" altLang="en-US" sz="280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随机请小组在上课时间</a:t>
            </a:r>
            <a:endParaRPr lang="en-US" altLang="zh-CN" sz="2800" i="1" dirty="0" smtClean="0">
              <a:solidFill>
                <a:srgbClr val="0070C0"/>
              </a:solidFill>
              <a:latin typeface="Arial" panose="020B0604020202020204" pitchFamily="34" charset="0"/>
              <a:ea typeface="黑体" panose="02010609060101010101" charset="-122"/>
            </a:endParaRPr>
          </a:p>
          <a:p>
            <a:pPr marL="1816100" indent="-125730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800" i="1" dirty="0" smtClean="0">
                <a:solidFill>
                  <a:srgbClr val="0070C0"/>
                </a:solidFill>
                <a:latin typeface="Arial" panose="020B0604020202020204" pitchFamily="34" charset="0"/>
                <a:ea typeface="黑体" panose="02010609060101010101" charset="-122"/>
              </a:rPr>
              <a:t>教师机上进行分享交流）</a:t>
            </a:r>
            <a:endParaRPr lang="zh-CN" altLang="en-US" sz="2800" b="0" i="1" dirty="0">
              <a:solidFill>
                <a:srgbClr val="0070C0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MxYmY1NjA5NjhkNmFiOTUxMjU1MzlhYWVlMzA0YWYifQ==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Pages>43</Pages>
  <Words>2155</Words>
  <Application>Microsoft Office PowerPoint</Application>
  <PresentationFormat>全屏显示(4:3)</PresentationFormat>
  <Paragraphs>301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仿宋_GB2312</vt:lpstr>
      <vt:lpstr>黑体</vt:lpstr>
      <vt:lpstr>宋体</vt:lpstr>
      <vt:lpstr>微软雅黑</vt:lpstr>
      <vt:lpstr>幼圆</vt:lpstr>
      <vt:lpstr>Arial</vt:lpstr>
      <vt:lpstr>Times New Roman</vt:lpstr>
      <vt:lpstr>Verdana</vt:lpstr>
      <vt:lpstr>Wingdings</vt:lpstr>
      <vt:lpstr>Profile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elite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绪论 1.1  程序设计与程序设计语言</dc:title>
  <dc:creator>shasha</dc:creator>
  <cp:lastModifiedBy>SWPU</cp:lastModifiedBy>
  <cp:revision>11</cp:revision>
  <dcterms:created xsi:type="dcterms:W3CDTF">2024-03-18T13:44:00Z</dcterms:created>
  <dcterms:modified xsi:type="dcterms:W3CDTF">2025-03-18T08:17:34Z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EF1F513DA07248528DC060A125B86C50_13</vt:lpwstr>
  </property>
</Properties>
</file>