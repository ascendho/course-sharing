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handoutMasterIdLst>
    <p:handoutMasterId r:id="rId72"/>
  </p:handoutMasterIdLst>
  <p:sldIdLst>
    <p:sldId id="260" r:id="rId3"/>
    <p:sldId id="370" r:id="rId4"/>
    <p:sldId id="304" r:id="rId5"/>
    <p:sldId id="303" r:id="rId6"/>
    <p:sldId id="305" r:id="rId7"/>
    <p:sldId id="261" r:id="rId8"/>
    <p:sldId id="306" r:id="rId9"/>
    <p:sldId id="262" r:id="rId10"/>
    <p:sldId id="307" r:id="rId11"/>
    <p:sldId id="308" r:id="rId12"/>
    <p:sldId id="264" r:id="rId13"/>
    <p:sldId id="309" r:id="rId14"/>
    <p:sldId id="310" r:id="rId15"/>
    <p:sldId id="265" r:id="rId16"/>
    <p:sldId id="311" r:id="rId17"/>
    <p:sldId id="266" r:id="rId18"/>
    <p:sldId id="312"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313" r:id="rId38"/>
    <p:sldId id="285" r:id="rId39"/>
    <p:sldId id="286" r:id="rId40"/>
    <p:sldId id="287" r:id="rId41"/>
    <p:sldId id="334" r:id="rId42"/>
    <p:sldId id="288" r:id="rId43"/>
    <p:sldId id="289" r:id="rId44"/>
    <p:sldId id="290" r:id="rId45"/>
    <p:sldId id="291" r:id="rId46"/>
    <p:sldId id="292" r:id="rId47"/>
    <p:sldId id="293" r:id="rId48"/>
    <p:sldId id="294" r:id="rId49"/>
    <p:sldId id="318" r:id="rId50"/>
    <p:sldId id="317" r:id="rId51"/>
    <p:sldId id="319" r:id="rId52"/>
    <p:sldId id="320" r:id="rId53"/>
    <p:sldId id="321" r:id="rId54"/>
    <p:sldId id="322" r:id="rId55"/>
    <p:sldId id="323" r:id="rId56"/>
    <p:sldId id="324" r:id="rId57"/>
    <p:sldId id="325" r:id="rId58"/>
    <p:sldId id="326" r:id="rId59"/>
    <p:sldId id="328" r:id="rId60"/>
    <p:sldId id="329" r:id="rId61"/>
    <p:sldId id="330" r:id="rId62"/>
    <p:sldId id="331" r:id="rId63"/>
    <p:sldId id="332" r:id="rId64"/>
    <p:sldId id="296" r:id="rId65"/>
    <p:sldId id="297" r:id="rId66"/>
    <p:sldId id="333" r:id="rId67"/>
    <p:sldId id="299" r:id="rId68"/>
    <p:sldId id="300" r:id="rId69"/>
    <p:sldId id="316" r:id="rId70"/>
  </p:sldIdLst>
  <p:sldSz cx="9144000" cy="6858000"/>
  <p:notesSz cx="6858000" cy="9144000"/>
  <p:custDataLst>
    <p:tags r:id="rId76"/>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98" userDrawn="1">
          <p15:clr>
            <a:srgbClr val="A4A3A4"/>
          </p15:clr>
        </p15:guide>
        <p15:guide id="2" pos="2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6B0"/>
    <a:srgbClr val="FF0000"/>
    <a:srgbClr val="A8C9EA"/>
    <a:srgbClr val="CCFF66"/>
    <a:srgbClr val="FFFFCC"/>
    <a:srgbClr val="F9DF9F"/>
    <a:srgbClr val="FFFF66"/>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068"/>
    <p:restoredTop sz="94660"/>
  </p:normalViewPr>
  <p:slideViewPr>
    <p:cSldViewPr snapToObjects="1" showGuides="1">
      <p:cViewPr varScale="1">
        <p:scale>
          <a:sx n="166" d="100"/>
          <a:sy n="166" d="100"/>
        </p:scale>
        <p:origin x="1556" y="100"/>
      </p:cViewPr>
      <p:guideLst>
        <p:guide orient="horz" pos="2098"/>
        <p:guide pos="285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6" Type="http://schemas.openxmlformats.org/officeDocument/2006/relationships/tags" Target="tags/tag1.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notesMaster" Target="notesMasters/notesMaster1.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B6A2CB-A1EE-4BF5-917C-98E5234D1A75}" type="slidenum">
              <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8C6E41E-FB8A-4E85-B2F1-8EB01D5DDAB6}" type="slidenum">
              <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427010"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endParaRPr lang="zh-CN" altLang="en-US" noProof="1"/>
          </a:p>
        </p:txBody>
      </p:sp>
      <p:sp>
        <p:nvSpPr>
          <p:cNvPr id="427011"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endParaRPr lang="zh-CN" altLang="en-US" noProof="1"/>
          </a:p>
        </p:txBody>
      </p:sp>
      <p:sp>
        <p:nvSpPr>
          <p:cNvPr id="7"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eaLnBrk="1" hangingPunct="1">
              <a:buFontTx/>
              <a:buNone/>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fld id="{3B351F4F-8E7A-4528-9123-25ECB846DDF8}"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lgn="ctr" eaLnBrk="1" hangingPunct="1">
              <a:buFontTx/>
              <a:buNone/>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UML系统建模与分析设计</a:t>
            </a: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F06DABD-E8EA-4398-8223-B1DD14E290C1}" type="slidenum">
              <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539750" y="1773238"/>
            <a:ext cx="3924300" cy="4679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6450" y="1773238"/>
            <a:ext cx="3924300" cy="4679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4475" y="188913"/>
            <a:ext cx="2017713" cy="626427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539750" y="188913"/>
            <a:ext cx="5902325" cy="6264275"/>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11188" y="188913"/>
            <a:ext cx="8001000" cy="1216025"/>
          </a:xfrm>
          <a:prstGeom prst="rect">
            <a:avLst/>
          </a:prstGeom>
          <a:noFill/>
          <a:ln w="9525">
            <a:noFill/>
          </a:ln>
        </p:spPr>
        <p:txBody>
          <a:bodyPr anchor="b"/>
          <a:lstStyle/>
          <a:p>
            <a:pPr lvl="0"/>
            <a:r>
              <a:rPr lang="zh-CN" altLang="en-US" dirty="0"/>
              <a:t>单击此处编辑母版标题样式</a:t>
            </a:r>
            <a:endParaRPr lang="zh-CN" altLang="en-US" dirty="0"/>
          </a:p>
        </p:txBody>
      </p:sp>
      <p:sp>
        <p:nvSpPr>
          <p:cNvPr id="1027" name="Rectangle 3"/>
          <p:cNvSpPr>
            <a:spLocks noGrp="1"/>
          </p:cNvSpPr>
          <p:nvPr>
            <p:ph type="body"/>
          </p:nvPr>
        </p:nvSpPr>
        <p:spPr>
          <a:xfrm>
            <a:off x="539750" y="1773238"/>
            <a:ext cx="8001000" cy="467995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p:nvPr/>
        </p:nvSpPr>
        <p:spPr>
          <a:xfrm>
            <a:off x="609600" y="1566863"/>
            <a:ext cx="7958138" cy="109537"/>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1029" name="Line 5"/>
          <p:cNvSpPr/>
          <p:nvPr/>
        </p:nvSpPr>
        <p:spPr>
          <a:xfrm flipV="1">
            <a:off x="609600" y="6172200"/>
            <a:ext cx="7924800" cy="0"/>
          </a:xfrm>
          <a:prstGeom prst="line">
            <a:avLst/>
          </a:prstGeom>
          <a:ln w="3175" cap="flat" cmpd="sng">
            <a:solidFill>
              <a:schemeClr val="accent2"/>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jpeg"/><Relationship Id="rId1" Type="http://schemas.openxmlformats.org/officeDocument/2006/relationships/image" Target="../media/image20.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jpeg"/><Relationship Id="rId1" Type="http://schemas.openxmlformats.org/officeDocument/2006/relationships/image" Target="../media/image25.jpe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p:cNvSpPr>
          <p:nvPr>
            <p:ph type="title"/>
          </p:nvPr>
        </p:nvSpPr>
        <p:spPr>
          <a:xfrm>
            <a:off x="683260" y="476885"/>
            <a:ext cx="8134350" cy="935355"/>
          </a:xfrm>
        </p:spPr>
        <p:txBody>
          <a:bodyPr vert="horz" wrap="square" lIns="91440" tIns="45720" rIns="91440" bIns="45720" anchor="b"/>
          <a:lstStyle/>
          <a:p>
            <a:pPr eaLnBrk="1" hangingPunct="1"/>
            <a:r>
              <a:rPr lang="zh-CN" altLang="en-US" sz="42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微软雅黑" panose="020B0503020204020204" charset="-122"/>
              </a:rPr>
              <a:t>第五讲  系统分析与对象类建模</a:t>
            </a:r>
            <a:r>
              <a:rPr lang="zh-CN" altLang="en-US" dirty="0">
                <a:latin typeface="微软雅黑" panose="020B0503020204020204" charset="-122"/>
                <a:ea typeface="微软雅黑" panose="020B0503020204020204" charset="-122"/>
                <a:cs typeface="微软雅黑" panose="020B0503020204020204" charset="-122"/>
              </a:rPr>
              <a:t> </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5123" name="Rectangle 4"/>
          <p:cNvSpPr>
            <a:spLocks noGrp="1"/>
          </p:cNvSpPr>
          <p:nvPr>
            <p:ph idx="1"/>
          </p:nvPr>
        </p:nvSpPr>
        <p:spPr>
          <a:xfrm>
            <a:off x="755650" y="1700530"/>
            <a:ext cx="7772400" cy="4465320"/>
          </a:xfrm>
        </p:spPr>
        <p:txBody>
          <a:bodyPr vert="horz" wrap="square" lIns="91440" tIns="45720" rIns="91440" bIns="45720" anchor="t"/>
          <a:lstStyle/>
          <a:p>
            <a:pPr eaLnBrk="1" latinLnBrk="0" hangingPunct="1">
              <a:lnSpc>
                <a:spcPct val="125000"/>
              </a:lnSpc>
              <a:spcBef>
                <a:spcPts val="600"/>
              </a:spcBef>
              <a:buFont typeface="Wingdings" panose="05000000000000000000" charset="0"/>
              <a:buChar char="p"/>
            </a:pPr>
            <a:r>
              <a:rPr lang="zh-CN" altLang="en-US" sz="3200" dirty="0">
                <a:latin typeface="微软雅黑" panose="020B0503020204020204" charset="-122"/>
                <a:ea typeface="微软雅黑" panose="020B0503020204020204" charset="-122"/>
                <a:cs typeface="微软雅黑" panose="020B0503020204020204" charset="-122"/>
              </a:rPr>
              <a:t>系统分析阶段的任务，是在客户需求分析的基础上重点考虑建立系统所采用的</a:t>
            </a:r>
            <a:r>
              <a:rPr lang="zh-CN" altLang="en-US" sz="3200" dirty="0">
                <a:solidFill>
                  <a:srgbClr val="FF0000"/>
                </a:solidFill>
                <a:latin typeface="微软雅黑" panose="020B0503020204020204" charset="-122"/>
                <a:ea typeface="微软雅黑" panose="020B0503020204020204" charset="-122"/>
                <a:cs typeface="微软雅黑" panose="020B0503020204020204" charset="-122"/>
              </a:rPr>
              <a:t>技术特点、算法实现、并发执行和环境特点</a:t>
            </a:r>
            <a:r>
              <a:rPr lang="zh-CN" altLang="en-US" sz="3200" dirty="0">
                <a:latin typeface="微软雅黑" panose="020B0503020204020204" charset="-122"/>
                <a:ea typeface="微软雅黑" panose="020B0503020204020204" charset="-122"/>
                <a:cs typeface="微软雅黑" panose="020B0503020204020204" charset="-122"/>
              </a:rPr>
              <a:t>，对已建立的模型进一步细化。</a:t>
            </a:r>
            <a:endParaRPr lang="zh-CN" altLang="en-US" sz="3200" dirty="0">
              <a:latin typeface="微软雅黑" panose="020B0503020204020204" charset="-122"/>
              <a:ea typeface="微软雅黑" panose="020B0503020204020204" charset="-122"/>
              <a:cs typeface="微软雅黑" panose="020B0503020204020204" charset="-122"/>
            </a:endParaRPr>
          </a:p>
          <a:p>
            <a:pPr eaLnBrk="1" latinLnBrk="0" hangingPunct="1">
              <a:lnSpc>
                <a:spcPct val="125000"/>
              </a:lnSpc>
              <a:spcBef>
                <a:spcPts val="1200"/>
              </a:spcBef>
              <a:buFont typeface="Wingdings" panose="05000000000000000000" charset="0"/>
              <a:buChar char="p"/>
            </a:pPr>
            <a:r>
              <a:rPr lang="zh-CN" altLang="en-US" sz="3200" dirty="0">
                <a:latin typeface="微软雅黑" panose="020B0503020204020204" charset="-122"/>
                <a:ea typeface="微软雅黑" panose="020B0503020204020204" charset="-122"/>
                <a:cs typeface="微软雅黑" panose="020B0503020204020204" charset="-122"/>
              </a:rPr>
              <a:t>系统分析和客户需求分析所采用的模型和图符表示完全一样。</a:t>
            </a:r>
            <a:endParaRPr lang="zh-CN" altLang="en-US" sz="32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p:cNvSpPr>
          <p:nvPr>
            <p:ph idx="1"/>
          </p:nvPr>
        </p:nvSpPr>
        <p:spPr>
          <a:xfrm>
            <a:off x="755650" y="1700530"/>
            <a:ext cx="7772400" cy="4465320"/>
          </a:xfrm>
        </p:spPr>
        <p:txBody>
          <a:bodyPr vert="horz" wrap="square" lIns="91440" tIns="45720" rIns="91440" bIns="45720" anchor="t"/>
          <a:lstStyle/>
          <a:p>
            <a:pPr eaLnBrk="1" hangingPunct="1">
              <a:buNone/>
            </a:pPr>
            <a:r>
              <a:rPr lang="zh-CN" altLang="en-US" sz="3400" dirty="0">
                <a:ea typeface="黑体" panose="02010609060101010101" pitchFamily="49" charset="-122"/>
              </a:rPr>
              <a:t>本讲学习目的：</a:t>
            </a:r>
            <a:endParaRPr lang="zh-CN" altLang="en-US" sz="3400" dirty="0">
              <a:ea typeface="黑体" panose="02010609060101010101" pitchFamily="49" charset="-122"/>
            </a:endParaRPr>
          </a:p>
          <a:p>
            <a:pPr eaLnBrk="1" hangingPunct="1"/>
            <a:r>
              <a:rPr lang="zh-CN" altLang="en-US" sz="2600" b="1" dirty="0">
                <a:latin typeface="楷体_GB2312" pitchFamily="49" charset="-122"/>
              </a:rPr>
              <a:t>掌握系统分析的内容与方法</a:t>
            </a:r>
            <a:endParaRPr lang="zh-CN" altLang="en-US" sz="2600" b="1" dirty="0">
              <a:latin typeface="楷体_GB2312" pitchFamily="49" charset="-122"/>
            </a:endParaRPr>
          </a:p>
          <a:p>
            <a:pPr eaLnBrk="1" hangingPunct="1"/>
            <a:r>
              <a:rPr lang="zh-CN" altLang="en-US" sz="2600" b="1" dirty="0">
                <a:latin typeface="楷体_GB2312" pitchFamily="49" charset="-122"/>
              </a:rPr>
              <a:t>掌握系统分析规格说明书的基本书写格式</a:t>
            </a:r>
            <a:endParaRPr lang="zh-CN" altLang="en-US" sz="2600" b="1" dirty="0">
              <a:latin typeface="楷体_GB2312" pitchFamily="49" charset="-122"/>
            </a:endParaRPr>
          </a:p>
          <a:p>
            <a:pPr eaLnBrk="1" hangingPunct="1"/>
            <a:r>
              <a:rPr lang="zh-CN" altLang="en-US" sz="2600" b="1" dirty="0">
                <a:latin typeface="楷体_GB2312" pitchFamily="49" charset="-122"/>
              </a:rPr>
              <a:t>了解寻找和确定一个系统中对象类的方法</a:t>
            </a:r>
            <a:endParaRPr lang="zh-CN" altLang="en-US" sz="2600" b="1" dirty="0">
              <a:latin typeface="楷体_GB2312" pitchFamily="49" charset="-122"/>
            </a:endParaRPr>
          </a:p>
          <a:p>
            <a:pPr eaLnBrk="1" hangingPunct="1"/>
            <a:r>
              <a:rPr lang="zh-CN" altLang="en-US" sz="2600" b="1" dirty="0">
                <a:latin typeface="楷体_GB2312" pitchFamily="49" charset="-122"/>
              </a:rPr>
              <a:t>掌握</a:t>
            </a:r>
            <a:r>
              <a:rPr lang="en-US" altLang="zh-CN" sz="2600" b="1" dirty="0">
                <a:latin typeface="楷体_GB2312" pitchFamily="49" charset="-122"/>
              </a:rPr>
              <a:t>UML</a:t>
            </a:r>
            <a:r>
              <a:rPr lang="zh-CN" altLang="en-US" sz="2600" b="1" dirty="0">
                <a:latin typeface="楷体_GB2312" pitchFamily="49" charset="-122"/>
              </a:rPr>
              <a:t>中对象类属性和操作的定义和描述方法</a:t>
            </a:r>
            <a:endParaRPr lang="zh-CN" altLang="en-US" sz="2600" b="1" dirty="0">
              <a:latin typeface="楷体_GB2312" pitchFamily="49" charset="-122"/>
            </a:endParaRPr>
          </a:p>
          <a:p>
            <a:pPr eaLnBrk="1" hangingPunct="1"/>
            <a:r>
              <a:rPr lang="zh-CN" altLang="en-US" sz="2600" b="1" dirty="0">
                <a:latin typeface="楷体_GB2312" pitchFamily="49" charset="-122"/>
              </a:rPr>
              <a:t>掌握对象类之间的关系及其表示方法</a:t>
            </a:r>
            <a:endParaRPr lang="zh-CN" altLang="en-US" sz="2600" b="1" dirty="0">
              <a:latin typeface="楷体_GB2312" pitchFamily="49" charset="-122"/>
            </a:endParaRPr>
          </a:p>
          <a:p>
            <a:pPr eaLnBrk="1" hangingPunct="1"/>
            <a:r>
              <a:rPr lang="zh-CN" altLang="en-US" sz="2600" b="1" dirty="0">
                <a:latin typeface="楷体_GB2312" pitchFamily="49" charset="-122"/>
              </a:rPr>
              <a:t>掌握利用包（子系统）的层次关系描述系统体系结构</a:t>
            </a:r>
            <a:endParaRPr lang="zh-CN" altLang="en-US" sz="2600" b="1" dirty="0">
              <a:latin typeface="楷体_GB2312" pitchFamily="49" charset="-122"/>
            </a:endParaRPr>
          </a:p>
          <a:p>
            <a:pPr eaLnBrk="1" hangingPunct="1"/>
            <a:r>
              <a:rPr lang="zh-CN" altLang="en-US" sz="2600" b="1" dirty="0">
                <a:latin typeface="楷体_GB2312" pitchFamily="49" charset="-122"/>
              </a:rPr>
              <a:t>掌握类和对象建模方法</a:t>
            </a:r>
            <a:endParaRPr lang="zh-CN" altLang="en-US" sz="2600" b="1" dirty="0">
              <a:latin typeface="楷体_GB2312" pitchFamily="49" charset="-122"/>
            </a:endParaRPr>
          </a:p>
        </p:txBody>
      </p:sp>
      <p:sp>
        <p:nvSpPr>
          <p:cNvPr id="3" name="Rectangle 3"/>
          <p:cNvSpPr>
            <a:spLocks noGrp="1"/>
          </p:cNvSpPr>
          <p:nvPr>
            <p:ph type="title"/>
          </p:nvPr>
        </p:nvSpPr>
        <p:spPr>
          <a:xfrm>
            <a:off x="683260" y="476885"/>
            <a:ext cx="8134350" cy="935355"/>
          </a:xfrm>
        </p:spPr>
        <p:txBody>
          <a:bodyPr vert="horz" wrap="square" lIns="91440" tIns="45720" rIns="91440" bIns="45720" anchor="b"/>
          <a:p>
            <a:pPr eaLnBrk="1" hangingPunct="1"/>
            <a:r>
              <a:rPr lang="zh-CN" altLang="en-US" sz="42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微软雅黑" panose="020B0503020204020204" charset="-122"/>
              </a:rPr>
              <a:t>第五讲  系统分析与对象类建模</a:t>
            </a:r>
            <a:r>
              <a:rPr lang="zh-CN" altLang="en-US" dirty="0">
                <a:latin typeface="微软雅黑" panose="020B0503020204020204" charset="-122"/>
                <a:ea typeface="微软雅黑" panose="020B0503020204020204" charset="-122"/>
                <a:cs typeface="微软雅黑" panose="020B0503020204020204" charset="-122"/>
              </a:rPr>
              <a:t> </a:t>
            </a:r>
            <a:endParaRPr lang="zh-CN" altLang="en-US"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wipe(up)">
                                      <p:cBhvr>
                                        <p:cTn id="7" dur="10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3"/>
          <p:cNvSpPr txBox="1"/>
          <p:nvPr/>
        </p:nvSpPr>
        <p:spPr>
          <a:xfrm>
            <a:off x="250825" y="476250"/>
            <a:ext cx="3186113" cy="646113"/>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  </a:t>
            </a:r>
            <a:r>
              <a:rPr lang="zh-CN" altLang="en-US" sz="3600" dirty="0">
                <a:latin typeface="黑体" panose="02010609060101010101" pitchFamily="49" charset="-122"/>
                <a:ea typeface="黑体" panose="02010609060101010101" pitchFamily="49" charset="-122"/>
              </a:rPr>
              <a:t>系统分析</a:t>
            </a:r>
            <a:endParaRPr lang="zh-CN" altLang="en-US" sz="3600" dirty="0">
              <a:latin typeface="黑体" panose="02010609060101010101" pitchFamily="49" charset="-122"/>
              <a:ea typeface="黑体" panose="02010609060101010101" pitchFamily="49" charset="-122"/>
            </a:endParaRPr>
          </a:p>
        </p:txBody>
      </p:sp>
      <p:sp>
        <p:nvSpPr>
          <p:cNvPr id="6147" name="Text Box 5"/>
          <p:cNvSpPr txBox="1"/>
          <p:nvPr/>
        </p:nvSpPr>
        <p:spPr>
          <a:xfrm>
            <a:off x="468313" y="1916113"/>
            <a:ext cx="7920037" cy="1284287"/>
          </a:xfrm>
          <a:prstGeom prst="rect">
            <a:avLst/>
          </a:prstGeom>
          <a:noFill/>
          <a:ln w="9525">
            <a:noFill/>
          </a:ln>
        </p:spPr>
        <p:txBody>
          <a:bodyPr>
            <a:spAutoFit/>
          </a:bodyPr>
          <a:lstStyle/>
          <a:p>
            <a:pPr eaLnBrk="1" hangingPunct="1">
              <a:lnSpc>
                <a:spcPct val="150000"/>
              </a:lnSpc>
              <a:spcBef>
                <a:spcPts val="600"/>
              </a:spcBef>
              <a:buFont typeface="Arial" panose="020B0604020202020204" pitchFamily="34" charset="0"/>
            </a:pPr>
            <a:r>
              <a:rPr lang="zh-CN" altLang="en-US" sz="2800" dirty="0">
                <a:latin typeface="黑体" panose="02010609060101010101" pitchFamily="49" charset="-122"/>
                <a:ea typeface="黑体" panose="02010609060101010101" pitchFamily="49" charset="-122"/>
              </a:rPr>
              <a:t>   在系统分析阶段需要进一步确立</a:t>
            </a:r>
            <a:r>
              <a:rPr lang="en-US" altLang="zh-CN" sz="2800" dirty="0">
                <a:ln w="22225">
                  <a:solidFill>
                    <a:schemeClr val="accent2"/>
                  </a:solidFill>
                  <a:prstDash val="solid"/>
                </a:ln>
                <a:solidFill>
                  <a:schemeClr val="accent2">
                    <a:lumMod val="40000"/>
                    <a:lumOff val="60000"/>
                  </a:schemeClr>
                </a:solidFill>
                <a:effectLst/>
                <a:latin typeface="黑体" panose="02010609060101010101" pitchFamily="49" charset="-122"/>
                <a:ea typeface="黑体" panose="02010609060101010101" pitchFamily="49" charset="-122"/>
              </a:rPr>
              <a:t>3</a:t>
            </a:r>
            <a:r>
              <a:rPr lang="zh-CN" altLang="en-US" sz="2800" dirty="0">
                <a:ln w="22225">
                  <a:solidFill>
                    <a:schemeClr val="accent2"/>
                  </a:solidFill>
                  <a:prstDash val="solid"/>
                </a:ln>
                <a:solidFill>
                  <a:schemeClr val="accent2">
                    <a:lumMod val="40000"/>
                    <a:lumOff val="60000"/>
                  </a:schemeClr>
                </a:solidFill>
                <a:effectLst/>
                <a:latin typeface="黑体" panose="02010609060101010101" pitchFamily="49" charset="-122"/>
                <a:ea typeface="黑体" panose="02010609060101010101" pitchFamily="49" charset="-122"/>
              </a:rPr>
              <a:t>个模型</a:t>
            </a:r>
            <a:r>
              <a:rPr lang="zh-CN" altLang="en-US" sz="2800" dirty="0">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对象静态模型、对象动态模型、系统功能模型。</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6148" name="Text Box 5"/>
          <p:cNvSpPr txBox="1"/>
          <p:nvPr/>
        </p:nvSpPr>
        <p:spPr>
          <a:xfrm>
            <a:off x="395288" y="3357563"/>
            <a:ext cx="7921625" cy="2030095"/>
          </a:xfrm>
          <a:prstGeom prst="rect">
            <a:avLst/>
          </a:prstGeom>
          <a:noFill/>
          <a:ln w="9525">
            <a:noFill/>
          </a:ln>
        </p:spPr>
        <p:txBody>
          <a:bodyPr>
            <a:spAutoFit/>
          </a:bodyPr>
          <a:lstStyle/>
          <a:p>
            <a:pPr eaLnBrk="1" hangingPunct="1">
              <a:lnSpc>
                <a:spcPct val="150000"/>
              </a:lnSpc>
              <a:spcBef>
                <a:spcPts val="600"/>
              </a:spcBef>
              <a:buFont typeface="Arial" panose="020B0604020202020204" pitchFamily="34" charset="0"/>
            </a:pPr>
            <a:r>
              <a:rPr lang="zh-CN" altLang="en-US" sz="2800" dirty="0">
                <a:latin typeface="黑体" panose="02010609060101010101" pitchFamily="49" charset="-122"/>
                <a:ea typeface="黑体" panose="02010609060101010101" pitchFamily="49" charset="-122"/>
              </a:rPr>
              <a:t>    系统的静态结构模型和动态行为模型、必要的需求分析说明书、系统分析说明书等一起构成系统的分析模型。是下一步系统设计的基础。</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p:nvPr/>
        </p:nvSpPr>
        <p:spPr>
          <a:xfrm>
            <a:off x="500063" y="835978"/>
            <a:ext cx="7955280" cy="645160"/>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5.1.1 </a:t>
            </a:r>
            <a:r>
              <a:rPr lang="zh-CN" altLang="en-US" sz="3600" dirty="0">
                <a:latin typeface="黑体" panose="02010609060101010101" pitchFamily="49" charset="-122"/>
                <a:ea typeface="黑体" panose="02010609060101010101" pitchFamily="49" charset="-122"/>
              </a:rPr>
              <a:t>建造对象类静态结构模型的步骤</a:t>
            </a:r>
            <a:endParaRPr lang="zh-CN" altLang="en-US" sz="3600" dirty="0">
              <a:latin typeface="黑体" panose="02010609060101010101" pitchFamily="49" charset="-122"/>
              <a:ea typeface="黑体" panose="02010609060101010101" pitchFamily="49" charset="-122"/>
            </a:endParaRPr>
          </a:p>
        </p:txBody>
      </p:sp>
      <p:sp>
        <p:nvSpPr>
          <p:cNvPr id="7171" name="Text Box 5"/>
          <p:cNvSpPr txBox="1"/>
          <p:nvPr/>
        </p:nvSpPr>
        <p:spPr>
          <a:xfrm>
            <a:off x="611505" y="2348865"/>
            <a:ext cx="7863840" cy="1383665"/>
          </a:xfrm>
          <a:prstGeom prst="rect">
            <a:avLst/>
          </a:prstGeom>
          <a:solidFill>
            <a:schemeClr val="accent1">
              <a:lumMod val="40000"/>
              <a:lumOff val="60000"/>
            </a:schemeClr>
          </a:solidFill>
          <a:ln w="9525">
            <a:noFill/>
          </a:ln>
        </p:spPr>
        <p:txBody>
          <a:bodyPr wrap="square">
            <a:spAutoFit/>
          </a:bodyPr>
          <a:lstStyle/>
          <a:p>
            <a:pPr eaLnBrk="1" hangingPunct="1">
              <a:lnSpc>
                <a:spcPct val="100000"/>
              </a:lnSpc>
              <a:spcBef>
                <a:spcPts val="600"/>
              </a:spcBef>
              <a:buFont typeface="Arial" panose="020B0604020202020204" pitchFamily="34" charset="0"/>
            </a:pPr>
            <a:r>
              <a:rPr lang="zh-CN" altLang="en-US"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对象类静态结构模型描述系统的静态结构，包括构成系统的类和对象、它们的属性和操作以及这些对象类之间的联系。</a:t>
            </a:r>
            <a:endParaRPr lang="zh-CN" altLang="en-US" sz="2800" dirty="0">
              <a:latin typeface="黑体" panose="02010609060101010101" pitchFamily="49" charset="-122"/>
              <a:ea typeface="黑体" panose="02010609060101010101" pitchFamily="49" charset="-122"/>
            </a:endParaRPr>
          </a:p>
        </p:txBody>
      </p:sp>
      <p:sp>
        <p:nvSpPr>
          <p:cNvPr id="2" name="Text Box 5"/>
          <p:cNvSpPr txBox="1"/>
          <p:nvPr/>
        </p:nvSpPr>
        <p:spPr>
          <a:xfrm>
            <a:off x="657225" y="3860800"/>
            <a:ext cx="7794625" cy="1081405"/>
          </a:xfrm>
          <a:prstGeom prst="rect">
            <a:avLst/>
          </a:prstGeom>
          <a:solidFill>
            <a:schemeClr val="accent1">
              <a:lumMod val="40000"/>
              <a:lumOff val="60000"/>
            </a:schemeClr>
          </a:solidFill>
          <a:ln w="9525">
            <a:noFill/>
          </a:ln>
        </p:spPr>
        <p:txBody>
          <a:bodyPr wrap="square">
            <a:spAutoFit/>
          </a:bodyPr>
          <a:p>
            <a:pPr eaLnBrk="1" hangingPunct="1">
              <a:lnSpc>
                <a:spcPct val="115000"/>
              </a:lnSpc>
              <a:spcBef>
                <a:spcPts val="600"/>
              </a:spcBef>
              <a:buFont typeface="Arial" panose="020B0604020202020204" pitchFamily="34" charset="0"/>
            </a:pPr>
            <a:r>
              <a:rPr lang="zh-CN" altLang="en-US" sz="2800" dirty="0">
                <a:latin typeface="黑体" panose="02010609060101010101" pitchFamily="49" charset="-122"/>
                <a:ea typeface="黑体" panose="02010609060101010101" pitchFamily="49" charset="-122"/>
              </a:rPr>
              <a:t>   对象类静态结构模型是系统开发模型的</a:t>
            </a:r>
            <a:r>
              <a:rPr lang="zh-CN" altLang="en-US" sz="2800" dirty="0">
                <a:solidFill>
                  <a:srgbClr val="FF0000"/>
                </a:solidFill>
                <a:latin typeface="黑体" panose="02010609060101010101" pitchFamily="49" charset="-122"/>
                <a:ea typeface="黑体" panose="02010609060101010101" pitchFamily="49" charset="-122"/>
              </a:rPr>
              <a:t>核心模型</a:t>
            </a:r>
            <a:r>
              <a:rPr lang="zh-CN" altLang="en-US" sz="2800" dirty="0">
                <a:latin typeface="黑体" panose="02010609060101010101" pitchFamily="49" charset="-122"/>
                <a:ea typeface="黑体" panose="02010609060101010101" pitchFamily="49" charset="-122"/>
              </a:rPr>
              <a:t>，实质上是定义系统“</a:t>
            </a:r>
            <a:r>
              <a:rPr lang="zh-CN" altLang="en-US" sz="2800" dirty="0">
                <a:solidFill>
                  <a:srgbClr val="FF0000"/>
                </a:solidFill>
                <a:latin typeface="黑体" panose="02010609060101010101" pitchFamily="49" charset="-122"/>
                <a:ea typeface="黑体" panose="02010609060101010101" pitchFamily="49" charset="-122"/>
              </a:rPr>
              <a:t>对谁做</a:t>
            </a:r>
            <a:r>
              <a:rPr lang="zh-CN" altLang="en-US" sz="2800" dirty="0">
                <a:latin typeface="黑体" panose="02010609060101010101" pitchFamily="49" charset="-122"/>
                <a:ea typeface="黑体" panose="02010609060101010101" pitchFamily="49" charset="-122"/>
              </a:rPr>
              <a:t>”的问题。</a:t>
            </a:r>
            <a:endParaRPr lang="zh-CN" altLang="en-US" sz="2800" dirty="0">
              <a:latin typeface="黑体" panose="02010609060101010101" pitchFamily="49" charset="-122"/>
              <a:ea typeface="黑体" panose="02010609060101010101" pitchFamily="49" charset="-122"/>
            </a:endParaRPr>
          </a:p>
        </p:txBody>
      </p:sp>
      <p:sp>
        <p:nvSpPr>
          <p:cNvPr id="4" name="Text Box 5"/>
          <p:cNvSpPr txBox="1"/>
          <p:nvPr/>
        </p:nvSpPr>
        <p:spPr>
          <a:xfrm>
            <a:off x="683260" y="1772285"/>
            <a:ext cx="4854575" cy="521970"/>
          </a:xfrm>
          <a:prstGeom prst="rect">
            <a:avLst/>
          </a:prstGeom>
          <a:noFill/>
          <a:ln w="9525">
            <a:noFill/>
          </a:ln>
        </p:spPr>
        <p:txBody>
          <a:bodyPr wrap="square">
            <a:spAutoFit/>
            <a:scene3d>
              <a:camera prst="orthographicFront"/>
              <a:lightRig rig="threePt" dir="t"/>
            </a:scene3d>
          </a:bodyPr>
          <a:p>
            <a:pPr eaLnBrk="1" hangingPunct="1">
              <a:lnSpc>
                <a:spcPct val="100000"/>
              </a:lnSpc>
              <a:spcBef>
                <a:spcPts val="600"/>
              </a:spcBef>
              <a:buFont typeface="Wingdings" panose="05000000000000000000" charset="0"/>
            </a:pPr>
            <a:r>
              <a:rPr lang="zh-CN" altLang="en-US" sz="2800" dirty="0">
                <a:ln w="22225">
                  <a:solidFill>
                    <a:schemeClr val="accent2"/>
                  </a:solidFill>
                  <a:prstDash val="solid"/>
                </a:ln>
                <a:solidFill>
                  <a:schemeClr val="accent2">
                    <a:lumMod val="40000"/>
                    <a:lumOff val="60000"/>
                  </a:schemeClr>
                </a:solidFill>
                <a:effectLst/>
                <a:latin typeface="黑体" panose="02010609060101010101" pitchFamily="49" charset="-122"/>
                <a:ea typeface="黑体" panose="02010609060101010101" pitchFamily="49" charset="-122"/>
              </a:rPr>
              <a:t>什么是对象静态类结构？</a:t>
            </a:r>
            <a:endParaRPr lang="zh-CN" altLang="en-US" sz="2800" dirty="0">
              <a:ln w="22225">
                <a:solidFill>
                  <a:schemeClr val="accent2"/>
                </a:solidFill>
                <a:prstDash val="solid"/>
              </a:ln>
              <a:solidFill>
                <a:schemeClr val="accent2">
                  <a:lumMod val="40000"/>
                  <a:lumOff val="60000"/>
                </a:schemeClr>
              </a:solidFill>
              <a:effectLst/>
              <a:latin typeface="黑体" panose="02010609060101010101" pitchFamily="49" charset="-122"/>
              <a:ea typeface="黑体" panose="02010609060101010101" pitchFamily="49" charset="-122"/>
            </a:endParaRPr>
          </a:p>
        </p:txBody>
      </p:sp>
      <p:sp>
        <p:nvSpPr>
          <p:cNvPr id="38" name="computer_159345"/>
          <p:cNvSpPr/>
          <p:nvPr/>
        </p:nvSpPr>
        <p:spPr>
          <a:xfrm>
            <a:off x="251169" y="1844781"/>
            <a:ext cx="491146" cy="447714"/>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 name="T20" fmla="*/ 325000 h 606722"/>
              <a:gd name="T21" fmla="*/ 325000 h 606722"/>
              <a:gd name="T22" fmla="*/ 325000 h 606722"/>
              <a:gd name="T23" fmla="*/ 325000 h 606722"/>
              <a:gd name="T24" fmla="*/ 325000 h 606722"/>
              <a:gd name="T25" fmla="*/ 325000 h 606722"/>
              <a:gd name="T26" fmla="*/ 325000 h 606722"/>
              <a:gd name="T27" fmla="*/ 325000 h 606722"/>
              <a:gd name="T28" fmla="*/ 325000 h 606722"/>
              <a:gd name="T29" fmla="*/ 325000 h 606722"/>
              <a:gd name="T30" fmla="*/ 325000 h 606722"/>
              <a:gd name="T31" fmla="*/ 325000 h 606722"/>
              <a:gd name="T32" fmla="*/ 325000 h 606722"/>
              <a:gd name="T33" fmla="*/ 325000 h 606722"/>
              <a:gd name="T34" fmla="*/ 325000 h 606722"/>
              <a:gd name="T35" fmla="*/ 325000 h 606722"/>
              <a:gd name="T36" fmla="*/ 325000 h 606722"/>
              <a:gd name="T37" fmla="*/ 325000 h 606722"/>
              <a:gd name="T38" fmla="*/ 325000 h 606722"/>
              <a:gd name="T39" fmla="*/ 325000 h 606722"/>
              <a:gd name="T40" fmla="*/ 325000 h 606722"/>
              <a:gd name="T41" fmla="*/ 325000 h 606722"/>
              <a:gd name="T42" fmla="*/ 325000 h 606722"/>
              <a:gd name="T43" fmla="*/ 325000 h 606722"/>
              <a:gd name="T44" fmla="*/ 325000 h 606722"/>
              <a:gd name="T45" fmla="*/ 325000 h 606722"/>
              <a:gd name="T46" fmla="*/ 325000 h 606722"/>
              <a:gd name="T47" fmla="*/ 325000 h 606722"/>
              <a:gd name="T48" fmla="*/ 325000 h 606722"/>
              <a:gd name="T49" fmla="*/ 325000 h 606722"/>
              <a:gd name="T50" fmla="*/ 325000 h 606722"/>
              <a:gd name="T51" fmla="*/ 325000 h 606722"/>
              <a:gd name="T52" fmla="*/ 325000 h 606722"/>
              <a:gd name="T53" fmla="*/ 325000 h 606722"/>
              <a:gd name="T54" fmla="*/ 325000 h 606722"/>
              <a:gd name="T55" fmla="*/ 325000 h 606722"/>
              <a:gd name="T56" fmla="*/ 325000 h 606722"/>
              <a:gd name="T57" fmla="*/ 325000 h 606722"/>
              <a:gd name="T58" fmla="*/ 325000 h 606722"/>
              <a:gd name="T59" fmla="*/ 325000 h 606722"/>
              <a:gd name="T60" fmla="*/ 325000 h 606722"/>
              <a:gd name="T61" fmla="*/ 325000 h 606722"/>
              <a:gd name="T62" fmla="*/ 325000 h 606722"/>
              <a:gd name="T63" fmla="*/ 325000 h 606722"/>
              <a:gd name="T64" fmla="*/ 325000 h 606722"/>
              <a:gd name="T65" fmla="*/ 325000 h 606722"/>
              <a:gd name="T66" fmla="*/ 325000 h 606722"/>
              <a:gd name="T67" fmla="*/ 325000 h 606722"/>
              <a:gd name="T68" fmla="*/ 325000 h 606722"/>
              <a:gd name="T69" fmla="*/ 325000 h 606722"/>
              <a:gd name="T70" fmla="*/ 325000 h 606722"/>
              <a:gd name="T71" fmla="*/ 325000 h 606722"/>
              <a:gd name="T72" fmla="*/ 325000 h 606722"/>
              <a:gd name="T73" fmla="*/ 325000 h 606722"/>
              <a:gd name="T74" fmla="*/ 325000 h 606722"/>
              <a:gd name="T75" fmla="*/ 325000 h 606722"/>
              <a:gd name="T76" fmla="*/ 325000 h 606722"/>
              <a:gd name="T77" fmla="*/ 325000 h 606722"/>
              <a:gd name="T78" fmla="*/ 325000 h 606722"/>
              <a:gd name="T79" fmla="*/ 325000 h 606722"/>
              <a:gd name="T80" fmla="*/ 325000 h 606722"/>
              <a:gd name="T81" fmla="*/ 325000 h 606722"/>
              <a:gd name="T82" fmla="*/ 325000 h 606722"/>
              <a:gd name="T83" fmla="*/ 325000 h 606722"/>
              <a:gd name="T84" fmla="*/ 325000 h 606722"/>
              <a:gd name="T85" fmla="*/ 325000 h 606722"/>
              <a:gd name="T86" fmla="*/ 325000 h 606722"/>
              <a:gd name="T87" fmla="*/ 325000 h 606722"/>
              <a:gd name="T88" fmla="*/ 325000 h 606722"/>
              <a:gd name="T89" fmla="*/ 325000 h 606722"/>
              <a:gd name="T90" fmla="*/ 325000 h 606722"/>
              <a:gd name="T91" fmla="*/ 325000 h 606722"/>
              <a:gd name="T92" fmla="*/ 325000 h 606722"/>
              <a:gd name="T93" fmla="*/ 325000 h 606722"/>
              <a:gd name="T94" fmla="*/ 325000 h 606722"/>
              <a:gd name="T95" fmla="*/ 325000 h 606722"/>
              <a:gd name="T96" fmla="*/ 325000 h 606722"/>
              <a:gd name="T97" fmla="*/ 325000 h 606722"/>
              <a:gd name="T98" fmla="*/ 325000 h 606722"/>
              <a:gd name="T99" fmla="*/ 325000 h 606722"/>
              <a:gd name="T100" fmla="*/ 325000 h 606722"/>
              <a:gd name="T101" fmla="*/ 325000 h 606722"/>
              <a:gd name="T102" fmla="*/ 325000 h 606722"/>
              <a:gd name="T103" fmla="*/ 325000 h 606722"/>
              <a:gd name="T104" fmla="*/ 325000 h 606722"/>
              <a:gd name="T105" fmla="*/ 325000 h 606722"/>
              <a:gd name="T106" fmla="*/ 325000 h 606722"/>
              <a:gd name="T107" fmla="*/ 325000 h 606722"/>
              <a:gd name="T108" fmla="*/ 325000 h 606722"/>
              <a:gd name="T109" fmla="*/ 325000 h 606722"/>
              <a:gd name="T110" fmla="*/ 325000 h 606722"/>
              <a:gd name="T111" fmla="*/ 325000 h 606722"/>
              <a:gd name="T112" fmla="*/ 325000 h 606722"/>
              <a:gd name="T113" fmla="*/ 325000 h 606722"/>
              <a:gd name="T114" fmla="*/ 325000 h 606722"/>
              <a:gd name="T115" fmla="*/ 325000 h 606722"/>
              <a:gd name="T116" fmla="*/ 325000 h 606722"/>
              <a:gd name="T117" fmla="*/ 325000 h 606722"/>
              <a:gd name="T118" fmla="*/ 325000 h 606722"/>
              <a:gd name="T119" fmla="*/ 325000 h 606722"/>
              <a:gd name="T120" fmla="*/ 325000 h 606722"/>
              <a:gd name="T121" fmla="*/ 325000 h 606722"/>
              <a:gd name="T122" fmla="*/ 325000 h 606722"/>
              <a:gd name="T123"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3" h="5956">
                <a:moveTo>
                  <a:pt x="527" y="4748"/>
                </a:moveTo>
                <a:lnTo>
                  <a:pt x="2672" y="4748"/>
                </a:lnTo>
                <a:lnTo>
                  <a:pt x="2672" y="5336"/>
                </a:lnTo>
                <a:lnTo>
                  <a:pt x="2253" y="5336"/>
                </a:lnTo>
                <a:cubicBezTo>
                  <a:pt x="2184" y="5336"/>
                  <a:pt x="2127" y="5392"/>
                  <a:pt x="2127" y="5463"/>
                </a:cubicBezTo>
                <a:lnTo>
                  <a:pt x="2127" y="5830"/>
                </a:lnTo>
                <a:cubicBezTo>
                  <a:pt x="2127" y="5899"/>
                  <a:pt x="2183" y="5956"/>
                  <a:pt x="2253" y="5956"/>
                </a:cubicBezTo>
                <a:lnTo>
                  <a:pt x="4269" y="5956"/>
                </a:lnTo>
                <a:cubicBezTo>
                  <a:pt x="4339" y="5956"/>
                  <a:pt x="4396" y="5900"/>
                  <a:pt x="4396" y="5830"/>
                </a:cubicBezTo>
                <a:lnTo>
                  <a:pt x="4396" y="5463"/>
                </a:lnTo>
                <a:cubicBezTo>
                  <a:pt x="4396" y="5394"/>
                  <a:pt x="4340" y="5336"/>
                  <a:pt x="4269" y="5336"/>
                </a:cubicBezTo>
                <a:lnTo>
                  <a:pt x="3851" y="5336"/>
                </a:lnTo>
                <a:lnTo>
                  <a:pt x="3851" y="4748"/>
                </a:lnTo>
                <a:lnTo>
                  <a:pt x="5996" y="4748"/>
                </a:lnTo>
                <a:cubicBezTo>
                  <a:pt x="6287" y="4748"/>
                  <a:pt x="6523" y="4512"/>
                  <a:pt x="6523" y="4222"/>
                </a:cubicBezTo>
                <a:lnTo>
                  <a:pt x="6523" y="527"/>
                </a:lnTo>
                <a:cubicBezTo>
                  <a:pt x="6523" y="236"/>
                  <a:pt x="6287" y="0"/>
                  <a:pt x="5996" y="0"/>
                </a:cubicBezTo>
                <a:lnTo>
                  <a:pt x="527" y="0"/>
                </a:lnTo>
                <a:cubicBezTo>
                  <a:pt x="236" y="0"/>
                  <a:pt x="0" y="236"/>
                  <a:pt x="0" y="527"/>
                </a:cubicBezTo>
                <a:lnTo>
                  <a:pt x="0" y="4222"/>
                </a:lnTo>
                <a:cubicBezTo>
                  <a:pt x="0" y="4512"/>
                  <a:pt x="236" y="4748"/>
                  <a:pt x="527" y="4748"/>
                </a:cubicBezTo>
                <a:close/>
                <a:moveTo>
                  <a:pt x="719" y="719"/>
                </a:moveTo>
                <a:lnTo>
                  <a:pt x="5804" y="719"/>
                </a:lnTo>
                <a:lnTo>
                  <a:pt x="5804" y="4026"/>
                </a:lnTo>
                <a:lnTo>
                  <a:pt x="719" y="4026"/>
                </a:lnTo>
                <a:lnTo>
                  <a:pt x="719" y="719"/>
                </a:lnTo>
                <a:close/>
                <a:moveTo>
                  <a:pt x="1229" y="2835"/>
                </a:moveTo>
                <a:lnTo>
                  <a:pt x="1229" y="2592"/>
                </a:lnTo>
                <a:cubicBezTo>
                  <a:pt x="1229" y="2559"/>
                  <a:pt x="1256" y="2531"/>
                  <a:pt x="1291" y="2531"/>
                </a:cubicBezTo>
                <a:lnTo>
                  <a:pt x="2933" y="2531"/>
                </a:lnTo>
                <a:cubicBezTo>
                  <a:pt x="2967" y="2531"/>
                  <a:pt x="2995" y="2558"/>
                  <a:pt x="2995" y="2592"/>
                </a:cubicBezTo>
                <a:lnTo>
                  <a:pt x="2995" y="2835"/>
                </a:lnTo>
                <a:cubicBezTo>
                  <a:pt x="2995" y="2868"/>
                  <a:pt x="2968" y="2896"/>
                  <a:pt x="2933" y="2896"/>
                </a:cubicBezTo>
                <a:lnTo>
                  <a:pt x="1291" y="2896"/>
                </a:lnTo>
                <a:cubicBezTo>
                  <a:pt x="1257" y="2896"/>
                  <a:pt x="1229" y="2868"/>
                  <a:pt x="1229" y="2835"/>
                </a:cubicBezTo>
                <a:close/>
                <a:moveTo>
                  <a:pt x="3881" y="3278"/>
                </a:moveTo>
                <a:lnTo>
                  <a:pt x="3881" y="3520"/>
                </a:lnTo>
                <a:cubicBezTo>
                  <a:pt x="3881" y="3554"/>
                  <a:pt x="3855" y="3582"/>
                  <a:pt x="3820" y="3582"/>
                </a:cubicBezTo>
                <a:lnTo>
                  <a:pt x="1291" y="3582"/>
                </a:lnTo>
                <a:cubicBezTo>
                  <a:pt x="1257" y="3582"/>
                  <a:pt x="1229" y="3555"/>
                  <a:pt x="1229" y="3520"/>
                </a:cubicBezTo>
                <a:lnTo>
                  <a:pt x="1229" y="3278"/>
                </a:lnTo>
                <a:cubicBezTo>
                  <a:pt x="1229" y="3244"/>
                  <a:pt x="1256" y="3216"/>
                  <a:pt x="1291" y="3216"/>
                </a:cubicBezTo>
                <a:lnTo>
                  <a:pt x="3821" y="3216"/>
                </a:lnTo>
                <a:cubicBezTo>
                  <a:pt x="3855" y="3216"/>
                  <a:pt x="3881" y="3244"/>
                  <a:pt x="3881" y="3278"/>
                </a:cubicBezTo>
                <a:close/>
                <a:moveTo>
                  <a:pt x="4759" y="1908"/>
                </a:moveTo>
                <a:lnTo>
                  <a:pt x="4759" y="2151"/>
                </a:lnTo>
                <a:cubicBezTo>
                  <a:pt x="4759" y="2184"/>
                  <a:pt x="4732" y="2212"/>
                  <a:pt x="4697" y="2212"/>
                </a:cubicBezTo>
                <a:lnTo>
                  <a:pt x="1291" y="2212"/>
                </a:lnTo>
                <a:cubicBezTo>
                  <a:pt x="1257" y="2212"/>
                  <a:pt x="1229" y="2186"/>
                  <a:pt x="1229" y="2151"/>
                </a:cubicBezTo>
                <a:lnTo>
                  <a:pt x="1229" y="1908"/>
                </a:lnTo>
                <a:cubicBezTo>
                  <a:pt x="1229" y="1875"/>
                  <a:pt x="1256" y="1847"/>
                  <a:pt x="1291" y="1847"/>
                </a:cubicBezTo>
                <a:lnTo>
                  <a:pt x="4697" y="1847"/>
                </a:lnTo>
                <a:cubicBezTo>
                  <a:pt x="4731" y="1847"/>
                  <a:pt x="4759" y="1874"/>
                  <a:pt x="4759" y="1908"/>
                </a:cubicBezTo>
                <a:close/>
                <a:moveTo>
                  <a:pt x="1229" y="1466"/>
                </a:moveTo>
                <a:lnTo>
                  <a:pt x="1229" y="1223"/>
                </a:lnTo>
                <a:cubicBezTo>
                  <a:pt x="1229" y="1190"/>
                  <a:pt x="1256" y="1162"/>
                  <a:pt x="1291" y="1162"/>
                </a:cubicBezTo>
                <a:lnTo>
                  <a:pt x="4219" y="1162"/>
                </a:lnTo>
                <a:cubicBezTo>
                  <a:pt x="4252" y="1162"/>
                  <a:pt x="4280" y="1188"/>
                  <a:pt x="4280" y="1223"/>
                </a:cubicBezTo>
                <a:lnTo>
                  <a:pt x="4280" y="1466"/>
                </a:lnTo>
                <a:cubicBezTo>
                  <a:pt x="4280" y="1499"/>
                  <a:pt x="4253" y="1527"/>
                  <a:pt x="4219" y="1527"/>
                </a:cubicBezTo>
                <a:lnTo>
                  <a:pt x="1291" y="1527"/>
                </a:lnTo>
                <a:cubicBezTo>
                  <a:pt x="1257" y="1526"/>
                  <a:pt x="1229" y="1499"/>
                  <a:pt x="1229" y="1466"/>
                </a:cubicBezTo>
                <a:close/>
              </a:path>
            </a:pathLst>
          </a:custGeom>
          <a:solidFill>
            <a:srgbClr val="0051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wipe(left)">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nimBg="1"/>
      <p:bldP spid="7171" grpId="1" animBg="1"/>
      <p:bldP spid="2" grpId="0" bldLvl="0" animBg="1"/>
      <p:bldP spid="2"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p:cNvSpPr txBox="1"/>
          <p:nvPr/>
        </p:nvSpPr>
        <p:spPr>
          <a:xfrm>
            <a:off x="179705" y="116205"/>
            <a:ext cx="7091680" cy="583565"/>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5.1.1 </a:t>
            </a:r>
            <a:r>
              <a:rPr lang="zh-CN" altLang="en-US" sz="3200" dirty="0">
                <a:latin typeface="黑体" panose="02010609060101010101" pitchFamily="49" charset="-122"/>
                <a:ea typeface="黑体" panose="02010609060101010101" pitchFamily="49" charset="-122"/>
              </a:rPr>
              <a:t>建造对象类静态结构模型的步骤</a:t>
            </a:r>
            <a:endParaRPr lang="zh-CN" altLang="en-US" sz="3200" dirty="0">
              <a:latin typeface="黑体" panose="02010609060101010101" pitchFamily="49" charset="-122"/>
              <a:ea typeface="黑体" panose="02010609060101010101" pitchFamily="49" charset="-122"/>
            </a:endParaRPr>
          </a:p>
        </p:txBody>
      </p:sp>
      <p:sp>
        <p:nvSpPr>
          <p:cNvPr id="8195" name="Text Box 5"/>
          <p:cNvSpPr txBox="1"/>
          <p:nvPr/>
        </p:nvSpPr>
        <p:spPr>
          <a:xfrm>
            <a:off x="251460" y="2348865"/>
            <a:ext cx="8468360" cy="2322830"/>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a:ln w="9525">
            <a:noFill/>
          </a:ln>
        </p:spPr>
        <p:txBody>
          <a:bodyPr vert="horz" wrap="square" lIns="91440" tIns="45720" rIns="91440" bIns="45720" numCol="1" anchor="t">
            <a:spAutoFit/>
          </a:bodyPr>
          <a:lstStyle/>
          <a:p>
            <a:pPr algn="l" defTabSz="914400" eaLnBrk="1" hangingPunct="1">
              <a:lnSpc>
                <a:spcPct val="100000"/>
              </a:lnSpc>
              <a:spcBef>
                <a:spcPts val="600"/>
              </a:spcBef>
              <a:spcAft>
                <a:spcPts val="0"/>
              </a:spcAft>
              <a:buFontTx/>
              <a:buNone/>
            </a:pPr>
            <a:r>
              <a:rPr lang="zh-CN" altLang="en-US" sz="2800" b="0" i="0">
                <a:solidFill>
                  <a:srgbClr val="FF0000"/>
                </a:solidFill>
                <a:latin typeface="微软雅黑 Light" panose="020B0502040204020203" charset="-122"/>
                <a:ea typeface="微软雅黑 Light" panose="020B0502040204020203" charset="-122"/>
                <a:cs typeface="微软雅黑 Light" panose="020B0502040204020203" charset="-122"/>
              </a:rPr>
              <a:t>（</a:t>
            </a:r>
            <a:r>
              <a:rPr lang="en-US" altLang="zh-CN" sz="2800" b="0" i="0">
                <a:solidFill>
                  <a:srgbClr val="FF0000"/>
                </a:solidFill>
                <a:latin typeface="微软雅黑 Light" panose="020B0502040204020203" charset="-122"/>
                <a:ea typeface="微软雅黑 Light" panose="020B0502040204020203" charset="-122"/>
                <a:cs typeface="微软雅黑 Light" panose="020B0502040204020203" charset="-122"/>
              </a:rPr>
              <a:t>1</a:t>
            </a:r>
            <a:r>
              <a:rPr lang="zh-CN" altLang="en-US" sz="2800" b="0" i="0">
                <a:solidFill>
                  <a:srgbClr val="FF0000"/>
                </a:solidFill>
                <a:latin typeface="微软雅黑 Light" panose="020B0502040204020203" charset="-122"/>
                <a:ea typeface="微软雅黑 Light" panose="020B0502040204020203" charset="-122"/>
                <a:cs typeface="微软雅黑 Light" panose="020B0502040204020203" charset="-122"/>
              </a:rPr>
              <a:t>）连线建立网络图</a:t>
            </a:r>
            <a:r>
              <a:rPr lang="zh-CN" altLang="en-US" sz="2800" b="0" i="0">
                <a:latin typeface="微软雅黑 Light" panose="020B0502040204020203" charset="-122"/>
                <a:ea typeface="微软雅黑 Light" panose="020B0502040204020203" charset="-122"/>
                <a:cs typeface="微软雅黑 Light" panose="020B0502040204020203" charset="-122"/>
              </a:rPr>
              <a:t>。根据对象类</a:t>
            </a:r>
            <a:r>
              <a:rPr sz="2800" b="0" i="0">
                <a:solidFill>
                  <a:srgbClr val="FF0000"/>
                </a:solidFill>
                <a:latin typeface="微软雅黑 Light" panose="020B0502040204020203" charset="-122"/>
                <a:ea typeface="微软雅黑 Light" panose="020B0502040204020203" charset="-122"/>
                <a:cs typeface="微软雅黑 Light" panose="020B0502040204020203" charset="-122"/>
              </a:rPr>
              <a:t>CRC卡片</a:t>
            </a:r>
            <a:r>
              <a:rPr lang="zh-CN" altLang="en-US" sz="2800" b="0" i="0">
                <a:latin typeface="微软雅黑 Light" panose="020B0502040204020203" charset="-122"/>
                <a:ea typeface="微软雅黑 Light" panose="020B0502040204020203" charset="-122"/>
                <a:cs typeface="微软雅黑 Light" panose="020B0502040204020203" charset="-122"/>
              </a:rPr>
              <a:t>，在图中画出有关联（协作）的类，将类和对象进一步组合；</a:t>
            </a:r>
            <a:endParaRPr lang="ko-KR" altLang="en-US" sz="2800" b="0" i="0">
              <a:latin typeface="微软雅黑 Light" panose="020B0502040204020203" charset="-122"/>
              <a:ea typeface="微软雅黑 Light" panose="020B0502040204020203" charset="-122"/>
              <a:cs typeface="微软雅黑 Light" panose="020B0502040204020203" charset="-122"/>
            </a:endParaRPr>
          </a:p>
          <a:p>
            <a:pPr algn="l" defTabSz="914400" eaLnBrk="1" hangingPunct="1">
              <a:lnSpc>
                <a:spcPct val="100000"/>
              </a:lnSpc>
              <a:spcBef>
                <a:spcPts val="600"/>
              </a:spcBef>
              <a:spcAft>
                <a:spcPts val="0"/>
              </a:spcAft>
              <a:buFontTx/>
              <a:buNone/>
            </a:pPr>
            <a:r>
              <a:rPr lang="zh-CN" altLang="en-US" sz="2800" b="0" i="0">
                <a:solidFill>
                  <a:srgbClr val="FF0000"/>
                </a:solidFill>
                <a:latin typeface="微软雅黑 Light" panose="020B0502040204020203" charset="-122"/>
                <a:ea typeface="微软雅黑 Light" panose="020B0502040204020203" charset="-122"/>
                <a:cs typeface="微软雅黑 Light" panose="020B0502040204020203" charset="-122"/>
              </a:rPr>
              <a:t>（</a:t>
            </a:r>
            <a:r>
              <a:rPr lang="en-US" altLang="zh-CN" sz="2800" b="0" i="0">
                <a:solidFill>
                  <a:srgbClr val="FF0000"/>
                </a:solidFill>
                <a:latin typeface="微软雅黑 Light" panose="020B0502040204020203" charset="-122"/>
                <a:ea typeface="微软雅黑 Light" panose="020B0502040204020203" charset="-122"/>
                <a:cs typeface="微软雅黑 Light" panose="020B0502040204020203" charset="-122"/>
              </a:rPr>
              <a:t>2</a:t>
            </a:r>
            <a:r>
              <a:rPr lang="zh-CN" altLang="en-US" sz="2800" b="0" i="0">
                <a:solidFill>
                  <a:srgbClr val="FF0000"/>
                </a:solidFill>
                <a:latin typeface="微软雅黑 Light" panose="020B0502040204020203" charset="-122"/>
                <a:ea typeface="微软雅黑 Light" panose="020B0502040204020203" charset="-122"/>
                <a:cs typeface="微软雅黑 Light" panose="020B0502040204020203" charset="-122"/>
              </a:rPr>
              <a:t>）连接线命名</a:t>
            </a:r>
            <a:r>
              <a:rPr lang="zh-CN" altLang="en-US" sz="2800" b="0" i="0">
                <a:latin typeface="微软雅黑 Light" panose="020B0502040204020203" charset="-122"/>
                <a:ea typeface="微软雅黑 Light" panose="020B0502040204020203" charset="-122"/>
                <a:cs typeface="微软雅黑 Light" panose="020B0502040204020203" charset="-122"/>
              </a:rPr>
              <a:t>。</a:t>
            </a:r>
            <a:r>
              <a:rPr lang="zh-CN" altLang="en-US" sz="2800" b="0" i="0">
                <a:solidFill>
                  <a:srgbClr val="FF0000"/>
                </a:solidFill>
                <a:latin typeface="微软雅黑 Light" panose="020B0502040204020203" charset="-122"/>
                <a:ea typeface="微软雅黑 Light" panose="020B0502040204020203" charset="-122"/>
                <a:cs typeface="微软雅黑 Light" panose="020B0502040204020203" charset="-122"/>
              </a:rPr>
              <a:t>复审</a:t>
            </a:r>
            <a:r>
              <a:rPr lang="zh-CN" altLang="en-US" sz="2800" b="0" i="0">
                <a:latin typeface="微软雅黑 Light" panose="020B0502040204020203" charset="-122"/>
                <a:ea typeface="微软雅黑 Light" panose="020B0502040204020203" charset="-122"/>
                <a:cs typeface="微软雅黑 Light" panose="020B0502040204020203" charset="-122"/>
              </a:rPr>
              <a:t>对象类</a:t>
            </a:r>
            <a:r>
              <a:rPr lang="en-US" altLang="zh-CN" sz="2800" b="0" i="0">
                <a:solidFill>
                  <a:srgbClr val="FF0000"/>
                </a:solidFill>
                <a:latin typeface="微软雅黑 Light" panose="020B0502040204020203" charset="-122"/>
                <a:ea typeface="微软雅黑 Light" panose="020B0502040204020203" charset="-122"/>
                <a:cs typeface="微软雅黑 Light" panose="020B0502040204020203" charset="-122"/>
              </a:rPr>
              <a:t>CRC</a:t>
            </a:r>
            <a:r>
              <a:rPr lang="zh-CN" altLang="en-US" sz="2800" b="0" i="0">
                <a:solidFill>
                  <a:srgbClr val="FF0000"/>
                </a:solidFill>
                <a:latin typeface="微软雅黑 Light" panose="020B0502040204020203" charset="-122"/>
                <a:ea typeface="微软雅黑 Light" panose="020B0502040204020203" charset="-122"/>
                <a:cs typeface="微软雅黑 Light" panose="020B0502040204020203" charset="-122"/>
              </a:rPr>
              <a:t>卡片</a:t>
            </a:r>
            <a:r>
              <a:rPr lang="zh-CN" altLang="en-US" sz="2800" b="0" i="0">
                <a:latin typeface="微软雅黑 Light" panose="020B0502040204020203" charset="-122"/>
                <a:ea typeface="微软雅黑 Light" panose="020B0502040204020203" charset="-122"/>
                <a:cs typeface="微软雅黑 Light" panose="020B0502040204020203" charset="-122"/>
              </a:rPr>
              <a:t>，评估属性、操作和消息传递的对象，为连接线起一个有确切意义的名字，也就是定义主题；</a:t>
            </a:r>
            <a:endParaRPr lang="ko-KR" altLang="en-US" sz="2800" b="0" i="0">
              <a:latin typeface="微软雅黑 Light" panose="020B0502040204020203" charset="-122"/>
              <a:ea typeface="微软雅黑 Light" panose="020B0502040204020203" charset="-122"/>
              <a:cs typeface="微软雅黑 Light" panose="020B0502040204020203" charset="-122"/>
            </a:endParaRPr>
          </a:p>
        </p:txBody>
      </p:sp>
      <p:pic>
        <p:nvPicPr>
          <p:cNvPr id="24583" name="Picture 8"/>
          <p:cNvPicPr>
            <a:picLocks noChangeAspect="1"/>
          </p:cNvPicPr>
          <p:nvPr/>
        </p:nvPicPr>
        <p:blipFill>
          <a:blip r:embed="rId1"/>
          <a:srcRect l="16331" t="27866" r="15724" b="36122"/>
          <a:stretch>
            <a:fillRect/>
          </a:stretch>
        </p:blipFill>
        <p:spPr>
          <a:xfrm>
            <a:off x="4283710" y="4436745"/>
            <a:ext cx="4751070" cy="2268220"/>
          </a:xfrm>
          <a:prstGeom prst="rect">
            <a:avLst/>
          </a:prstGeom>
          <a:noFill/>
          <a:ln w="9525">
            <a:noFill/>
          </a:ln>
        </p:spPr>
      </p:pic>
      <p:sp>
        <p:nvSpPr>
          <p:cNvPr id="2" name="文本框 1"/>
          <p:cNvSpPr txBox="1"/>
          <p:nvPr/>
        </p:nvSpPr>
        <p:spPr>
          <a:xfrm>
            <a:off x="179705" y="4930140"/>
            <a:ext cx="4301490" cy="521970"/>
          </a:xfrm>
          <a:prstGeom prst="rect">
            <a:avLst/>
          </a:prstGeom>
          <a:noFill/>
        </p:spPr>
        <p:txBody>
          <a:bodyPr wrap="square" rtlCol="0" anchor="t">
            <a:spAutoFit/>
          </a:bodyPr>
          <a:p>
            <a:r>
              <a:rPr sz="2800">
                <a:solidFill>
                  <a:srgbClr val="0611F2"/>
                </a:solidFill>
                <a:latin typeface="微软雅黑" panose="020B0503020204020204" charset="-122"/>
                <a:ea typeface="微软雅黑" panose="020B0503020204020204" charset="-122"/>
                <a:cs typeface="微软雅黑" panose="020B0503020204020204" charset="-122"/>
                <a:sym typeface="+mn-ea"/>
              </a:rPr>
              <a:t>类-责任-协作者</a:t>
            </a:r>
            <a:r>
              <a:rPr lang="zh-CN" altLang="en-US" sz="2800">
                <a:solidFill>
                  <a:srgbClr val="FF0000"/>
                </a:solidFill>
                <a:latin typeface="微软雅黑" panose="020B0503020204020204" charset="-122"/>
                <a:ea typeface="微软雅黑" panose="020B0503020204020204" charset="-122"/>
                <a:cs typeface="微软雅黑" panose="020B0503020204020204" charset="-122"/>
                <a:sym typeface="+mn-ea"/>
              </a:rPr>
              <a:t> </a:t>
            </a:r>
            <a:r>
              <a:rPr lang="en-US" altLang="zh-CN" sz="2800">
                <a:solidFill>
                  <a:srgbClr val="FF0000"/>
                </a:solidFill>
                <a:latin typeface="微软雅黑" panose="020B0503020204020204" charset="-122"/>
                <a:ea typeface="微软雅黑" panose="020B0503020204020204" charset="-122"/>
                <a:cs typeface="微软雅黑" panose="020B0503020204020204" charset="-122"/>
                <a:sym typeface="+mn-ea"/>
              </a:rPr>
              <a:t>CRC</a:t>
            </a:r>
            <a:r>
              <a:rPr lang="zh-CN" altLang="en-US" sz="2800">
                <a:solidFill>
                  <a:srgbClr val="FF0000"/>
                </a:solidFill>
                <a:latin typeface="微软雅黑" panose="020B0503020204020204" charset="-122"/>
                <a:ea typeface="微软雅黑" panose="020B0503020204020204" charset="-122"/>
                <a:cs typeface="微软雅黑" panose="020B0503020204020204" charset="-122"/>
                <a:sym typeface="+mn-ea"/>
              </a:rPr>
              <a:t>卡片</a:t>
            </a:r>
            <a:endParaRPr lang="zh-CN" altLang="en-US" sz="2800">
              <a:solidFill>
                <a:srgbClr val="FF0000"/>
              </a:solidFill>
              <a:latin typeface="微软雅黑" panose="020B0503020204020204" charset="-122"/>
              <a:ea typeface="微软雅黑" panose="020B0503020204020204" charset="-122"/>
              <a:cs typeface="微软雅黑" panose="020B0503020204020204" charset="-122"/>
              <a:sym typeface="+mn-ea"/>
            </a:endParaRPr>
          </a:p>
        </p:txBody>
      </p:sp>
      <p:sp>
        <p:nvSpPr>
          <p:cNvPr id="5" name="Text Box 5"/>
          <p:cNvSpPr txBox="1"/>
          <p:nvPr/>
        </p:nvSpPr>
        <p:spPr>
          <a:xfrm>
            <a:off x="179705" y="690880"/>
            <a:ext cx="4900295" cy="521970"/>
          </a:xfrm>
          <a:prstGeom prst="rect">
            <a:avLst/>
          </a:prstGeom>
          <a:noFill/>
          <a:ln w="9525">
            <a:noFill/>
          </a:ln>
        </p:spPr>
        <p:txBody>
          <a:bodyPr wrap="square">
            <a:spAutoFit/>
            <a:scene3d>
              <a:camera prst="orthographicFront"/>
              <a:lightRig rig="threePt" dir="t"/>
            </a:scene3d>
          </a:bodyPr>
          <a:p>
            <a:pPr eaLnBrk="1" hangingPunct="1">
              <a:lnSpc>
                <a:spcPct val="100000"/>
              </a:lnSpc>
              <a:spcBef>
                <a:spcPts val="600"/>
              </a:spcBef>
              <a:buFont typeface="Wingdings" panose="05000000000000000000" charset="0"/>
            </a:pPr>
            <a:r>
              <a:rPr lang="zh-CN" altLang="en-US" sz="2800" dirty="0">
                <a:ln w="22225">
                  <a:solidFill>
                    <a:schemeClr val="accent2"/>
                  </a:solidFill>
                  <a:prstDash val="solid"/>
                </a:ln>
                <a:solidFill>
                  <a:schemeClr val="accent2">
                    <a:lumMod val="40000"/>
                    <a:lumOff val="60000"/>
                  </a:schemeClr>
                </a:solidFill>
                <a:effectLst/>
                <a:latin typeface="黑体" panose="02010609060101010101" pitchFamily="49" charset="-122"/>
                <a:ea typeface="黑体" panose="02010609060101010101" pitchFamily="49" charset="-122"/>
              </a:rPr>
              <a:t>怎样建立对象静态类结构？</a:t>
            </a:r>
            <a:endParaRPr lang="zh-CN" altLang="en-US" sz="2800" dirty="0">
              <a:ln w="22225">
                <a:solidFill>
                  <a:schemeClr val="accent2"/>
                </a:solidFill>
                <a:prstDash val="solid"/>
              </a:ln>
              <a:solidFill>
                <a:schemeClr val="accent2">
                  <a:lumMod val="40000"/>
                  <a:lumOff val="60000"/>
                </a:schemeClr>
              </a:solidFill>
              <a:effectLst/>
              <a:latin typeface="黑体" panose="02010609060101010101" pitchFamily="49" charset="-122"/>
              <a:ea typeface="黑体" panose="02010609060101010101" pitchFamily="49" charset="-122"/>
            </a:endParaRPr>
          </a:p>
        </p:txBody>
      </p:sp>
      <p:sp>
        <p:nvSpPr>
          <p:cNvPr id="3" name="Text Box 5"/>
          <p:cNvSpPr txBox="1"/>
          <p:nvPr/>
        </p:nvSpPr>
        <p:spPr>
          <a:xfrm>
            <a:off x="323215" y="1196340"/>
            <a:ext cx="8395335" cy="953135"/>
          </a:xfrm>
          <a:prstGeom prst="rect">
            <a:avLst/>
          </a:prstGeom>
          <a:solidFill>
            <a:schemeClr val="accent1">
              <a:lumMod val="40000"/>
              <a:lumOff val="60000"/>
            </a:schemeClr>
          </a:solidFill>
          <a:ln w="9525">
            <a:noFill/>
          </a:ln>
        </p:spPr>
        <p:txBody>
          <a:bodyPr wrap="square">
            <a:spAutoFit/>
          </a:bodyPr>
          <a:p>
            <a:pPr eaLnBrk="1" hangingPunct="1">
              <a:lnSpc>
                <a:spcPct val="100000"/>
              </a:lnSpc>
              <a:spcBef>
                <a:spcPts val="600"/>
              </a:spcBef>
              <a:buFont typeface="Arial" panose="020B0604020202020204" pitchFamily="34" charset="0"/>
            </a:pPr>
            <a:r>
              <a:rPr lang="zh-CN" altLang="en-US" sz="2800" dirty="0">
                <a:latin typeface="黑体" panose="02010609060101010101" pitchFamily="49" charset="-122"/>
                <a:ea typeface="黑体" panose="02010609060101010101" pitchFamily="49" charset="-122"/>
              </a:rPr>
              <a:t>   </a:t>
            </a:r>
            <a:r>
              <a:rPr lang="zh-CN" altLang="en-US" sz="2800" dirty="0">
                <a:latin typeface="微软雅黑 Light" panose="020B0502040204020203" charset="-122"/>
                <a:ea typeface="微软雅黑 Light" panose="020B0502040204020203" charset="-122"/>
              </a:rPr>
              <a:t>面向对象方法是通过</a:t>
            </a:r>
            <a:r>
              <a:rPr lang="zh-CN" altLang="en-US" sz="2800" b="1" dirty="0">
                <a:solidFill>
                  <a:srgbClr val="FF0000"/>
                </a:solidFill>
                <a:latin typeface="微软雅黑 Light" panose="020B0502040204020203" charset="-122"/>
                <a:ea typeface="微软雅黑 Light" panose="020B0502040204020203" charset="-122"/>
              </a:rPr>
              <a:t>继承、合成机制</a:t>
            </a:r>
            <a:r>
              <a:rPr lang="zh-CN" altLang="en-US" sz="2800" dirty="0">
                <a:latin typeface="微软雅黑 Light" panose="020B0502040204020203" charset="-122"/>
                <a:ea typeface="微软雅黑 Light" panose="020B0502040204020203" charset="-122"/>
              </a:rPr>
              <a:t>来组织对象结构，建立对象类的静态结构模型。</a:t>
            </a:r>
            <a:endParaRPr lang="zh-CN" altLang="en-US" sz="2800" dirty="0">
              <a:latin typeface="微软雅黑 Light" panose="020B0502040204020203" charset="-122"/>
              <a:ea typeface="微软雅黑 Light" panose="020B0502040204020203"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wipe(left)">
                                      <p:cBhvr>
                                        <p:cTn id="12" dur="500"/>
                                        <p:tgtEl>
                                          <p:spTgt spid="81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4583"/>
                                        </p:tgtEl>
                                        <p:attrNameLst>
                                          <p:attrName>style.visibility</p:attrName>
                                        </p:attrNameLst>
                                      </p:cBhvr>
                                      <p:to>
                                        <p:strVal val="visible"/>
                                      </p:to>
                                    </p:set>
                                    <p:animEffect transition="in" filter="wipe(up)">
                                      <p:cBhvr>
                                        <p:cTn id="22" dur="500"/>
                                        <p:tgtEl>
                                          <p:spTgt spid="24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8195" grpId="0" bldLvl="0" animBg="1"/>
      <p:bldP spid="8195" grpId="1" animBg="1"/>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p:cNvSpPr txBox="1"/>
          <p:nvPr/>
        </p:nvSpPr>
        <p:spPr>
          <a:xfrm>
            <a:off x="500063" y="476250"/>
            <a:ext cx="7562850" cy="579438"/>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5.1.1  </a:t>
            </a:r>
            <a:r>
              <a:rPr lang="zh-CN" altLang="en-US" sz="3200" dirty="0">
                <a:latin typeface="黑体" panose="02010609060101010101" pitchFamily="49" charset="-122"/>
                <a:ea typeface="黑体" panose="02010609060101010101" pitchFamily="49" charset="-122"/>
              </a:rPr>
              <a:t>建造对象类静态结构模型的步骤</a:t>
            </a:r>
            <a:endParaRPr lang="zh-CN" altLang="en-US" sz="3200" dirty="0">
              <a:latin typeface="黑体" panose="02010609060101010101" pitchFamily="49" charset="-122"/>
              <a:ea typeface="黑体" panose="02010609060101010101" pitchFamily="49" charset="-122"/>
            </a:endParaRPr>
          </a:p>
        </p:txBody>
      </p:sp>
      <p:sp>
        <p:nvSpPr>
          <p:cNvPr id="9219" name="Text Box 5"/>
          <p:cNvSpPr txBox="1"/>
          <p:nvPr/>
        </p:nvSpPr>
        <p:spPr>
          <a:xfrm>
            <a:off x="500063" y="2060258"/>
            <a:ext cx="8175625" cy="3476625"/>
          </a:xfrm>
          <a:prstGeom prst="rect">
            <a:avLst/>
          </a:prstGeom>
          <a:noFill/>
          <a:ln w="9525">
            <a:noFill/>
          </a:ln>
        </p:spPr>
        <p:txBody>
          <a:bodyPr>
            <a:spAutoFit/>
          </a:bodyPr>
          <a:lstStyle/>
          <a:p>
            <a:pPr eaLnBrk="1" hangingPunct="1">
              <a:lnSpc>
                <a:spcPct val="125000"/>
              </a:lnSpc>
              <a:spcBef>
                <a:spcPts val="600"/>
              </a:spcBef>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3</a:t>
            </a:r>
            <a:r>
              <a:rPr lang="zh-CN" altLang="en-US" sz="2800" dirty="0">
                <a:solidFill>
                  <a:srgbClr val="FF0000"/>
                </a:solidFill>
                <a:latin typeface="黑体" panose="02010609060101010101" pitchFamily="49" charset="-122"/>
                <a:ea typeface="黑体" panose="02010609060101010101" pitchFamily="49" charset="-122"/>
              </a:rPr>
              <a:t>）确定关联基数</a:t>
            </a:r>
            <a:r>
              <a:rPr lang="zh-CN" altLang="en-US" sz="2800" dirty="0">
                <a:latin typeface="黑体" panose="02010609060101010101" pitchFamily="49" charset="-122"/>
                <a:ea typeface="黑体" panose="02010609060101010101" pitchFamily="49" charset="-122"/>
              </a:rPr>
              <a:t>。对连接的每一端评估，以确定基数。基数表示它们之间消息传递数目（如一对一，一对多或多对多）；</a:t>
            </a:r>
            <a:r>
              <a:rPr lang="en-US" altLang="zh-CN" sz="2800" dirty="0">
                <a:latin typeface="黑体" panose="02010609060101010101" pitchFamily="49" charset="-122"/>
                <a:ea typeface="黑体" panose="02010609060101010101" pitchFamily="49" charset="-122"/>
              </a:rPr>
              <a:t>    </a:t>
            </a:r>
            <a:endParaRPr lang="zh-CN" altLang="en-US" sz="2800" dirty="0">
              <a:latin typeface="黑体" panose="02010609060101010101" pitchFamily="49" charset="-122"/>
              <a:ea typeface="黑体" panose="02010609060101010101" pitchFamily="49" charset="-122"/>
            </a:endParaRPr>
          </a:p>
          <a:p>
            <a:pPr eaLnBrk="1" hangingPunct="1">
              <a:lnSpc>
                <a:spcPct val="125000"/>
              </a:lnSpc>
              <a:spcBef>
                <a:spcPts val="600"/>
              </a:spcBef>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4</a:t>
            </a:r>
            <a:r>
              <a:rPr lang="zh-CN" altLang="en-US" sz="2800" dirty="0">
                <a:solidFill>
                  <a:srgbClr val="FF0000"/>
                </a:solidFill>
                <a:latin typeface="黑体" panose="02010609060101010101" pitchFamily="49" charset="-122"/>
                <a:ea typeface="黑体" panose="02010609060101010101" pitchFamily="49" charset="-122"/>
              </a:rPr>
              <a:t>）简化模型</a:t>
            </a:r>
            <a:r>
              <a:rPr lang="zh-CN" altLang="en-US" sz="2800" dirty="0">
                <a:latin typeface="黑体" panose="02010609060101010101" pitchFamily="49" charset="-122"/>
                <a:ea typeface="黑体" panose="02010609060101010101" pitchFamily="49" charset="-122"/>
              </a:rPr>
              <a:t>。对于复杂系统的模型，建立子系统（包）图进行简化；</a:t>
            </a:r>
            <a:endParaRPr lang="zh-CN" altLang="en-US" sz="2800" dirty="0">
              <a:latin typeface="黑体" panose="02010609060101010101" pitchFamily="49" charset="-122"/>
              <a:ea typeface="黑体" panose="02010609060101010101" pitchFamily="49" charset="-122"/>
            </a:endParaRPr>
          </a:p>
          <a:p>
            <a:pPr eaLnBrk="1" hangingPunct="1">
              <a:lnSpc>
                <a:spcPct val="125000"/>
              </a:lnSpc>
              <a:spcBef>
                <a:spcPts val="600"/>
              </a:spcBef>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5</a:t>
            </a:r>
            <a:r>
              <a:rPr lang="zh-CN" altLang="en-US" sz="2800" dirty="0">
                <a:solidFill>
                  <a:srgbClr val="FF0000"/>
                </a:solidFill>
                <a:latin typeface="黑体" panose="02010609060101010101" pitchFamily="49" charset="-122"/>
                <a:ea typeface="黑体" panose="02010609060101010101" pitchFamily="49" charset="-122"/>
              </a:rPr>
              <a:t>）编制相应的文档资料</a:t>
            </a:r>
            <a:r>
              <a:rPr lang="zh-CN" altLang="en-US"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3"/>
          <p:cNvSpPr txBox="1"/>
          <p:nvPr/>
        </p:nvSpPr>
        <p:spPr>
          <a:xfrm>
            <a:off x="250825" y="404813"/>
            <a:ext cx="7080250" cy="641350"/>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5.1.2  </a:t>
            </a:r>
            <a:r>
              <a:rPr lang="zh-CN" altLang="en-US" sz="3600" dirty="0">
                <a:latin typeface="黑体" panose="02010609060101010101" pitchFamily="49" charset="-122"/>
                <a:ea typeface="黑体" panose="02010609060101010101" pitchFamily="49" charset="-122"/>
              </a:rPr>
              <a:t>建造对象类动态结构模型</a:t>
            </a:r>
            <a:endParaRPr lang="zh-CN" altLang="en-US" sz="3600" dirty="0">
              <a:latin typeface="黑体" panose="02010609060101010101" pitchFamily="49" charset="-122"/>
              <a:ea typeface="黑体" panose="02010609060101010101" pitchFamily="49" charset="-122"/>
            </a:endParaRPr>
          </a:p>
        </p:txBody>
      </p:sp>
      <p:sp>
        <p:nvSpPr>
          <p:cNvPr id="10243" name="Text Box 4"/>
          <p:cNvSpPr txBox="1"/>
          <p:nvPr/>
        </p:nvSpPr>
        <p:spPr>
          <a:xfrm>
            <a:off x="684530" y="1773555"/>
            <a:ext cx="7837805" cy="2889885"/>
          </a:xfrm>
          <a:prstGeom prst="rect">
            <a:avLst/>
          </a:prstGeom>
          <a:noFill/>
          <a:ln w="9525">
            <a:noFill/>
          </a:ln>
        </p:spPr>
        <p:txBody>
          <a:bodyPr wrap="square">
            <a:spAutoFit/>
          </a:bodyPr>
          <a:lstStyle/>
          <a:p>
            <a:pPr eaLnBrk="1" hangingPunct="1">
              <a:lnSpc>
                <a:spcPct val="130000"/>
              </a:lnSpc>
              <a:spcBef>
                <a:spcPts val="600"/>
              </a:spcBef>
              <a:buFont typeface="Arial" panose="020B0604020202020204" pitchFamily="34" charset="0"/>
            </a:pPr>
            <a:r>
              <a:rPr lang="zh-CN" altLang="en-US" sz="2800" dirty="0">
                <a:latin typeface="黑体" panose="02010609060101010101" pitchFamily="49" charset="-122"/>
                <a:ea typeface="黑体" panose="02010609060101010101" pitchFamily="49" charset="-122"/>
              </a:rPr>
              <a:t>    对象动态结构模型</a:t>
            </a:r>
            <a:r>
              <a:rPr lang="zh-CN" altLang="en-US" sz="2800" dirty="0">
                <a:solidFill>
                  <a:srgbClr val="FF0000"/>
                </a:solidFill>
                <a:highlight>
                  <a:srgbClr val="FFFF00"/>
                </a:highlight>
                <a:latin typeface="黑体" panose="02010609060101010101" pitchFamily="49" charset="-122"/>
                <a:ea typeface="黑体" panose="02010609060101010101" pitchFamily="49" charset="-122"/>
              </a:rPr>
              <a:t>描述</a:t>
            </a:r>
            <a:r>
              <a:rPr lang="zh-CN" altLang="en-US" sz="2800" dirty="0">
                <a:latin typeface="黑体" panose="02010609060101010101" pitchFamily="49" charset="-122"/>
                <a:ea typeface="黑体" panose="02010609060101010101" pitchFamily="49" charset="-122"/>
              </a:rPr>
              <a:t>了系统的</a:t>
            </a:r>
            <a:r>
              <a:rPr lang="zh-CN" altLang="en-US" sz="2800" dirty="0">
                <a:solidFill>
                  <a:srgbClr val="FF0000"/>
                </a:solidFill>
                <a:highlight>
                  <a:srgbClr val="FFFF00"/>
                </a:highlight>
                <a:latin typeface="黑体" panose="02010609060101010101" pitchFamily="49" charset="-122"/>
                <a:ea typeface="黑体" panose="02010609060101010101" pitchFamily="49" charset="-122"/>
              </a:rPr>
              <a:t>动态行为</a:t>
            </a:r>
            <a:r>
              <a:rPr lang="zh-CN" altLang="en-US" sz="2800" dirty="0">
                <a:latin typeface="黑体" panose="02010609060101010101" pitchFamily="49" charset="-122"/>
                <a:ea typeface="黑体" panose="02010609060101010101" pitchFamily="49" charset="-122"/>
              </a:rPr>
              <a:t>，它们指明了</a:t>
            </a:r>
            <a:r>
              <a:rPr lang="zh-CN" altLang="en-US" sz="2800" dirty="0">
                <a:solidFill>
                  <a:srgbClr val="FF0000"/>
                </a:solidFill>
                <a:highlight>
                  <a:srgbClr val="FFFF00"/>
                </a:highlight>
                <a:latin typeface="黑体" panose="02010609060101010101" pitchFamily="49" charset="-122"/>
                <a:ea typeface="黑体" panose="02010609060101010101" pitchFamily="49" charset="-122"/>
              </a:rPr>
              <a:t>系统如何响应外部的事件或激励</a:t>
            </a:r>
            <a:r>
              <a:rPr lang="zh-CN" altLang="en-US" sz="2800" dirty="0">
                <a:latin typeface="黑体" panose="02010609060101010101" pitchFamily="49" charset="-122"/>
                <a:ea typeface="黑体" panose="02010609060101010101" pitchFamily="49" charset="-122"/>
              </a:rPr>
              <a:t>，涉及系统中对象的执行顺序和状态的变化，侧重于系统控制逻辑的描述，实质上解决系统中的对象</a:t>
            </a:r>
            <a:r>
              <a:rPr lang="zh-CN" altLang="en-US" sz="2800" dirty="0">
                <a:solidFill>
                  <a:srgbClr val="FF0000"/>
                </a:solidFill>
                <a:highlight>
                  <a:srgbClr val="FFFF00"/>
                </a:highlight>
                <a:latin typeface="黑体" panose="02010609060101010101" pitchFamily="49" charset="-122"/>
                <a:ea typeface="黑体" panose="02010609060101010101" pitchFamily="49" charset="-122"/>
              </a:rPr>
              <a:t>“何时做”</a:t>
            </a:r>
            <a:r>
              <a:rPr lang="zh-CN" altLang="en-US" sz="2800" dirty="0">
                <a:latin typeface="黑体" panose="02010609060101010101" pitchFamily="49" charset="-122"/>
                <a:ea typeface="黑体" panose="02010609060101010101" pitchFamily="49" charset="-122"/>
              </a:rPr>
              <a:t>的问题。</a:t>
            </a:r>
            <a:endParaRPr lang="zh-CN" altLang="en-US" sz="2800" dirty="0">
              <a:latin typeface="黑体" panose="02010609060101010101" pitchFamily="49" charset="-122"/>
              <a:ea typeface="黑体" panose="02010609060101010101" pitchFamily="49" charset="-122"/>
            </a:endParaRPr>
          </a:p>
        </p:txBody>
      </p:sp>
      <p:sp>
        <p:nvSpPr>
          <p:cNvPr id="10244" name="Text Box 4"/>
          <p:cNvSpPr txBox="1"/>
          <p:nvPr/>
        </p:nvSpPr>
        <p:spPr>
          <a:xfrm>
            <a:off x="701675" y="4665980"/>
            <a:ext cx="7821295" cy="1210945"/>
          </a:xfrm>
          <a:prstGeom prst="rect">
            <a:avLst/>
          </a:prstGeom>
          <a:noFill/>
          <a:ln w="9525">
            <a:noFill/>
          </a:ln>
        </p:spPr>
        <p:txBody>
          <a:bodyPr wrap="square">
            <a:spAutoFit/>
          </a:bodyPr>
          <a:lstStyle/>
          <a:p>
            <a:pPr eaLnBrk="1" hangingPunct="1">
              <a:lnSpc>
                <a:spcPct val="130000"/>
              </a:lnSpc>
              <a:spcBef>
                <a:spcPts val="600"/>
              </a:spcBef>
              <a:buFont typeface="Arial" panose="020B0604020202020204" pitchFamily="34" charset="0"/>
            </a:pPr>
            <a:r>
              <a:rPr lang="zh-CN" altLang="en-US" sz="2800" dirty="0">
                <a:latin typeface="黑体" panose="02010609060101010101" pitchFamily="49" charset="-122"/>
                <a:ea typeface="黑体" panose="02010609060101010101" pitchFamily="49" charset="-122"/>
              </a:rPr>
              <a:t>    对象动态结构模型包括：</a:t>
            </a:r>
            <a:r>
              <a:rPr lang="zh-CN" altLang="en-US" sz="2800" dirty="0">
                <a:solidFill>
                  <a:srgbClr val="FF0000"/>
                </a:solidFill>
                <a:highlight>
                  <a:srgbClr val="FFFF00"/>
                </a:highlight>
                <a:latin typeface="黑体" panose="02010609060101010101" pitchFamily="49" charset="-122"/>
                <a:ea typeface="黑体" panose="02010609060101010101" pitchFamily="49" charset="-122"/>
              </a:rPr>
              <a:t>对象动态模型</a:t>
            </a:r>
            <a:r>
              <a:rPr lang="zh-CN" altLang="en-US" sz="2800" dirty="0">
                <a:latin typeface="黑体" panose="02010609060101010101" pitchFamily="49" charset="-122"/>
                <a:ea typeface="黑体" panose="02010609060101010101" pitchFamily="49" charset="-122"/>
              </a:rPr>
              <a:t>和</a:t>
            </a:r>
            <a:r>
              <a:rPr lang="zh-CN" altLang="en-US" sz="2800" dirty="0">
                <a:solidFill>
                  <a:srgbClr val="FF0000"/>
                </a:solidFill>
                <a:highlight>
                  <a:srgbClr val="FFFF00"/>
                </a:highlight>
                <a:latin typeface="黑体" panose="02010609060101010101" pitchFamily="49" charset="-122"/>
                <a:ea typeface="黑体" panose="02010609060101010101" pitchFamily="49" charset="-122"/>
              </a:rPr>
              <a:t>对象交互行为模型</a:t>
            </a:r>
            <a:r>
              <a:rPr lang="zh-CN" altLang="en-US"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p:nvPr/>
        </p:nvSpPr>
        <p:spPr>
          <a:xfrm>
            <a:off x="468313" y="45720"/>
            <a:ext cx="6646862" cy="646113"/>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5.1.2 </a:t>
            </a:r>
            <a:r>
              <a:rPr lang="zh-CN" altLang="en-US" sz="3600" dirty="0">
                <a:latin typeface="黑体" panose="02010609060101010101" pitchFamily="49" charset="-122"/>
                <a:ea typeface="黑体" panose="02010609060101010101" pitchFamily="49" charset="-122"/>
              </a:rPr>
              <a:t>建造对象类动态结构模型</a:t>
            </a:r>
            <a:endParaRPr lang="zh-CN" altLang="en-US" sz="3600" dirty="0">
              <a:latin typeface="黑体" panose="02010609060101010101" pitchFamily="49" charset="-122"/>
              <a:ea typeface="黑体" panose="02010609060101010101" pitchFamily="49" charset="-122"/>
            </a:endParaRPr>
          </a:p>
        </p:txBody>
      </p:sp>
      <p:sp>
        <p:nvSpPr>
          <p:cNvPr id="11267" name="Text Box 4"/>
          <p:cNvSpPr txBox="1"/>
          <p:nvPr/>
        </p:nvSpPr>
        <p:spPr>
          <a:xfrm>
            <a:off x="611188" y="980123"/>
            <a:ext cx="8137525" cy="3915410"/>
          </a:xfrm>
          <a:prstGeom prst="rect">
            <a:avLst/>
          </a:prstGeom>
          <a:noFill/>
          <a:ln w="9525">
            <a:noFill/>
          </a:ln>
        </p:spPr>
        <p:txBody>
          <a:bodyPr>
            <a:spAutoFit/>
          </a:bodyPr>
          <a:lstStyle/>
          <a:p>
            <a:pPr eaLnBrk="1" hangingPunct="1">
              <a:buFont typeface="Arial" panose="020B0604020202020204" pitchFamily="34" charset="0"/>
            </a:pPr>
            <a:r>
              <a:rPr lang="zh-CN" altLang="en-US" sz="2400" dirty="0">
                <a:solidFill>
                  <a:srgbClr val="FF0000"/>
                </a:solidFill>
                <a:latin typeface="Arial" panose="020B0604020202020204" pitchFamily="34" charset="0"/>
                <a:ea typeface="黑体" panose="02010609060101010101" pitchFamily="49" charset="-122"/>
              </a:rPr>
              <a:t>建模步骤</a:t>
            </a:r>
            <a:r>
              <a:rPr lang="zh-CN" altLang="en-US" sz="2400" dirty="0">
                <a:latin typeface="Arial" panose="020B0604020202020204" pitchFamily="34" charset="0"/>
                <a:ea typeface="黑体" panose="02010609060101010101" pitchFamily="49" charset="-122"/>
              </a:rPr>
              <a:t>：</a:t>
            </a:r>
            <a:endParaRPr lang="zh-CN" altLang="en-US" sz="2400" dirty="0">
              <a:latin typeface="Arial" panose="020B0604020202020204" pitchFamily="34" charset="0"/>
              <a:ea typeface="黑体" panose="02010609060101010101" pitchFamily="49" charset="-122"/>
            </a:endParaRPr>
          </a:p>
          <a:p>
            <a:pPr eaLnBrk="1" hangingPunct="1">
              <a:buFont typeface="Arial" panose="020B0604020202020204" pitchFamily="34" charset="0"/>
            </a:pPr>
            <a:endParaRPr lang="zh-CN" altLang="en-US" sz="2400" dirty="0">
              <a:latin typeface="Arial" panose="020B0604020202020204" pitchFamily="34" charset="0"/>
              <a:ea typeface="黑体" panose="02010609060101010101" pitchFamily="49" charset="-122"/>
            </a:endParaRPr>
          </a:p>
          <a:p>
            <a:pPr eaLnBrk="1" hangingPunct="1">
              <a:spcBef>
                <a:spcPts val="600"/>
              </a:spcBef>
              <a:buFont typeface="Arial" panose="020B0604020202020204" pitchFamily="34" charset="0"/>
            </a:pP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建造对象状态模型</a:t>
            </a:r>
            <a:r>
              <a:rPr lang="zh-CN" altLang="en-US"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eaLnBrk="1" hangingPunct="1">
              <a:spcBef>
                <a:spcPts val="600"/>
              </a:spcBef>
              <a:buFont typeface="Arial" panose="020B0604020202020204" pitchFamily="34" charset="0"/>
            </a:pP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对象状态模型主要由状态图和活动图组成。</a:t>
            </a:r>
            <a:endParaRPr lang="zh-CN" altLang="en-US" sz="2400" dirty="0">
              <a:latin typeface="黑体" panose="02010609060101010101" pitchFamily="49" charset="-122"/>
              <a:ea typeface="黑体" panose="02010609060101010101" pitchFamily="49" charset="-122"/>
            </a:endParaRPr>
          </a:p>
          <a:p>
            <a:pPr eaLnBrk="1" hangingPunct="1">
              <a:spcBef>
                <a:spcPts val="300"/>
              </a:spcBef>
              <a:buFont typeface="Arial" panose="020B0604020202020204" pitchFamily="34" charset="0"/>
            </a:pP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建造对象之间交互行为模型</a:t>
            </a:r>
            <a:r>
              <a:rPr lang="zh-CN" altLang="en-US"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eaLnBrk="1" hangingPunct="1">
              <a:spcBef>
                <a:spcPts val="600"/>
              </a:spcBef>
              <a:buFont typeface="Arial" panose="020B0604020202020204" pitchFamily="34" charset="0"/>
            </a:pP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对象交互模型主要由顺序图和合作图组成。</a:t>
            </a:r>
            <a:endParaRPr lang="zh-CN" altLang="en-US" sz="2400" dirty="0">
              <a:latin typeface="黑体" panose="02010609060101010101" pitchFamily="49" charset="-122"/>
              <a:ea typeface="黑体" panose="02010609060101010101" pitchFamily="49" charset="-122"/>
            </a:endParaRPr>
          </a:p>
          <a:p>
            <a:pPr eaLnBrk="1" hangingPunct="1">
              <a:spcBef>
                <a:spcPts val="600"/>
              </a:spcBef>
              <a:buFont typeface="Arial" panose="020B0604020202020204" pitchFamily="34" charset="0"/>
            </a:pP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复审对象类动态结构模型</a:t>
            </a:r>
            <a:r>
              <a:rPr lang="zh-CN" altLang="en-US" sz="2400" dirty="0">
                <a:latin typeface="黑体" panose="02010609060101010101" pitchFamily="49" charset="-122"/>
                <a:ea typeface="黑体" panose="02010609060101010101" pitchFamily="49" charset="-122"/>
              </a:rPr>
              <a:t>，以验证其准确性</a:t>
            </a:r>
            <a:endParaRPr lang="zh-CN" altLang="en-US" sz="2400" dirty="0">
              <a:latin typeface="黑体" panose="02010609060101010101" pitchFamily="49" charset="-122"/>
              <a:ea typeface="黑体" panose="02010609060101010101" pitchFamily="49" charset="-122"/>
            </a:endParaRPr>
          </a:p>
          <a:p>
            <a:pPr eaLnBrk="1" hangingPunct="1">
              <a:spcBef>
                <a:spcPts val="600"/>
              </a:spcBef>
              <a:buFont typeface="Arial" panose="020B0604020202020204" pitchFamily="34" charset="0"/>
            </a:pPr>
            <a:r>
              <a:rPr lang="zh-CN" altLang="en-US" sz="2400" dirty="0">
                <a:latin typeface="黑体" panose="02010609060101010101" pitchFamily="49" charset="-122"/>
                <a:ea typeface="黑体" panose="02010609060101010101" pitchFamily="49" charset="-122"/>
              </a:rPr>
              <a:t>     和一致性。</a:t>
            </a:r>
            <a:endParaRPr lang="en-US" altLang="zh-CN" sz="2400" dirty="0">
              <a:latin typeface="黑体" panose="02010609060101010101" pitchFamily="49" charset="-122"/>
              <a:ea typeface="黑体" panose="02010609060101010101" pitchFamily="49" charset="-122"/>
            </a:endParaRPr>
          </a:p>
          <a:p>
            <a:pPr eaLnBrk="1" hangingPunct="1">
              <a:spcBef>
                <a:spcPts val="600"/>
              </a:spcBef>
              <a:buFont typeface="Arial" panose="020B0604020202020204" pitchFamily="34" charset="0"/>
            </a:pP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4</a:t>
            </a:r>
            <a:r>
              <a:rPr lang="zh-CN" altLang="en-US" sz="2400" dirty="0">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编制相应的文档资料</a:t>
            </a:r>
            <a:r>
              <a:rPr lang="zh-CN" altLang="en-US"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p:sp>
        <p:nvSpPr>
          <p:cNvPr id="5" name="内容占位符 2"/>
          <p:cNvSpPr txBox="1"/>
          <p:nvPr/>
        </p:nvSpPr>
        <p:spPr bwMode="auto">
          <a:xfrm>
            <a:off x="607695" y="4881245"/>
            <a:ext cx="7944485" cy="1146175"/>
          </a:xfrm>
          <a:prstGeom prst="rect">
            <a:avLst/>
          </a:prstGeom>
          <a:solidFill>
            <a:srgbClr val="005197"/>
          </a:solidFill>
          <a:ln w="25400" cap="flat" cmpd="sng" algn="ctr">
            <a:noFill/>
            <a:prstDash val="solid"/>
            <a:miter lim="800000"/>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lstStyle>
            <a:lvl1pPr marL="342900" indent="-342900" algn="l" rtl="0" eaLnBrk="1" fontAlgn="base" hangingPunct="1">
              <a:spcBef>
                <a:spcPts val="1200"/>
              </a:spcBef>
              <a:spcAft>
                <a:spcPts val="1200"/>
              </a:spcAft>
              <a:buClr>
                <a:schemeClr val="folHlink"/>
              </a:buClr>
              <a:buFont typeface="Wingdings" panose="05000000000000000000" pitchFamily="2" charset="2"/>
              <a:buChar char="v"/>
              <a:defRPr sz="2800" b="1">
                <a:solidFill>
                  <a:schemeClr val="dk1"/>
                </a:solidFill>
                <a:latin typeface="黑体" panose="02010609060101010101" pitchFamily="49" charset="-122"/>
                <a:ea typeface="黑体" panose="02010609060101010101" pitchFamily="49" charset="-122"/>
                <a:cs typeface="+mn-cs"/>
              </a:defRPr>
            </a:lvl1pPr>
            <a:lvl2pPr marL="742950" indent="-285750" algn="l" rtl="0" eaLnBrk="1" fontAlgn="base" hangingPunct="1">
              <a:spcBef>
                <a:spcPts val="1200"/>
              </a:spcBef>
              <a:spcAft>
                <a:spcPts val="1200"/>
              </a:spcAft>
              <a:buClr>
                <a:schemeClr val="tx2"/>
              </a:buClr>
              <a:buFont typeface="Wingdings" panose="05000000000000000000" pitchFamily="2" charset="2"/>
              <a:buChar char="§"/>
              <a:defRPr sz="2400" b="1">
                <a:solidFill>
                  <a:schemeClr val="dk1"/>
                </a:solidFill>
                <a:latin typeface="黑体" panose="02010609060101010101" pitchFamily="49" charset="-122"/>
                <a:ea typeface="黑体" panose="02010609060101010101" pitchFamily="49" charset="-122"/>
                <a:cs typeface="+mn-cs"/>
              </a:defRPr>
            </a:lvl2pPr>
            <a:lvl3pPr marL="1143000" indent="-228600" algn="l" rtl="0" eaLnBrk="1" fontAlgn="base" hangingPunct="1">
              <a:spcBef>
                <a:spcPts val="1200"/>
              </a:spcBef>
              <a:spcAft>
                <a:spcPts val="1200"/>
              </a:spcAft>
              <a:buChar char="•"/>
              <a:defRPr sz="2000" b="1">
                <a:solidFill>
                  <a:schemeClr val="dk1"/>
                </a:solidFill>
                <a:latin typeface="黑体" panose="02010609060101010101" pitchFamily="49" charset="-122"/>
                <a:ea typeface="黑体" panose="02010609060101010101" pitchFamily="49" charset="-122"/>
                <a:cs typeface="+mn-cs"/>
              </a:defRPr>
            </a:lvl3pPr>
            <a:lvl4pPr marL="1600200" indent="-228600" algn="l" rtl="0" eaLnBrk="1" fontAlgn="base" hangingPunct="1">
              <a:spcBef>
                <a:spcPts val="1200"/>
              </a:spcBef>
              <a:spcAft>
                <a:spcPts val="1200"/>
              </a:spcAft>
              <a:buChar char="–"/>
              <a:defRPr sz="1400" b="1">
                <a:solidFill>
                  <a:schemeClr val="dk1"/>
                </a:solidFill>
                <a:latin typeface="华文新魏" panose="02010800040101010101" pitchFamily="2" charset="-122"/>
                <a:ea typeface="华文新魏" panose="02010800040101010101" pitchFamily="2" charset="-122"/>
                <a:cs typeface="+mn-cs"/>
              </a:defRPr>
            </a:lvl4pPr>
            <a:lvl5pPr marL="2057400" indent="-228600" algn="l" rtl="0" eaLnBrk="1" fontAlgn="base" hangingPunct="1">
              <a:spcBef>
                <a:spcPts val="1200"/>
              </a:spcBef>
              <a:spcAft>
                <a:spcPts val="1200"/>
              </a:spcAft>
              <a:buChar char="»"/>
              <a:defRPr sz="1400" b="1">
                <a:solidFill>
                  <a:schemeClr val="dk1"/>
                </a:solidFill>
                <a:latin typeface="华文新魏" panose="02010800040101010101" pitchFamily="2" charset="-122"/>
                <a:ea typeface="华文新魏" panose="02010800040101010101" pitchFamily="2" charset="-122"/>
                <a:cs typeface="+mn-cs"/>
              </a:defRPr>
            </a:lvl5pPr>
            <a:lvl6pPr marL="2514600" indent="-228600" algn="l" rtl="0" eaLnBrk="1" fontAlgn="base" hangingPunct="1">
              <a:spcBef>
                <a:spcPct val="20000"/>
              </a:spcBef>
              <a:spcAft>
                <a:spcPct val="0"/>
              </a:spcAft>
              <a:buChar char="»"/>
              <a:defRPr sz="2000">
                <a:solidFill>
                  <a:schemeClr val="dk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dk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dk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dk1"/>
                </a:solidFill>
                <a:latin typeface="+mn-lt"/>
                <a:ea typeface="+mn-ea"/>
                <a:cs typeface="+mn-cs"/>
              </a:defRPr>
            </a:lvl9pPr>
          </a:lstStyle>
          <a:p>
            <a:pPr marL="0" indent="0" algn="l">
              <a:buFont typeface="Wingdings" panose="05000000000000000000" pitchFamily="2" charset="2"/>
              <a:buNone/>
            </a:pPr>
            <a:r>
              <a:rPr lang="en-US" altLang="zh-CN" sz="2000" kern="0" dirty="0">
                <a:solidFill>
                  <a:schemeClr val="bg1"/>
                </a:solidFill>
                <a:effectLst>
                  <a:outerShdw blurRad="38100" dist="38100" dir="2700000" algn="tl">
                    <a:srgbClr val="000000">
                      <a:alpha val="43137"/>
                    </a:srgbClr>
                  </a:outerShdw>
                </a:effectLst>
                <a:latin typeface="+mj-ea"/>
                <a:ea typeface="+mj-ea"/>
              </a:rPr>
              <a:t>   </a:t>
            </a:r>
            <a:r>
              <a:rPr lang="zh-CN" sz="2400" kern="0" dirty="0">
                <a:solidFill>
                  <a:schemeClr val="bg1"/>
                </a:solidFill>
                <a:effectLst>
                  <a:outerShdw blurRad="38100" dist="38100" dir="2700000" algn="tl">
                    <a:srgbClr val="000000">
                      <a:alpha val="43137"/>
                    </a:srgbClr>
                  </a:outerShdw>
                </a:effectLst>
                <a:latin typeface="+mj-ea"/>
                <a:ea typeface="+mj-ea"/>
              </a:rPr>
              <a:t>对象状态模型描述的是某个对象的个体行为，而对象之间交互行为模型则给出多个对象所表现出来的集团行为。</a:t>
            </a:r>
            <a:endParaRPr kumimoji="0" lang="zh-CN" sz="2400" kern="0" dirty="0">
              <a:solidFill>
                <a:schemeClr val="bg1"/>
              </a:solidFill>
              <a:effectLst>
                <a:outerShdw blurRad="38100" dist="38100" dir="2700000" algn="tl">
                  <a:srgbClr val="000000">
                    <a:alpha val="43137"/>
                  </a:srgbClr>
                </a:outerShdw>
              </a:effectLst>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
          <p:cNvSpPr txBox="1"/>
          <p:nvPr/>
        </p:nvSpPr>
        <p:spPr>
          <a:xfrm>
            <a:off x="323850" y="836613"/>
            <a:ext cx="6623050" cy="641350"/>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5.1.3  </a:t>
            </a:r>
            <a:r>
              <a:rPr lang="zh-CN" altLang="en-US" sz="3600" dirty="0">
                <a:latin typeface="黑体" panose="02010609060101010101" pitchFamily="49" charset="-122"/>
                <a:ea typeface="黑体" panose="02010609060101010101" pitchFamily="49" charset="-122"/>
              </a:rPr>
              <a:t>建造系统功能处理模型</a:t>
            </a:r>
            <a:endParaRPr lang="zh-CN" altLang="en-US" sz="3600" dirty="0">
              <a:latin typeface="黑体" panose="02010609060101010101" pitchFamily="49" charset="-122"/>
              <a:ea typeface="黑体" panose="02010609060101010101" pitchFamily="49" charset="-122"/>
            </a:endParaRPr>
          </a:p>
        </p:txBody>
      </p:sp>
      <p:sp>
        <p:nvSpPr>
          <p:cNvPr id="12291" name="Text Box 4"/>
          <p:cNvSpPr txBox="1"/>
          <p:nvPr/>
        </p:nvSpPr>
        <p:spPr>
          <a:xfrm>
            <a:off x="555625" y="1844675"/>
            <a:ext cx="8588375" cy="2786063"/>
          </a:xfrm>
          <a:prstGeom prst="rect">
            <a:avLst/>
          </a:prstGeom>
          <a:noFill/>
          <a:ln w="9525">
            <a:noFill/>
          </a:ln>
        </p:spPr>
        <p:txBody>
          <a:bodyPr>
            <a:spAutoFit/>
          </a:bodyPr>
          <a:lstStyle/>
          <a:p>
            <a:pPr eaLnBrk="1" hangingPunct="1">
              <a:lnSpc>
                <a:spcPct val="125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   系统功能处理模型是为满足用户的需要而建立的，</a:t>
            </a:r>
            <a:r>
              <a:rPr lang="zh-CN" altLang="en-US" sz="2800" dirty="0">
                <a:solidFill>
                  <a:srgbClr val="FF0000"/>
                </a:solidFill>
                <a:latin typeface="黑体" panose="02010609060101010101" pitchFamily="49" charset="-122"/>
                <a:ea typeface="黑体" panose="02010609060101010101" pitchFamily="49" charset="-122"/>
              </a:rPr>
              <a:t>描述了系统所提供的功能</a:t>
            </a:r>
            <a:r>
              <a:rPr lang="zh-CN" altLang="en-US" sz="2800" dirty="0">
                <a:latin typeface="黑体" panose="02010609060101010101" pitchFamily="49" charset="-122"/>
                <a:ea typeface="黑体" panose="02010609060101010101" pitchFamily="49" charset="-122"/>
              </a:rPr>
              <a:t>，着重于系统所提供的功能，</a:t>
            </a:r>
            <a:endParaRPr lang="en-US" altLang="zh-CN" sz="2800" dirty="0">
              <a:latin typeface="黑体" panose="02010609060101010101" pitchFamily="49" charset="-122"/>
              <a:ea typeface="黑体" panose="02010609060101010101" pitchFamily="49" charset="-122"/>
            </a:endParaRPr>
          </a:p>
          <a:p>
            <a:pPr eaLnBrk="1" hangingPunct="1">
              <a:lnSpc>
                <a:spcPct val="125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着重于系统内部数据的传送与处理。它的主要任务是对输入数据进行必要的计算处理，以得到需要的输出数据，实质上是解决系统“</a:t>
            </a:r>
            <a:r>
              <a:rPr lang="zh-CN" altLang="en-US" sz="2800" dirty="0">
                <a:solidFill>
                  <a:srgbClr val="FF0000"/>
                </a:solidFill>
                <a:latin typeface="黑体" panose="02010609060101010101" pitchFamily="49" charset="-122"/>
                <a:ea typeface="黑体" panose="02010609060101010101" pitchFamily="49" charset="-122"/>
              </a:rPr>
              <a:t>做什么</a:t>
            </a:r>
            <a:r>
              <a:rPr lang="zh-CN" altLang="en-US" sz="2800" dirty="0">
                <a:latin typeface="黑体" panose="02010609060101010101" pitchFamily="49" charset="-122"/>
                <a:ea typeface="黑体" panose="02010609060101010101" pitchFamily="49" charset="-122"/>
              </a:rPr>
              <a:t>”的问题。</a:t>
            </a:r>
            <a:endParaRPr lang="zh-CN" altLang="en-US" sz="2800" dirty="0">
              <a:latin typeface="黑体" panose="02010609060101010101" pitchFamily="49" charset="-122"/>
              <a:ea typeface="黑体" panose="02010609060101010101" pitchFamily="49" charset="-122"/>
            </a:endParaRPr>
          </a:p>
        </p:txBody>
      </p:sp>
      <p:sp>
        <p:nvSpPr>
          <p:cNvPr id="12292" name="Text Box 4"/>
          <p:cNvSpPr txBox="1"/>
          <p:nvPr/>
        </p:nvSpPr>
        <p:spPr>
          <a:xfrm>
            <a:off x="467995" y="4630738"/>
            <a:ext cx="8588375" cy="1168400"/>
          </a:xfrm>
          <a:prstGeom prst="rect">
            <a:avLst/>
          </a:prstGeom>
          <a:noFill/>
          <a:ln w="9525">
            <a:noFill/>
          </a:ln>
        </p:spPr>
        <p:txBody>
          <a:bodyPr>
            <a:spAutoFit/>
          </a:bodyPr>
          <a:lstStyle/>
          <a:p>
            <a:pPr eaLnBrk="1" hangingPunct="1">
              <a:lnSpc>
                <a:spcPct val="125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   系统功能处理模型由</a:t>
            </a:r>
            <a:r>
              <a:rPr lang="zh-CN" altLang="en-US" sz="2800" dirty="0">
                <a:solidFill>
                  <a:srgbClr val="FF0000"/>
                </a:solidFill>
                <a:latin typeface="黑体" panose="02010609060101010101" pitchFamily="49" charset="-122"/>
                <a:ea typeface="黑体" panose="02010609060101010101" pitchFamily="49" charset="-122"/>
              </a:rPr>
              <a:t>系统用例模型</a:t>
            </a:r>
            <a:r>
              <a:rPr lang="zh-CN" altLang="en-US" sz="2800" dirty="0">
                <a:latin typeface="黑体" panose="02010609060101010101" pitchFamily="49" charset="-122"/>
                <a:ea typeface="黑体" panose="02010609060101010101" pitchFamily="49" charset="-122"/>
              </a:rPr>
              <a:t>和</a:t>
            </a:r>
            <a:r>
              <a:rPr lang="zh-CN" altLang="en-US" sz="2800" dirty="0">
                <a:solidFill>
                  <a:srgbClr val="FF0000"/>
                </a:solidFill>
                <a:latin typeface="黑体" panose="02010609060101010101" pitchFamily="49" charset="-122"/>
                <a:ea typeface="黑体" panose="02010609060101010101" pitchFamily="49" charset="-122"/>
              </a:rPr>
              <a:t>活动图</a:t>
            </a:r>
            <a:r>
              <a:rPr lang="zh-CN" altLang="en-US" sz="2800" dirty="0">
                <a:latin typeface="黑体" panose="02010609060101010101" pitchFamily="49" charset="-122"/>
                <a:ea typeface="黑体" panose="02010609060101010101" pitchFamily="49" charset="-122"/>
              </a:rPr>
              <a:t>进行描述。</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3"/>
          <p:cNvSpPr txBox="1"/>
          <p:nvPr/>
        </p:nvSpPr>
        <p:spPr>
          <a:xfrm>
            <a:off x="323850" y="836613"/>
            <a:ext cx="6623050" cy="641350"/>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5.1.3  </a:t>
            </a:r>
            <a:r>
              <a:rPr lang="zh-CN" altLang="en-US" sz="3600" dirty="0">
                <a:latin typeface="黑体" panose="02010609060101010101" pitchFamily="49" charset="-122"/>
                <a:ea typeface="黑体" panose="02010609060101010101" pitchFamily="49" charset="-122"/>
              </a:rPr>
              <a:t>建造系统功能处理模型</a:t>
            </a:r>
            <a:endParaRPr lang="zh-CN" altLang="en-US" sz="3600" dirty="0">
              <a:latin typeface="黑体" panose="02010609060101010101" pitchFamily="49" charset="-122"/>
              <a:ea typeface="黑体" panose="02010609060101010101" pitchFamily="49" charset="-122"/>
            </a:endParaRPr>
          </a:p>
        </p:txBody>
      </p:sp>
      <p:sp>
        <p:nvSpPr>
          <p:cNvPr id="13315" name="Text Box 4"/>
          <p:cNvSpPr txBox="1"/>
          <p:nvPr/>
        </p:nvSpPr>
        <p:spPr>
          <a:xfrm>
            <a:off x="395605" y="1772285"/>
            <a:ext cx="8623300" cy="4945063"/>
          </a:xfrm>
          <a:prstGeom prst="rect">
            <a:avLst/>
          </a:prstGeom>
          <a:noFill/>
          <a:ln w="9525">
            <a:noFill/>
          </a:ln>
        </p:spPr>
        <p:txBody>
          <a:bodyPr wrap="none">
            <a:spAutoFit/>
          </a:bodyPr>
          <a:lstStyle/>
          <a:p>
            <a:pPr eaLnBrk="1" hangingPunct="1">
              <a:lnSpc>
                <a:spcPct val="114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）确认功能需求</a:t>
            </a:r>
            <a:r>
              <a:rPr lang="zh-CN" altLang="en-US" sz="2800" dirty="0">
                <a:latin typeface="黑体" panose="02010609060101010101" pitchFamily="49" charset="-122"/>
                <a:ea typeface="黑体" panose="02010609060101010101" pitchFamily="49" charset="-122"/>
              </a:rPr>
              <a:t>。建立系统用例模型，与业务用</a:t>
            </a:r>
            <a:endParaRPr lang="en-US" altLang="zh-CN" sz="2800" dirty="0">
              <a:latin typeface="黑体" panose="02010609060101010101" pitchFamily="49" charset="-122"/>
              <a:ea typeface="黑体" panose="02010609060101010101" pitchFamily="49" charset="-122"/>
            </a:endParaRPr>
          </a:p>
          <a:p>
            <a:pPr eaLnBrk="1" hangingPunct="1">
              <a:lnSpc>
                <a:spcPct val="114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例模型一起组成完整的客户需求用例模型，并确认是</a:t>
            </a:r>
            <a:endParaRPr lang="en-US" altLang="zh-CN" sz="2800" dirty="0">
              <a:latin typeface="黑体" panose="02010609060101010101" pitchFamily="49" charset="-122"/>
              <a:ea typeface="黑体" panose="02010609060101010101" pitchFamily="49" charset="-122"/>
            </a:endParaRPr>
          </a:p>
          <a:p>
            <a:pPr eaLnBrk="1" hangingPunct="1">
              <a:lnSpc>
                <a:spcPct val="114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否真正符合用户的需求。</a:t>
            </a:r>
            <a:r>
              <a:rPr lang="en-US" altLang="zh-CN" sz="2800" dirty="0">
                <a:latin typeface="黑体" panose="02010609060101010101" pitchFamily="49" charset="-122"/>
                <a:ea typeface="黑体" panose="02010609060101010101" pitchFamily="49" charset="-122"/>
              </a:rPr>
              <a:t>     </a:t>
            </a:r>
            <a:endParaRPr lang="zh-CN" altLang="en-US" sz="2800" dirty="0">
              <a:latin typeface="黑体" panose="02010609060101010101" pitchFamily="49" charset="-122"/>
              <a:ea typeface="黑体" panose="02010609060101010101" pitchFamily="49" charset="-122"/>
            </a:endParaRPr>
          </a:p>
          <a:p>
            <a:pPr eaLnBrk="1" hangingPunct="1">
              <a:lnSpc>
                <a:spcPct val="114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）建活动流程图</a:t>
            </a:r>
            <a:r>
              <a:rPr lang="zh-CN" altLang="en-US" sz="2800" dirty="0">
                <a:latin typeface="黑体" panose="02010609060101010101" pitchFamily="49" charset="-122"/>
                <a:ea typeface="黑体" panose="02010609060101010101" pitchFamily="49" charset="-122"/>
              </a:rPr>
              <a:t>。对系统用例模型中的某些关键用</a:t>
            </a:r>
            <a:endParaRPr lang="en-US" altLang="zh-CN" sz="2800" dirty="0">
              <a:latin typeface="黑体" panose="02010609060101010101" pitchFamily="49" charset="-122"/>
              <a:ea typeface="黑体" panose="02010609060101010101" pitchFamily="49" charset="-122"/>
            </a:endParaRPr>
          </a:p>
          <a:p>
            <a:pPr eaLnBrk="1" hangingPunct="1">
              <a:lnSpc>
                <a:spcPct val="114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例采用活动图进行进一步详细描述，说明系统环境中</a:t>
            </a:r>
            <a:endParaRPr lang="en-US" altLang="zh-CN" sz="2800" dirty="0">
              <a:latin typeface="黑体" panose="02010609060101010101" pitchFamily="49" charset="-122"/>
              <a:ea typeface="黑体" panose="02010609060101010101" pitchFamily="49" charset="-122"/>
            </a:endParaRPr>
          </a:p>
          <a:p>
            <a:pPr eaLnBrk="1" hangingPunct="1">
              <a:lnSpc>
                <a:spcPct val="114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的对象交互模型，及数据处理的同步、并行、选择</a:t>
            </a:r>
            <a:endParaRPr lang="en-US" altLang="zh-CN" sz="2800" dirty="0">
              <a:latin typeface="黑体" panose="02010609060101010101" pitchFamily="49" charset="-122"/>
              <a:ea typeface="黑体" panose="02010609060101010101" pitchFamily="49" charset="-122"/>
            </a:endParaRPr>
          </a:p>
          <a:p>
            <a:pPr eaLnBrk="1" hangingPunct="1">
              <a:lnSpc>
                <a:spcPct val="114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与反复的处理顺序等。</a:t>
            </a:r>
            <a:endParaRPr lang="zh-CN" altLang="en-US" sz="2800" dirty="0">
              <a:latin typeface="黑体" panose="02010609060101010101" pitchFamily="49" charset="-122"/>
              <a:ea typeface="黑体" panose="02010609060101010101" pitchFamily="49" charset="-122"/>
            </a:endParaRPr>
          </a:p>
          <a:p>
            <a:pPr eaLnBrk="1" hangingPunct="1">
              <a:lnSpc>
                <a:spcPct val="114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3</a:t>
            </a:r>
            <a:r>
              <a:rPr lang="zh-CN" altLang="en-US" sz="2800" dirty="0">
                <a:solidFill>
                  <a:srgbClr val="FF0000"/>
                </a:solidFill>
                <a:latin typeface="黑体" panose="02010609060101010101" pitchFamily="49" charset="-122"/>
                <a:ea typeface="黑体" panose="02010609060101010101" pitchFamily="49" charset="-122"/>
              </a:rPr>
              <a:t>）以上内容都要确认是否真正符合用户的需求。</a:t>
            </a:r>
            <a:endParaRPr lang="zh-CN" altLang="en-US" sz="2800" dirty="0">
              <a:solidFill>
                <a:srgbClr val="FF0000"/>
              </a:solidFill>
              <a:latin typeface="黑体" panose="02010609060101010101" pitchFamily="49" charset="-122"/>
              <a:ea typeface="黑体" panose="02010609060101010101" pitchFamily="49" charset="-122"/>
            </a:endParaRPr>
          </a:p>
          <a:p>
            <a:pPr eaLnBrk="1" hangingPunct="1">
              <a:lnSpc>
                <a:spcPct val="114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4</a:t>
            </a:r>
            <a:r>
              <a:rPr lang="zh-CN" altLang="en-US" sz="2800" dirty="0">
                <a:solidFill>
                  <a:srgbClr val="FF0000"/>
                </a:solidFill>
                <a:latin typeface="黑体" panose="02010609060101010101" pitchFamily="49" charset="-122"/>
                <a:ea typeface="黑体" panose="02010609060101010101" pitchFamily="49" charset="-122"/>
              </a:rPr>
              <a:t>）编制相应的文档资料。</a:t>
            </a:r>
            <a:endParaRPr lang="zh-CN" altLang="en-US" sz="2800" dirty="0">
              <a:solidFill>
                <a:srgbClr val="FF000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p:cNvSpPr txBox="1"/>
          <p:nvPr/>
        </p:nvSpPr>
        <p:spPr>
          <a:xfrm>
            <a:off x="90488" y="149225"/>
            <a:ext cx="8442325" cy="641350"/>
          </a:xfrm>
          <a:prstGeom prst="rect">
            <a:avLst/>
          </a:prstGeom>
          <a:noFill/>
          <a:ln w="9525">
            <a:noFill/>
          </a:ln>
        </p:spPr>
        <p:txBody>
          <a:bodyPr>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5.1.4  </a:t>
            </a:r>
            <a:r>
              <a:rPr lang="zh-CN" altLang="en-US" sz="3600" dirty="0">
                <a:latin typeface="黑体" panose="02010609060101010101" pitchFamily="49" charset="-122"/>
                <a:ea typeface="黑体" panose="02010609060101010101" pitchFamily="49" charset="-122"/>
              </a:rPr>
              <a:t>编制系统分析规格说明的文档</a:t>
            </a:r>
            <a:endParaRPr lang="zh-CN" altLang="en-US" sz="3600" dirty="0">
              <a:latin typeface="黑体" panose="02010609060101010101" pitchFamily="49" charset="-122"/>
              <a:ea typeface="黑体" panose="02010609060101010101" pitchFamily="49" charset="-122"/>
            </a:endParaRPr>
          </a:p>
        </p:txBody>
      </p:sp>
      <p:sp>
        <p:nvSpPr>
          <p:cNvPr id="14339" name="Text Box 4"/>
          <p:cNvSpPr txBox="1"/>
          <p:nvPr/>
        </p:nvSpPr>
        <p:spPr>
          <a:xfrm>
            <a:off x="1455738" y="1287463"/>
            <a:ext cx="184150" cy="519112"/>
          </a:xfrm>
          <a:prstGeom prst="rect">
            <a:avLst/>
          </a:prstGeom>
          <a:noFill/>
          <a:ln w="9525">
            <a:noFill/>
          </a:ln>
        </p:spPr>
        <p:txBody>
          <a:bodyPr wrap="none">
            <a:spAutoFit/>
          </a:bodyPr>
          <a:lstStyle/>
          <a:p>
            <a:pPr eaLnBrk="1" hangingPunct="1">
              <a:buFont typeface="Arial" panose="020B0604020202020204" pitchFamily="34" charset="0"/>
            </a:pPr>
            <a:endParaRPr lang="zh-CN" altLang="en-US" sz="2800" dirty="0">
              <a:latin typeface="Arial" panose="020B0604020202020204" pitchFamily="34" charset="0"/>
              <a:ea typeface="楷体_GB2312" pitchFamily="49" charset="-122"/>
            </a:endParaRPr>
          </a:p>
        </p:txBody>
      </p:sp>
      <p:pic>
        <p:nvPicPr>
          <p:cNvPr id="14340" name="Picture 5" descr="image002"/>
          <p:cNvPicPr>
            <a:picLocks noChangeAspect="1"/>
          </p:cNvPicPr>
          <p:nvPr/>
        </p:nvPicPr>
        <p:blipFill>
          <a:blip r:embed="rId1"/>
          <a:stretch>
            <a:fillRect/>
          </a:stretch>
        </p:blipFill>
        <p:spPr>
          <a:xfrm>
            <a:off x="90488" y="914400"/>
            <a:ext cx="8893175" cy="5924550"/>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p:nvPr/>
        </p:nvSpPr>
        <p:spPr>
          <a:xfrm>
            <a:off x="323850" y="836613"/>
            <a:ext cx="8208963" cy="646112"/>
          </a:xfrm>
          <a:prstGeom prst="rect">
            <a:avLst/>
          </a:prstGeom>
          <a:noFill/>
          <a:ln w="9525">
            <a:noFill/>
          </a:ln>
        </p:spPr>
        <p:txBody>
          <a:bodyPr>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5.1.4 </a:t>
            </a:r>
            <a:r>
              <a:rPr lang="zh-CN" altLang="en-US" sz="3600" dirty="0">
                <a:latin typeface="黑体" panose="02010609060101010101" pitchFamily="49" charset="-122"/>
                <a:ea typeface="黑体" panose="02010609060101010101" pitchFamily="49" charset="-122"/>
              </a:rPr>
              <a:t>编制系统分析规格说明的文档</a:t>
            </a:r>
            <a:endParaRPr lang="zh-CN" altLang="en-US" sz="3600" dirty="0">
              <a:latin typeface="黑体" panose="02010609060101010101" pitchFamily="49" charset="-122"/>
              <a:ea typeface="黑体" panose="02010609060101010101" pitchFamily="49" charset="-122"/>
            </a:endParaRPr>
          </a:p>
        </p:txBody>
      </p:sp>
      <p:sp>
        <p:nvSpPr>
          <p:cNvPr id="15363" name="Text Box 4"/>
          <p:cNvSpPr txBox="1"/>
          <p:nvPr/>
        </p:nvSpPr>
        <p:spPr>
          <a:xfrm>
            <a:off x="539750" y="1989138"/>
            <a:ext cx="7777163" cy="3040062"/>
          </a:xfrm>
          <a:prstGeom prst="rect">
            <a:avLst/>
          </a:prstGeom>
          <a:noFill/>
          <a:ln w="9525">
            <a:noFill/>
          </a:ln>
        </p:spPr>
        <p:txBody>
          <a:bodyPr>
            <a:spAutoFit/>
          </a:bodyPr>
          <a:lstStyle/>
          <a:p>
            <a:pPr eaLnBrk="1" hangingPunct="1">
              <a:lnSpc>
                <a:spcPct val="114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系统分析规格说明</a:t>
            </a:r>
            <a:r>
              <a:rPr lang="zh-CN" altLang="en-US" sz="2800" dirty="0">
                <a:latin typeface="黑体" panose="02010609060101010101" pitchFamily="49" charset="-122"/>
                <a:ea typeface="黑体" panose="02010609060101010101" pitchFamily="49" charset="-122"/>
              </a:rPr>
              <a:t>必须要有</a:t>
            </a:r>
            <a:r>
              <a:rPr lang="zh-CN" altLang="en-US" sz="2800" dirty="0">
                <a:solidFill>
                  <a:srgbClr val="FF0000"/>
                </a:solidFill>
                <a:latin typeface="黑体" panose="02010609060101010101" pitchFamily="49" charset="-122"/>
                <a:ea typeface="黑体" panose="02010609060101010101" pitchFamily="49" charset="-122"/>
              </a:rPr>
              <a:t>用户参加</a:t>
            </a:r>
            <a:r>
              <a:rPr lang="zh-CN" altLang="en-US" sz="2800" dirty="0">
                <a:latin typeface="黑体" panose="02010609060101010101" pitchFamily="49" charset="-122"/>
                <a:ea typeface="黑体" panose="02010609060101010101" pitchFamily="49" charset="-122"/>
              </a:rPr>
              <a:t>制定，它是开发人员与用户进行交流平台，用户必须理解、认同规格说明报告中的所有内容（包括系统功能要求，输入</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输出报告的格式、内容，用户界面及形式，数据字典（类和对象） 的内容与流行等）。</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p:nvPr/>
        </p:nvSpPr>
        <p:spPr>
          <a:xfrm>
            <a:off x="323850" y="836613"/>
            <a:ext cx="8208963" cy="646112"/>
          </a:xfrm>
          <a:prstGeom prst="rect">
            <a:avLst/>
          </a:prstGeom>
          <a:noFill/>
          <a:ln w="9525">
            <a:noFill/>
          </a:ln>
        </p:spPr>
        <p:txBody>
          <a:bodyPr>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5.1.4 </a:t>
            </a:r>
            <a:r>
              <a:rPr lang="zh-CN" altLang="en-US" sz="3600" dirty="0">
                <a:latin typeface="黑体" panose="02010609060101010101" pitchFamily="49" charset="-122"/>
                <a:ea typeface="黑体" panose="02010609060101010101" pitchFamily="49" charset="-122"/>
              </a:rPr>
              <a:t>编制系统分析规格说明的文档</a:t>
            </a:r>
            <a:endParaRPr lang="zh-CN" altLang="en-US" sz="3600" dirty="0">
              <a:latin typeface="黑体" panose="02010609060101010101" pitchFamily="49" charset="-122"/>
              <a:ea typeface="黑体" panose="02010609060101010101" pitchFamily="49" charset="-122"/>
            </a:endParaRPr>
          </a:p>
        </p:txBody>
      </p:sp>
      <p:sp>
        <p:nvSpPr>
          <p:cNvPr id="16387" name="Text Box 4"/>
          <p:cNvSpPr txBox="1"/>
          <p:nvPr/>
        </p:nvSpPr>
        <p:spPr>
          <a:xfrm>
            <a:off x="539750" y="1989138"/>
            <a:ext cx="7993063" cy="2547937"/>
          </a:xfrm>
          <a:prstGeom prst="rect">
            <a:avLst/>
          </a:prstGeom>
          <a:noFill/>
          <a:ln w="9525">
            <a:noFill/>
          </a:ln>
        </p:spPr>
        <p:txBody>
          <a:bodyPr>
            <a:spAutoFit/>
          </a:bodyPr>
          <a:lstStyle/>
          <a:p>
            <a:pPr eaLnBrk="1" hangingPunct="1">
              <a:lnSpc>
                <a:spcPct val="114000"/>
              </a:lnSpc>
              <a:buFont typeface="Arial" panose="020B0604020202020204" pitchFamily="34" charset="0"/>
            </a:pPr>
            <a:r>
              <a:rPr lang="zh-CN" altLang="en-US" sz="2800" dirty="0">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系统分析规格说明</a:t>
            </a:r>
            <a:r>
              <a:rPr lang="zh-CN" altLang="en-US" sz="2800" dirty="0">
                <a:latin typeface="黑体" panose="02010609060101010101" pitchFamily="49" charset="-122"/>
                <a:ea typeface="黑体" panose="02010609060101010101" pitchFamily="49" charset="-122"/>
              </a:rPr>
              <a:t>是为系统开发人员准备的，可以不为用户理解。该规格说明在对系统的资金投入、软硬件环境和使用人员的素质进行了深入的分析后，为了系统的实现而对可能采用的算法、模型进行逻辑上的分析和说明。</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3"/>
          <p:cNvSpPr txBox="1"/>
          <p:nvPr/>
        </p:nvSpPr>
        <p:spPr>
          <a:xfrm>
            <a:off x="395288" y="260350"/>
            <a:ext cx="4537075" cy="641350"/>
          </a:xfrm>
          <a:prstGeom prst="rect">
            <a:avLst/>
          </a:prstGeom>
          <a:noFill/>
          <a:ln w="9525">
            <a:noFill/>
          </a:ln>
        </p:spPr>
        <p:txBody>
          <a:bodyPr>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5.2  </a:t>
            </a:r>
            <a:r>
              <a:rPr lang="zh-CN" altLang="en-US" sz="3600" dirty="0">
                <a:latin typeface="黑体" panose="02010609060101010101" pitchFamily="49" charset="-122"/>
                <a:ea typeface="黑体" panose="02010609060101010101" pitchFamily="49" charset="-122"/>
              </a:rPr>
              <a:t>对象类的概念</a:t>
            </a:r>
            <a:endParaRPr lang="zh-CN" altLang="en-US" sz="3600" dirty="0">
              <a:latin typeface="黑体" panose="02010609060101010101" pitchFamily="49" charset="-122"/>
              <a:ea typeface="黑体" panose="02010609060101010101" pitchFamily="49" charset="-122"/>
            </a:endParaRPr>
          </a:p>
        </p:txBody>
      </p:sp>
      <p:sp>
        <p:nvSpPr>
          <p:cNvPr id="17411" name="Text Box 4"/>
          <p:cNvSpPr txBox="1"/>
          <p:nvPr/>
        </p:nvSpPr>
        <p:spPr>
          <a:xfrm>
            <a:off x="400050" y="903288"/>
            <a:ext cx="6553200" cy="579437"/>
          </a:xfrm>
          <a:prstGeom prst="rect">
            <a:avLst/>
          </a:prstGeom>
          <a:noFill/>
          <a:ln w="9525">
            <a:noFill/>
          </a:ln>
        </p:spPr>
        <p:txBody>
          <a:bodyPr>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5.2.1 </a:t>
            </a:r>
            <a:r>
              <a:rPr lang="zh-CN" altLang="en-US" sz="3200" dirty="0">
                <a:latin typeface="黑体" panose="02010609060101010101" pitchFamily="49" charset="-122"/>
                <a:ea typeface="黑体" panose="02010609060101010101" pitchFamily="49" charset="-122"/>
              </a:rPr>
              <a:t>对象类图的图形符号表示</a:t>
            </a:r>
            <a:endParaRPr lang="zh-CN" altLang="en-US" sz="3200" dirty="0">
              <a:latin typeface="黑体" panose="02010609060101010101" pitchFamily="49" charset="-122"/>
              <a:ea typeface="黑体" panose="02010609060101010101" pitchFamily="49" charset="-122"/>
            </a:endParaRPr>
          </a:p>
        </p:txBody>
      </p:sp>
      <p:sp>
        <p:nvSpPr>
          <p:cNvPr id="17412" name="Text Box 5"/>
          <p:cNvSpPr txBox="1"/>
          <p:nvPr/>
        </p:nvSpPr>
        <p:spPr>
          <a:xfrm>
            <a:off x="422275" y="1773238"/>
            <a:ext cx="8156575" cy="4400550"/>
          </a:xfrm>
          <a:prstGeom prst="rect">
            <a:avLst/>
          </a:prstGeom>
          <a:noFill/>
          <a:ln w="9525">
            <a:noFill/>
          </a:ln>
        </p:spPr>
        <p:txBody>
          <a:bodyPr>
            <a:spAutoFit/>
          </a:bodyPr>
          <a:lstStyle/>
          <a:p>
            <a:pPr eaLnBrk="1" hangingPunct="1">
              <a:lnSpc>
                <a:spcPct val="125000"/>
              </a:lnSpc>
              <a:buFont typeface="Arial" panose="020B0604020202020204" pitchFamily="34" charset="0"/>
            </a:pPr>
            <a:r>
              <a:rPr lang="zh-CN" altLang="en-US" sz="2800" dirty="0">
                <a:latin typeface="Arial" panose="020B0604020202020204" pitchFamily="34" charset="0"/>
                <a:ea typeface="黑体" panose="02010609060101010101" pitchFamily="49" charset="-122"/>
              </a:rPr>
              <a:t>     </a:t>
            </a:r>
            <a:r>
              <a:rPr lang="zh-CN" altLang="en-US" sz="2800" dirty="0">
                <a:solidFill>
                  <a:srgbClr val="FF0000"/>
                </a:solidFill>
                <a:latin typeface="Arial" panose="020B0604020202020204" pitchFamily="34" charset="0"/>
                <a:ea typeface="黑体" panose="02010609060101010101" pitchFamily="49" charset="-122"/>
              </a:rPr>
              <a:t>类和对象的静态模型</a:t>
            </a:r>
            <a:r>
              <a:rPr lang="zh-CN" altLang="en-US" sz="2800" dirty="0">
                <a:latin typeface="Arial" panose="020B0604020202020204" pitchFamily="34" charset="0"/>
                <a:ea typeface="黑体" panose="02010609060101010101" pitchFamily="49" charset="-122"/>
              </a:rPr>
              <a:t>由若干对象类图进行描述，</a:t>
            </a:r>
            <a:endParaRPr lang="en-US" altLang="zh-CN" sz="2800" dirty="0">
              <a:latin typeface="Arial" panose="020B0604020202020204" pitchFamily="34" charset="0"/>
              <a:ea typeface="黑体" panose="02010609060101010101" pitchFamily="49" charset="-122"/>
            </a:endParaRPr>
          </a:p>
          <a:p>
            <a:pPr eaLnBrk="1" hangingPunct="1">
              <a:lnSpc>
                <a:spcPct val="125000"/>
              </a:lnSpc>
              <a:buFont typeface="Arial" panose="020B0604020202020204" pitchFamily="34" charset="0"/>
            </a:pPr>
            <a:r>
              <a:rPr lang="zh-CN" altLang="en-US" sz="2800" dirty="0">
                <a:latin typeface="Arial" panose="020B0604020202020204" pitchFamily="34" charset="0"/>
                <a:ea typeface="黑体" panose="02010609060101010101" pitchFamily="49" charset="-122"/>
              </a:rPr>
              <a:t>类图由若干个类的图形符号及表示其直接关系的</a:t>
            </a:r>
            <a:endParaRPr lang="en-US" altLang="zh-CN" sz="2800" dirty="0">
              <a:latin typeface="Arial" panose="020B0604020202020204" pitchFamily="34" charset="0"/>
              <a:ea typeface="黑体" panose="02010609060101010101" pitchFamily="49" charset="-122"/>
            </a:endParaRPr>
          </a:p>
          <a:p>
            <a:pPr eaLnBrk="1" hangingPunct="1">
              <a:lnSpc>
                <a:spcPct val="125000"/>
              </a:lnSpc>
              <a:buFont typeface="Arial" panose="020B0604020202020204" pitchFamily="34" charset="0"/>
            </a:pPr>
            <a:r>
              <a:rPr lang="zh-CN" altLang="en-US" sz="2800" dirty="0">
                <a:latin typeface="Arial" panose="020B0604020202020204" pitchFamily="34" charset="0"/>
                <a:ea typeface="黑体" panose="02010609060101010101" pitchFamily="49" charset="-122"/>
              </a:rPr>
              <a:t>图形符号组成。</a:t>
            </a:r>
            <a:endParaRPr lang="en-US" altLang="zh-CN" sz="2800" dirty="0">
              <a:latin typeface="Arial" panose="020B0604020202020204" pitchFamily="34" charset="0"/>
              <a:ea typeface="黑体" panose="02010609060101010101" pitchFamily="49" charset="-122"/>
            </a:endParaRPr>
          </a:p>
          <a:p>
            <a:pPr eaLnBrk="1" hangingPunct="1">
              <a:lnSpc>
                <a:spcPct val="125000"/>
              </a:lnSpc>
              <a:buFont typeface="Arial" panose="020B0604020202020204" pitchFamily="34" charset="0"/>
            </a:pPr>
            <a:r>
              <a:rPr lang="en-US" altLang="zh-CN" sz="2800" dirty="0">
                <a:latin typeface="Arial" panose="020B0604020202020204" pitchFamily="34" charset="0"/>
                <a:ea typeface="黑体" panose="02010609060101010101" pitchFamily="49" charset="-122"/>
              </a:rPr>
              <a:t>     </a:t>
            </a:r>
            <a:r>
              <a:rPr lang="zh-CN" altLang="en-US" sz="2800" dirty="0">
                <a:latin typeface="Arial" panose="020B0604020202020204" pitchFamily="34" charset="0"/>
                <a:ea typeface="黑体" panose="02010609060101010101" pitchFamily="49" charset="-122"/>
              </a:rPr>
              <a:t>类之间的关系有关联、聚集、继承、依赖、细化等。</a:t>
            </a:r>
            <a:r>
              <a:rPr lang="zh-CN" altLang="en-US" sz="2800" dirty="0">
                <a:solidFill>
                  <a:srgbClr val="FF0000"/>
                </a:solidFill>
                <a:latin typeface="Arial" panose="020B0604020202020204" pitchFamily="34" charset="0"/>
                <a:ea typeface="黑体" panose="02010609060101010101" pitchFamily="49" charset="-122"/>
              </a:rPr>
              <a:t>类图</a:t>
            </a:r>
            <a:r>
              <a:rPr lang="zh-CN" altLang="en-US" sz="2800" dirty="0">
                <a:latin typeface="Arial" panose="020B0604020202020204" pitchFamily="34" charset="0"/>
                <a:ea typeface="黑体" panose="02010609060101010101" pitchFamily="49" charset="-122"/>
              </a:rPr>
              <a:t>是系统的一种</a:t>
            </a:r>
            <a:r>
              <a:rPr lang="zh-CN" altLang="en-US" sz="2800" dirty="0">
                <a:solidFill>
                  <a:srgbClr val="FF0000"/>
                </a:solidFill>
                <a:latin typeface="Arial" panose="020B0604020202020204" pitchFamily="34" charset="0"/>
                <a:ea typeface="黑体" panose="02010609060101010101" pitchFamily="49" charset="-122"/>
              </a:rPr>
              <a:t>静态模型</a:t>
            </a:r>
            <a:r>
              <a:rPr lang="zh-CN" altLang="en-US" sz="2800" dirty="0">
                <a:latin typeface="Arial" panose="020B0604020202020204" pitchFamily="34" charset="0"/>
                <a:ea typeface="黑体" panose="02010609060101010101" pitchFamily="49" charset="-122"/>
              </a:rPr>
              <a:t>，它是其他图的基础。</a:t>
            </a:r>
            <a:endParaRPr lang="en-US" altLang="zh-CN" sz="2800" dirty="0">
              <a:latin typeface="Arial" panose="020B0604020202020204" pitchFamily="34" charset="0"/>
              <a:ea typeface="黑体" panose="02010609060101010101" pitchFamily="49" charset="-122"/>
            </a:endParaRPr>
          </a:p>
          <a:p>
            <a:pPr eaLnBrk="1" hangingPunct="1">
              <a:lnSpc>
                <a:spcPct val="125000"/>
              </a:lnSpc>
              <a:buFont typeface="Arial" panose="020B0604020202020204" pitchFamily="34" charset="0"/>
            </a:pPr>
            <a:r>
              <a:rPr lang="en-US" altLang="zh-CN" sz="2800" dirty="0">
                <a:latin typeface="Arial" panose="020B0604020202020204" pitchFamily="34" charset="0"/>
                <a:ea typeface="黑体" panose="02010609060101010101" pitchFamily="49" charset="-122"/>
              </a:rPr>
              <a:t>     </a:t>
            </a:r>
            <a:r>
              <a:rPr lang="zh-CN" altLang="en-US" sz="2800" dirty="0">
                <a:solidFill>
                  <a:srgbClr val="FF0000"/>
                </a:solidFill>
                <a:latin typeface="Arial" panose="020B0604020202020204" pitchFamily="34" charset="0"/>
                <a:ea typeface="黑体" panose="02010609060101010101" pitchFamily="49" charset="-122"/>
              </a:rPr>
              <a:t>一个系统的类模型可以由多张类图表示，一个类也可以出现在几张类图中</a:t>
            </a:r>
            <a:r>
              <a:rPr lang="zh-CN" altLang="en-US" sz="2800" dirty="0">
                <a:latin typeface="Arial" panose="020B0604020202020204" pitchFamily="34" charset="0"/>
                <a:ea typeface="黑体" panose="02010609060101010101" pitchFamily="49" charset="-122"/>
              </a:rPr>
              <a:t>。</a:t>
            </a:r>
            <a:endParaRPr lang="zh-CN" altLang="en-US" sz="2800" dirty="0">
              <a:latin typeface="Arial" panose="020B0604020202020204" pitchFamily="34" charset="0"/>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p:cNvSpPr txBox="1"/>
          <p:nvPr/>
        </p:nvSpPr>
        <p:spPr>
          <a:xfrm>
            <a:off x="395288" y="260350"/>
            <a:ext cx="4537075" cy="641350"/>
          </a:xfrm>
          <a:prstGeom prst="rect">
            <a:avLst/>
          </a:prstGeom>
          <a:noFill/>
          <a:ln w="9525">
            <a:noFill/>
          </a:ln>
        </p:spPr>
        <p:txBody>
          <a:bodyPr>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5.2  </a:t>
            </a:r>
            <a:r>
              <a:rPr lang="zh-CN" altLang="en-US" sz="3600" dirty="0">
                <a:latin typeface="黑体" panose="02010609060101010101" pitchFamily="49" charset="-122"/>
                <a:ea typeface="黑体" panose="02010609060101010101" pitchFamily="49" charset="-122"/>
              </a:rPr>
              <a:t>对象类的概念</a:t>
            </a:r>
            <a:endParaRPr lang="zh-CN" altLang="en-US" sz="3600" dirty="0">
              <a:latin typeface="黑体" panose="02010609060101010101" pitchFamily="49" charset="-122"/>
              <a:ea typeface="黑体" panose="02010609060101010101" pitchFamily="49" charset="-122"/>
            </a:endParaRPr>
          </a:p>
        </p:txBody>
      </p:sp>
      <p:sp>
        <p:nvSpPr>
          <p:cNvPr id="18435" name="Text Box 4"/>
          <p:cNvSpPr txBox="1"/>
          <p:nvPr/>
        </p:nvSpPr>
        <p:spPr>
          <a:xfrm>
            <a:off x="395288" y="1052513"/>
            <a:ext cx="6553200" cy="579437"/>
          </a:xfrm>
          <a:prstGeom prst="rect">
            <a:avLst/>
          </a:prstGeom>
          <a:noFill/>
          <a:ln w="9525">
            <a:noFill/>
          </a:ln>
        </p:spPr>
        <p:txBody>
          <a:bodyPr>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5.2.1 </a:t>
            </a:r>
            <a:r>
              <a:rPr lang="zh-CN" altLang="en-US" sz="3200" dirty="0">
                <a:latin typeface="黑体" panose="02010609060101010101" pitchFamily="49" charset="-122"/>
                <a:ea typeface="黑体" panose="02010609060101010101" pitchFamily="49" charset="-122"/>
              </a:rPr>
              <a:t>对象类图的图形符号表示</a:t>
            </a:r>
            <a:endParaRPr lang="zh-CN" altLang="en-US" sz="3200" dirty="0">
              <a:latin typeface="黑体" panose="02010609060101010101" pitchFamily="49" charset="-122"/>
              <a:ea typeface="黑体" panose="02010609060101010101" pitchFamily="49" charset="-122"/>
            </a:endParaRPr>
          </a:p>
        </p:txBody>
      </p:sp>
      <p:sp>
        <p:nvSpPr>
          <p:cNvPr id="18436" name="Text Box 5"/>
          <p:cNvSpPr txBox="1"/>
          <p:nvPr/>
        </p:nvSpPr>
        <p:spPr>
          <a:xfrm>
            <a:off x="1187450" y="1700213"/>
            <a:ext cx="6229350" cy="519112"/>
          </a:xfrm>
          <a:prstGeom prst="rect">
            <a:avLst/>
          </a:prstGeom>
          <a:noFill/>
          <a:ln w="9525">
            <a:noFill/>
          </a:ln>
        </p:spPr>
        <p:txBody>
          <a:bodyPr wrap="none">
            <a:spAutoFit/>
          </a:bodyPr>
          <a:lstStyle/>
          <a:p>
            <a:pPr eaLnBrk="1" hangingPunct="1">
              <a:buFont typeface="Arial" panose="020B0604020202020204" pitchFamily="34" charset="0"/>
            </a:pPr>
            <a:r>
              <a:rPr lang="zh-CN" altLang="en-US" sz="2800" dirty="0">
                <a:latin typeface="Arial" panose="020B0604020202020204" pitchFamily="34" charset="0"/>
                <a:ea typeface="黑体" panose="02010609060101010101" pitchFamily="49" charset="-122"/>
              </a:rPr>
              <a:t>类的图形符号表示分为长式和短式两种</a:t>
            </a:r>
            <a:endParaRPr lang="zh-CN" altLang="en-US" sz="2800" dirty="0">
              <a:latin typeface="Arial" panose="020B0604020202020204" pitchFamily="34" charset="0"/>
              <a:ea typeface="黑体" panose="02010609060101010101" pitchFamily="49" charset="-122"/>
            </a:endParaRPr>
          </a:p>
        </p:txBody>
      </p:sp>
      <p:pic>
        <p:nvPicPr>
          <p:cNvPr id="18437" name="Picture 6" descr="image004"/>
          <p:cNvPicPr>
            <a:picLocks noChangeAspect="1"/>
          </p:cNvPicPr>
          <p:nvPr/>
        </p:nvPicPr>
        <p:blipFill>
          <a:blip r:embed="rId1"/>
          <a:stretch>
            <a:fillRect/>
          </a:stretch>
        </p:blipFill>
        <p:spPr>
          <a:xfrm>
            <a:off x="1011238" y="2219325"/>
            <a:ext cx="6726237" cy="4346575"/>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p:cNvSpPr txBox="1"/>
          <p:nvPr/>
        </p:nvSpPr>
        <p:spPr>
          <a:xfrm>
            <a:off x="228600" y="411163"/>
            <a:ext cx="7080250" cy="641350"/>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5.2.2  </a:t>
            </a:r>
            <a:r>
              <a:rPr lang="zh-CN" altLang="en-US" sz="3600" dirty="0">
                <a:latin typeface="黑体" panose="02010609060101010101" pitchFamily="49" charset="-122"/>
                <a:ea typeface="黑体" panose="02010609060101010101" pitchFamily="49" charset="-122"/>
              </a:rPr>
              <a:t>对象图是类图的一个实例</a:t>
            </a:r>
            <a:endParaRPr lang="zh-CN" altLang="en-US" sz="3600" dirty="0">
              <a:latin typeface="黑体" panose="02010609060101010101" pitchFamily="49" charset="-122"/>
              <a:ea typeface="黑体" panose="02010609060101010101" pitchFamily="49" charset="-122"/>
            </a:endParaRPr>
          </a:p>
        </p:txBody>
      </p:sp>
      <p:sp>
        <p:nvSpPr>
          <p:cNvPr id="19459" name="Text Box 5"/>
          <p:cNvSpPr txBox="1"/>
          <p:nvPr/>
        </p:nvSpPr>
        <p:spPr>
          <a:xfrm>
            <a:off x="422275" y="1773238"/>
            <a:ext cx="8156575" cy="1112837"/>
          </a:xfrm>
          <a:prstGeom prst="rect">
            <a:avLst/>
          </a:prstGeom>
          <a:noFill/>
          <a:ln w="9525">
            <a:noFill/>
          </a:ln>
        </p:spPr>
        <p:txBody>
          <a:bodyPr>
            <a:spAutoFit/>
          </a:bodyPr>
          <a:lstStyle/>
          <a:p>
            <a:pPr eaLnBrk="1" hangingPunct="1">
              <a:lnSpc>
                <a:spcPct val="125000"/>
              </a:lnSpc>
              <a:buFont typeface="Arial" panose="020B0604020202020204" pitchFamily="34" charset="0"/>
            </a:pPr>
            <a:r>
              <a:rPr lang="zh-CN" altLang="en-US" sz="2800" dirty="0">
                <a:latin typeface="Arial" panose="020B0604020202020204" pitchFamily="34" charset="0"/>
                <a:ea typeface="黑体" panose="02010609060101010101" pitchFamily="49" charset="-122"/>
              </a:rPr>
              <a:t>     </a:t>
            </a:r>
            <a:r>
              <a:rPr lang="zh-CN" altLang="en-US" sz="2800" dirty="0">
                <a:solidFill>
                  <a:srgbClr val="FF0000"/>
                </a:solidFill>
                <a:latin typeface="Arial" panose="020B0604020202020204" pitchFamily="34" charset="0"/>
                <a:ea typeface="黑体" panose="02010609060101010101" pitchFamily="49" charset="-122"/>
              </a:rPr>
              <a:t>对象图是类图的一个实例，描述了类图中的特定实例及某</a:t>
            </a:r>
            <a:r>
              <a:rPr lang="zh-CN" altLang="en-US" sz="2800" dirty="0">
                <a:latin typeface="Arial" panose="020B0604020202020204" pitchFamily="34" charset="0"/>
                <a:ea typeface="黑体" panose="02010609060101010101" pitchFamily="49" charset="-122"/>
              </a:rPr>
              <a:t>一时刻这些实例之间的特定连接。</a:t>
            </a:r>
            <a:endParaRPr lang="zh-CN" altLang="en-US" sz="2800" dirty="0">
              <a:latin typeface="Arial" panose="020B0604020202020204" pitchFamily="34" charset="0"/>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3"/>
          <p:cNvSpPr txBox="1"/>
          <p:nvPr/>
        </p:nvSpPr>
        <p:spPr>
          <a:xfrm>
            <a:off x="-34925" y="7938"/>
            <a:ext cx="7080250" cy="641350"/>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5.2.2  </a:t>
            </a:r>
            <a:r>
              <a:rPr lang="zh-CN" altLang="en-US" sz="3600" dirty="0">
                <a:latin typeface="黑体" panose="02010609060101010101" pitchFamily="49" charset="-122"/>
                <a:ea typeface="黑体" panose="02010609060101010101" pitchFamily="49" charset="-122"/>
              </a:rPr>
              <a:t>对象图是类图的一个实例</a:t>
            </a:r>
            <a:endParaRPr lang="zh-CN" altLang="en-US" sz="3600" dirty="0">
              <a:latin typeface="黑体" panose="02010609060101010101" pitchFamily="49" charset="-122"/>
              <a:ea typeface="黑体" panose="02010609060101010101" pitchFamily="49" charset="-122"/>
            </a:endParaRPr>
          </a:p>
        </p:txBody>
      </p:sp>
      <p:pic>
        <p:nvPicPr>
          <p:cNvPr id="20483" name="Picture 4" descr="image006"/>
          <p:cNvPicPr>
            <a:picLocks noChangeAspect="1"/>
          </p:cNvPicPr>
          <p:nvPr/>
        </p:nvPicPr>
        <p:blipFill>
          <a:blip r:embed="rId1"/>
          <a:srcRect l="10251" t="19067" r="15395"/>
          <a:stretch>
            <a:fillRect/>
          </a:stretch>
        </p:blipFill>
        <p:spPr>
          <a:xfrm>
            <a:off x="161925" y="1762125"/>
            <a:ext cx="6281738" cy="4303713"/>
          </a:xfrm>
          <a:prstGeom prst="rect">
            <a:avLst/>
          </a:prstGeom>
          <a:noFill/>
          <a:ln w="9525" cap="flat" cmpd="sng">
            <a:solidFill>
              <a:srgbClr val="000000"/>
            </a:solidFill>
            <a:prstDash val="solid"/>
            <a:miter/>
            <a:headEnd type="none" w="med" len="med"/>
            <a:tailEnd type="none" w="med" len="med"/>
          </a:ln>
        </p:spPr>
      </p:pic>
      <p:sp>
        <p:nvSpPr>
          <p:cNvPr id="20484" name="Text Box 5"/>
          <p:cNvSpPr txBox="1"/>
          <p:nvPr/>
        </p:nvSpPr>
        <p:spPr>
          <a:xfrm>
            <a:off x="179388" y="649288"/>
            <a:ext cx="8156575" cy="1112837"/>
          </a:xfrm>
          <a:prstGeom prst="rect">
            <a:avLst/>
          </a:prstGeom>
          <a:noFill/>
          <a:ln w="9525">
            <a:noFill/>
          </a:ln>
        </p:spPr>
        <p:txBody>
          <a:bodyPr>
            <a:spAutoFit/>
          </a:bodyPr>
          <a:lstStyle/>
          <a:p>
            <a:pPr eaLnBrk="1" hangingPunct="1">
              <a:lnSpc>
                <a:spcPct val="125000"/>
              </a:lnSpc>
              <a:buFont typeface="Arial" panose="020B0604020202020204" pitchFamily="34" charset="0"/>
            </a:pPr>
            <a:r>
              <a:rPr lang="zh-CN" altLang="en-US" sz="2800" dirty="0">
                <a:latin typeface="Arial" panose="020B0604020202020204" pitchFamily="34" charset="0"/>
                <a:ea typeface="黑体" panose="02010609060101010101" pitchFamily="49" charset="-122"/>
              </a:rPr>
              <a:t>     </a:t>
            </a:r>
            <a:r>
              <a:rPr lang="zh-CN" altLang="en-US" sz="2800" dirty="0">
                <a:solidFill>
                  <a:srgbClr val="FF0000"/>
                </a:solidFill>
                <a:latin typeface="Arial" panose="020B0604020202020204" pitchFamily="34" charset="0"/>
                <a:ea typeface="黑体" panose="02010609060101010101" pitchFamily="49" charset="-122"/>
              </a:rPr>
              <a:t>对象图是类图的一个实例，描述了类图中的特定实例及某</a:t>
            </a:r>
            <a:r>
              <a:rPr lang="zh-CN" altLang="en-US" sz="2800" dirty="0">
                <a:latin typeface="Arial" panose="020B0604020202020204" pitchFamily="34" charset="0"/>
                <a:ea typeface="黑体" panose="02010609060101010101" pitchFamily="49" charset="-122"/>
              </a:rPr>
              <a:t>一时刻这些实例之间的特定连接。</a:t>
            </a:r>
            <a:endParaRPr lang="zh-CN" altLang="en-US" sz="2800" dirty="0">
              <a:latin typeface="Arial" panose="020B0604020202020204" pitchFamily="34" charset="0"/>
              <a:ea typeface="黑体" panose="02010609060101010101" pitchFamily="49" charset="-122"/>
            </a:endParaRPr>
          </a:p>
        </p:txBody>
      </p:sp>
      <p:sp>
        <p:nvSpPr>
          <p:cNvPr id="20485" name="Text Box 5"/>
          <p:cNvSpPr txBox="1"/>
          <p:nvPr/>
        </p:nvSpPr>
        <p:spPr>
          <a:xfrm>
            <a:off x="4106863" y="5229225"/>
            <a:ext cx="4673600" cy="574675"/>
          </a:xfrm>
          <a:prstGeom prst="rect">
            <a:avLst/>
          </a:prstGeom>
          <a:noFill/>
          <a:ln w="9525">
            <a:noFill/>
          </a:ln>
        </p:spPr>
        <p:txBody>
          <a:bodyPr>
            <a:spAutoFit/>
          </a:bodyPr>
          <a:lstStyle/>
          <a:p>
            <a:pPr eaLnBrk="1" hangingPunct="1">
              <a:lnSpc>
                <a:spcPct val="125000"/>
              </a:lnSpc>
              <a:buFont typeface="Arial" panose="020B0604020202020204" pitchFamily="34" charset="0"/>
            </a:pPr>
            <a:r>
              <a:rPr lang="zh-CN" altLang="en-US" sz="2800" dirty="0">
                <a:latin typeface="Arial" panose="020B0604020202020204" pitchFamily="34" charset="0"/>
                <a:ea typeface="黑体" panose="02010609060101010101" pitchFamily="49" charset="-122"/>
              </a:rPr>
              <a:t>  </a:t>
            </a:r>
            <a:r>
              <a:rPr lang="zh-CN" altLang="en-US" sz="2800" dirty="0">
                <a:solidFill>
                  <a:srgbClr val="FF0000"/>
                </a:solidFill>
                <a:latin typeface="Arial" panose="020B0604020202020204" pitchFamily="34" charset="0"/>
                <a:ea typeface="黑体" panose="02010609060101010101" pitchFamily="49" charset="-122"/>
              </a:rPr>
              <a:t>“线段”对象和“点”对象</a:t>
            </a:r>
            <a:endParaRPr lang="en-US" altLang="zh-CN" sz="2800" dirty="0">
              <a:solidFill>
                <a:srgbClr val="FF0000"/>
              </a:solidFill>
              <a:latin typeface="Arial" panose="020B0604020202020204" pitchFamily="34" charset="0"/>
              <a:ea typeface="黑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3" descr="image008"/>
          <p:cNvPicPr>
            <a:picLocks noChangeAspect="1"/>
          </p:cNvPicPr>
          <p:nvPr/>
        </p:nvPicPr>
        <p:blipFill>
          <a:blip r:embed="rId1"/>
          <a:stretch>
            <a:fillRect/>
          </a:stretch>
        </p:blipFill>
        <p:spPr>
          <a:xfrm>
            <a:off x="0" y="0"/>
            <a:ext cx="8929688" cy="4144963"/>
          </a:xfrm>
          <a:prstGeom prst="rect">
            <a:avLst/>
          </a:prstGeom>
          <a:noFill/>
          <a:ln w="9525" cap="flat" cmpd="sng">
            <a:solidFill>
              <a:srgbClr val="000000"/>
            </a:solidFill>
            <a:prstDash val="solid"/>
            <a:miter/>
            <a:headEnd type="none" w="med" len="med"/>
            <a:tailEnd type="none" w="med" len="med"/>
          </a:ln>
        </p:spPr>
      </p:pic>
      <p:sp>
        <p:nvSpPr>
          <p:cNvPr id="21507" name="Text Box 5"/>
          <p:cNvSpPr txBox="1"/>
          <p:nvPr/>
        </p:nvSpPr>
        <p:spPr>
          <a:xfrm>
            <a:off x="250825" y="4365625"/>
            <a:ext cx="8678863" cy="630238"/>
          </a:xfrm>
          <a:prstGeom prst="rect">
            <a:avLst/>
          </a:prstGeom>
          <a:noFill/>
          <a:ln w="9525">
            <a:noFill/>
          </a:ln>
        </p:spPr>
        <p:txBody>
          <a:bodyPr>
            <a:spAutoFit/>
          </a:bodyPr>
          <a:lstStyle/>
          <a:p>
            <a:pPr eaLnBrk="1" hangingPunct="1">
              <a:lnSpc>
                <a:spcPct val="125000"/>
              </a:lnSpc>
              <a:buFont typeface="Arial" panose="020B0604020202020204" pitchFamily="34" charset="0"/>
            </a:pPr>
            <a:r>
              <a:rPr lang="zh-CN" altLang="en-US" sz="2800" dirty="0">
                <a:latin typeface="Arial" panose="020B0604020202020204" pitchFamily="34" charset="0"/>
                <a:ea typeface="黑体" panose="02010609060101010101" pitchFamily="49" charset="-122"/>
              </a:rPr>
              <a:t>  “线段”对象和“点”对象间关系的短式表示。</a:t>
            </a:r>
            <a:endParaRPr lang="zh-CN" altLang="en-US" sz="2800" dirty="0">
              <a:latin typeface="Arial" panose="020B0604020202020204" pitchFamily="34" charset="0"/>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image010"/>
          <p:cNvPicPr>
            <a:picLocks noChangeAspect="1"/>
          </p:cNvPicPr>
          <p:nvPr/>
        </p:nvPicPr>
        <p:blipFill>
          <a:blip r:embed="rId1"/>
          <a:stretch>
            <a:fillRect/>
          </a:stretch>
        </p:blipFill>
        <p:spPr>
          <a:xfrm>
            <a:off x="468313" y="153988"/>
            <a:ext cx="8351837" cy="5837237"/>
          </a:xfrm>
          <a:prstGeom prst="rect">
            <a:avLst/>
          </a:prstGeom>
          <a:noFill/>
          <a:ln w="9525" cap="flat" cmpd="sng">
            <a:solidFill>
              <a:srgbClr val="000000"/>
            </a:solidFill>
            <a:prstDash val="solid"/>
            <a:miter/>
            <a:headEnd type="none" w="med" len="med"/>
            <a:tailEnd type="none" w="med" len="med"/>
          </a:ln>
        </p:spPr>
      </p:pic>
      <p:sp>
        <p:nvSpPr>
          <p:cNvPr id="22531" name="Text Box 3"/>
          <p:cNvSpPr txBox="1"/>
          <p:nvPr/>
        </p:nvSpPr>
        <p:spPr>
          <a:xfrm>
            <a:off x="2124075" y="6092825"/>
            <a:ext cx="6186488" cy="461963"/>
          </a:xfrm>
          <a:prstGeom prst="rect">
            <a:avLst/>
          </a:prstGeom>
          <a:noFill/>
          <a:ln w="9525">
            <a:noFill/>
          </a:ln>
        </p:spPr>
        <p:txBody>
          <a:bodyPr wrap="none">
            <a:spAutoFit/>
          </a:bodyPr>
          <a:lstStyle/>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线段和交点两个对象之间关系的长式对象图 </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3"/>
          <p:cNvSpPr txBox="1"/>
          <p:nvPr/>
        </p:nvSpPr>
        <p:spPr>
          <a:xfrm>
            <a:off x="0" y="0"/>
            <a:ext cx="4556125" cy="641350"/>
          </a:xfrm>
          <a:prstGeom prst="rect">
            <a:avLst/>
          </a:prstGeom>
          <a:noFill/>
          <a:ln w="9525">
            <a:noFill/>
          </a:ln>
        </p:spPr>
        <p:txBody>
          <a:bodyPr>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5.3  </a:t>
            </a:r>
            <a:r>
              <a:rPr lang="zh-CN" altLang="en-US" sz="3600" dirty="0">
                <a:latin typeface="黑体" panose="02010609060101010101" pitchFamily="49" charset="-122"/>
                <a:ea typeface="黑体" panose="02010609060101010101" pitchFamily="49" charset="-122"/>
              </a:rPr>
              <a:t>描述对象类</a:t>
            </a:r>
            <a:endParaRPr lang="zh-CN" altLang="en-US" sz="3600" dirty="0">
              <a:latin typeface="黑体" panose="02010609060101010101" pitchFamily="49" charset="-122"/>
              <a:ea typeface="黑体" panose="02010609060101010101" pitchFamily="49" charset="-122"/>
            </a:endParaRPr>
          </a:p>
        </p:txBody>
      </p:sp>
      <p:sp>
        <p:nvSpPr>
          <p:cNvPr id="23555" name="Text Box 4"/>
          <p:cNvSpPr txBox="1"/>
          <p:nvPr/>
        </p:nvSpPr>
        <p:spPr>
          <a:xfrm>
            <a:off x="107950" y="619125"/>
            <a:ext cx="3616325" cy="523875"/>
          </a:xfrm>
          <a:prstGeom prst="rect">
            <a:avLst/>
          </a:prstGeom>
          <a:noFill/>
          <a:ln w="9525">
            <a:noFill/>
          </a:ln>
        </p:spPr>
        <p:txBody>
          <a:bodyPr wrap="none">
            <a:spAutoFit/>
          </a:bodyPr>
          <a:lstStyle/>
          <a:p>
            <a:pPr eaLnBrk="1" hangingPunct="1">
              <a:buFont typeface="Arial" panose="020B0604020202020204" pitchFamily="34" charset="0"/>
            </a:pPr>
            <a:r>
              <a:rPr lang="en-US" altLang="zh-CN" sz="2800" b="1" dirty="0">
                <a:latin typeface="黑体" panose="02010609060101010101" pitchFamily="49" charset="-122"/>
                <a:ea typeface="黑体" panose="02010609060101010101" pitchFamily="49" charset="-122"/>
              </a:rPr>
              <a:t>5.3.1  </a:t>
            </a:r>
            <a:r>
              <a:rPr lang="zh-CN" altLang="en-US" sz="2800" b="1" dirty="0">
                <a:latin typeface="黑体" panose="02010609060101010101" pitchFamily="49" charset="-122"/>
                <a:ea typeface="黑体" panose="02010609060101010101" pitchFamily="49" charset="-122"/>
              </a:rPr>
              <a:t>类的属性描述</a:t>
            </a:r>
            <a:endParaRPr lang="zh-CN" altLang="en-US" sz="2800" b="1" dirty="0">
              <a:latin typeface="黑体" panose="02010609060101010101" pitchFamily="49" charset="-122"/>
              <a:ea typeface="黑体" panose="02010609060101010101" pitchFamily="49" charset="-122"/>
            </a:endParaRPr>
          </a:p>
        </p:txBody>
      </p:sp>
      <p:sp>
        <p:nvSpPr>
          <p:cNvPr id="23556" name="Text Box 5"/>
          <p:cNvSpPr txBox="1"/>
          <p:nvPr/>
        </p:nvSpPr>
        <p:spPr>
          <a:xfrm>
            <a:off x="428625" y="1143000"/>
            <a:ext cx="7416800" cy="830263"/>
          </a:xfrm>
          <a:prstGeom prst="rect">
            <a:avLst/>
          </a:prstGeom>
          <a:noFill/>
          <a:ln w="9525">
            <a:noFill/>
          </a:ln>
        </p:spPr>
        <p:txBody>
          <a:bodyPr wrap="none">
            <a:spAutoFit/>
          </a:bodyPr>
          <a:lstStyle/>
          <a:p>
            <a:pPr eaLnBrk="1" hangingPunct="1">
              <a:buFont typeface="Arial" panose="020B0604020202020204" pitchFamily="34" charset="0"/>
            </a:pPr>
            <a:r>
              <a:rPr lang="zh-CN" altLang="en-US" sz="2400" dirty="0">
                <a:solidFill>
                  <a:srgbClr val="FF0000"/>
                </a:solidFill>
                <a:latin typeface="黑体" panose="02010609060101010101" pitchFamily="49" charset="-122"/>
                <a:ea typeface="黑体" panose="02010609060101010101" pitchFamily="49" charset="-122"/>
              </a:rPr>
              <a:t>语法格式</a:t>
            </a:r>
            <a:r>
              <a:rPr lang="zh-CN" altLang="en-US" sz="2400" dirty="0">
                <a:latin typeface="黑体" panose="02010609060101010101" pitchFamily="49" charset="-122"/>
                <a:ea typeface="黑体" panose="02010609060101010101" pitchFamily="49" charset="-122"/>
              </a:rPr>
              <a:t>：可见性  属性名</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多重性</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：类型</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初始值</a:t>
            </a:r>
            <a:r>
              <a:rPr lang="en-US" altLang="zh-CN"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2400" dirty="0">
              <a:latin typeface="黑体" panose="02010609060101010101" pitchFamily="49" charset="-122"/>
              <a:ea typeface="黑体" panose="02010609060101010101" pitchFamily="49" charset="-122"/>
            </a:endParaRPr>
          </a:p>
        </p:txBody>
      </p:sp>
      <p:sp>
        <p:nvSpPr>
          <p:cNvPr id="23557" name="Text Box 6"/>
          <p:cNvSpPr txBox="1"/>
          <p:nvPr/>
        </p:nvSpPr>
        <p:spPr>
          <a:xfrm>
            <a:off x="107950" y="1973263"/>
            <a:ext cx="9431338" cy="4156075"/>
          </a:xfrm>
          <a:prstGeom prst="rect">
            <a:avLst/>
          </a:prstGeom>
          <a:noFill/>
          <a:ln w="9525">
            <a:noFill/>
          </a:ln>
        </p:spPr>
        <p:txBody>
          <a:bodyPr>
            <a:spAutoFit/>
          </a:bodyPr>
          <a:lstStyle/>
          <a:p>
            <a:pPr eaLnBrk="1" hangingPunct="1">
              <a:buFont typeface="Arial" panose="020B0604020202020204" pitchFamily="34" charset="0"/>
            </a:pPr>
            <a:r>
              <a:rPr lang="zh-CN" altLang="en-US" sz="2400" dirty="0">
                <a:solidFill>
                  <a:srgbClr val="FF0000"/>
                </a:solidFill>
                <a:latin typeface="黑体" panose="02010609060101010101" pitchFamily="49" charset="-122"/>
                <a:ea typeface="黑体" panose="02010609060101010101" pitchFamily="49" charset="-122"/>
              </a:rPr>
              <a:t>规则：</a:t>
            </a:r>
            <a:endParaRPr lang="zh-CN" altLang="en-US" sz="2400" dirty="0">
              <a:solidFill>
                <a:srgbClr val="FF000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）可见性：描述了该属性在哪些范围内可以使用。</a:t>
            </a:r>
            <a:endParaRPr lang="zh-CN" altLang="en-US" sz="2400" dirty="0">
              <a:latin typeface="黑体" panose="02010609060101010101" pitchFamily="49" charset="-122"/>
              <a:ea typeface="黑体" panose="02010609060101010101" pitchFamily="49" charset="-122"/>
            </a:endParaRPr>
          </a:p>
          <a:p>
            <a:pPr eaLnBrk="1" hangingPunct="1">
              <a:buFont typeface="Wingdings" panose="05000000000000000000" pitchFamily="2" charset="2"/>
              <a:buChar char="Ø"/>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：表示其为公有成员，其它类可以访问（可见）；</a:t>
            </a:r>
            <a:endParaRPr lang="zh-CN" altLang="en-US" sz="2400" dirty="0">
              <a:latin typeface="楷体_GB2312" pitchFamily="49" charset="-122"/>
              <a:ea typeface="楷体_GB2312" pitchFamily="49" charset="-122"/>
            </a:endParaRPr>
          </a:p>
          <a:p>
            <a:pPr eaLnBrk="1" hangingPunct="1">
              <a:buFont typeface="Wingdings" panose="05000000000000000000" pitchFamily="2" charset="2"/>
              <a:buChar char="Ø"/>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：表示其为私有成员，不能被其他类访问（不可见），可缺省；</a:t>
            </a:r>
            <a:endParaRPr lang="zh-CN" altLang="en-US" sz="2400" dirty="0">
              <a:latin typeface="楷体_GB2312" pitchFamily="49" charset="-122"/>
              <a:ea typeface="楷体_GB2312" pitchFamily="49" charset="-122"/>
            </a:endParaRPr>
          </a:p>
          <a:p>
            <a:pPr eaLnBrk="1" hangingPunct="1">
              <a:buFont typeface="Wingdings" panose="05000000000000000000" pitchFamily="2" charset="2"/>
              <a:buChar char="Ø"/>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：表示其为保护成员，一般用于继承，只能被本类及派生类使</a:t>
            </a:r>
            <a:endParaRPr lang="zh-CN" altLang="en-US" sz="2400" dirty="0">
              <a:latin typeface="楷体_GB2312" pitchFamily="49" charset="-122"/>
              <a:ea typeface="楷体_GB2312" pitchFamily="49" charset="-122"/>
            </a:endParaRPr>
          </a:p>
          <a:p>
            <a:pPr eaLnBrk="1" hangingPunct="1">
              <a:buFont typeface="Wingdings" panose="05000000000000000000" pitchFamily="2" charset="2"/>
            </a:pPr>
            <a:r>
              <a:rPr lang="zh-CN" altLang="en-US" sz="2400" dirty="0">
                <a:latin typeface="楷体_GB2312" pitchFamily="49" charset="-122"/>
                <a:ea typeface="楷体_GB2312" pitchFamily="49" charset="-122"/>
              </a:rPr>
              <a:t>      用。</a:t>
            </a:r>
            <a:endParaRPr lang="zh-CN" altLang="en-US" sz="2400" dirty="0">
              <a:latin typeface="楷体_GB2312" pitchFamily="49" charset="-122"/>
              <a:ea typeface="楷体_GB2312" pitchFamily="49" charset="-122"/>
            </a:endParaRPr>
          </a:p>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）属性名：代表属性的一个标识符。</a:t>
            </a:r>
            <a:endParaRPr lang="zh-CN" altLang="en-US" sz="24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）多重性：任选项，用多值表达式表示，格式为：低值</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高值。</a:t>
            </a:r>
            <a:endParaRPr lang="zh-CN" altLang="en-US" sz="2400" dirty="0">
              <a:latin typeface="黑体" panose="02010609060101010101" pitchFamily="49" charset="-122"/>
              <a:ea typeface="黑体" panose="02010609060101010101" pitchFamily="49" charset="-122"/>
            </a:endParaRPr>
          </a:p>
          <a:p>
            <a:pPr eaLnBrk="1" hangingPunct="1">
              <a:buFont typeface="Wingdings" panose="05000000000000000000" pitchFamily="2" charset="2"/>
              <a:buChar char="Ø"/>
            </a:pPr>
            <a:r>
              <a:rPr lang="zh-CN" altLang="en-US" sz="2400" dirty="0">
                <a:latin typeface="黑体" panose="02010609060101010101" pitchFamily="49" charset="-122"/>
                <a:ea typeface="黑体" panose="02010609060101010101" pitchFamily="49" charset="-122"/>
              </a:rPr>
              <a:t> </a:t>
            </a:r>
            <a:r>
              <a:rPr lang="zh-CN" altLang="en-US" sz="2400" dirty="0">
                <a:latin typeface="楷体_GB2312" pitchFamily="49" charset="-122"/>
                <a:ea typeface="楷体_GB2312" pitchFamily="49" charset="-122"/>
              </a:rPr>
              <a:t>低值、高值为正整数，表示该类的实例对象的属性个数；</a:t>
            </a:r>
            <a:endParaRPr lang="zh-CN" altLang="en-US" sz="2400" dirty="0">
              <a:latin typeface="楷体_GB2312" pitchFamily="49" charset="-122"/>
              <a:ea typeface="楷体_GB2312" pitchFamily="49" charset="-122"/>
            </a:endParaRPr>
          </a:p>
          <a:p>
            <a:pPr eaLnBrk="1" hangingPunct="1">
              <a:buFont typeface="Wingdings" panose="05000000000000000000" pitchFamily="2" charset="2"/>
              <a:buChar char="Ø"/>
            </a:pPr>
            <a:r>
              <a:rPr lang="en-US" altLang="zh-CN" sz="2400" dirty="0">
                <a:latin typeface="楷体_GB2312" pitchFamily="49" charset="-122"/>
                <a:ea typeface="楷体_GB2312" pitchFamily="49" charset="-122"/>
              </a:rPr>
              <a:t> 0..*</a:t>
            </a:r>
            <a:r>
              <a:rPr lang="zh-CN" altLang="en-US" sz="2400" dirty="0">
                <a:latin typeface="楷体_GB2312" pitchFamily="49" charset="-122"/>
                <a:ea typeface="楷体_GB2312" pitchFamily="49" charset="-122"/>
              </a:rPr>
              <a:t>表示从</a:t>
            </a:r>
            <a:r>
              <a:rPr lang="en-US" altLang="zh-CN" sz="2400" dirty="0">
                <a:latin typeface="楷体_GB2312" pitchFamily="49" charset="-122"/>
                <a:ea typeface="楷体_GB2312" pitchFamily="49" charset="-122"/>
              </a:rPr>
              <a:t>0</a:t>
            </a:r>
            <a:r>
              <a:rPr lang="zh-CN" altLang="en-US" sz="2400" dirty="0">
                <a:latin typeface="楷体_GB2312" pitchFamily="49" charset="-122"/>
                <a:ea typeface="楷体_GB2312" pitchFamily="49" charset="-122"/>
              </a:rPr>
              <a:t>个到无限多个；</a:t>
            </a:r>
            <a:endParaRPr lang="zh-CN" altLang="en-US" sz="2400" dirty="0">
              <a:latin typeface="楷体_GB2312" pitchFamily="49" charset="-122"/>
              <a:ea typeface="楷体_GB2312" pitchFamily="49" charset="-122"/>
            </a:endParaRPr>
          </a:p>
          <a:p>
            <a:pPr eaLnBrk="1" hangingPunct="1">
              <a:buFont typeface="Wingdings" panose="05000000000000000000" pitchFamily="2" charset="2"/>
              <a:buChar char="Ø"/>
            </a:pPr>
            <a:r>
              <a:rPr lang="zh-CN" altLang="en-US" sz="2400" dirty="0">
                <a:latin typeface="楷体_GB2312" pitchFamily="49" charset="-122"/>
                <a:ea typeface="楷体_GB2312" pitchFamily="49" charset="-122"/>
              </a:rPr>
              <a:t> 可缺省，表示</a:t>
            </a:r>
            <a:r>
              <a:rPr lang="en-US" altLang="zh-CN" sz="2400" dirty="0">
                <a:latin typeface="楷体_GB2312" pitchFamily="49" charset="-122"/>
                <a:ea typeface="楷体_GB2312" pitchFamily="49" charset="-122"/>
              </a:rPr>
              <a:t>1..1</a:t>
            </a:r>
            <a:r>
              <a:rPr lang="zh-CN" altLang="en-US" sz="2400" dirty="0">
                <a:latin typeface="楷体_GB2312" pitchFamily="49" charset="-122"/>
                <a:ea typeface="楷体_GB2312" pitchFamily="49" charset="-122"/>
              </a:rPr>
              <a:t>，只有一个。</a:t>
            </a:r>
            <a:endParaRPr lang="zh-CN" altLang="en-US" sz="2400" dirty="0">
              <a:latin typeface="楷体_GB2312" pitchFamily="49" charset="-122"/>
              <a:ea typeface="楷体_GB2312"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
          <p:cNvSpPr txBox="1"/>
          <p:nvPr/>
        </p:nvSpPr>
        <p:spPr>
          <a:xfrm>
            <a:off x="142875" y="571500"/>
            <a:ext cx="8858250" cy="4646613"/>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3200" b="1" dirty="0">
                <a:solidFill>
                  <a:srgbClr val="FF0000"/>
                </a:solidFill>
                <a:latin typeface="黑体" panose="02010609060101010101" pitchFamily="49" charset="-122"/>
                <a:ea typeface="黑体" panose="02010609060101010101" pitchFamily="49" charset="-122"/>
              </a:rPr>
              <a:t>规则</a:t>
            </a:r>
            <a:r>
              <a:rPr lang="zh-CN" altLang="en-US" sz="3200" b="1" dirty="0">
                <a:latin typeface="黑体" panose="02010609060101010101" pitchFamily="49" charset="-122"/>
                <a:ea typeface="黑体" panose="02010609060101010101" pitchFamily="49" charset="-122"/>
              </a:rPr>
              <a:t>（</a:t>
            </a:r>
            <a:r>
              <a:rPr lang="zh-CN" altLang="en-US" sz="3200" b="1" dirty="0">
                <a:solidFill>
                  <a:srgbClr val="FF0000"/>
                </a:solidFill>
                <a:latin typeface="黑体" panose="02010609060101010101" pitchFamily="49" charset="-122"/>
                <a:ea typeface="黑体" panose="02010609060101010101" pitchFamily="49" charset="-122"/>
              </a:rPr>
              <a:t>续</a:t>
            </a:r>
            <a:r>
              <a:rPr lang="zh-CN" altLang="en-US" sz="3200" b="1" dirty="0">
                <a:latin typeface="黑体" panose="02010609060101010101" pitchFamily="49" charset="-122"/>
                <a:ea typeface="黑体" panose="02010609060101010101" pitchFamily="49" charset="-122"/>
              </a:rPr>
              <a:t>）：</a:t>
            </a:r>
            <a:endParaRPr lang="zh-CN" altLang="en-US" sz="3200" b="1"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4</a:t>
            </a:r>
            <a:r>
              <a:rPr lang="zh-CN" altLang="en-US" sz="2800" b="1" dirty="0">
                <a:latin typeface="黑体" panose="02010609060101010101" pitchFamily="49" charset="-122"/>
                <a:ea typeface="黑体" panose="02010609060101010101" pitchFamily="49" charset="-122"/>
              </a:rPr>
              <a:t>）类型：</a:t>
            </a:r>
            <a:r>
              <a:rPr lang="zh-CN" altLang="en-US" sz="2400" b="1" dirty="0">
                <a:latin typeface="楷体_GB2312" pitchFamily="49" charset="-122"/>
                <a:ea typeface="楷体_GB2312" pitchFamily="49" charset="-122"/>
              </a:rPr>
              <a:t>可以是系统固有的类型，如整型、实型等，</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400" b="1" dirty="0">
                <a:latin typeface="楷体_GB2312" pitchFamily="49" charset="-122"/>
                <a:ea typeface="楷体_GB2312" pitchFamily="49" charset="-122"/>
              </a:rPr>
              <a:t>             也可以是用户自定义的类型。</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5</a:t>
            </a: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初始值：</a:t>
            </a:r>
            <a:r>
              <a:rPr lang="zh-CN" altLang="en-US" sz="2400" b="1" dirty="0">
                <a:latin typeface="楷体_GB2312" pitchFamily="49" charset="-122"/>
                <a:ea typeface="楷体_GB2312" pitchFamily="49" charset="-122"/>
              </a:rPr>
              <a:t>任选项，初值可作为创建该类对象时这个</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400" b="1" dirty="0">
                <a:latin typeface="楷体_GB2312" pitchFamily="49" charset="-122"/>
                <a:ea typeface="楷体_GB2312" pitchFamily="49" charset="-122"/>
              </a:rPr>
              <a:t>                属性的默认值。</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6</a:t>
            </a:r>
            <a:r>
              <a:rPr lang="zh-CN" altLang="en-US" sz="2800" b="1" dirty="0">
                <a:latin typeface="黑体" panose="02010609060101010101" pitchFamily="49" charset="-122"/>
                <a:ea typeface="黑体" panose="02010609060101010101" pitchFamily="49" charset="-122"/>
              </a:rPr>
              <a:t>）类属性：</a:t>
            </a:r>
            <a:r>
              <a:rPr lang="zh-CN" altLang="en-US" sz="2400" b="1" dirty="0">
                <a:latin typeface="楷体_GB2312" pitchFamily="49" charset="-122"/>
                <a:ea typeface="楷体_GB2312" pitchFamily="49" charset="-122"/>
              </a:rPr>
              <a:t>用下划线标识的属性名，该类的所有对象</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400" b="1" dirty="0">
                <a:latin typeface="楷体_GB2312" pitchFamily="49" charset="-122"/>
                <a:ea typeface="楷体_GB2312" pitchFamily="49" charset="-122"/>
              </a:rPr>
              <a:t>               之间共享该属性。</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7</a:t>
            </a: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a:t>
            </a:r>
            <a:r>
              <a:rPr lang="zh-CN" altLang="en-US" sz="2400" b="1" dirty="0">
                <a:latin typeface="楷体_GB2312" pitchFamily="49" charset="-122"/>
                <a:ea typeface="楷体_GB2312" pitchFamily="49" charset="-122"/>
              </a:rPr>
              <a:t>只读，可以与</a:t>
            </a:r>
            <a:r>
              <a:rPr lang="zh-CN" altLang="en-US" sz="2400" b="1" dirty="0">
                <a:latin typeface="Times New Roman" panose="02020603050405020304" pitchFamily="18" charset="0"/>
                <a:ea typeface="楷体_GB2312" pitchFamily="49" charset="-122"/>
              </a:rPr>
              <a:t>“</a:t>
            </a:r>
            <a:r>
              <a:rPr lang="en-US" altLang="zh-CN" sz="2400" b="1" dirty="0">
                <a:latin typeface="楷体_GB2312" pitchFamily="49" charset="-122"/>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a:t>
            </a:r>
            <a:r>
              <a:rPr lang="zh-CN" altLang="en-US" sz="2400" b="1" dirty="0">
                <a:latin typeface="Times New Roman" panose="02020603050405020304" pitchFamily="18" charset="0"/>
                <a:ea typeface="楷体_GB2312" pitchFamily="49" charset="-122"/>
              </a:rPr>
              <a:t>“</a:t>
            </a:r>
            <a:r>
              <a:rPr lang="en-US" altLang="zh-CN" sz="2400" b="1" dirty="0">
                <a:latin typeface="楷体_GB2312" pitchFamily="49" charset="-122"/>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或</a:t>
            </a:r>
            <a:r>
              <a:rPr lang="zh-CN" altLang="en-US" sz="2400" b="1" dirty="0">
                <a:latin typeface="Times New Roman" panose="02020603050405020304" pitchFamily="18" charset="0"/>
                <a:ea typeface="楷体_GB2312" pitchFamily="49" charset="-122"/>
              </a:rPr>
              <a:t>“</a:t>
            </a:r>
            <a:r>
              <a:rPr lang="en-US" altLang="zh-CN" sz="2400" b="1" dirty="0">
                <a:latin typeface="楷体_GB2312" pitchFamily="49" charset="-122"/>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同时使用，缺省表示</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400" b="1" dirty="0">
                <a:latin typeface="楷体_GB2312" pitchFamily="49" charset="-122"/>
                <a:ea typeface="楷体_GB2312" pitchFamily="49" charset="-122"/>
              </a:rPr>
              <a:t>          可读可写。</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4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描述属性时，属性名和类型是必须的，其他部分都任选。</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3"/>
          <p:cNvSpPr txBox="1"/>
          <p:nvPr/>
        </p:nvSpPr>
        <p:spPr>
          <a:xfrm>
            <a:off x="12700" y="155575"/>
            <a:ext cx="4570413" cy="646113"/>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5.3.2  </a:t>
            </a:r>
            <a:r>
              <a:rPr lang="zh-CN" altLang="en-US" sz="3600" dirty="0">
                <a:latin typeface="黑体" panose="02010609060101010101" pitchFamily="49" charset="-122"/>
                <a:ea typeface="黑体" panose="02010609060101010101" pitchFamily="49" charset="-122"/>
              </a:rPr>
              <a:t>类的操作描述</a:t>
            </a:r>
            <a:endParaRPr lang="zh-CN" altLang="en-US" sz="3600" dirty="0">
              <a:latin typeface="黑体" panose="02010609060101010101" pitchFamily="49" charset="-122"/>
              <a:ea typeface="黑体" panose="02010609060101010101" pitchFamily="49" charset="-122"/>
            </a:endParaRPr>
          </a:p>
        </p:txBody>
      </p:sp>
      <p:sp>
        <p:nvSpPr>
          <p:cNvPr id="25603" name="Text Box 4"/>
          <p:cNvSpPr txBox="1"/>
          <p:nvPr/>
        </p:nvSpPr>
        <p:spPr>
          <a:xfrm>
            <a:off x="395288" y="984250"/>
            <a:ext cx="8194675" cy="460375"/>
          </a:xfrm>
          <a:prstGeom prst="rect">
            <a:avLst/>
          </a:prstGeom>
          <a:noFill/>
          <a:ln w="9525">
            <a:noFill/>
          </a:ln>
        </p:spPr>
        <p:txBody>
          <a:bodyPr wrap="none">
            <a:spAutoFit/>
          </a:bodyPr>
          <a:lstStyle/>
          <a:p>
            <a:pPr eaLnBrk="1" hangingPunct="1">
              <a:buFont typeface="Arial" panose="020B0604020202020204" pitchFamily="34" charset="0"/>
            </a:pPr>
            <a:r>
              <a:rPr lang="zh-CN" altLang="en-US" sz="2400" b="1" dirty="0">
                <a:solidFill>
                  <a:srgbClr val="FF0000"/>
                </a:solidFill>
                <a:latin typeface="黑体" panose="02010609060101010101" pitchFamily="49" charset="-122"/>
                <a:ea typeface="黑体" panose="02010609060101010101" pitchFamily="49" charset="-122"/>
              </a:rPr>
              <a:t>格式：</a:t>
            </a:r>
            <a:r>
              <a:rPr lang="zh-CN" altLang="en-US" sz="2400" b="1" dirty="0">
                <a:latin typeface="黑体" panose="02010609060101010101" pitchFamily="49" charset="-122"/>
                <a:ea typeface="黑体" panose="02010609060101010101" pitchFamily="49" charset="-122"/>
              </a:rPr>
              <a:t>可</a:t>
            </a:r>
            <a:r>
              <a:rPr lang="zh-CN" altLang="en-US" sz="2400" dirty="0">
                <a:latin typeface="黑体" panose="02010609060101010101" pitchFamily="49" charset="-122"/>
                <a:ea typeface="黑体" panose="02010609060101010101" pitchFamily="49" charset="-122"/>
              </a:rPr>
              <a:t>见性 操作名</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参数表</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：返回列表</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特征描述</a:t>
            </a:r>
            <a:r>
              <a:rPr lang="en-US" altLang="zh-CN"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p:sp>
        <p:nvSpPr>
          <p:cNvPr id="25604" name="Text Box 5"/>
          <p:cNvSpPr txBox="1"/>
          <p:nvPr/>
        </p:nvSpPr>
        <p:spPr>
          <a:xfrm>
            <a:off x="511175" y="1658938"/>
            <a:ext cx="8628063" cy="3786187"/>
          </a:xfrm>
          <a:prstGeom prst="rect">
            <a:avLst/>
          </a:prstGeom>
          <a:noFill/>
          <a:ln w="9525">
            <a:noFill/>
          </a:ln>
        </p:spPr>
        <p:txBody>
          <a:bodyPr>
            <a:spAutoFit/>
          </a:bodyPr>
          <a:lstStyle/>
          <a:p>
            <a:pPr eaLnBrk="1" hangingPunct="1">
              <a:buFont typeface="Arial" panose="020B0604020202020204" pitchFamily="34" charset="0"/>
            </a:pPr>
            <a:r>
              <a:rPr lang="zh-CN" altLang="en-US" sz="2400" dirty="0">
                <a:solidFill>
                  <a:srgbClr val="FF0000"/>
                </a:solidFill>
                <a:latin typeface="黑体" panose="02010609060101010101" pitchFamily="49" charset="-122"/>
                <a:ea typeface="黑体" panose="02010609060101010101" pitchFamily="49" charset="-122"/>
              </a:rPr>
              <a:t>规则：</a:t>
            </a:r>
            <a:endParaRPr lang="zh-CN" altLang="en-US" sz="2400" dirty="0">
              <a:solidFill>
                <a:srgbClr val="FF000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）参数表：用逗号分隔的形式参数序列；</a:t>
            </a:r>
            <a:endParaRPr lang="zh-CN" altLang="en-US" sz="24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）返回列表：回送调用对象消息的类型，格式：返回类型或</a:t>
            </a:r>
            <a:endParaRPr lang="zh-CN" altLang="en-US" sz="24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     返回名</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类型，</a:t>
            </a:r>
            <a:r>
              <a:rPr lang="en-US" altLang="zh-CN" sz="2400" dirty="0">
                <a:latin typeface="Times New Roman" panose="02020603050405020304" pitchFamily="18" charset="0"/>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特征描述</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：任选项，描述该操作的特征，通常不直接</a:t>
            </a:r>
            <a:endParaRPr lang="zh-CN" altLang="en-US" sz="24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     展示在类图中，有：</a:t>
            </a:r>
            <a:endParaRPr lang="zh-CN" altLang="en-US" sz="2400" dirty="0">
              <a:latin typeface="黑体" panose="02010609060101010101" pitchFamily="49" charset="-122"/>
              <a:ea typeface="黑体" panose="02010609060101010101" pitchFamily="49" charset="-122"/>
            </a:endParaRPr>
          </a:p>
          <a:p>
            <a:pPr eaLnBrk="1" hangingPunct="1">
              <a:buFont typeface="Wingdings" panose="05000000000000000000" pitchFamily="2" charset="2"/>
              <a:buChar char="u"/>
            </a:pPr>
            <a:r>
              <a:rPr lang="zh-CN" altLang="en-US" sz="2400" dirty="0">
                <a:latin typeface="黑体" panose="02010609060101010101" pitchFamily="49" charset="-122"/>
                <a:ea typeface="黑体" panose="02010609060101010101" pitchFamily="49" charset="-122"/>
              </a:rPr>
              <a:t> </a:t>
            </a:r>
            <a:r>
              <a:rPr lang="zh-CN" altLang="en-US" sz="2400" b="1" dirty="0">
                <a:latin typeface="楷体_GB2312" pitchFamily="49" charset="-122"/>
                <a:ea typeface="楷体_GB2312" pitchFamily="49" charset="-122"/>
              </a:rPr>
              <a:t>前置条件：满足该条件（为真）调用本操作；</a:t>
            </a:r>
            <a:endParaRPr lang="zh-CN" altLang="en-US" sz="2400" b="1" dirty="0">
              <a:latin typeface="楷体_GB2312" pitchFamily="49" charset="-122"/>
              <a:ea typeface="楷体_GB2312" pitchFamily="49" charset="-122"/>
            </a:endParaRPr>
          </a:p>
          <a:p>
            <a:pPr eaLnBrk="1" hangingPunct="1">
              <a:buFont typeface="Wingdings" panose="05000000000000000000" pitchFamily="2" charset="2"/>
              <a:buChar char="u"/>
            </a:pPr>
            <a:r>
              <a:rPr lang="zh-CN" altLang="en-US" sz="2400" b="1" dirty="0">
                <a:latin typeface="楷体_GB2312" pitchFamily="49" charset="-122"/>
                <a:ea typeface="楷体_GB2312" pitchFamily="49" charset="-122"/>
              </a:rPr>
              <a:t> 后置条件：执行本操作后该条件为真；</a:t>
            </a:r>
            <a:endParaRPr lang="zh-CN" altLang="en-US" sz="2400" b="1" dirty="0">
              <a:latin typeface="楷体_GB2312" pitchFamily="49" charset="-122"/>
              <a:ea typeface="楷体_GB2312" pitchFamily="49" charset="-122"/>
            </a:endParaRPr>
          </a:p>
          <a:p>
            <a:pPr eaLnBrk="1" hangingPunct="1">
              <a:buFont typeface="Wingdings" panose="05000000000000000000" pitchFamily="2" charset="2"/>
              <a:buChar char="u"/>
            </a:pPr>
            <a:r>
              <a:rPr lang="zh-CN" altLang="en-US" sz="2400" b="1" dirty="0">
                <a:latin typeface="楷体_GB2312" pitchFamily="49" charset="-122"/>
                <a:ea typeface="楷体_GB2312" pitchFamily="49" charset="-122"/>
              </a:rPr>
              <a:t> 某算法指定执行该操作；</a:t>
            </a:r>
            <a:endParaRPr lang="zh-CN" altLang="en-US" sz="2400" b="1" dirty="0">
              <a:latin typeface="楷体_GB2312" pitchFamily="49" charset="-122"/>
              <a:ea typeface="楷体_GB2312" pitchFamily="49" charset="-122"/>
            </a:endParaRPr>
          </a:p>
          <a:p>
            <a:pPr eaLnBrk="1" hangingPunct="1">
              <a:buFont typeface="Wingdings" panose="05000000000000000000" pitchFamily="2" charset="2"/>
              <a:buChar char="u"/>
            </a:pPr>
            <a:r>
              <a:rPr lang="zh-CN" altLang="en-US" sz="2400" b="1" dirty="0">
                <a:latin typeface="楷体_GB2312" pitchFamily="49" charset="-122"/>
                <a:ea typeface="楷体_GB2312" pitchFamily="49" charset="-122"/>
              </a:rPr>
              <a:t> 用特征（操作名、回送型、参数表）来指定该操作。</a:t>
            </a:r>
            <a:endParaRPr lang="zh-CN" altLang="en-US" sz="2400" b="1" dirty="0">
              <a:latin typeface="楷体_GB2312" pitchFamily="49" charset="-122"/>
              <a:ea typeface="楷体_GB2312"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p:cNvSpPr txBox="1"/>
          <p:nvPr/>
        </p:nvSpPr>
        <p:spPr>
          <a:xfrm>
            <a:off x="0" y="155575"/>
            <a:ext cx="4070985" cy="645795"/>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3600" b="0" i="0">
                <a:solidFill>
                  <a:srgbClr val="FF0000"/>
                </a:solidFill>
                <a:latin typeface="黑体" panose="02010609060101010101" pitchFamily="49" charset="-122"/>
                <a:ea typeface="黑体" panose="02010609060101010101" pitchFamily="49" charset="-122"/>
              </a:rPr>
              <a:t>5.4  类之间的关系</a:t>
            </a:r>
            <a:endParaRPr lang="ko-KR" altLang="en-US" sz="3600" b="0" i="0">
              <a:solidFill>
                <a:srgbClr val="FF0000"/>
              </a:solidFill>
              <a:latin typeface="黑体" panose="02010609060101010101" pitchFamily="49" charset="-122"/>
              <a:ea typeface="黑体" panose="02010609060101010101" pitchFamily="49" charset="-122"/>
            </a:endParaRPr>
          </a:p>
        </p:txBody>
      </p:sp>
      <p:sp>
        <p:nvSpPr>
          <p:cNvPr id="26627" name="Text Box 4"/>
          <p:cNvSpPr txBox="1"/>
          <p:nvPr/>
        </p:nvSpPr>
        <p:spPr>
          <a:xfrm>
            <a:off x="611505" y="967105"/>
            <a:ext cx="3232150" cy="579120"/>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5.4.1  </a:t>
            </a:r>
            <a:r>
              <a:rPr lang="zh-CN" altLang="en-US" sz="3200" dirty="0">
                <a:latin typeface="黑体" panose="02010609060101010101" pitchFamily="49" charset="-122"/>
                <a:ea typeface="黑体" panose="02010609060101010101" pitchFamily="49" charset="-122"/>
              </a:rPr>
              <a:t>关联关系</a:t>
            </a:r>
            <a:endParaRPr lang="zh-CN" altLang="en-US" sz="3200" dirty="0">
              <a:latin typeface="黑体" panose="02010609060101010101" pitchFamily="49" charset="-122"/>
              <a:ea typeface="黑体" panose="02010609060101010101" pitchFamily="49" charset="-122"/>
            </a:endParaRPr>
          </a:p>
        </p:txBody>
      </p:sp>
      <p:sp>
        <p:nvSpPr>
          <p:cNvPr id="26628" name="Text Box 5"/>
          <p:cNvSpPr txBox="1"/>
          <p:nvPr/>
        </p:nvSpPr>
        <p:spPr>
          <a:xfrm>
            <a:off x="611505" y="1900555"/>
            <a:ext cx="2139950" cy="518795"/>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．一般关联</a:t>
            </a:r>
            <a:endParaRPr lang="zh-CN" altLang="en-US" sz="2800" dirty="0">
              <a:latin typeface="黑体" panose="02010609060101010101" pitchFamily="49" charset="-122"/>
              <a:ea typeface="黑体" panose="02010609060101010101" pitchFamily="49" charset="-122"/>
            </a:endParaRPr>
          </a:p>
        </p:txBody>
      </p:sp>
      <p:sp>
        <p:nvSpPr>
          <p:cNvPr id="26629" name="Text Box 6"/>
          <p:cNvSpPr txBox="1"/>
          <p:nvPr/>
        </p:nvSpPr>
        <p:spPr>
          <a:xfrm>
            <a:off x="107950" y="2627630"/>
            <a:ext cx="8939530" cy="883920"/>
          </a:xfrm>
          <a:prstGeom prst="rect">
            <a:avLst/>
          </a:prstGeom>
          <a:noFill/>
          <a:ln w="9525">
            <a:noFill/>
          </a:ln>
        </p:spPr>
        <p:txBody>
          <a:bodyPr>
            <a:spAutoFit/>
          </a:bodyPr>
          <a:lstStyle/>
          <a:p>
            <a:pPr eaLnBrk="1" hangingPunct="1">
              <a:buFont typeface="Arial" panose="020B0604020202020204" pitchFamily="34" charset="0"/>
            </a:pPr>
            <a:r>
              <a:rPr lang="zh-CN" altLang="en-US" sz="2800" b="1" dirty="0">
                <a:latin typeface="Arial" panose="020B0604020202020204" pitchFamily="34" charset="0"/>
                <a:ea typeface="楷体_GB2312" pitchFamily="49" charset="-122"/>
              </a:rPr>
              <a:t>       </a:t>
            </a:r>
            <a:r>
              <a:rPr lang="zh-CN" altLang="en-US" sz="2400" b="1" dirty="0">
                <a:latin typeface="楷体_GB2312" pitchFamily="49" charset="-122"/>
                <a:ea typeface="楷体_GB2312" pitchFamily="49" charset="-122"/>
              </a:rPr>
              <a:t>关联是类之间的语义联系，代表类的对象（实例）</a:t>
            </a:r>
            <a:endParaRPr lang="zh-CN" altLang="en-US" sz="2400" b="1" dirty="0">
              <a:latin typeface="楷体_GB2312" pitchFamily="49" charset="-122"/>
              <a:ea typeface="楷体_GB2312" pitchFamily="49" charset="-122"/>
            </a:endParaRPr>
          </a:p>
          <a:p>
            <a:pPr eaLnBrk="1" hangingPunct="1">
              <a:buFont typeface="Arial" panose="020B0604020202020204" pitchFamily="34" charset="0"/>
            </a:pPr>
            <a:r>
              <a:rPr lang="zh-CN" altLang="en-US" sz="2400" b="1" dirty="0">
                <a:latin typeface="楷体_GB2312" pitchFamily="49" charset="-122"/>
                <a:ea typeface="楷体_GB2312" pitchFamily="49" charset="-122"/>
              </a:rPr>
              <a:t>之间的一组连接（称为链）。</a:t>
            </a:r>
            <a:endParaRPr lang="zh-CN" altLang="en-US" sz="2400" b="1" dirty="0">
              <a:latin typeface="楷体_GB2312" pitchFamily="49" charset="-122"/>
              <a:ea typeface="楷体_GB2312" pitchFamily="49" charset="-122"/>
            </a:endParaRPr>
          </a:p>
        </p:txBody>
      </p:sp>
      <p:sp>
        <p:nvSpPr>
          <p:cNvPr id="26630" name="Text Box 7"/>
          <p:cNvSpPr txBox="1"/>
          <p:nvPr/>
        </p:nvSpPr>
        <p:spPr>
          <a:xfrm>
            <a:off x="900430" y="3719830"/>
            <a:ext cx="7344410" cy="2305685"/>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lang="zh-CN" altLang="en-US" sz="2400" b="1" i="0">
                <a:latin typeface="黑体" panose="02010609060101010101" pitchFamily="49" charset="-122"/>
                <a:ea typeface="黑体" panose="02010609060101010101" pitchFamily="49" charset="-122"/>
              </a:rPr>
              <a:t>（</a:t>
            </a:r>
            <a:r>
              <a:rPr lang="en-US" altLang="zh-CN" sz="2400" b="1" i="0">
                <a:latin typeface="黑体" panose="02010609060101010101" pitchFamily="49" charset="-122"/>
                <a:ea typeface="黑体" panose="02010609060101010101" pitchFamily="49" charset="-122"/>
              </a:rPr>
              <a:t>1</a:t>
            </a:r>
            <a:r>
              <a:rPr lang="zh-CN" altLang="en-US" sz="2400" b="1" i="0">
                <a:latin typeface="黑体" panose="02010609060101010101" pitchFamily="49" charset="-122"/>
                <a:ea typeface="黑体" panose="02010609060101010101" pitchFamily="49" charset="-122"/>
              </a:rPr>
              <a:t>）常规关联</a:t>
            </a:r>
            <a:endParaRPr lang="ko-KR" altLang="en-US" sz="2400" b="1" i="0">
              <a:latin typeface="黑体" panose="02010609060101010101" pitchFamily="49" charset="-122"/>
              <a:ea typeface="黑体" panose="02010609060101010101" pitchFamily="49" charset="-122"/>
            </a:endParaRPr>
          </a:p>
          <a:p>
            <a:pPr marL="0" indent="0" algn="l" defTabSz="914400" eaLnBrk="1" fontAlgn="base" latinLnBrk="0" hangingPunct="1">
              <a:lnSpc>
                <a:spcPct val="100000"/>
              </a:lnSpc>
              <a:spcBef>
                <a:spcPts val="0"/>
              </a:spcBef>
              <a:spcAft>
                <a:spcPts val="0"/>
              </a:spcAft>
              <a:buFont typeface="Wingdings" panose="05000000000000000000"/>
              <a:buChar char="u"/>
            </a:pP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0..1</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：表示</a:t>
            </a:r>
            <a:r>
              <a:rPr lang="zh-CN" altLang="en-US" sz="2400" b="1" i="0">
                <a:latin typeface="Times New Roman" panose="02020603050405020304" pitchFamily="18" charset="0"/>
                <a:ea typeface="楷体_GB2312" charset="0"/>
              </a:rPr>
              <a:t>“</a:t>
            </a:r>
            <a:r>
              <a:rPr lang="zh-CN" altLang="en-US" sz="2400" b="1" i="0">
                <a:latin typeface="楷体_GB2312" charset="0"/>
                <a:ea typeface="楷体_GB2312" charset="0"/>
              </a:rPr>
              <a:t>零或</a:t>
            </a:r>
            <a:r>
              <a:rPr lang="en-US" altLang="zh-CN" sz="2400" b="1" i="0">
                <a:latin typeface="楷体_GB2312" charset="0"/>
                <a:ea typeface="楷体_GB2312" charset="0"/>
              </a:rPr>
              <a:t>1</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a:t>
            </a:r>
            <a:endParaRPr lang="ko-KR" altLang="en-US" sz="2400" b="1" i="0">
              <a:latin typeface="楷体_GB2312" charset="0"/>
              <a:ea typeface="楷体_GB2312" charset="0"/>
            </a:endParaRPr>
          </a:p>
          <a:p>
            <a:pPr marL="0" indent="0" algn="l" defTabSz="914400" eaLnBrk="1" fontAlgn="base" latinLnBrk="0" hangingPunct="1">
              <a:lnSpc>
                <a:spcPct val="100000"/>
              </a:lnSpc>
              <a:spcBef>
                <a:spcPts val="0"/>
              </a:spcBef>
              <a:spcAft>
                <a:spcPts val="0"/>
              </a:spcAft>
              <a:buFont typeface="Wingdings" panose="05000000000000000000"/>
              <a:buChar char="u"/>
            </a:pP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0..*</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或</a:t>
            </a:r>
            <a:r>
              <a:rPr lang="zh-CN" altLang="en-US" sz="2400" b="1" i="0">
                <a:latin typeface="Times New Roman" panose="02020603050405020304" pitchFamily="18" charset="0"/>
                <a:ea typeface="楷体_GB2312" charset="0"/>
              </a:rPr>
              <a:t>“</a:t>
            </a:r>
            <a:r>
              <a:rPr lang="zh-CN" altLang="en-US" sz="2400" b="1" i="0">
                <a:latin typeface="楷体_GB2312" charset="0"/>
                <a:ea typeface="楷体_GB2312" charset="0"/>
              </a:rPr>
              <a:t>*</a:t>
            </a:r>
            <a:r>
              <a:rPr lang="zh-CN" altLang="en-US" sz="2400" b="1" i="0">
                <a:latin typeface="Times New Roman" panose="02020603050405020304" pitchFamily="18" charset="0"/>
                <a:ea typeface="楷体_GB2312" charset="0"/>
              </a:rPr>
              <a:t>”</a:t>
            </a:r>
            <a:r>
              <a:rPr lang="zh-CN" altLang="en-US" sz="2400" b="1" i="0">
                <a:latin typeface="楷体_GB2312" charset="0"/>
                <a:ea typeface="楷体_GB2312" charset="0"/>
              </a:rPr>
              <a:t>：表示</a:t>
            </a: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0</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或</a:t>
            </a:r>
            <a:r>
              <a:rPr lang="zh-CN" altLang="en-US" sz="2400" b="1" i="0">
                <a:latin typeface="Times New Roman" panose="02020603050405020304" pitchFamily="18" charset="0"/>
                <a:ea typeface="楷体_GB2312" charset="0"/>
              </a:rPr>
              <a:t>“</a:t>
            </a:r>
            <a:r>
              <a:rPr lang="zh-CN" altLang="en-US" sz="2400" b="1" i="0">
                <a:latin typeface="楷体_GB2312" charset="0"/>
                <a:ea typeface="楷体_GB2312" charset="0"/>
              </a:rPr>
              <a:t>多</a:t>
            </a:r>
            <a:r>
              <a:rPr lang="zh-CN" altLang="en-US" sz="2400" b="1" i="0">
                <a:latin typeface="Times New Roman" panose="02020603050405020304" pitchFamily="18" charset="0"/>
                <a:ea typeface="楷体_GB2312" charset="0"/>
              </a:rPr>
              <a:t>”</a:t>
            </a:r>
            <a:r>
              <a:rPr lang="zh-CN" altLang="en-US" sz="2400" b="1" i="0">
                <a:latin typeface="楷体_GB2312" charset="0"/>
                <a:ea typeface="楷体_GB2312" charset="0"/>
              </a:rPr>
              <a:t>；</a:t>
            </a:r>
            <a:endParaRPr lang="ko-KR" altLang="en-US" sz="2400" b="1" i="0">
              <a:latin typeface="楷体_GB2312" charset="0"/>
              <a:ea typeface="楷体_GB2312" charset="0"/>
            </a:endParaRPr>
          </a:p>
          <a:p>
            <a:pPr marL="0" indent="0" algn="l" defTabSz="914400" eaLnBrk="1" fontAlgn="base" latinLnBrk="0" hangingPunct="1">
              <a:lnSpc>
                <a:spcPct val="100000"/>
              </a:lnSpc>
              <a:spcBef>
                <a:spcPts val="0"/>
              </a:spcBef>
              <a:spcAft>
                <a:spcPts val="0"/>
              </a:spcAft>
              <a:buFont typeface="Wingdings" panose="05000000000000000000"/>
              <a:buChar char="u"/>
            </a:pP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1..*</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：表示</a:t>
            </a: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1</a:t>
            </a:r>
            <a:r>
              <a:rPr lang="zh-CN" altLang="en-US" sz="2400" b="1" i="0">
                <a:latin typeface="楷体_GB2312" charset="0"/>
                <a:ea typeface="楷体_GB2312" charset="0"/>
              </a:rPr>
              <a:t>或多</a:t>
            </a:r>
            <a:r>
              <a:rPr lang="zh-CN" altLang="en-US" sz="2400" b="1" i="0">
                <a:latin typeface="Times New Roman" panose="02020603050405020304" pitchFamily="18" charset="0"/>
                <a:ea typeface="楷体_GB2312" charset="0"/>
              </a:rPr>
              <a:t>”</a:t>
            </a:r>
            <a:r>
              <a:rPr lang="zh-CN" altLang="en-US" sz="2400" b="1" i="0">
                <a:latin typeface="楷体_GB2312" charset="0"/>
                <a:ea typeface="楷体_GB2312" charset="0"/>
              </a:rPr>
              <a:t>；</a:t>
            </a:r>
            <a:endParaRPr lang="ko-KR" altLang="en-US" sz="2400" b="1" i="0">
              <a:latin typeface="楷体_GB2312" charset="0"/>
              <a:ea typeface="楷体_GB2312" charset="0"/>
            </a:endParaRPr>
          </a:p>
          <a:p>
            <a:pPr marL="0" indent="0" algn="l" defTabSz="914400" eaLnBrk="1" fontAlgn="base" latinLnBrk="0" hangingPunct="1">
              <a:lnSpc>
                <a:spcPct val="100000"/>
              </a:lnSpc>
              <a:spcBef>
                <a:spcPts val="0"/>
              </a:spcBef>
              <a:spcAft>
                <a:spcPts val="0"/>
              </a:spcAft>
              <a:buFont typeface="Wingdings" panose="05000000000000000000"/>
              <a:buChar char="u"/>
            </a:pP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5..11</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：表示</a:t>
            </a: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5</a:t>
            </a:r>
            <a:r>
              <a:rPr lang="zh-CN" altLang="en-US" sz="2400" b="1" i="0">
                <a:latin typeface="楷体_GB2312" charset="0"/>
                <a:ea typeface="楷体_GB2312" charset="0"/>
              </a:rPr>
              <a:t>至</a:t>
            </a:r>
            <a:r>
              <a:rPr lang="en-US" altLang="zh-CN" sz="2400" b="1" i="0">
                <a:latin typeface="楷体_GB2312" charset="0"/>
                <a:ea typeface="楷体_GB2312" charset="0"/>
              </a:rPr>
              <a:t>11</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a:t>
            </a:r>
            <a:endParaRPr lang="ko-KR" altLang="en-US" sz="2400" b="1" i="0">
              <a:latin typeface="楷体_GB2312" charset="0"/>
              <a:ea typeface="楷体_GB2312" charset="0"/>
            </a:endParaRPr>
          </a:p>
          <a:p>
            <a:pPr marL="0" indent="0" algn="l" defTabSz="914400" eaLnBrk="1" fontAlgn="base" latinLnBrk="0" hangingPunct="1">
              <a:lnSpc>
                <a:spcPct val="100000"/>
              </a:lnSpc>
              <a:spcBef>
                <a:spcPts val="0"/>
              </a:spcBef>
              <a:spcAft>
                <a:spcPts val="0"/>
              </a:spcAft>
              <a:buFont typeface="Wingdings" panose="05000000000000000000"/>
              <a:buChar char="u"/>
            </a:pP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1</a:t>
            </a:r>
            <a:r>
              <a:rPr lang="zh-CN" altLang="en-US" sz="2400" b="1" i="0">
                <a:latin typeface="楷体_GB2312" charset="0"/>
                <a:ea typeface="楷体_GB2312" charset="0"/>
              </a:rPr>
              <a:t>，</a:t>
            </a:r>
            <a:r>
              <a:rPr lang="en-US" altLang="zh-CN" sz="2400" b="1" i="0">
                <a:latin typeface="楷体_GB2312" charset="0"/>
                <a:ea typeface="楷体_GB2312" charset="0"/>
              </a:rPr>
              <a:t>3</a:t>
            </a:r>
            <a:r>
              <a:rPr lang="zh-CN" altLang="en-US" sz="2400" b="1" i="0">
                <a:latin typeface="楷体_GB2312" charset="0"/>
                <a:ea typeface="楷体_GB2312" charset="0"/>
              </a:rPr>
              <a:t>，</a:t>
            </a:r>
            <a:r>
              <a:rPr lang="en-US" altLang="zh-CN" sz="2400" b="1" i="0">
                <a:latin typeface="楷体_GB2312" charset="0"/>
                <a:ea typeface="楷体_GB2312" charset="0"/>
              </a:rPr>
              <a:t>8</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：是枚举型，表示</a:t>
            </a:r>
            <a:r>
              <a:rPr lang="zh-CN" altLang="en-US" sz="2400" b="1" i="0">
                <a:latin typeface="Times New Roman" panose="02020603050405020304" pitchFamily="18" charset="0"/>
                <a:ea typeface="楷体_GB2312" charset="0"/>
              </a:rPr>
              <a:t>“</a:t>
            </a:r>
            <a:r>
              <a:rPr lang="en-US" altLang="zh-CN" sz="2400" b="1" i="0">
                <a:latin typeface="楷体_GB2312" charset="0"/>
                <a:ea typeface="楷体_GB2312" charset="0"/>
              </a:rPr>
              <a:t>1</a:t>
            </a:r>
            <a:r>
              <a:rPr lang="zh-CN" altLang="en-US" sz="2400" b="1" i="0">
                <a:latin typeface="楷体_GB2312" charset="0"/>
                <a:ea typeface="楷体_GB2312" charset="0"/>
              </a:rPr>
              <a:t>或</a:t>
            </a:r>
            <a:r>
              <a:rPr lang="en-US" altLang="zh-CN" sz="2400" b="1" i="0">
                <a:latin typeface="楷体_GB2312" charset="0"/>
                <a:ea typeface="楷体_GB2312" charset="0"/>
              </a:rPr>
              <a:t>3</a:t>
            </a:r>
            <a:r>
              <a:rPr lang="zh-CN" altLang="en-US" sz="2400" b="1" i="0">
                <a:latin typeface="楷体_GB2312" charset="0"/>
                <a:ea typeface="楷体_GB2312" charset="0"/>
              </a:rPr>
              <a:t>或</a:t>
            </a:r>
            <a:r>
              <a:rPr lang="en-US" altLang="zh-CN" sz="2400" b="1" i="0">
                <a:latin typeface="楷体_GB2312" charset="0"/>
                <a:ea typeface="楷体_GB2312" charset="0"/>
              </a:rPr>
              <a:t>8</a:t>
            </a:r>
            <a:r>
              <a:rPr lang="en-US" altLang="zh-CN" sz="2400" b="1" i="0">
                <a:latin typeface="Times New Roman" panose="02020603050405020304" pitchFamily="18" charset="0"/>
                <a:ea typeface="楷体_GB2312" charset="0"/>
              </a:rPr>
              <a:t>”</a:t>
            </a:r>
            <a:r>
              <a:rPr lang="zh-CN" altLang="en-US" sz="2400" b="1" i="0">
                <a:latin typeface="楷体_GB2312" charset="0"/>
                <a:ea typeface="楷体_GB2312" charset="0"/>
              </a:rPr>
              <a:t>。</a:t>
            </a:r>
            <a:endParaRPr lang="ko-KR" altLang="en-US" sz="2400" b="1" i="0">
              <a:latin typeface="楷体_GB2312" charset="0"/>
              <a:ea typeface="楷体_GB2312"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image012"/>
          <p:cNvPicPr>
            <a:picLocks noChangeAspect="1"/>
          </p:cNvPicPr>
          <p:nvPr/>
        </p:nvPicPr>
        <p:blipFill>
          <a:blip r:embed="rId1"/>
          <a:stretch>
            <a:fillRect/>
          </a:stretch>
        </p:blipFill>
        <p:spPr>
          <a:xfrm>
            <a:off x="250825" y="44450"/>
            <a:ext cx="8424863" cy="6884988"/>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p:nvPr/>
        </p:nvSpPr>
        <p:spPr>
          <a:xfrm>
            <a:off x="468630" y="462280"/>
            <a:ext cx="2139950" cy="518795"/>
          </a:xfrm>
          <a:prstGeom prst="rect">
            <a:avLst/>
          </a:prstGeom>
          <a:noFill/>
          <a:ln w="9525">
            <a:noFill/>
          </a:ln>
        </p:spPr>
        <p:txBody>
          <a:bodyPr wrap="none">
            <a:spAutoFit/>
          </a:bodyPr>
          <a:lstStyle/>
          <a:p>
            <a:pPr eaLnBrk="1" hangingPunct="1">
              <a:buFont typeface="Arial" panose="020B0604020202020204" pitchFamily="34" charset="0"/>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）关联类</a:t>
            </a:r>
            <a:endParaRPr lang="zh-CN" altLang="en-US" sz="2800" dirty="0">
              <a:latin typeface="黑体" panose="02010609060101010101" pitchFamily="49" charset="-122"/>
              <a:ea typeface="黑体" panose="02010609060101010101" pitchFamily="49" charset="-122"/>
            </a:endParaRPr>
          </a:p>
        </p:txBody>
      </p:sp>
      <p:sp>
        <p:nvSpPr>
          <p:cNvPr id="28675" name="Text Box 3"/>
          <p:cNvSpPr txBox="1"/>
          <p:nvPr/>
        </p:nvSpPr>
        <p:spPr>
          <a:xfrm>
            <a:off x="1000125" y="1214755"/>
            <a:ext cx="7489190" cy="953135"/>
          </a:xfrm>
          <a:prstGeom prst="rect">
            <a:avLst/>
          </a:prstGeom>
          <a:solidFill>
            <a:schemeClr val="bg1"/>
          </a:solid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lang="zh-CN" altLang="en-US" sz="2800" b="1" i="0">
                <a:latin typeface="Arial" panose="020B0604020202020204" pitchFamily="34" charset="0"/>
                <a:ea typeface="楷体_GB2312" charset="0"/>
              </a:rPr>
              <a:t>       </a:t>
            </a:r>
            <a:r>
              <a:rPr lang="zh-CN" altLang="en-US" sz="2800" b="1" i="0">
                <a:latin typeface="Arial" panose="020B0604020202020204" pitchFamily="34" charset="0"/>
                <a:ea typeface="楷体_GB2312" charset="0"/>
              </a:rPr>
              <a:t>把类之间的关联定义成类，称为</a:t>
            </a:r>
            <a:r>
              <a:rPr sz="2800" b="1" i="0">
                <a:solidFill>
                  <a:srgbClr val="0611F2"/>
                </a:solidFill>
                <a:latin typeface="Arial" panose="020B0604020202020204" pitchFamily="34" charset="0"/>
                <a:ea typeface="楷体_GB2312" charset="0"/>
              </a:rPr>
              <a:t>关联类</a:t>
            </a:r>
            <a:r>
              <a:rPr lang="zh-CN" altLang="en-US" sz="2800" b="1" i="0">
                <a:latin typeface="Arial" panose="020B0604020202020204" pitchFamily="34" charset="0"/>
                <a:ea typeface="楷体_GB2312" charset="0"/>
              </a:rPr>
              <a:t>。</a:t>
            </a:r>
            <a:endParaRPr lang="ko-KR" altLang="en-US" sz="2800" b="1" i="0">
              <a:latin typeface="Arial" panose="020B0604020202020204" pitchFamily="34" charset="0"/>
              <a:ea typeface="楷体_GB2312" charset="0"/>
            </a:endParaRPr>
          </a:p>
          <a:p>
            <a:pPr marL="0" indent="0" algn="l" defTabSz="914400" eaLnBrk="1" fontAlgn="base" latinLnBrk="0" hangingPunct="1">
              <a:lnSpc>
                <a:spcPct val="100000"/>
              </a:lnSpc>
              <a:spcBef>
                <a:spcPts val="0"/>
              </a:spcBef>
              <a:spcAft>
                <a:spcPts val="0"/>
              </a:spcAft>
              <a:buFontTx/>
              <a:buNone/>
            </a:pPr>
            <a:r>
              <a:rPr lang="zh-CN" altLang="en-US" sz="2800" b="1" i="0">
                <a:latin typeface="Arial" panose="020B0604020202020204" pitchFamily="34" charset="0"/>
                <a:ea typeface="楷体_GB2312" charset="0"/>
              </a:rPr>
              <a:t>关联类也有属性、操作并与其他的类关联。</a:t>
            </a:r>
            <a:endParaRPr lang="ko-KR" altLang="en-US" sz="2800" b="1" i="0">
              <a:latin typeface="Arial" panose="020B0604020202020204" pitchFamily="34" charset="0"/>
              <a:ea typeface="楷体_GB2312" charset="0"/>
            </a:endParaRPr>
          </a:p>
        </p:txBody>
      </p:sp>
      <p:pic>
        <p:nvPicPr>
          <p:cNvPr id="28676" name="Picture 4"/>
          <p:cNvPicPr>
            <a:picLocks noChangeAspect="1"/>
          </p:cNvPicPr>
          <p:nvPr/>
        </p:nvPicPr>
        <p:blipFill>
          <a:blip r:embed="rId1"/>
          <a:stretch>
            <a:fillRect/>
          </a:stretch>
        </p:blipFill>
        <p:spPr>
          <a:xfrm>
            <a:off x="109855" y="2641600"/>
            <a:ext cx="9034145" cy="3535680"/>
          </a:xfrm>
          <a:prstGeom prst="rect">
            <a:avLst/>
          </a:prstGeom>
          <a:noFill/>
          <a:ln w="9525" cap="flat" cmpd="sng">
            <a:solidFill>
              <a:srgbClr val="000000"/>
            </a:solidFill>
            <a:prstDash val="solid"/>
            <a:miter/>
            <a:headEnd type="none" w="med" len="med"/>
            <a:tailEnd type="none" w="med" len="me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image016"/>
          <p:cNvPicPr>
            <a:picLocks noChangeAspect="1"/>
          </p:cNvPicPr>
          <p:nvPr/>
        </p:nvPicPr>
        <p:blipFill>
          <a:blip r:embed="rId1"/>
          <a:stretch>
            <a:fillRect/>
          </a:stretch>
        </p:blipFill>
        <p:spPr>
          <a:xfrm>
            <a:off x="250825" y="77788"/>
            <a:ext cx="8675688" cy="6804025"/>
          </a:xfrm>
          <a:prstGeom prst="rect">
            <a:avLst/>
          </a:prstGeom>
          <a:noFill/>
          <a:ln w="9525" cap="flat" cmpd="sng">
            <a:solidFill>
              <a:schemeClr val="bg1"/>
            </a:solidFill>
            <a:prstDash val="solid"/>
            <a:miter/>
            <a:headEnd type="none" w="med" len="med"/>
            <a:tailEnd type="none" w="med" len="med"/>
          </a:ln>
          <a:effectLst>
            <a:outerShdw dist="107763" dir="18900000" algn="ctr" rotWithShape="0">
              <a:srgbClr val="80808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p:nvPr/>
        </p:nvSpPr>
        <p:spPr>
          <a:xfrm>
            <a:off x="571500" y="857250"/>
            <a:ext cx="2686050" cy="579438"/>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2</a:t>
            </a:r>
            <a:r>
              <a:rPr lang="zh-CN" altLang="en-US" sz="3200" dirty="0">
                <a:latin typeface="黑体" panose="02010609060101010101" pitchFamily="49" charset="-122"/>
                <a:ea typeface="黑体" panose="02010609060101010101" pitchFamily="49" charset="-122"/>
              </a:rPr>
              <a:t>．多重关联</a:t>
            </a:r>
            <a:endParaRPr lang="zh-CN" altLang="en-US" sz="3200" dirty="0">
              <a:latin typeface="黑体" panose="02010609060101010101" pitchFamily="49" charset="-122"/>
              <a:ea typeface="黑体" panose="02010609060101010101" pitchFamily="49" charset="-122"/>
            </a:endParaRPr>
          </a:p>
        </p:txBody>
      </p:sp>
      <p:sp>
        <p:nvSpPr>
          <p:cNvPr id="30723" name="Text Box 3"/>
          <p:cNvSpPr txBox="1"/>
          <p:nvPr/>
        </p:nvSpPr>
        <p:spPr>
          <a:xfrm>
            <a:off x="571500" y="1785938"/>
            <a:ext cx="5060950" cy="457200"/>
          </a:xfrm>
          <a:prstGeom prst="rect">
            <a:avLst/>
          </a:prstGeom>
          <a:noFill/>
          <a:ln w="9525">
            <a:noFill/>
          </a:ln>
        </p:spPr>
        <p:txBody>
          <a:bodyPr wrap="none">
            <a:spAutoFit/>
          </a:bodyPr>
          <a:lstStyle/>
          <a:p>
            <a:pPr eaLnBrk="1" hangingPunct="1">
              <a:buFont typeface="Arial" panose="020B0604020202020204" pitchFamily="34" charset="0"/>
            </a:pPr>
            <a:r>
              <a:rPr lang="zh-CN" altLang="en-US" sz="2400" b="1" dirty="0">
                <a:latin typeface="Arial" panose="020B0604020202020204" pitchFamily="34" charset="0"/>
                <a:ea typeface="黑体" panose="02010609060101010101" pitchFamily="49" charset="-122"/>
              </a:rPr>
              <a:t>两个以上的类之间也可以互相关联。</a:t>
            </a:r>
            <a:endParaRPr lang="zh-CN" altLang="en-US" sz="2400" b="1" dirty="0">
              <a:latin typeface="Arial" panose="020B0604020202020204" pitchFamily="34" charset="0"/>
              <a:ea typeface="黑体" panose="02010609060101010101" pitchFamily="49" charset="-122"/>
            </a:endParaRPr>
          </a:p>
        </p:txBody>
      </p:sp>
      <p:pic>
        <p:nvPicPr>
          <p:cNvPr id="30724" name="Picture 4" descr="image018"/>
          <p:cNvPicPr>
            <a:picLocks noChangeAspect="1"/>
          </p:cNvPicPr>
          <p:nvPr/>
        </p:nvPicPr>
        <p:blipFill>
          <a:blip r:embed="rId1"/>
          <a:stretch>
            <a:fillRect/>
          </a:stretch>
        </p:blipFill>
        <p:spPr>
          <a:xfrm>
            <a:off x="576263" y="2349500"/>
            <a:ext cx="7883525" cy="3894138"/>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3"/>
          <p:cNvSpPr txBox="1"/>
          <p:nvPr/>
        </p:nvSpPr>
        <p:spPr>
          <a:xfrm>
            <a:off x="250825" y="546100"/>
            <a:ext cx="3092450" cy="579438"/>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3</a:t>
            </a:r>
            <a:r>
              <a:rPr lang="zh-CN" altLang="en-US" sz="3200" dirty="0">
                <a:latin typeface="黑体" panose="02010609060101010101" pitchFamily="49" charset="-122"/>
                <a:ea typeface="黑体" panose="02010609060101010101" pitchFamily="49" charset="-122"/>
              </a:rPr>
              <a:t>．关联的约束</a:t>
            </a:r>
            <a:endParaRPr lang="zh-CN" altLang="en-US" sz="3200" dirty="0">
              <a:latin typeface="黑体" panose="02010609060101010101" pitchFamily="49" charset="-122"/>
              <a:ea typeface="黑体" panose="02010609060101010101" pitchFamily="49" charset="-122"/>
            </a:endParaRPr>
          </a:p>
        </p:txBody>
      </p:sp>
      <p:sp>
        <p:nvSpPr>
          <p:cNvPr id="31747" name="Text Box 4"/>
          <p:cNvSpPr txBox="1"/>
          <p:nvPr/>
        </p:nvSpPr>
        <p:spPr>
          <a:xfrm>
            <a:off x="1349375" y="1685925"/>
            <a:ext cx="4806950" cy="519113"/>
          </a:xfrm>
          <a:prstGeom prst="rect">
            <a:avLst/>
          </a:prstGeom>
          <a:noFill/>
          <a:ln w="9525">
            <a:noFill/>
          </a:ln>
        </p:spPr>
        <p:txBody>
          <a:bodyPr wrap="none">
            <a:spAutoFit/>
          </a:bodyPr>
          <a:lstStyle/>
          <a:p>
            <a:pPr eaLnBrk="1" hangingPunct="1">
              <a:buFont typeface="Arial" panose="020B0604020202020204" pitchFamily="34" charset="0"/>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ordered</a:t>
            </a:r>
            <a:r>
              <a:rPr lang="zh-CN" altLang="en-US" sz="2800" dirty="0">
                <a:latin typeface="黑体" panose="02010609060101010101" pitchFamily="49" charset="-122"/>
                <a:ea typeface="黑体" panose="02010609060101010101" pitchFamily="49" charset="-122"/>
              </a:rPr>
              <a:t>：有序的对象。</a:t>
            </a:r>
            <a:endParaRPr lang="zh-CN" altLang="en-US" sz="2800" dirty="0">
              <a:latin typeface="黑体" panose="02010609060101010101" pitchFamily="49" charset="-122"/>
              <a:ea typeface="黑体" panose="02010609060101010101" pitchFamily="49" charset="-122"/>
            </a:endParaRPr>
          </a:p>
        </p:txBody>
      </p:sp>
      <p:pic>
        <p:nvPicPr>
          <p:cNvPr id="31748" name="Picture 5" descr="image020"/>
          <p:cNvPicPr>
            <a:picLocks noChangeAspect="1"/>
          </p:cNvPicPr>
          <p:nvPr/>
        </p:nvPicPr>
        <p:blipFill>
          <a:blip r:embed="rId1"/>
          <a:stretch>
            <a:fillRect/>
          </a:stretch>
        </p:blipFill>
        <p:spPr>
          <a:xfrm>
            <a:off x="287338" y="2924175"/>
            <a:ext cx="8388350" cy="2443163"/>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image022"/>
          <p:cNvPicPr>
            <a:picLocks noChangeAspect="1"/>
          </p:cNvPicPr>
          <p:nvPr/>
        </p:nvPicPr>
        <p:blipFill>
          <a:blip r:embed="rId1"/>
          <a:stretch>
            <a:fillRect/>
          </a:stretch>
        </p:blipFill>
        <p:spPr>
          <a:xfrm>
            <a:off x="611188" y="84138"/>
            <a:ext cx="8064500" cy="6578600"/>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3"/>
          <p:cNvSpPr txBox="1"/>
          <p:nvPr/>
        </p:nvSpPr>
        <p:spPr>
          <a:xfrm>
            <a:off x="169863" y="188913"/>
            <a:ext cx="2889250" cy="579437"/>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4</a:t>
            </a:r>
            <a:r>
              <a:rPr lang="zh-CN" altLang="en-US" sz="3200" dirty="0">
                <a:latin typeface="黑体" panose="02010609060101010101" pitchFamily="49" charset="-122"/>
                <a:ea typeface="黑体" panose="02010609060101010101" pitchFamily="49" charset="-122"/>
              </a:rPr>
              <a:t>． 受限关联</a:t>
            </a:r>
            <a:endParaRPr lang="zh-CN" altLang="en-US" sz="3200" dirty="0">
              <a:latin typeface="黑体" panose="02010609060101010101" pitchFamily="49" charset="-122"/>
              <a:ea typeface="黑体" panose="02010609060101010101" pitchFamily="49" charset="-122"/>
            </a:endParaRPr>
          </a:p>
        </p:txBody>
      </p:sp>
      <p:pic>
        <p:nvPicPr>
          <p:cNvPr id="33795" name="Picture 4" descr="image024"/>
          <p:cNvPicPr>
            <a:picLocks noChangeAspect="1"/>
          </p:cNvPicPr>
          <p:nvPr/>
        </p:nvPicPr>
        <p:blipFill>
          <a:blip r:embed="rId1"/>
          <a:stretch>
            <a:fillRect/>
          </a:stretch>
        </p:blipFill>
        <p:spPr>
          <a:xfrm>
            <a:off x="1403350" y="876300"/>
            <a:ext cx="6624638" cy="1927225"/>
          </a:xfrm>
          <a:prstGeom prst="rect">
            <a:avLst/>
          </a:prstGeom>
          <a:noFill/>
          <a:ln w="9525" cap="flat" cmpd="sng">
            <a:solidFill>
              <a:srgbClr val="000000"/>
            </a:solidFill>
            <a:prstDash val="solid"/>
            <a:miter/>
            <a:headEnd type="none" w="med" len="med"/>
            <a:tailEnd type="none" w="med" len="med"/>
          </a:ln>
        </p:spPr>
      </p:pic>
      <p:sp>
        <p:nvSpPr>
          <p:cNvPr id="33796" name="Text Box 5"/>
          <p:cNvSpPr txBox="1"/>
          <p:nvPr/>
        </p:nvSpPr>
        <p:spPr>
          <a:xfrm>
            <a:off x="107950" y="2852738"/>
            <a:ext cx="3313113" cy="579437"/>
          </a:xfrm>
          <a:prstGeom prst="rect">
            <a:avLst/>
          </a:prstGeom>
          <a:noFill/>
          <a:ln w="9525">
            <a:noFill/>
          </a:ln>
        </p:spPr>
        <p:txBody>
          <a:bodyPr>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a:t>
            </a:r>
            <a:r>
              <a:rPr lang="zh-CN" altLang="en-US" sz="3200" dirty="0">
                <a:latin typeface="黑体" panose="02010609060101010101" pitchFamily="49" charset="-122"/>
                <a:ea typeface="黑体" panose="02010609060101010101" pitchFamily="49" charset="-122"/>
              </a:rPr>
              <a:t>．递归关联</a:t>
            </a:r>
            <a:endParaRPr lang="zh-CN" altLang="en-US" sz="3200" dirty="0">
              <a:latin typeface="黑体" panose="02010609060101010101" pitchFamily="49" charset="-122"/>
              <a:ea typeface="黑体" panose="02010609060101010101" pitchFamily="49" charset="-122"/>
            </a:endParaRPr>
          </a:p>
        </p:txBody>
      </p:sp>
      <p:pic>
        <p:nvPicPr>
          <p:cNvPr id="33797" name="Picture 6" descr="image026"/>
          <p:cNvPicPr>
            <a:picLocks noChangeAspect="1"/>
          </p:cNvPicPr>
          <p:nvPr/>
        </p:nvPicPr>
        <p:blipFill>
          <a:blip r:embed="rId2"/>
          <a:stretch>
            <a:fillRect/>
          </a:stretch>
        </p:blipFill>
        <p:spPr>
          <a:xfrm>
            <a:off x="1835150" y="3429000"/>
            <a:ext cx="5400675" cy="3192463"/>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3"/>
          <p:cNvSpPr txBox="1"/>
          <p:nvPr/>
        </p:nvSpPr>
        <p:spPr>
          <a:xfrm>
            <a:off x="250825" y="20638"/>
            <a:ext cx="3646488" cy="646112"/>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5.4.2  </a:t>
            </a:r>
            <a:r>
              <a:rPr lang="zh-CN" altLang="en-US" sz="3600" dirty="0">
                <a:latin typeface="黑体" panose="02010609060101010101" pitchFamily="49" charset="-122"/>
                <a:ea typeface="黑体" panose="02010609060101010101" pitchFamily="49" charset="-122"/>
              </a:rPr>
              <a:t>聚集关系</a:t>
            </a:r>
            <a:endParaRPr lang="zh-CN" altLang="en-US" sz="3600" dirty="0">
              <a:latin typeface="黑体" panose="02010609060101010101" pitchFamily="49" charset="-122"/>
              <a:ea typeface="黑体" panose="02010609060101010101" pitchFamily="49" charset="-122"/>
            </a:endParaRPr>
          </a:p>
        </p:txBody>
      </p:sp>
      <p:sp>
        <p:nvSpPr>
          <p:cNvPr id="34819" name="Text Box 4"/>
          <p:cNvSpPr txBox="1"/>
          <p:nvPr/>
        </p:nvSpPr>
        <p:spPr>
          <a:xfrm>
            <a:off x="611188" y="877888"/>
            <a:ext cx="2686050" cy="577850"/>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1</a:t>
            </a:r>
            <a:r>
              <a:rPr lang="zh-CN" altLang="en-US" sz="3200" dirty="0">
                <a:latin typeface="黑体" panose="02010609060101010101" pitchFamily="49" charset="-122"/>
                <a:ea typeface="黑体" panose="02010609060101010101" pitchFamily="49" charset="-122"/>
              </a:rPr>
              <a:t>．共享聚集</a:t>
            </a:r>
            <a:endParaRPr lang="zh-CN" altLang="en-US" sz="3200" dirty="0">
              <a:latin typeface="黑体" panose="02010609060101010101" pitchFamily="49" charset="-122"/>
              <a:ea typeface="黑体" panose="02010609060101010101" pitchFamily="49" charset="-122"/>
            </a:endParaRPr>
          </a:p>
        </p:txBody>
      </p:sp>
      <p:sp>
        <p:nvSpPr>
          <p:cNvPr id="34820" name="Text Box 5"/>
          <p:cNvSpPr txBox="1"/>
          <p:nvPr/>
        </p:nvSpPr>
        <p:spPr>
          <a:xfrm>
            <a:off x="377825" y="2246313"/>
            <a:ext cx="8442325" cy="822325"/>
          </a:xfrm>
          <a:prstGeom prst="rect">
            <a:avLst/>
          </a:prstGeom>
          <a:noFill/>
          <a:ln w="9525">
            <a:noFill/>
          </a:ln>
        </p:spPr>
        <p:txBody>
          <a:bodyPr>
            <a:spAutoFit/>
          </a:bodyPr>
          <a:lstStyle/>
          <a:p>
            <a:pPr eaLnBrk="1" hangingPunct="1">
              <a:buFont typeface="Arial" panose="020B0604020202020204" pitchFamily="34" charset="0"/>
            </a:pPr>
            <a:r>
              <a:rPr lang="zh-CN" altLang="en-US" sz="2400" b="1" dirty="0">
                <a:latin typeface="楷体_GB2312" pitchFamily="49" charset="-122"/>
                <a:ea typeface="楷体_GB2312" pitchFamily="49" charset="-122"/>
              </a:rPr>
              <a:t>    共享聚集的</a:t>
            </a:r>
            <a:r>
              <a:rPr lang="zh-CN" altLang="en-US" sz="2400" b="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部分</a:t>
            </a:r>
            <a:r>
              <a:rPr lang="zh-CN" altLang="en-US" sz="2400" b="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对象可以是任意</a:t>
            </a:r>
            <a:r>
              <a:rPr lang="zh-CN" altLang="en-US" sz="2400" b="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整体</a:t>
            </a:r>
            <a:r>
              <a:rPr lang="zh-CN" altLang="en-US" sz="2400" b="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对象的一部分，表示事物的整体</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部分关系较弱的情况。</a:t>
            </a:r>
            <a:endParaRPr lang="zh-CN" altLang="en-US" sz="2400" b="1" dirty="0">
              <a:latin typeface="楷体_GB2312" pitchFamily="49" charset="-122"/>
              <a:ea typeface="楷体_GB2312" pitchFamily="49" charset="-122"/>
            </a:endParaRPr>
          </a:p>
        </p:txBody>
      </p:sp>
      <p:pic>
        <p:nvPicPr>
          <p:cNvPr id="34821" name="Picture 6" descr="image028"/>
          <p:cNvPicPr>
            <a:picLocks noChangeAspect="1"/>
          </p:cNvPicPr>
          <p:nvPr/>
        </p:nvPicPr>
        <p:blipFill>
          <a:blip r:embed="rId1"/>
          <a:stretch>
            <a:fillRect/>
          </a:stretch>
        </p:blipFill>
        <p:spPr>
          <a:xfrm>
            <a:off x="34925" y="3771900"/>
            <a:ext cx="9109075" cy="2149475"/>
          </a:xfrm>
          <a:prstGeom prst="rect">
            <a:avLst/>
          </a:prstGeom>
          <a:noFill/>
          <a:ln w="9525" cap="flat" cmpd="sng">
            <a:solidFill>
              <a:schemeClr val="bg1"/>
            </a:solidFill>
            <a:prstDash val="solid"/>
            <a:miter/>
            <a:headEnd type="none" w="med" len="med"/>
            <a:tailEnd type="none" w="med" len="me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p:cNvSpPr txBox="1"/>
          <p:nvPr/>
        </p:nvSpPr>
        <p:spPr>
          <a:xfrm>
            <a:off x="395288" y="473075"/>
            <a:ext cx="2686050" cy="579438"/>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2</a:t>
            </a:r>
            <a:r>
              <a:rPr lang="zh-CN" altLang="en-US" sz="3200" dirty="0">
                <a:latin typeface="黑体" panose="02010609060101010101" pitchFamily="49" charset="-122"/>
                <a:ea typeface="黑体" panose="02010609060101010101" pitchFamily="49" charset="-122"/>
              </a:rPr>
              <a:t>．组合聚集</a:t>
            </a:r>
            <a:endParaRPr lang="zh-CN" altLang="en-US" sz="3200" dirty="0">
              <a:latin typeface="黑体" panose="02010609060101010101" pitchFamily="49" charset="-122"/>
              <a:ea typeface="黑体" panose="02010609060101010101" pitchFamily="49" charset="-122"/>
            </a:endParaRPr>
          </a:p>
        </p:txBody>
      </p:sp>
      <p:pic>
        <p:nvPicPr>
          <p:cNvPr id="35843" name="Picture 4" descr="image029"/>
          <p:cNvPicPr>
            <a:picLocks noChangeAspect="1"/>
          </p:cNvPicPr>
          <p:nvPr/>
        </p:nvPicPr>
        <p:blipFill>
          <a:blip r:embed="rId1"/>
          <a:stretch>
            <a:fillRect/>
          </a:stretch>
        </p:blipFill>
        <p:spPr>
          <a:xfrm>
            <a:off x="900113" y="1062038"/>
            <a:ext cx="7056437" cy="1495425"/>
          </a:xfrm>
          <a:prstGeom prst="rect">
            <a:avLst/>
          </a:prstGeom>
          <a:noFill/>
          <a:ln w="9525" cap="flat" cmpd="sng">
            <a:solidFill>
              <a:schemeClr val="bg1"/>
            </a:solidFill>
            <a:prstDash val="solid"/>
            <a:miter/>
            <a:headEnd type="none" w="med" len="med"/>
            <a:tailEnd type="none" w="med" len="med"/>
          </a:ln>
        </p:spPr>
      </p:pic>
      <p:sp>
        <p:nvSpPr>
          <p:cNvPr id="35844" name="Text Box 5"/>
          <p:cNvSpPr txBox="1"/>
          <p:nvPr/>
        </p:nvSpPr>
        <p:spPr>
          <a:xfrm>
            <a:off x="395288" y="2849563"/>
            <a:ext cx="3905250" cy="579437"/>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3</a:t>
            </a:r>
            <a:r>
              <a:rPr lang="zh-CN" altLang="en-US" sz="3200" dirty="0">
                <a:latin typeface="黑体" panose="02010609060101010101" pitchFamily="49" charset="-122"/>
                <a:ea typeface="黑体" panose="02010609060101010101" pitchFamily="49" charset="-122"/>
              </a:rPr>
              <a:t>．三种关联的比较</a:t>
            </a:r>
            <a:endParaRPr lang="zh-CN" altLang="en-US" sz="3200" dirty="0">
              <a:latin typeface="黑体" panose="02010609060101010101" pitchFamily="49" charset="-122"/>
              <a:ea typeface="黑体" panose="02010609060101010101" pitchFamily="49" charset="-122"/>
            </a:endParaRPr>
          </a:p>
        </p:txBody>
      </p:sp>
      <p:pic>
        <p:nvPicPr>
          <p:cNvPr id="35845" name="Picture 6" descr="image031"/>
          <p:cNvPicPr>
            <a:picLocks noChangeAspect="1"/>
          </p:cNvPicPr>
          <p:nvPr/>
        </p:nvPicPr>
        <p:blipFill>
          <a:blip r:embed="rId2"/>
          <a:stretch>
            <a:fillRect/>
          </a:stretch>
        </p:blipFill>
        <p:spPr>
          <a:xfrm>
            <a:off x="250825" y="3525838"/>
            <a:ext cx="8785225" cy="3216275"/>
          </a:xfrm>
          <a:prstGeom prst="rect">
            <a:avLst/>
          </a:prstGeom>
          <a:noFill/>
          <a:ln w="9525" cap="flat" cmpd="sng">
            <a:solidFill>
              <a:schemeClr val="bg1"/>
            </a:solidFill>
            <a:prstDash val="solid"/>
            <a:miter/>
            <a:headEnd type="none" w="med" len="med"/>
            <a:tailEnd type="none" w="med" len="me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p:nvPr/>
        </p:nvSpPr>
        <p:spPr>
          <a:xfrm>
            <a:off x="107950" y="115888"/>
            <a:ext cx="4032250" cy="646112"/>
          </a:xfrm>
          <a:prstGeom prst="rect">
            <a:avLst/>
          </a:prstGeom>
          <a:noFill/>
          <a:ln w="9525">
            <a:noFill/>
          </a:ln>
        </p:spPr>
        <p:txBody>
          <a:bodyPr>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5.4.3  </a:t>
            </a:r>
            <a:r>
              <a:rPr lang="zh-CN" altLang="en-US" sz="3600" dirty="0">
                <a:latin typeface="黑体" panose="02010609060101010101" pitchFamily="49" charset="-122"/>
                <a:ea typeface="黑体" panose="02010609060101010101" pitchFamily="49" charset="-122"/>
              </a:rPr>
              <a:t>继承关系</a:t>
            </a:r>
            <a:endParaRPr lang="zh-CN" altLang="en-US" sz="3600" dirty="0">
              <a:latin typeface="黑体" panose="02010609060101010101" pitchFamily="49" charset="-122"/>
              <a:ea typeface="黑体" panose="02010609060101010101" pitchFamily="49" charset="-122"/>
            </a:endParaRPr>
          </a:p>
        </p:txBody>
      </p:sp>
      <p:grpSp>
        <p:nvGrpSpPr>
          <p:cNvPr id="36867" name="组合 2"/>
          <p:cNvGrpSpPr/>
          <p:nvPr/>
        </p:nvGrpSpPr>
        <p:grpSpPr>
          <a:xfrm>
            <a:off x="3976688" y="204788"/>
            <a:ext cx="1768475" cy="2019300"/>
            <a:chOff x="5036566" y="832839"/>
            <a:chExt cx="1767681" cy="2020097"/>
          </a:xfrm>
        </p:grpSpPr>
        <p:sp>
          <p:nvSpPr>
            <p:cNvPr id="36916" name="矩形 1"/>
            <p:cNvSpPr/>
            <p:nvPr/>
          </p:nvSpPr>
          <p:spPr>
            <a:xfrm>
              <a:off x="5040050" y="832839"/>
              <a:ext cx="1764197"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b="1" dirty="0">
                  <a:latin typeface="Verdana" panose="020B0604030504040204" pitchFamily="34" charset="0"/>
                </a:rPr>
                <a:t>图（</a:t>
              </a:r>
              <a:r>
                <a:rPr lang="en-US" altLang="zh-CN" b="1" dirty="0">
                  <a:latin typeface="Verdana" panose="020B0604030504040204" pitchFamily="34" charset="0"/>
                </a:rPr>
                <a:t>abstract</a:t>
              </a:r>
              <a:r>
                <a:rPr lang="zh-CN" altLang="en-US" b="1" dirty="0">
                  <a:latin typeface="Verdana" panose="020B0604030504040204" pitchFamily="34" charset="0"/>
                </a:rPr>
                <a:t>）</a:t>
              </a:r>
              <a:endParaRPr lang="zh-CN" altLang="en-US" b="1" dirty="0">
                <a:latin typeface="Verdana" panose="020B0604030504040204" pitchFamily="34" charset="0"/>
              </a:endParaRPr>
            </a:p>
          </p:txBody>
        </p:sp>
        <p:sp>
          <p:nvSpPr>
            <p:cNvPr id="36917" name="矩形 4"/>
            <p:cNvSpPr/>
            <p:nvPr/>
          </p:nvSpPr>
          <p:spPr>
            <a:xfrm>
              <a:off x="5036566" y="1265557"/>
              <a:ext cx="1767681" cy="864096"/>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线条颜色</a:t>
              </a:r>
              <a:r>
                <a:rPr lang="en-US" altLang="zh-CN" sz="1400" b="1" dirty="0">
                  <a:latin typeface="Verdana" panose="020B0604030504040204" pitchFamily="34" charset="0"/>
                </a:rPr>
                <a:t>:Integer</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中心位置x</a:t>
              </a:r>
              <a:r>
                <a:rPr lang="en-US" altLang="zh-CN" sz="1400" b="1" dirty="0">
                  <a:latin typeface="Verdana" panose="020B0604030504040204" pitchFamily="34" charset="0"/>
                </a:rPr>
                <a:t>:real</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中心位置</a:t>
              </a:r>
              <a:r>
                <a:rPr lang="en-US" altLang="zh-CN" sz="1400" b="1" dirty="0">
                  <a:latin typeface="Verdana" panose="020B0604030504040204" pitchFamily="34" charset="0"/>
                </a:rPr>
                <a:t>y:real</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线条粗细</a:t>
              </a:r>
              <a:r>
                <a:rPr lang="en-US" altLang="zh-CN" sz="1400" b="1" dirty="0">
                  <a:latin typeface="Verdana" panose="020B0604030504040204" pitchFamily="34" charset="0"/>
                </a:rPr>
                <a:t>:Integer</a:t>
              </a:r>
              <a:endParaRPr lang="zh-CN" altLang="en-US" sz="1400" b="1" dirty="0">
                <a:latin typeface="Verdana" panose="020B0604030504040204" pitchFamily="34" charset="0"/>
              </a:endParaRPr>
            </a:p>
          </p:txBody>
        </p:sp>
        <p:sp>
          <p:nvSpPr>
            <p:cNvPr id="36918" name="矩形 5"/>
            <p:cNvSpPr/>
            <p:nvPr/>
          </p:nvSpPr>
          <p:spPr>
            <a:xfrm>
              <a:off x="5051224" y="2151845"/>
              <a:ext cx="1753023" cy="70109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平移（）</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旋转（）</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显示（）</a:t>
              </a:r>
              <a:r>
                <a:rPr lang="en-US" altLang="zh-CN" sz="1400" b="1" dirty="0">
                  <a:latin typeface="Verdana" panose="020B0604030504040204" pitchFamily="34" charset="0"/>
                </a:rPr>
                <a:t>(abstract</a:t>
              </a:r>
              <a:endParaRPr lang="zh-CN" altLang="en-US" sz="1400" b="1" dirty="0">
                <a:latin typeface="Verdana" panose="020B0604030504040204" pitchFamily="34" charset="0"/>
              </a:endParaRPr>
            </a:p>
          </p:txBody>
        </p:sp>
      </p:grpSp>
      <p:grpSp>
        <p:nvGrpSpPr>
          <p:cNvPr id="36868" name="组合 7"/>
          <p:cNvGrpSpPr/>
          <p:nvPr/>
        </p:nvGrpSpPr>
        <p:grpSpPr>
          <a:xfrm>
            <a:off x="474663" y="2736850"/>
            <a:ext cx="2297112" cy="1403350"/>
            <a:chOff x="5040050" y="832839"/>
            <a:chExt cx="2027830" cy="1586535"/>
          </a:xfrm>
        </p:grpSpPr>
        <p:sp>
          <p:nvSpPr>
            <p:cNvPr id="36913" name="矩形 8"/>
            <p:cNvSpPr/>
            <p:nvPr/>
          </p:nvSpPr>
          <p:spPr>
            <a:xfrm>
              <a:off x="5040050" y="832839"/>
              <a:ext cx="2027830"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b="1" dirty="0">
                  <a:latin typeface="Verdana" panose="020B0604030504040204" pitchFamily="34" charset="0"/>
                </a:rPr>
                <a:t>0</a:t>
              </a:r>
              <a:r>
                <a:rPr lang="zh-CN" altLang="en-US" b="1" dirty="0">
                  <a:latin typeface="Verdana" panose="020B0604030504040204" pitchFamily="34" charset="0"/>
                </a:rPr>
                <a:t>维图（</a:t>
              </a:r>
              <a:r>
                <a:rPr lang="en-US" altLang="zh-CN" b="1" dirty="0">
                  <a:latin typeface="Verdana" panose="020B0604030504040204" pitchFamily="34" charset="0"/>
                </a:rPr>
                <a:t>abstract</a:t>
              </a:r>
              <a:r>
                <a:rPr lang="zh-CN" altLang="en-US" b="1" dirty="0">
                  <a:latin typeface="Verdana" panose="020B0604030504040204" pitchFamily="34" charset="0"/>
                </a:rPr>
                <a:t>）</a:t>
              </a:r>
              <a:endParaRPr lang="zh-CN" altLang="en-US" b="1" dirty="0">
                <a:latin typeface="Verdana" panose="020B0604030504040204" pitchFamily="34" charset="0"/>
              </a:endParaRPr>
            </a:p>
          </p:txBody>
        </p:sp>
        <p:sp>
          <p:nvSpPr>
            <p:cNvPr id="36914" name="矩形 9"/>
            <p:cNvSpPr/>
            <p:nvPr/>
          </p:nvSpPr>
          <p:spPr>
            <a:xfrm>
              <a:off x="5051224" y="1244072"/>
              <a:ext cx="2005482" cy="47421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sz="1400" b="1" dirty="0">
                <a:latin typeface="Verdana" panose="020B0604030504040204" pitchFamily="34" charset="0"/>
              </a:endParaRPr>
            </a:p>
          </p:txBody>
        </p:sp>
        <p:sp>
          <p:nvSpPr>
            <p:cNvPr id="36915" name="矩形 10"/>
            <p:cNvSpPr/>
            <p:nvPr/>
          </p:nvSpPr>
          <p:spPr>
            <a:xfrm>
              <a:off x="5040050" y="1718283"/>
              <a:ext cx="2016656" cy="70109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sz="1400" b="1" dirty="0">
                <a:latin typeface="Verdana" panose="020B0604030504040204" pitchFamily="34" charset="0"/>
              </a:endParaRPr>
            </a:p>
          </p:txBody>
        </p:sp>
      </p:grpSp>
      <p:grpSp>
        <p:nvGrpSpPr>
          <p:cNvPr id="36869" name="组合 3"/>
          <p:cNvGrpSpPr/>
          <p:nvPr/>
        </p:nvGrpSpPr>
        <p:grpSpPr>
          <a:xfrm>
            <a:off x="3306763" y="2768600"/>
            <a:ext cx="2287587" cy="1371600"/>
            <a:chOff x="2555776" y="3012095"/>
            <a:chExt cx="1985152" cy="1586535"/>
          </a:xfrm>
        </p:grpSpPr>
        <p:sp>
          <p:nvSpPr>
            <p:cNvPr id="36910" name="矩形 12"/>
            <p:cNvSpPr/>
            <p:nvPr/>
          </p:nvSpPr>
          <p:spPr>
            <a:xfrm>
              <a:off x="2555776" y="3012095"/>
              <a:ext cx="1985152"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b="1" dirty="0">
                  <a:latin typeface="Verdana" panose="020B0604030504040204" pitchFamily="34" charset="0"/>
                </a:rPr>
                <a:t>1</a:t>
              </a:r>
              <a:r>
                <a:rPr lang="zh-CN" altLang="en-US" b="1" dirty="0">
                  <a:latin typeface="Verdana" panose="020B0604030504040204" pitchFamily="34" charset="0"/>
                </a:rPr>
                <a:t>维图（</a:t>
              </a:r>
              <a:r>
                <a:rPr lang="en-US" altLang="zh-CN" b="1" dirty="0">
                  <a:latin typeface="Verdana" panose="020B0604030504040204" pitchFamily="34" charset="0"/>
                </a:rPr>
                <a:t>abstract</a:t>
              </a:r>
              <a:r>
                <a:rPr lang="zh-CN" altLang="en-US" b="1" dirty="0">
                  <a:latin typeface="Verdana" panose="020B0604030504040204" pitchFamily="34" charset="0"/>
                </a:rPr>
                <a:t>）</a:t>
              </a:r>
              <a:endParaRPr lang="zh-CN" altLang="en-US" b="1" dirty="0">
                <a:latin typeface="Verdana" panose="020B0604030504040204" pitchFamily="34" charset="0"/>
              </a:endParaRPr>
            </a:p>
          </p:txBody>
        </p:sp>
        <p:sp>
          <p:nvSpPr>
            <p:cNvPr id="36911" name="矩形 13"/>
            <p:cNvSpPr/>
            <p:nvPr/>
          </p:nvSpPr>
          <p:spPr>
            <a:xfrm>
              <a:off x="2566715" y="3423328"/>
              <a:ext cx="1963274" cy="47421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定位：</a:t>
              </a:r>
              <a:r>
                <a:rPr lang="en-US" altLang="zh-CN" sz="1400" b="1" dirty="0">
                  <a:latin typeface="Verdana" panose="020B0604030504040204" pitchFamily="34" charset="0"/>
                </a:rPr>
                <a:t>real</a:t>
              </a:r>
              <a:endParaRPr lang="zh-CN" altLang="en-US" sz="1400" b="1" dirty="0">
                <a:latin typeface="Verdana" panose="020B0604030504040204" pitchFamily="34" charset="0"/>
              </a:endParaRPr>
            </a:p>
          </p:txBody>
        </p:sp>
        <p:sp>
          <p:nvSpPr>
            <p:cNvPr id="36912" name="矩形 14"/>
            <p:cNvSpPr/>
            <p:nvPr/>
          </p:nvSpPr>
          <p:spPr>
            <a:xfrm>
              <a:off x="2555776" y="3897539"/>
              <a:ext cx="1961433" cy="70109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缩放（ ）</a:t>
              </a:r>
              <a:endParaRPr lang="zh-CN" altLang="en-US" sz="1400" b="1" dirty="0">
                <a:latin typeface="Verdana" panose="020B0604030504040204" pitchFamily="34" charset="0"/>
              </a:endParaRPr>
            </a:p>
          </p:txBody>
        </p:sp>
      </p:grpSp>
      <p:grpSp>
        <p:nvGrpSpPr>
          <p:cNvPr id="36870" name="组合 16"/>
          <p:cNvGrpSpPr/>
          <p:nvPr/>
        </p:nvGrpSpPr>
        <p:grpSpPr>
          <a:xfrm>
            <a:off x="5862638" y="2754313"/>
            <a:ext cx="2374900" cy="1449387"/>
            <a:chOff x="2555776" y="3012095"/>
            <a:chExt cx="1985152" cy="1586535"/>
          </a:xfrm>
        </p:grpSpPr>
        <p:sp>
          <p:nvSpPr>
            <p:cNvPr id="36907" name="矩形 17"/>
            <p:cNvSpPr/>
            <p:nvPr/>
          </p:nvSpPr>
          <p:spPr>
            <a:xfrm>
              <a:off x="2555776" y="3012095"/>
              <a:ext cx="1985152"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b="1" dirty="0">
                  <a:latin typeface="Verdana" panose="020B0604030504040204" pitchFamily="34" charset="0"/>
                </a:rPr>
                <a:t>2</a:t>
              </a:r>
              <a:r>
                <a:rPr lang="zh-CN" altLang="en-US" b="1" dirty="0">
                  <a:latin typeface="Verdana" panose="020B0604030504040204" pitchFamily="34" charset="0"/>
                </a:rPr>
                <a:t>维图（</a:t>
              </a:r>
              <a:r>
                <a:rPr lang="en-US" altLang="zh-CN" b="1" dirty="0">
                  <a:latin typeface="Verdana" panose="020B0604030504040204" pitchFamily="34" charset="0"/>
                </a:rPr>
                <a:t>abstract</a:t>
              </a:r>
              <a:r>
                <a:rPr lang="zh-CN" altLang="en-US" b="1" dirty="0">
                  <a:latin typeface="Verdana" panose="020B0604030504040204" pitchFamily="34" charset="0"/>
                </a:rPr>
                <a:t>）</a:t>
              </a:r>
              <a:endParaRPr lang="zh-CN" altLang="en-US" b="1" dirty="0">
                <a:latin typeface="Verdana" panose="020B0604030504040204" pitchFamily="34" charset="0"/>
              </a:endParaRPr>
            </a:p>
          </p:txBody>
        </p:sp>
        <p:sp>
          <p:nvSpPr>
            <p:cNvPr id="36908" name="矩形 18"/>
            <p:cNvSpPr/>
            <p:nvPr/>
          </p:nvSpPr>
          <p:spPr>
            <a:xfrm>
              <a:off x="2566715" y="3423328"/>
              <a:ext cx="1963274" cy="47421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定位：</a:t>
              </a:r>
              <a:r>
                <a:rPr lang="en-US" altLang="zh-CN" sz="1400" b="1" dirty="0">
                  <a:latin typeface="Verdana" panose="020B0604030504040204" pitchFamily="34" charset="0"/>
                </a:rPr>
                <a:t>real</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填充颜色：</a:t>
              </a:r>
              <a:r>
                <a:rPr lang="en-US" altLang="zh-CN" sz="1400" b="1" dirty="0">
                  <a:latin typeface="Verdana" panose="020B0604030504040204" pitchFamily="34" charset="0"/>
                </a:rPr>
                <a:t>integer</a:t>
              </a:r>
              <a:endParaRPr lang="zh-CN" altLang="en-US" sz="1400" b="1" dirty="0">
                <a:latin typeface="Verdana" panose="020B0604030504040204" pitchFamily="34" charset="0"/>
              </a:endParaRPr>
            </a:p>
          </p:txBody>
        </p:sp>
        <p:sp>
          <p:nvSpPr>
            <p:cNvPr id="36909" name="矩形 19"/>
            <p:cNvSpPr/>
            <p:nvPr/>
          </p:nvSpPr>
          <p:spPr>
            <a:xfrm>
              <a:off x="2555776" y="3897539"/>
              <a:ext cx="1961433" cy="70109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缩放（ ）</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填满（ ）</a:t>
              </a:r>
              <a:endParaRPr lang="zh-CN" altLang="en-US" sz="1400" b="1" dirty="0">
                <a:latin typeface="Verdana" panose="020B0604030504040204" pitchFamily="34" charset="0"/>
              </a:endParaRPr>
            </a:p>
          </p:txBody>
        </p:sp>
      </p:grpSp>
      <p:grpSp>
        <p:nvGrpSpPr>
          <p:cNvPr id="36871" name="组合 20"/>
          <p:cNvGrpSpPr/>
          <p:nvPr/>
        </p:nvGrpSpPr>
        <p:grpSpPr>
          <a:xfrm>
            <a:off x="741363" y="4727575"/>
            <a:ext cx="809625" cy="1295400"/>
            <a:chOff x="5040050" y="832839"/>
            <a:chExt cx="2027830" cy="1296677"/>
          </a:xfrm>
        </p:grpSpPr>
        <p:sp>
          <p:nvSpPr>
            <p:cNvPr id="36904" name="矩形 21"/>
            <p:cNvSpPr/>
            <p:nvPr/>
          </p:nvSpPr>
          <p:spPr>
            <a:xfrm>
              <a:off x="5040050" y="832839"/>
              <a:ext cx="2027830"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b="1" dirty="0">
                  <a:latin typeface="Verdana" panose="020B0604030504040204" pitchFamily="34" charset="0"/>
                </a:rPr>
                <a:t>点</a:t>
              </a:r>
              <a:endParaRPr lang="zh-CN" altLang="en-US" b="1" dirty="0">
                <a:latin typeface="Verdana" panose="020B0604030504040204" pitchFamily="34" charset="0"/>
              </a:endParaRPr>
            </a:p>
            <a:p>
              <a:pPr eaLnBrk="1" hangingPunct="1"/>
              <a:r>
                <a:rPr lang="zh-CN" altLang="en-US" b="1" dirty="0">
                  <a:latin typeface="Verdana" panose="020B0604030504040204" pitchFamily="34" charset="0"/>
                </a:rPr>
                <a:t>      </a:t>
              </a:r>
              <a:endParaRPr lang="zh-CN" altLang="en-US" b="1" dirty="0">
                <a:latin typeface="Verdana" panose="020B0604030504040204" pitchFamily="34" charset="0"/>
              </a:endParaRPr>
            </a:p>
          </p:txBody>
        </p:sp>
        <p:sp>
          <p:nvSpPr>
            <p:cNvPr id="36905" name="矩形 22"/>
            <p:cNvSpPr/>
            <p:nvPr/>
          </p:nvSpPr>
          <p:spPr>
            <a:xfrm>
              <a:off x="5051224" y="1244072"/>
              <a:ext cx="2005482" cy="47421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sz="1400" b="1" dirty="0">
                <a:latin typeface="Verdana" panose="020B0604030504040204" pitchFamily="34" charset="0"/>
              </a:endParaRPr>
            </a:p>
          </p:txBody>
        </p:sp>
        <p:sp>
          <p:nvSpPr>
            <p:cNvPr id="36906" name="矩形 23"/>
            <p:cNvSpPr/>
            <p:nvPr/>
          </p:nvSpPr>
          <p:spPr>
            <a:xfrm>
              <a:off x="5040050" y="1718283"/>
              <a:ext cx="2016655" cy="41123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显示（ ）</a:t>
              </a:r>
              <a:endParaRPr lang="zh-CN" altLang="en-US" sz="1400" b="1" dirty="0">
                <a:latin typeface="Verdana" panose="020B0604030504040204" pitchFamily="34" charset="0"/>
              </a:endParaRPr>
            </a:p>
            <a:p>
              <a:pPr eaLnBrk="1" hangingPunct="1"/>
              <a:endParaRPr lang="zh-CN" altLang="en-US" sz="1400" b="1" dirty="0">
                <a:latin typeface="Verdana" panose="020B0604030504040204" pitchFamily="34" charset="0"/>
              </a:endParaRPr>
            </a:p>
          </p:txBody>
        </p:sp>
      </p:grpSp>
      <p:grpSp>
        <p:nvGrpSpPr>
          <p:cNvPr id="36872" name="组合 24"/>
          <p:cNvGrpSpPr/>
          <p:nvPr/>
        </p:nvGrpSpPr>
        <p:grpSpPr>
          <a:xfrm>
            <a:off x="2555875" y="5006975"/>
            <a:ext cx="1249363" cy="1296988"/>
            <a:chOff x="2555776" y="3012095"/>
            <a:chExt cx="1985152" cy="1296677"/>
          </a:xfrm>
        </p:grpSpPr>
        <p:sp>
          <p:nvSpPr>
            <p:cNvPr id="36901" name="矩形 25"/>
            <p:cNvSpPr/>
            <p:nvPr/>
          </p:nvSpPr>
          <p:spPr>
            <a:xfrm>
              <a:off x="2555776" y="3012095"/>
              <a:ext cx="1985152"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b="1" dirty="0">
                  <a:latin typeface="Verdana" panose="020B0604030504040204" pitchFamily="34" charset="0"/>
                </a:rPr>
                <a:t>线</a:t>
              </a:r>
              <a:endParaRPr lang="zh-CN" altLang="en-US" b="1" dirty="0">
                <a:latin typeface="Verdana" panose="020B0604030504040204" pitchFamily="34" charset="0"/>
              </a:endParaRPr>
            </a:p>
          </p:txBody>
        </p:sp>
        <p:sp>
          <p:nvSpPr>
            <p:cNvPr id="36902" name="矩形 26"/>
            <p:cNvSpPr/>
            <p:nvPr/>
          </p:nvSpPr>
          <p:spPr>
            <a:xfrm>
              <a:off x="2566718" y="3423328"/>
              <a:ext cx="1950493" cy="47421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起点：</a:t>
              </a:r>
              <a:r>
                <a:rPr lang="en-US" altLang="zh-CN" sz="1400" b="1" dirty="0">
                  <a:latin typeface="Verdana" panose="020B0604030504040204" pitchFamily="34" charset="0"/>
                </a:rPr>
                <a:t>real</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终点：</a:t>
              </a:r>
              <a:r>
                <a:rPr lang="en-US" altLang="zh-CN" sz="1400" b="1" dirty="0">
                  <a:latin typeface="Verdana" panose="020B0604030504040204" pitchFamily="34" charset="0"/>
                </a:rPr>
                <a:t>real</a:t>
              </a:r>
              <a:endParaRPr lang="zh-CN" altLang="en-US" sz="1400" b="1" dirty="0">
                <a:latin typeface="Verdana" panose="020B0604030504040204" pitchFamily="34" charset="0"/>
              </a:endParaRPr>
            </a:p>
          </p:txBody>
        </p:sp>
        <p:sp>
          <p:nvSpPr>
            <p:cNvPr id="36903" name="矩形 27"/>
            <p:cNvSpPr/>
            <p:nvPr/>
          </p:nvSpPr>
          <p:spPr>
            <a:xfrm>
              <a:off x="2555776" y="3897539"/>
              <a:ext cx="1961433" cy="41123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显示（ ）</a:t>
              </a:r>
              <a:endParaRPr lang="zh-CN" altLang="en-US" sz="1400" b="1" dirty="0">
                <a:latin typeface="Verdana" panose="020B0604030504040204" pitchFamily="34" charset="0"/>
              </a:endParaRPr>
            </a:p>
          </p:txBody>
        </p:sp>
      </p:grpSp>
      <p:grpSp>
        <p:nvGrpSpPr>
          <p:cNvPr id="36873" name="组合 32"/>
          <p:cNvGrpSpPr/>
          <p:nvPr/>
        </p:nvGrpSpPr>
        <p:grpSpPr>
          <a:xfrm>
            <a:off x="4090988" y="5016500"/>
            <a:ext cx="1249362" cy="1554163"/>
            <a:chOff x="2555776" y="3012095"/>
            <a:chExt cx="1985152" cy="1555046"/>
          </a:xfrm>
        </p:grpSpPr>
        <p:sp>
          <p:nvSpPr>
            <p:cNvPr id="36898" name="矩形 33"/>
            <p:cNvSpPr/>
            <p:nvPr/>
          </p:nvSpPr>
          <p:spPr>
            <a:xfrm>
              <a:off x="2555776" y="3012095"/>
              <a:ext cx="1985152"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b="1" dirty="0">
                  <a:latin typeface="Verdana" panose="020B0604030504040204" pitchFamily="34" charset="0"/>
                </a:rPr>
                <a:t>弧</a:t>
              </a:r>
              <a:endParaRPr lang="zh-CN" altLang="en-US" b="1" dirty="0">
                <a:latin typeface="Verdana" panose="020B0604030504040204" pitchFamily="34" charset="0"/>
              </a:endParaRPr>
            </a:p>
          </p:txBody>
        </p:sp>
        <p:sp>
          <p:nvSpPr>
            <p:cNvPr id="36899" name="矩形 34"/>
            <p:cNvSpPr/>
            <p:nvPr/>
          </p:nvSpPr>
          <p:spPr>
            <a:xfrm>
              <a:off x="2566718" y="3423328"/>
              <a:ext cx="1950493" cy="737937"/>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半径：</a:t>
              </a:r>
              <a:r>
                <a:rPr lang="en-US" altLang="zh-CN" sz="1400" b="1" dirty="0">
                  <a:latin typeface="Verdana" panose="020B0604030504040204" pitchFamily="34" charset="0"/>
                </a:rPr>
                <a:t>real</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起始角：</a:t>
              </a:r>
              <a:r>
                <a:rPr lang="en-US" altLang="zh-CN" sz="1400" b="1" dirty="0">
                  <a:latin typeface="Verdana" panose="020B0604030504040204" pitchFamily="34" charset="0"/>
                </a:rPr>
                <a:t>real</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弧度角：</a:t>
              </a:r>
              <a:r>
                <a:rPr lang="en-US" altLang="zh-CN" sz="1400" b="1" dirty="0">
                  <a:latin typeface="Verdana" panose="020B0604030504040204" pitchFamily="34" charset="0"/>
                </a:rPr>
                <a:t>real</a:t>
              </a:r>
              <a:endParaRPr lang="zh-CN" altLang="en-US" sz="1400" b="1" dirty="0">
                <a:latin typeface="Verdana" panose="020B0604030504040204" pitchFamily="34" charset="0"/>
              </a:endParaRPr>
            </a:p>
          </p:txBody>
        </p:sp>
        <p:sp>
          <p:nvSpPr>
            <p:cNvPr id="36900" name="矩形 35"/>
            <p:cNvSpPr/>
            <p:nvPr/>
          </p:nvSpPr>
          <p:spPr>
            <a:xfrm>
              <a:off x="2555776" y="4155908"/>
              <a:ext cx="1961433" cy="41123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显示（ ）</a:t>
              </a:r>
              <a:endParaRPr lang="zh-CN" altLang="en-US" sz="1400" b="1" dirty="0">
                <a:latin typeface="Verdana" panose="020B0604030504040204" pitchFamily="34" charset="0"/>
              </a:endParaRPr>
            </a:p>
          </p:txBody>
        </p:sp>
      </p:grpSp>
      <p:grpSp>
        <p:nvGrpSpPr>
          <p:cNvPr id="36874" name="组合 36"/>
          <p:cNvGrpSpPr/>
          <p:nvPr/>
        </p:nvGrpSpPr>
        <p:grpSpPr>
          <a:xfrm>
            <a:off x="5597525" y="4881563"/>
            <a:ext cx="1249363" cy="1555750"/>
            <a:chOff x="2555776" y="3012095"/>
            <a:chExt cx="1985152" cy="1555046"/>
          </a:xfrm>
        </p:grpSpPr>
        <p:sp>
          <p:nvSpPr>
            <p:cNvPr id="36895" name="矩形 37"/>
            <p:cNvSpPr/>
            <p:nvPr/>
          </p:nvSpPr>
          <p:spPr>
            <a:xfrm>
              <a:off x="2555776" y="3012095"/>
              <a:ext cx="1985152"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b="1" dirty="0">
                  <a:latin typeface="Verdana" panose="020B0604030504040204" pitchFamily="34" charset="0"/>
                </a:rPr>
                <a:t>多边形</a:t>
              </a:r>
              <a:endParaRPr lang="zh-CN" altLang="en-US" b="1" dirty="0">
                <a:latin typeface="Verdana" panose="020B0604030504040204" pitchFamily="34" charset="0"/>
              </a:endParaRPr>
            </a:p>
          </p:txBody>
        </p:sp>
        <p:sp>
          <p:nvSpPr>
            <p:cNvPr id="36896" name="矩形 38"/>
            <p:cNvSpPr/>
            <p:nvPr/>
          </p:nvSpPr>
          <p:spPr>
            <a:xfrm>
              <a:off x="2566718" y="3423328"/>
              <a:ext cx="1950493" cy="737937"/>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边数：</a:t>
              </a:r>
              <a:r>
                <a:rPr lang="en-US" altLang="zh-CN" sz="1400" b="1" dirty="0">
                  <a:latin typeface="Verdana" panose="020B0604030504040204" pitchFamily="34" charset="0"/>
                </a:rPr>
                <a:t>integer</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顶角：</a:t>
              </a:r>
              <a:r>
                <a:rPr lang="en-US" altLang="zh-CN" sz="1400" b="1" dirty="0">
                  <a:latin typeface="Verdana" panose="020B0604030504040204" pitchFamily="34" charset="0"/>
                </a:rPr>
                <a:t>real</a:t>
              </a:r>
              <a:endParaRPr lang="zh-CN" altLang="en-US" sz="1400" b="1" dirty="0">
                <a:latin typeface="Verdana" panose="020B0604030504040204" pitchFamily="34" charset="0"/>
              </a:endParaRPr>
            </a:p>
          </p:txBody>
        </p:sp>
        <p:sp>
          <p:nvSpPr>
            <p:cNvPr id="36897" name="矩形 39"/>
            <p:cNvSpPr/>
            <p:nvPr/>
          </p:nvSpPr>
          <p:spPr>
            <a:xfrm>
              <a:off x="2555776" y="4155908"/>
              <a:ext cx="1961433" cy="41123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显示（ ）</a:t>
              </a:r>
              <a:endParaRPr lang="zh-CN" altLang="en-US" sz="1400" b="1" dirty="0">
                <a:latin typeface="Verdana" panose="020B0604030504040204" pitchFamily="34" charset="0"/>
              </a:endParaRPr>
            </a:p>
          </p:txBody>
        </p:sp>
      </p:grpSp>
      <p:grpSp>
        <p:nvGrpSpPr>
          <p:cNvPr id="36875" name="组合 40"/>
          <p:cNvGrpSpPr/>
          <p:nvPr/>
        </p:nvGrpSpPr>
        <p:grpSpPr>
          <a:xfrm>
            <a:off x="6991350" y="4903788"/>
            <a:ext cx="1249363" cy="1554162"/>
            <a:chOff x="2555776" y="3012095"/>
            <a:chExt cx="1985152" cy="1555046"/>
          </a:xfrm>
        </p:grpSpPr>
        <p:sp>
          <p:nvSpPr>
            <p:cNvPr id="36892" name="矩形 41"/>
            <p:cNvSpPr/>
            <p:nvPr/>
          </p:nvSpPr>
          <p:spPr>
            <a:xfrm>
              <a:off x="2555776" y="3012095"/>
              <a:ext cx="1985152" cy="43271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b="1" dirty="0">
                  <a:latin typeface="Verdana" panose="020B0604030504040204" pitchFamily="34" charset="0"/>
                </a:rPr>
                <a:t>圆</a:t>
              </a:r>
              <a:endParaRPr lang="zh-CN" altLang="en-US" b="1" dirty="0">
                <a:latin typeface="Verdana" panose="020B0604030504040204" pitchFamily="34" charset="0"/>
              </a:endParaRPr>
            </a:p>
          </p:txBody>
        </p:sp>
        <p:sp>
          <p:nvSpPr>
            <p:cNvPr id="36893" name="矩形 42"/>
            <p:cNvSpPr/>
            <p:nvPr/>
          </p:nvSpPr>
          <p:spPr>
            <a:xfrm>
              <a:off x="2566718" y="3423328"/>
              <a:ext cx="1950493" cy="737937"/>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圆心：</a:t>
              </a:r>
              <a:r>
                <a:rPr lang="en-US" altLang="zh-CN" sz="1400" b="1" dirty="0">
                  <a:latin typeface="Verdana" panose="020B0604030504040204" pitchFamily="34" charset="0"/>
                </a:rPr>
                <a:t>real</a:t>
              </a:r>
              <a:endParaRPr lang="en-US" altLang="zh-CN" sz="1400" b="1" dirty="0">
                <a:latin typeface="Verdana" panose="020B0604030504040204" pitchFamily="34" charset="0"/>
              </a:endParaRPr>
            </a:p>
            <a:p>
              <a:pPr eaLnBrk="1" hangingPunct="1"/>
              <a:r>
                <a:rPr lang="zh-CN" altLang="en-US" sz="1400" b="1" dirty="0">
                  <a:latin typeface="Verdana" panose="020B0604030504040204" pitchFamily="34" charset="0"/>
                </a:rPr>
                <a:t>半径：</a:t>
              </a:r>
              <a:r>
                <a:rPr lang="en-US" altLang="zh-CN" sz="1400" b="1" dirty="0">
                  <a:latin typeface="Verdana" panose="020B0604030504040204" pitchFamily="34" charset="0"/>
                </a:rPr>
                <a:t>real</a:t>
              </a:r>
              <a:endParaRPr lang="en-US" altLang="zh-CN" sz="1400" b="1" dirty="0">
                <a:latin typeface="Verdana" panose="020B0604030504040204" pitchFamily="34" charset="0"/>
              </a:endParaRPr>
            </a:p>
          </p:txBody>
        </p:sp>
        <p:sp>
          <p:nvSpPr>
            <p:cNvPr id="36894" name="矩形 43"/>
            <p:cNvSpPr/>
            <p:nvPr/>
          </p:nvSpPr>
          <p:spPr>
            <a:xfrm>
              <a:off x="2555776" y="4155908"/>
              <a:ext cx="1961433" cy="41123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400" b="1" dirty="0">
                  <a:latin typeface="Verdana" panose="020B0604030504040204" pitchFamily="34" charset="0"/>
                </a:rPr>
                <a:t>显示（ ）</a:t>
              </a:r>
              <a:endParaRPr lang="zh-CN" altLang="en-US" sz="1400" b="1" dirty="0">
                <a:latin typeface="Verdana" panose="020B0604030504040204" pitchFamily="34" charset="0"/>
              </a:endParaRPr>
            </a:p>
          </p:txBody>
        </p:sp>
      </p:grpSp>
      <p:cxnSp>
        <p:nvCxnSpPr>
          <p:cNvPr id="36876" name="直接连接符 46"/>
          <p:cNvCxnSpPr/>
          <p:nvPr/>
        </p:nvCxnSpPr>
        <p:spPr>
          <a:xfrm>
            <a:off x="1489075" y="2420938"/>
            <a:ext cx="0" cy="315912"/>
          </a:xfrm>
          <a:prstGeom prst="line">
            <a:avLst/>
          </a:prstGeom>
          <a:ln w="9525" cap="flat" cmpd="sng">
            <a:solidFill>
              <a:schemeClr val="tx1"/>
            </a:solidFill>
            <a:prstDash val="solid"/>
            <a:headEnd type="none" w="med" len="med"/>
            <a:tailEnd type="none" w="med" len="med"/>
          </a:ln>
        </p:spPr>
      </p:cxnSp>
      <p:cxnSp>
        <p:nvCxnSpPr>
          <p:cNvPr id="36877" name="直接连接符 49"/>
          <p:cNvCxnSpPr/>
          <p:nvPr/>
        </p:nvCxnSpPr>
        <p:spPr>
          <a:xfrm>
            <a:off x="7308850" y="2438400"/>
            <a:ext cx="0" cy="315913"/>
          </a:xfrm>
          <a:prstGeom prst="line">
            <a:avLst/>
          </a:prstGeom>
          <a:ln w="9525" cap="flat" cmpd="sng">
            <a:solidFill>
              <a:schemeClr val="tx1"/>
            </a:solidFill>
            <a:prstDash val="solid"/>
            <a:headEnd type="none" w="med" len="med"/>
            <a:tailEnd type="none" w="med" len="med"/>
          </a:ln>
        </p:spPr>
      </p:cxnSp>
      <p:cxnSp>
        <p:nvCxnSpPr>
          <p:cNvPr id="36878" name="直接连接符 44"/>
          <p:cNvCxnSpPr/>
          <p:nvPr/>
        </p:nvCxnSpPr>
        <p:spPr>
          <a:xfrm>
            <a:off x="1489075" y="2420938"/>
            <a:ext cx="5819775" cy="0"/>
          </a:xfrm>
          <a:prstGeom prst="line">
            <a:avLst/>
          </a:prstGeom>
          <a:ln w="9525" cap="flat" cmpd="sng">
            <a:solidFill>
              <a:schemeClr val="tx1"/>
            </a:solidFill>
            <a:prstDash val="solid"/>
            <a:headEnd type="none" w="med" len="med"/>
            <a:tailEnd type="none" w="med" len="med"/>
          </a:ln>
        </p:spPr>
      </p:cxnSp>
      <p:sp>
        <p:nvSpPr>
          <p:cNvPr id="36879" name="下箭头 6"/>
          <p:cNvSpPr/>
          <p:nvPr/>
        </p:nvSpPr>
        <p:spPr>
          <a:xfrm flipV="1">
            <a:off x="4508500" y="2211388"/>
            <a:ext cx="207963" cy="525462"/>
          </a:xfrm>
          <a:prstGeom prst="downArrow">
            <a:avLst>
              <a:gd name="adj1" fmla="val 50000"/>
              <a:gd name="adj2" fmla="val 49914"/>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sp>
        <p:nvSpPr>
          <p:cNvPr id="36880" name="下箭头 50"/>
          <p:cNvSpPr/>
          <p:nvPr/>
        </p:nvSpPr>
        <p:spPr>
          <a:xfrm flipV="1">
            <a:off x="971550" y="4168775"/>
            <a:ext cx="152400" cy="484188"/>
          </a:xfrm>
          <a:prstGeom prst="downArrow">
            <a:avLst>
              <a:gd name="adj1" fmla="val 50000"/>
              <a:gd name="adj2" fmla="val 50230"/>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sp>
        <p:nvSpPr>
          <p:cNvPr id="36881" name="下箭头 51"/>
          <p:cNvSpPr/>
          <p:nvPr/>
        </p:nvSpPr>
        <p:spPr>
          <a:xfrm flipV="1">
            <a:off x="4259263" y="4140200"/>
            <a:ext cx="177800" cy="525463"/>
          </a:xfrm>
          <a:prstGeom prst="downArrow">
            <a:avLst>
              <a:gd name="adj1" fmla="val 50000"/>
              <a:gd name="adj2" fmla="val 50159"/>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sp>
        <p:nvSpPr>
          <p:cNvPr id="36882" name="下箭头 52"/>
          <p:cNvSpPr/>
          <p:nvPr/>
        </p:nvSpPr>
        <p:spPr>
          <a:xfrm flipV="1">
            <a:off x="7489825" y="4203700"/>
            <a:ext cx="250825" cy="427038"/>
          </a:xfrm>
          <a:prstGeom prst="downArrow">
            <a:avLst>
              <a:gd name="adj1" fmla="val 50000"/>
              <a:gd name="adj2" fmla="val 50051"/>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cxnSp>
        <p:nvCxnSpPr>
          <p:cNvPr id="36883" name="直接连接符 53"/>
          <p:cNvCxnSpPr/>
          <p:nvPr/>
        </p:nvCxnSpPr>
        <p:spPr>
          <a:xfrm flipV="1">
            <a:off x="2855913" y="4673600"/>
            <a:ext cx="2292350" cy="15875"/>
          </a:xfrm>
          <a:prstGeom prst="line">
            <a:avLst/>
          </a:prstGeom>
          <a:ln w="9525" cap="flat" cmpd="sng">
            <a:solidFill>
              <a:schemeClr val="tx1"/>
            </a:solidFill>
            <a:prstDash val="solid"/>
            <a:headEnd type="none" w="med" len="med"/>
            <a:tailEnd type="none" w="med" len="med"/>
          </a:ln>
        </p:spPr>
      </p:cxnSp>
      <p:cxnSp>
        <p:nvCxnSpPr>
          <p:cNvPr id="36884" name="直接连接符 58"/>
          <p:cNvCxnSpPr/>
          <p:nvPr/>
        </p:nvCxnSpPr>
        <p:spPr>
          <a:xfrm>
            <a:off x="2876550" y="4689475"/>
            <a:ext cx="0" cy="317500"/>
          </a:xfrm>
          <a:prstGeom prst="line">
            <a:avLst/>
          </a:prstGeom>
          <a:ln w="9525" cap="flat" cmpd="sng">
            <a:solidFill>
              <a:schemeClr val="tx1"/>
            </a:solidFill>
            <a:prstDash val="solid"/>
            <a:headEnd type="none" w="med" len="med"/>
            <a:tailEnd type="none" w="med" len="med"/>
          </a:ln>
        </p:spPr>
      </p:cxnSp>
      <p:cxnSp>
        <p:nvCxnSpPr>
          <p:cNvPr id="36885" name="直接连接符 59"/>
          <p:cNvCxnSpPr/>
          <p:nvPr/>
        </p:nvCxnSpPr>
        <p:spPr>
          <a:xfrm>
            <a:off x="5148263" y="4689475"/>
            <a:ext cx="0" cy="317500"/>
          </a:xfrm>
          <a:prstGeom prst="line">
            <a:avLst/>
          </a:prstGeom>
          <a:ln w="9525" cap="flat" cmpd="sng">
            <a:solidFill>
              <a:schemeClr val="tx1"/>
            </a:solidFill>
            <a:prstDash val="solid"/>
            <a:headEnd type="none" w="med" len="med"/>
            <a:tailEnd type="none" w="med" len="med"/>
          </a:ln>
        </p:spPr>
      </p:cxnSp>
      <p:cxnSp>
        <p:nvCxnSpPr>
          <p:cNvPr id="36886" name="直接连接符 60"/>
          <p:cNvCxnSpPr/>
          <p:nvPr/>
        </p:nvCxnSpPr>
        <p:spPr>
          <a:xfrm>
            <a:off x="5148263" y="4694238"/>
            <a:ext cx="0" cy="317500"/>
          </a:xfrm>
          <a:prstGeom prst="line">
            <a:avLst/>
          </a:prstGeom>
          <a:ln w="9525" cap="flat" cmpd="sng">
            <a:solidFill>
              <a:schemeClr val="tx1"/>
            </a:solidFill>
            <a:prstDash val="solid"/>
            <a:headEnd type="none" w="med" len="med"/>
            <a:tailEnd type="none" w="med" len="med"/>
          </a:ln>
        </p:spPr>
      </p:cxnSp>
      <p:cxnSp>
        <p:nvCxnSpPr>
          <p:cNvPr id="36887" name="直接连接符 61"/>
          <p:cNvCxnSpPr/>
          <p:nvPr/>
        </p:nvCxnSpPr>
        <p:spPr>
          <a:xfrm flipV="1">
            <a:off x="5745163" y="4616450"/>
            <a:ext cx="2292350" cy="14288"/>
          </a:xfrm>
          <a:prstGeom prst="line">
            <a:avLst/>
          </a:prstGeom>
          <a:ln w="9525" cap="flat" cmpd="sng">
            <a:solidFill>
              <a:schemeClr val="tx1"/>
            </a:solidFill>
            <a:prstDash val="solid"/>
            <a:headEnd type="none" w="med" len="med"/>
            <a:tailEnd type="none" w="med" len="med"/>
          </a:ln>
        </p:spPr>
      </p:cxnSp>
      <p:cxnSp>
        <p:nvCxnSpPr>
          <p:cNvPr id="36888" name="直接连接符 62"/>
          <p:cNvCxnSpPr/>
          <p:nvPr/>
        </p:nvCxnSpPr>
        <p:spPr>
          <a:xfrm>
            <a:off x="5765800" y="4632325"/>
            <a:ext cx="0" cy="315913"/>
          </a:xfrm>
          <a:prstGeom prst="line">
            <a:avLst/>
          </a:prstGeom>
          <a:ln w="9525" cap="flat" cmpd="sng">
            <a:solidFill>
              <a:schemeClr val="tx1"/>
            </a:solidFill>
            <a:prstDash val="solid"/>
            <a:headEnd type="none" w="med" len="med"/>
            <a:tailEnd type="none" w="med" len="med"/>
          </a:ln>
        </p:spPr>
      </p:cxnSp>
      <p:cxnSp>
        <p:nvCxnSpPr>
          <p:cNvPr id="36889" name="直接连接符 63"/>
          <p:cNvCxnSpPr/>
          <p:nvPr/>
        </p:nvCxnSpPr>
        <p:spPr>
          <a:xfrm>
            <a:off x="8037513" y="4637088"/>
            <a:ext cx="0" cy="315912"/>
          </a:xfrm>
          <a:prstGeom prst="line">
            <a:avLst/>
          </a:prstGeom>
          <a:ln w="9525" cap="flat" cmpd="sng">
            <a:solidFill>
              <a:schemeClr val="tx1"/>
            </a:solidFill>
            <a:prstDash val="solid"/>
            <a:headEnd type="none" w="med" len="med"/>
            <a:tailEnd type="none" w="med" len="med"/>
          </a:ln>
        </p:spPr>
      </p:cxnSp>
      <p:sp>
        <p:nvSpPr>
          <p:cNvPr id="36890" name="矩形 56"/>
          <p:cNvSpPr/>
          <p:nvPr/>
        </p:nvSpPr>
        <p:spPr>
          <a:xfrm>
            <a:off x="5875338" y="1341438"/>
            <a:ext cx="957262" cy="574675"/>
          </a:xfrm>
          <a:prstGeom prst="rect">
            <a:avLst/>
          </a:prstGeom>
          <a:solidFill>
            <a:schemeClr val="bg1"/>
          </a:solidFill>
          <a:ln w="9525" cap="flat" cmpd="sng">
            <a:solidFill>
              <a:schemeClr val="bg2"/>
            </a:solidFill>
            <a:prstDash val="solid"/>
            <a:round/>
            <a:headEnd type="none" w="med" len="med"/>
            <a:tailEnd type="none" w="med" len="med"/>
          </a:ln>
        </p:spPr>
        <p:txBody>
          <a:bodyPr wrap="none"/>
          <a:lstStyle/>
          <a:p>
            <a:pPr eaLnBrk="1" hangingPunct="1"/>
            <a:r>
              <a:rPr lang="en-US" altLang="zh-CN" sz="2400" b="1" dirty="0">
                <a:solidFill>
                  <a:srgbClr val="FF0000"/>
                </a:solidFill>
                <a:latin typeface="Verdana" panose="020B0604030504040204" pitchFamily="34" charset="0"/>
              </a:rPr>
              <a:t>  </a:t>
            </a:r>
            <a:r>
              <a:rPr lang="zh-CN" altLang="en-US" sz="2400" b="1" dirty="0">
                <a:solidFill>
                  <a:srgbClr val="FF0000"/>
                </a:solidFill>
                <a:latin typeface="Verdana" panose="020B0604030504040204" pitchFamily="34" charset="0"/>
              </a:rPr>
              <a:t>维数</a:t>
            </a:r>
            <a:endParaRPr lang="zh-CN" altLang="en-US" sz="2400" b="1" dirty="0">
              <a:solidFill>
                <a:srgbClr val="FF0000"/>
              </a:solidFill>
              <a:latin typeface="Verdana" panose="020B0604030504040204" pitchFamily="34" charset="0"/>
            </a:endParaRPr>
          </a:p>
        </p:txBody>
      </p:sp>
      <p:sp>
        <p:nvSpPr>
          <p:cNvPr id="36891" name="矩形 57"/>
          <p:cNvSpPr/>
          <p:nvPr/>
        </p:nvSpPr>
        <p:spPr>
          <a:xfrm>
            <a:off x="3390900" y="6664325"/>
            <a:ext cx="2384425" cy="387350"/>
          </a:xfrm>
          <a:prstGeom prst="rect">
            <a:avLst/>
          </a:prstGeom>
          <a:solidFill>
            <a:schemeClr val="bg1"/>
          </a:solidFill>
          <a:ln w="9525" cap="flat" cmpd="sng">
            <a:solidFill>
              <a:schemeClr val="bg1"/>
            </a:solidFill>
            <a:prstDash val="solid"/>
            <a:round/>
            <a:headEnd type="none" w="med" len="med"/>
            <a:tailEnd type="none" w="med" len="med"/>
          </a:ln>
        </p:spPr>
        <p:txBody>
          <a:bodyPr wrap="none"/>
          <a:lstStyle/>
          <a:p>
            <a:pPr eaLnBrk="1" hangingPunct="1"/>
            <a:r>
              <a:rPr lang="zh-CN" altLang="en-US" sz="2400" b="1" dirty="0">
                <a:solidFill>
                  <a:srgbClr val="FF0000"/>
                </a:solidFill>
                <a:latin typeface="Verdana" panose="020B0604030504040204" pitchFamily="34" charset="0"/>
              </a:rPr>
              <a:t>类的继承层次图</a:t>
            </a:r>
            <a:endParaRPr lang="zh-CN" altLang="en-US" sz="2400" b="1" dirty="0">
              <a:solidFill>
                <a:srgbClr val="FF0000"/>
              </a:solidFill>
              <a:latin typeface="Verdana" panose="020B060403050404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p:nvPr/>
        </p:nvSpPr>
        <p:spPr>
          <a:xfrm>
            <a:off x="285750" y="617855"/>
            <a:ext cx="4494530" cy="584200"/>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5.4.4  </a:t>
            </a:r>
            <a:r>
              <a:rPr lang="zh-CN" altLang="en-US" sz="3200" dirty="0">
                <a:latin typeface="黑体" panose="02010609060101010101" pitchFamily="49" charset="-122"/>
                <a:ea typeface="黑体" panose="02010609060101010101" pitchFamily="49" charset="-122"/>
              </a:rPr>
              <a:t>依赖和细化关系</a:t>
            </a:r>
            <a:endParaRPr lang="zh-CN" altLang="en-US" sz="3200" dirty="0">
              <a:latin typeface="黑体" panose="02010609060101010101" pitchFamily="49" charset="-122"/>
              <a:ea typeface="黑体" panose="02010609060101010101" pitchFamily="49" charset="-122"/>
            </a:endParaRPr>
          </a:p>
        </p:txBody>
      </p:sp>
      <p:grpSp>
        <p:nvGrpSpPr>
          <p:cNvPr id="11" name="组合 10"/>
          <p:cNvGrpSpPr/>
          <p:nvPr/>
        </p:nvGrpSpPr>
        <p:grpSpPr>
          <a:xfrm>
            <a:off x="768350" y="3284855"/>
            <a:ext cx="7180580" cy="2390775"/>
            <a:chOff x="755650" y="3644900"/>
            <a:chExt cx="7180580" cy="2390775"/>
          </a:xfrm>
        </p:grpSpPr>
        <p:sp>
          <p:nvSpPr>
            <p:cNvPr id="37893" name="矩形 3"/>
            <p:cNvSpPr/>
            <p:nvPr/>
          </p:nvSpPr>
          <p:spPr>
            <a:xfrm>
              <a:off x="755650" y="4110990"/>
              <a:ext cx="829945" cy="575945"/>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2400" b="1" dirty="0">
                  <a:latin typeface="Verdana" panose="020B0604030504040204" pitchFamily="34" charset="0"/>
                </a:rPr>
                <a:t>教师</a:t>
              </a:r>
              <a:endParaRPr lang="zh-CN" altLang="en-US" sz="2400" b="1" dirty="0">
                <a:latin typeface="Verdana" panose="020B0604030504040204" pitchFamily="34" charset="0"/>
              </a:endParaRPr>
            </a:p>
          </p:txBody>
        </p:sp>
        <p:grpSp>
          <p:nvGrpSpPr>
            <p:cNvPr id="37894" name="组合 4"/>
            <p:cNvGrpSpPr/>
            <p:nvPr/>
          </p:nvGrpSpPr>
          <p:grpSpPr>
            <a:xfrm>
              <a:off x="3203575" y="3644900"/>
              <a:ext cx="2296795" cy="1710055"/>
              <a:chOff x="3203575" y="3644900"/>
              <a:chExt cx="2296795" cy="1710055"/>
            </a:xfrm>
          </p:grpSpPr>
          <p:sp>
            <p:nvSpPr>
              <p:cNvPr id="37899" name="矩形 5"/>
              <p:cNvSpPr/>
              <p:nvPr/>
            </p:nvSpPr>
            <p:spPr>
              <a:xfrm>
                <a:off x="3203575" y="3644900"/>
                <a:ext cx="2296795" cy="466090"/>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2400" b="1" dirty="0">
                    <a:latin typeface="Verdana" panose="020B0604030504040204" pitchFamily="34" charset="0"/>
                  </a:rPr>
                  <a:t>课程表</a:t>
                </a:r>
                <a:endParaRPr lang="zh-CN" altLang="en-US" b="1" dirty="0">
                  <a:latin typeface="Verdana" panose="020B0604030504040204" pitchFamily="34" charset="0"/>
                </a:endParaRPr>
              </a:p>
            </p:txBody>
          </p:sp>
          <p:sp>
            <p:nvSpPr>
              <p:cNvPr id="37900" name="矩形 6"/>
              <p:cNvSpPr/>
              <p:nvPr/>
            </p:nvSpPr>
            <p:spPr>
              <a:xfrm>
                <a:off x="3216275" y="4088130"/>
                <a:ext cx="2271395" cy="511175"/>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sz="1400" b="1" dirty="0">
                  <a:latin typeface="Verdana" panose="020B0604030504040204" pitchFamily="34" charset="0"/>
                </a:endParaRPr>
              </a:p>
            </p:txBody>
          </p:sp>
          <p:sp>
            <p:nvSpPr>
              <p:cNvPr id="37901" name="矩形 7"/>
              <p:cNvSpPr/>
              <p:nvPr/>
            </p:nvSpPr>
            <p:spPr>
              <a:xfrm>
                <a:off x="3203575" y="4599305"/>
                <a:ext cx="2284095" cy="755650"/>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2400" b="1" dirty="0">
                    <a:latin typeface="Verdana" panose="020B0604030504040204" pitchFamily="34" charset="0"/>
                  </a:rPr>
                  <a:t>增加（课程）</a:t>
                </a:r>
                <a:endParaRPr lang="en-US" altLang="zh-CN" sz="2400" b="1" dirty="0">
                  <a:latin typeface="Verdana" panose="020B0604030504040204" pitchFamily="34" charset="0"/>
                </a:endParaRPr>
              </a:p>
              <a:p>
                <a:pPr eaLnBrk="1" hangingPunct="1"/>
                <a:r>
                  <a:rPr lang="zh-CN" altLang="en-US" sz="2400" b="1" dirty="0">
                    <a:latin typeface="Verdana" panose="020B0604030504040204" pitchFamily="34" charset="0"/>
                  </a:rPr>
                  <a:t>删除（课程）</a:t>
                </a:r>
                <a:endParaRPr lang="zh-CN" altLang="en-US" sz="2400" b="1" dirty="0">
                  <a:latin typeface="Verdana" panose="020B0604030504040204" pitchFamily="34" charset="0"/>
                </a:endParaRPr>
              </a:p>
            </p:txBody>
          </p:sp>
        </p:grpSp>
        <p:sp>
          <p:nvSpPr>
            <p:cNvPr id="37895" name="矩形 8"/>
            <p:cNvSpPr/>
            <p:nvPr/>
          </p:nvSpPr>
          <p:spPr>
            <a:xfrm>
              <a:off x="7106285" y="4088765"/>
              <a:ext cx="829945" cy="575945"/>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2400" b="1" dirty="0">
                  <a:latin typeface="Verdana" panose="020B0604030504040204" pitchFamily="34" charset="0"/>
                </a:rPr>
                <a:t>课程</a:t>
              </a:r>
              <a:endParaRPr lang="zh-CN" altLang="en-US" sz="2400" b="1" dirty="0">
                <a:latin typeface="Verdana" panose="020B0604030504040204" pitchFamily="34" charset="0"/>
              </a:endParaRPr>
            </a:p>
          </p:txBody>
        </p:sp>
        <p:cxnSp>
          <p:nvCxnSpPr>
            <p:cNvPr id="37896" name="直接箭头连接符 2"/>
            <p:cNvCxnSpPr>
              <a:stCxn id="37893" idx="3"/>
            </p:cNvCxnSpPr>
            <p:nvPr/>
          </p:nvCxnSpPr>
          <p:spPr>
            <a:xfrm>
              <a:off x="1585595" y="4399280"/>
              <a:ext cx="1617980" cy="0"/>
            </a:xfrm>
            <a:prstGeom prst="straightConnector1">
              <a:avLst/>
            </a:prstGeom>
            <a:ln w="9525" cap="flat" cmpd="sng">
              <a:solidFill>
                <a:schemeClr val="tx1"/>
              </a:solidFill>
              <a:prstDash val="sysDash"/>
              <a:headEnd type="none" w="med" len="med"/>
              <a:tailEnd type="triangle" w="med" len="med"/>
            </a:ln>
          </p:spPr>
        </p:cxnSp>
        <p:cxnSp>
          <p:nvCxnSpPr>
            <p:cNvPr id="37897" name="直接箭头连接符 11"/>
            <p:cNvCxnSpPr/>
            <p:nvPr/>
          </p:nvCxnSpPr>
          <p:spPr>
            <a:xfrm>
              <a:off x="5500370" y="4343400"/>
              <a:ext cx="1605915" cy="0"/>
            </a:xfrm>
            <a:prstGeom prst="straightConnector1">
              <a:avLst/>
            </a:prstGeom>
            <a:ln w="9525" cap="flat" cmpd="sng">
              <a:solidFill>
                <a:schemeClr val="tx1"/>
              </a:solidFill>
              <a:prstDash val="sysDash"/>
              <a:headEnd type="none" w="med" len="med"/>
              <a:tailEnd type="triangle" w="med" len="med"/>
            </a:ln>
          </p:spPr>
        </p:cxnSp>
        <p:sp>
          <p:nvSpPr>
            <p:cNvPr id="37898" name="矩形 13"/>
            <p:cNvSpPr/>
            <p:nvPr/>
          </p:nvSpPr>
          <p:spPr>
            <a:xfrm>
              <a:off x="2919095" y="5649595"/>
              <a:ext cx="3383915" cy="386080"/>
            </a:xfrm>
            <a:prstGeom prst="rect">
              <a:avLst/>
            </a:prstGeom>
            <a:solidFill>
              <a:schemeClr val="bg1"/>
            </a:solidFill>
            <a:ln w="9525" cap="flat" cmpd="sng">
              <a:solidFill>
                <a:schemeClr val="bg1"/>
              </a:solidFill>
              <a:prstDash val="solid"/>
              <a:round/>
              <a:headEnd type="none" w="med" len="med"/>
              <a:tailEnd type="none" w="med" len="med"/>
            </a:ln>
          </p:spPr>
          <p:txBody>
            <a:bodyPr wrap="none"/>
            <a:lstStyle/>
            <a:p>
              <a:pPr eaLnBrk="1" hangingPunct="1"/>
              <a:r>
                <a:rPr lang="zh-CN" altLang="en-US" sz="2400" b="1" dirty="0">
                  <a:latin typeface="Verdana" panose="020B0604030504040204" pitchFamily="34" charset="0"/>
                </a:rPr>
                <a:t>一个依赖关系的例子</a:t>
              </a:r>
              <a:endParaRPr lang="zh-CN" altLang="en-US" sz="2400" b="1" dirty="0">
                <a:latin typeface="Verdana" panose="020B0604030504040204" pitchFamily="34" charset="0"/>
              </a:endParaRPr>
            </a:p>
          </p:txBody>
        </p:sp>
      </p:grpSp>
      <p:sp>
        <p:nvSpPr>
          <p:cNvPr id="37892" name="Text Box 5"/>
          <p:cNvSpPr txBox="1"/>
          <p:nvPr/>
        </p:nvSpPr>
        <p:spPr>
          <a:xfrm>
            <a:off x="467360" y="1700530"/>
            <a:ext cx="8442960" cy="1198880"/>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lang="zh-CN" altLang="en-US" sz="2400" b="1" i="0">
                <a:latin typeface="楷体_GB2312" charset="0"/>
                <a:ea typeface="楷体_GB2312" charset="0"/>
              </a:rPr>
              <a:t>    </a:t>
            </a:r>
            <a:r>
              <a:rPr sz="2400" b="1" i="0">
                <a:solidFill>
                  <a:srgbClr val="0611F2"/>
                </a:solidFill>
                <a:latin typeface="楷体_GB2312" charset="0"/>
                <a:ea typeface="楷体_GB2312" charset="0"/>
              </a:rPr>
              <a:t>依赖是两个模型元素之间的语义连接</a:t>
            </a:r>
            <a:r>
              <a:rPr lang="zh-CN" altLang="en-US" sz="2400" b="1" i="0">
                <a:latin typeface="楷体_GB2312" charset="0"/>
                <a:ea typeface="楷体_GB2312" charset="0"/>
              </a:rPr>
              <a:t>：一个是独立的模型元素，另一个是依赖的模型元素，独立模型元素的变化会影响依赖的模型元素。如下图所示。</a:t>
            </a:r>
            <a:endParaRPr lang="ko-KR" altLang="en-US" sz="2400" b="1" i="0">
              <a:latin typeface="楷体_GB2312" charset="0"/>
              <a:ea typeface="楷体_GB2312"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3"/>
          <p:cNvSpPr txBox="1"/>
          <p:nvPr/>
        </p:nvSpPr>
        <p:spPr>
          <a:xfrm>
            <a:off x="0" y="198438"/>
            <a:ext cx="6546850" cy="579437"/>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5.4.5  </a:t>
            </a:r>
            <a:r>
              <a:rPr lang="zh-CN" altLang="en-US" sz="3200" dirty="0">
                <a:latin typeface="黑体" panose="02010609060101010101" pitchFamily="49" charset="-122"/>
                <a:ea typeface="黑体" panose="02010609060101010101" pitchFamily="49" charset="-122"/>
              </a:rPr>
              <a:t>对象设计模式（</a:t>
            </a:r>
            <a:r>
              <a:rPr lang="en-US" altLang="zh-CN" sz="3200" dirty="0">
                <a:latin typeface="黑体" panose="02010609060101010101" pitchFamily="49" charset="-122"/>
                <a:ea typeface="黑体" panose="02010609060101010101" pitchFamily="49" charset="-122"/>
              </a:rPr>
              <a:t>pattern</a:t>
            </a:r>
            <a:r>
              <a:rPr lang="zh-CN" altLang="en-US" sz="3200" dirty="0">
                <a:latin typeface="黑体" panose="02010609060101010101" pitchFamily="49" charset="-122"/>
                <a:ea typeface="黑体" panose="02010609060101010101" pitchFamily="49" charset="-122"/>
              </a:rPr>
              <a:t>）</a:t>
            </a:r>
            <a:endParaRPr lang="zh-CN" altLang="en-US" sz="3200" dirty="0">
              <a:latin typeface="黑体" panose="02010609060101010101" pitchFamily="49" charset="-122"/>
              <a:ea typeface="黑体" panose="02010609060101010101" pitchFamily="49" charset="-122"/>
            </a:endParaRPr>
          </a:p>
        </p:txBody>
      </p:sp>
      <p:sp>
        <p:nvSpPr>
          <p:cNvPr id="38915" name="Text Box 4"/>
          <p:cNvSpPr txBox="1"/>
          <p:nvPr/>
        </p:nvSpPr>
        <p:spPr>
          <a:xfrm>
            <a:off x="468313" y="1166813"/>
            <a:ext cx="7991475" cy="1631950"/>
          </a:xfrm>
          <a:prstGeom prst="rect">
            <a:avLst/>
          </a:prstGeom>
          <a:solidFill>
            <a:schemeClr val="bg1"/>
          </a:solidFill>
          <a:ln w="9525">
            <a:noFill/>
          </a:ln>
        </p:spPr>
        <p:txBody>
          <a:bodyPr>
            <a:spAutoFit/>
          </a:bodyPr>
          <a:lstStyle/>
          <a:p>
            <a:pPr eaLnBrk="1" hangingPunct="1">
              <a:buFont typeface="Arial" panose="020B0604020202020204" pitchFamily="34" charset="0"/>
            </a:pPr>
            <a:r>
              <a:rPr lang="zh-CN" altLang="en-US" sz="2800" b="1" dirty="0">
                <a:latin typeface="黑体" panose="02010609060101010101" pitchFamily="49" charset="-122"/>
                <a:ea typeface="黑体" panose="02010609060101010101" pitchFamily="49" charset="-122"/>
              </a:rPr>
              <a:t>    </a:t>
            </a:r>
            <a:r>
              <a:rPr lang="zh-CN" altLang="en-US" sz="2400" b="1" dirty="0">
                <a:latin typeface="楷体_GB2312" pitchFamily="49" charset="-122"/>
                <a:ea typeface="楷体_GB2312" pitchFamily="49" charset="-122"/>
              </a:rPr>
              <a:t>在面向对象软件开发项目的系统设计中，总有一些只包含少数几个对象的设计模块在设计图中反复出现，这些模块频繁地出现在各种更大更复杂的系统设计中，我们把这种模块称为</a:t>
            </a:r>
            <a:r>
              <a:rPr lang="zh-CN" altLang="en-US" sz="2400" b="1" dirty="0">
                <a:solidFill>
                  <a:srgbClr val="FF0000"/>
                </a:solidFill>
                <a:latin typeface="Times New Roman" panose="02020603050405020304" pitchFamily="18" charset="0"/>
                <a:ea typeface="楷体_GB2312" pitchFamily="49" charset="-122"/>
              </a:rPr>
              <a:t>“</a:t>
            </a:r>
            <a:r>
              <a:rPr lang="zh-CN" altLang="en-US" sz="2400" b="1" dirty="0">
                <a:solidFill>
                  <a:srgbClr val="FF0000"/>
                </a:solidFill>
                <a:latin typeface="楷体_GB2312" pitchFamily="49" charset="-122"/>
                <a:ea typeface="楷体_GB2312" pitchFamily="49" charset="-122"/>
              </a:rPr>
              <a:t>设计模式</a:t>
            </a:r>
            <a:r>
              <a:rPr lang="zh-CN" altLang="en-US" sz="2400" b="1" dirty="0">
                <a:solidFill>
                  <a:srgbClr val="FF0000"/>
                </a:solidFill>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sp>
        <p:nvSpPr>
          <p:cNvPr id="38916" name="Text Box 5"/>
          <p:cNvSpPr txBox="1"/>
          <p:nvPr/>
        </p:nvSpPr>
        <p:spPr>
          <a:xfrm>
            <a:off x="611188" y="2981325"/>
            <a:ext cx="3765550" cy="519113"/>
          </a:xfrm>
          <a:prstGeom prst="rect">
            <a:avLst/>
          </a:prstGeom>
          <a:noFill/>
          <a:ln w="9525">
            <a:noFill/>
          </a:ln>
        </p:spPr>
        <p:txBody>
          <a:bodyPr>
            <a:spAutoFit/>
          </a:bodyPr>
          <a:lstStyle/>
          <a:p>
            <a:pPr eaLnBrk="1" hangingPunct="1">
              <a:buFont typeface="Arial" panose="020B0604020202020204" pitchFamily="34" charset="0"/>
            </a:pP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．设计模式的特征</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38917" name="Text Box 6"/>
          <p:cNvSpPr txBox="1"/>
          <p:nvPr/>
        </p:nvSpPr>
        <p:spPr>
          <a:xfrm>
            <a:off x="323850" y="3676650"/>
            <a:ext cx="9150350" cy="2197100"/>
          </a:xfrm>
          <a:prstGeom prst="rect">
            <a:avLst/>
          </a:prstGeom>
          <a:noFill/>
          <a:ln w="9525">
            <a:noFill/>
          </a:ln>
        </p:spPr>
        <p:txBody>
          <a:bodyPr wrap="none">
            <a:spAutoFit/>
          </a:bodyPr>
          <a:lstStyle/>
          <a:p>
            <a:pPr eaLnBrk="1" hangingPunct="1">
              <a:lnSpc>
                <a:spcPct val="114000"/>
              </a:lnSpc>
              <a:buFont typeface="Wingdings" panose="05000000000000000000" pitchFamily="2" charset="2"/>
              <a:buChar char="u"/>
            </a:pPr>
            <a:r>
              <a:rPr lang="zh-CN" altLang="en-US" sz="2400" b="1" dirty="0">
                <a:solidFill>
                  <a:srgbClr val="FF0000"/>
                </a:solidFill>
                <a:latin typeface="Arial" panose="020B0604020202020204" pitchFamily="34" charset="0"/>
                <a:ea typeface="黑体" panose="02010609060101010101" pitchFamily="49" charset="-122"/>
              </a:rPr>
              <a:t>简单性</a:t>
            </a:r>
            <a:r>
              <a:rPr lang="zh-CN" altLang="en-US" sz="2400" b="1" dirty="0">
                <a:latin typeface="Arial" panose="020B0604020202020204" pitchFamily="34" charset="0"/>
                <a:ea typeface="黑体" panose="02010609060101010101" pitchFamily="49" charset="-122"/>
              </a:rPr>
              <a:t>：</a:t>
            </a:r>
            <a:r>
              <a:rPr lang="zh-CN" altLang="en-US" sz="2400" b="1" dirty="0">
                <a:latin typeface="Arial" panose="020B0604020202020204" pitchFamily="34" charset="0"/>
                <a:ea typeface="楷体_GB2312" pitchFamily="49" charset="-122"/>
              </a:rPr>
              <a:t>只包含少数几个类；</a:t>
            </a:r>
            <a:endParaRPr lang="zh-CN" altLang="en-US" sz="2400" b="1" dirty="0">
              <a:latin typeface="Arial" panose="020B0604020202020204" pitchFamily="34" charset="0"/>
              <a:ea typeface="楷体_GB2312" pitchFamily="49" charset="-122"/>
            </a:endParaRPr>
          </a:p>
          <a:p>
            <a:pPr eaLnBrk="1" hangingPunct="1">
              <a:lnSpc>
                <a:spcPct val="114000"/>
              </a:lnSpc>
              <a:buFont typeface="Wingdings" panose="05000000000000000000" pitchFamily="2" charset="2"/>
              <a:buChar char="u"/>
            </a:pPr>
            <a:r>
              <a:rPr lang="zh-CN" altLang="en-US" sz="2400" b="1" dirty="0">
                <a:solidFill>
                  <a:srgbClr val="FF0000"/>
                </a:solidFill>
                <a:latin typeface="Arial" panose="020B0604020202020204" pitchFamily="34" charset="0"/>
                <a:ea typeface="黑体" panose="02010609060101010101" pitchFamily="49" charset="-122"/>
              </a:rPr>
              <a:t>灵巧性</a:t>
            </a:r>
            <a:r>
              <a:rPr lang="zh-CN" altLang="en-US" sz="2400" b="1" dirty="0">
                <a:latin typeface="Arial" panose="020B0604020202020204" pitchFamily="34" charset="0"/>
                <a:ea typeface="黑体" panose="02010609060101010101" pitchFamily="49" charset="-122"/>
              </a:rPr>
              <a:t>：</a:t>
            </a:r>
            <a:r>
              <a:rPr lang="zh-CN" altLang="en-US" sz="2400" b="1" dirty="0">
                <a:latin typeface="Arial" panose="020B0604020202020204" pitchFamily="34" charset="0"/>
                <a:ea typeface="楷体_GB2312" pitchFamily="49" charset="-122"/>
              </a:rPr>
              <a:t>精巧并能解决实际问题；</a:t>
            </a:r>
            <a:endParaRPr lang="zh-CN" altLang="en-US" sz="2400" b="1" dirty="0">
              <a:latin typeface="Arial" panose="020B0604020202020204" pitchFamily="34" charset="0"/>
              <a:ea typeface="楷体_GB2312" pitchFamily="49" charset="-122"/>
            </a:endParaRPr>
          </a:p>
          <a:p>
            <a:pPr eaLnBrk="1" hangingPunct="1">
              <a:lnSpc>
                <a:spcPct val="114000"/>
              </a:lnSpc>
              <a:buFont typeface="Wingdings" panose="05000000000000000000" pitchFamily="2" charset="2"/>
              <a:buChar char="u"/>
            </a:pPr>
            <a:r>
              <a:rPr lang="zh-CN" altLang="en-US" sz="2400" b="1" dirty="0">
                <a:solidFill>
                  <a:srgbClr val="FF0000"/>
                </a:solidFill>
                <a:latin typeface="Arial" panose="020B0604020202020204" pitchFamily="34" charset="0"/>
                <a:ea typeface="黑体" panose="02010609060101010101" pitchFamily="49" charset="-122"/>
              </a:rPr>
              <a:t>验证性</a:t>
            </a:r>
            <a:r>
              <a:rPr lang="zh-CN" altLang="en-US" sz="2400" b="1" dirty="0">
                <a:latin typeface="Arial" panose="020B0604020202020204" pitchFamily="34" charset="0"/>
                <a:ea typeface="黑体" panose="02010609060101010101" pitchFamily="49" charset="-122"/>
              </a:rPr>
              <a:t>：</a:t>
            </a:r>
            <a:r>
              <a:rPr lang="zh-CN" altLang="en-US" sz="2400" b="1" dirty="0">
                <a:latin typeface="Arial" panose="020B0604020202020204" pitchFamily="34" charset="0"/>
                <a:ea typeface="楷体_GB2312" pitchFamily="49" charset="-122"/>
              </a:rPr>
              <a:t>已经在若干个实际运行的系统中成功地完成测试验证；</a:t>
            </a:r>
            <a:endParaRPr lang="zh-CN" altLang="en-US" sz="2400" b="1" dirty="0">
              <a:latin typeface="Arial" panose="020B0604020202020204" pitchFamily="34" charset="0"/>
              <a:ea typeface="楷体_GB2312" pitchFamily="49" charset="-122"/>
            </a:endParaRPr>
          </a:p>
          <a:p>
            <a:pPr eaLnBrk="1" hangingPunct="1">
              <a:lnSpc>
                <a:spcPct val="114000"/>
              </a:lnSpc>
              <a:buFont typeface="Wingdings" panose="05000000000000000000" pitchFamily="2" charset="2"/>
              <a:buChar char="u"/>
            </a:pPr>
            <a:r>
              <a:rPr lang="zh-CN" altLang="en-US" sz="2400" b="1" dirty="0">
                <a:solidFill>
                  <a:srgbClr val="FF0000"/>
                </a:solidFill>
                <a:latin typeface="Arial" panose="020B0604020202020204" pitchFamily="34" charset="0"/>
                <a:ea typeface="黑体" panose="02010609060101010101" pitchFamily="49" charset="-122"/>
              </a:rPr>
              <a:t>通用性</a:t>
            </a:r>
            <a:r>
              <a:rPr lang="zh-CN" altLang="en-US" sz="2400" b="1" dirty="0">
                <a:latin typeface="Arial" panose="020B0604020202020204" pitchFamily="34" charset="0"/>
                <a:ea typeface="黑体" panose="02010609060101010101" pitchFamily="49" charset="-122"/>
              </a:rPr>
              <a:t>：</a:t>
            </a:r>
            <a:r>
              <a:rPr lang="zh-CN" altLang="en-US" sz="2400" b="1" dirty="0">
                <a:latin typeface="Arial" panose="020B0604020202020204" pitchFamily="34" charset="0"/>
                <a:ea typeface="楷体_GB2312" pitchFamily="49" charset="-122"/>
              </a:rPr>
              <a:t>在各种系统设计中可以解决同类问题；</a:t>
            </a:r>
            <a:endParaRPr lang="zh-CN" altLang="en-US" sz="2400" b="1" dirty="0">
              <a:latin typeface="Arial" panose="020B0604020202020204" pitchFamily="34" charset="0"/>
              <a:ea typeface="楷体_GB2312" pitchFamily="49" charset="-122"/>
            </a:endParaRPr>
          </a:p>
          <a:p>
            <a:pPr eaLnBrk="1" hangingPunct="1">
              <a:lnSpc>
                <a:spcPct val="114000"/>
              </a:lnSpc>
              <a:buFont typeface="Wingdings" panose="05000000000000000000" pitchFamily="2" charset="2"/>
              <a:buChar char="u"/>
            </a:pPr>
            <a:r>
              <a:rPr lang="zh-CN" altLang="en-US" sz="2400" b="1" dirty="0">
                <a:solidFill>
                  <a:srgbClr val="FF0000"/>
                </a:solidFill>
                <a:latin typeface="Arial" panose="020B0604020202020204" pitchFamily="34" charset="0"/>
                <a:ea typeface="黑体" panose="02010609060101010101" pitchFamily="49" charset="-122"/>
              </a:rPr>
              <a:t>复用性</a:t>
            </a:r>
            <a:r>
              <a:rPr lang="zh-CN" altLang="en-US" sz="2400" b="1" dirty="0">
                <a:latin typeface="Arial" panose="020B0604020202020204" pitchFamily="34" charset="0"/>
                <a:ea typeface="黑体" panose="02010609060101010101" pitchFamily="49" charset="-122"/>
              </a:rPr>
              <a:t>：</a:t>
            </a:r>
            <a:r>
              <a:rPr lang="zh-CN" altLang="en-US" sz="2400" b="1" dirty="0">
                <a:latin typeface="Arial" panose="020B0604020202020204" pitchFamily="34" charset="0"/>
                <a:ea typeface="楷体_GB2312" pitchFamily="49" charset="-122"/>
              </a:rPr>
              <a:t>可在各种系统的各个层次的系统设计中反复使用。</a:t>
            </a:r>
            <a:endParaRPr lang="zh-CN" altLang="en-US" sz="2400" b="1" dirty="0">
              <a:latin typeface="Arial" panose="020B0604020202020204" pitchFamily="34" charset="0"/>
              <a:ea typeface="楷体_GB2312"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3"/>
          <p:cNvSpPr txBox="1"/>
          <p:nvPr/>
        </p:nvSpPr>
        <p:spPr>
          <a:xfrm>
            <a:off x="107950" y="333375"/>
            <a:ext cx="6546850" cy="579438"/>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5.4.5  </a:t>
            </a:r>
            <a:r>
              <a:rPr lang="zh-CN" altLang="en-US" sz="3200" dirty="0">
                <a:latin typeface="黑体" panose="02010609060101010101" pitchFamily="49" charset="-122"/>
                <a:ea typeface="黑体" panose="02010609060101010101" pitchFamily="49" charset="-122"/>
              </a:rPr>
              <a:t>对象设计模式（</a:t>
            </a:r>
            <a:r>
              <a:rPr lang="en-US" altLang="zh-CN" sz="3200" dirty="0">
                <a:latin typeface="黑体" panose="02010609060101010101" pitchFamily="49" charset="-122"/>
                <a:ea typeface="黑体" panose="02010609060101010101" pitchFamily="49" charset="-122"/>
              </a:rPr>
              <a:t>pattern</a:t>
            </a:r>
            <a:r>
              <a:rPr lang="zh-CN" altLang="en-US" sz="3200" dirty="0">
                <a:latin typeface="黑体" panose="02010609060101010101" pitchFamily="49" charset="-122"/>
                <a:ea typeface="黑体" panose="02010609060101010101" pitchFamily="49" charset="-122"/>
              </a:rPr>
              <a:t>）</a:t>
            </a:r>
            <a:endParaRPr lang="zh-CN" altLang="en-US" sz="3200" dirty="0">
              <a:latin typeface="黑体" panose="02010609060101010101" pitchFamily="49" charset="-122"/>
              <a:ea typeface="黑体" panose="02010609060101010101" pitchFamily="49" charset="-122"/>
            </a:endParaRPr>
          </a:p>
        </p:txBody>
      </p:sp>
      <p:sp>
        <p:nvSpPr>
          <p:cNvPr id="39939" name="Text Box 4"/>
          <p:cNvSpPr txBox="1"/>
          <p:nvPr/>
        </p:nvSpPr>
        <p:spPr>
          <a:xfrm>
            <a:off x="611188" y="2132330"/>
            <a:ext cx="7991475" cy="2092325"/>
          </a:xfrm>
          <a:prstGeom prst="rect">
            <a:avLst/>
          </a:prstGeom>
          <a:solidFill>
            <a:schemeClr val="bg1"/>
          </a:solidFill>
          <a:ln w="9525">
            <a:noFill/>
          </a:ln>
        </p:spPr>
        <p:txBody>
          <a:bodyPr>
            <a:spAutoFit/>
          </a:bodyPr>
          <a:lstStyle/>
          <a:p>
            <a:pPr eaLnBrk="1" hangingPunct="1">
              <a:lnSpc>
                <a:spcPct val="130000"/>
              </a:lnSpc>
              <a:spcBef>
                <a:spcPts val="600"/>
              </a:spcBef>
              <a:buFont typeface="Arial" panose="020B0604020202020204" pitchFamily="34" charset="0"/>
            </a:pPr>
            <a:r>
              <a:rPr lang="zh-CN" altLang="en-US" sz="2800" b="1" dirty="0">
                <a:latin typeface="黑体" panose="02010609060101010101" pitchFamily="49" charset="-122"/>
                <a:ea typeface="黑体" panose="02010609060101010101" pitchFamily="49" charset="-122"/>
              </a:rPr>
              <a:t>    </a:t>
            </a:r>
            <a:r>
              <a:rPr lang="zh-CN" altLang="en-US" sz="2400" b="1" dirty="0">
                <a:latin typeface="楷体_GB2312" pitchFamily="49" charset="-122"/>
                <a:ea typeface="楷体_GB2312" pitchFamily="49" charset="-122"/>
              </a:rPr>
              <a:t>一个通用的</a:t>
            </a:r>
            <a:r>
              <a:rPr lang="zh-CN" altLang="en-US" sz="2400" b="1" dirty="0">
                <a:solidFill>
                  <a:srgbClr val="FF0000"/>
                </a:solidFill>
                <a:latin typeface="楷体_GB2312" pitchFamily="49" charset="-122"/>
                <a:ea typeface="楷体_GB2312" pitchFamily="49" charset="-122"/>
              </a:rPr>
              <a:t>设计模式</a:t>
            </a:r>
            <a:r>
              <a:rPr lang="zh-CN" altLang="en-US" sz="2400" b="1" dirty="0">
                <a:latin typeface="楷体_GB2312" pitchFamily="49" charset="-122"/>
                <a:ea typeface="楷体_GB2312" pitchFamily="49" charset="-122"/>
              </a:rPr>
              <a:t>用问题描述说明其使用范围和拟解决的问题，用类和对象来描述问题的解决办法。一个面向对象的软件开发者掌握了设计模式的精髓，利用模式进行系统设计，就可以达到事半功倍的效果。</a:t>
            </a:r>
            <a:endParaRPr lang="zh-CN" altLang="en-US" sz="2400" b="1" dirty="0">
              <a:latin typeface="楷体_GB2312" pitchFamily="49" charset="-122"/>
              <a:ea typeface="楷体_GB2312"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p:nvPr/>
        </p:nvSpPr>
        <p:spPr>
          <a:xfrm>
            <a:off x="9525" y="1588"/>
            <a:ext cx="4718050" cy="579437"/>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2</a:t>
            </a:r>
            <a:r>
              <a:rPr lang="zh-CN" altLang="en-US" sz="3200" dirty="0">
                <a:latin typeface="黑体" panose="02010609060101010101" pitchFamily="49" charset="-122"/>
                <a:ea typeface="黑体" panose="02010609060101010101" pitchFamily="49" charset="-122"/>
              </a:rPr>
              <a:t>．对象集合管理器模式</a:t>
            </a:r>
            <a:endParaRPr lang="zh-CN" altLang="en-US" sz="3200" dirty="0">
              <a:latin typeface="黑体" panose="02010609060101010101" pitchFamily="49" charset="-122"/>
              <a:ea typeface="黑体" panose="02010609060101010101" pitchFamily="49" charset="-122"/>
            </a:endParaRPr>
          </a:p>
        </p:txBody>
      </p:sp>
      <p:grpSp>
        <p:nvGrpSpPr>
          <p:cNvPr id="40963" name="组合 21"/>
          <p:cNvGrpSpPr/>
          <p:nvPr/>
        </p:nvGrpSpPr>
        <p:grpSpPr>
          <a:xfrm>
            <a:off x="52388" y="1125538"/>
            <a:ext cx="8999537" cy="5118100"/>
            <a:chOff x="52429" y="1124744"/>
            <a:chExt cx="8999712" cy="5119354"/>
          </a:xfrm>
        </p:grpSpPr>
        <p:sp>
          <p:nvSpPr>
            <p:cNvPr id="40965" name="椭圆 20"/>
            <p:cNvSpPr/>
            <p:nvPr/>
          </p:nvSpPr>
          <p:spPr>
            <a:xfrm>
              <a:off x="5605452" y="3282473"/>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dirty="0">
                  <a:latin typeface="Verdana" panose="020B0604030504040204" pitchFamily="34" charset="0"/>
                </a:rPr>
                <a:t>*</a:t>
              </a:r>
              <a:endParaRPr lang="zh-CN" altLang="en-US" dirty="0">
                <a:latin typeface="Verdana" panose="020B0604030504040204" pitchFamily="34" charset="0"/>
              </a:endParaRPr>
            </a:p>
          </p:txBody>
        </p:sp>
        <p:sp>
          <p:nvSpPr>
            <p:cNvPr id="40966" name="等腰三角形 17"/>
            <p:cNvSpPr/>
            <p:nvPr/>
          </p:nvSpPr>
          <p:spPr>
            <a:xfrm rot="-5570298" flipV="1">
              <a:off x="5457528" y="3438033"/>
              <a:ext cx="204084" cy="195446"/>
            </a:xfrm>
            <a:prstGeom prst="triangle">
              <a:avLst>
                <a:gd name="adj" fmla="val 50000"/>
              </a:avLst>
            </a:prstGeom>
            <a:solidFill>
              <a:schemeClr val="tx1"/>
            </a:solidFill>
            <a:ln w="9525" cap="flat" cmpd="sng">
              <a:solidFill>
                <a:schemeClr val="tx1"/>
              </a:solidFill>
              <a:prstDash val="solid"/>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sp>
          <p:nvSpPr>
            <p:cNvPr id="40967" name="椭圆 19"/>
            <p:cNvSpPr/>
            <p:nvPr/>
          </p:nvSpPr>
          <p:spPr>
            <a:xfrm>
              <a:off x="4801832" y="3282473"/>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dirty="0">
                  <a:latin typeface="Verdana" panose="020B0604030504040204" pitchFamily="34" charset="0"/>
                </a:rPr>
                <a:t>管理</a:t>
              </a:r>
              <a:endParaRPr lang="zh-CN" altLang="en-US" dirty="0">
                <a:latin typeface="Verdana" panose="020B0604030504040204" pitchFamily="34" charset="0"/>
              </a:endParaRPr>
            </a:p>
          </p:txBody>
        </p:sp>
        <p:sp>
          <p:nvSpPr>
            <p:cNvPr id="40968" name="椭圆 16"/>
            <p:cNvSpPr/>
            <p:nvPr/>
          </p:nvSpPr>
          <p:spPr>
            <a:xfrm>
              <a:off x="4508166" y="3282473"/>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dirty="0">
                  <a:latin typeface="Verdana" panose="020B0604030504040204" pitchFamily="34" charset="0"/>
                </a:rPr>
                <a:t>1</a:t>
              </a:r>
              <a:endParaRPr lang="zh-CN" altLang="en-US" dirty="0">
                <a:latin typeface="Verdana" panose="020B0604030504040204" pitchFamily="34" charset="0"/>
              </a:endParaRPr>
            </a:p>
          </p:txBody>
        </p:sp>
        <p:grpSp>
          <p:nvGrpSpPr>
            <p:cNvPr id="40969" name="组合 2"/>
            <p:cNvGrpSpPr/>
            <p:nvPr/>
          </p:nvGrpSpPr>
          <p:grpSpPr>
            <a:xfrm>
              <a:off x="52429" y="1124744"/>
              <a:ext cx="4481315" cy="5119354"/>
              <a:chOff x="162693" y="1189965"/>
              <a:chExt cx="4696645" cy="5119354"/>
            </a:xfrm>
          </p:grpSpPr>
          <p:sp>
            <p:nvSpPr>
              <p:cNvPr id="40976" name="矩形 1"/>
              <p:cNvSpPr/>
              <p:nvPr/>
            </p:nvSpPr>
            <p:spPr>
              <a:xfrm>
                <a:off x="162693" y="1189965"/>
                <a:ext cx="4683661" cy="43204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2400" b="1" dirty="0">
                    <a:latin typeface="Verdana" panose="020B0604030504040204" pitchFamily="34" charset="0"/>
                  </a:rPr>
                  <a:t> 课程管理器</a:t>
                </a:r>
                <a:endParaRPr lang="zh-CN" altLang="en-US" sz="2400" b="1" dirty="0">
                  <a:latin typeface="Verdana" panose="020B0604030504040204" pitchFamily="34" charset="0"/>
                </a:endParaRPr>
              </a:p>
            </p:txBody>
          </p:sp>
          <p:sp>
            <p:nvSpPr>
              <p:cNvPr id="40977" name="矩形 4"/>
              <p:cNvSpPr/>
              <p:nvPr/>
            </p:nvSpPr>
            <p:spPr>
              <a:xfrm>
                <a:off x="167241" y="1633821"/>
                <a:ext cx="4683661" cy="504056"/>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2400" b="1" dirty="0">
                    <a:latin typeface="Verdana" panose="020B0604030504040204" pitchFamily="34" charset="0"/>
                  </a:rPr>
                  <a:t> </a:t>
                </a:r>
                <a:r>
                  <a:rPr lang="en-US" altLang="zh-CN" sz="2400" b="1" dirty="0">
                    <a:latin typeface="Verdana" panose="020B0604030504040204" pitchFamily="34" charset="0"/>
                  </a:rPr>
                  <a:t>+</a:t>
                </a:r>
                <a:r>
                  <a:rPr lang="zh-CN" altLang="en-US" sz="2400" b="1" dirty="0">
                    <a:latin typeface="Verdana" panose="020B0604030504040204" pitchFamily="34" charset="0"/>
                  </a:rPr>
                  <a:t>课程</a:t>
                </a:r>
                <a:r>
                  <a:rPr lang="en-US" altLang="zh-CN" sz="2400" b="1" dirty="0">
                    <a:latin typeface="Verdana" panose="020B0604030504040204" pitchFamily="34" charset="0"/>
                  </a:rPr>
                  <a:t>[*]:</a:t>
                </a:r>
                <a:r>
                  <a:rPr lang="zh-CN" altLang="en-US" sz="2400" b="1" dirty="0">
                    <a:latin typeface="Verdana" panose="020B0604030504040204" pitchFamily="34" charset="0"/>
                  </a:rPr>
                  <a:t>课程</a:t>
                </a:r>
                <a:endParaRPr lang="zh-CN" altLang="en-US" sz="2400" b="1" dirty="0">
                  <a:latin typeface="Verdana" panose="020B0604030504040204" pitchFamily="34" charset="0"/>
                </a:endParaRPr>
              </a:p>
            </p:txBody>
          </p:sp>
          <p:sp>
            <p:nvSpPr>
              <p:cNvPr id="40978" name="矩形 5"/>
              <p:cNvSpPr/>
              <p:nvPr/>
            </p:nvSpPr>
            <p:spPr>
              <a:xfrm>
                <a:off x="169245" y="2137876"/>
                <a:ext cx="4690093" cy="417144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sz="2400" b="1" dirty="0">
                    <a:latin typeface="Verdana" panose="020B0604030504040204" pitchFamily="34" charset="0"/>
                  </a:rPr>
                  <a:t>《</a:t>
                </a:r>
                <a:r>
                  <a:rPr lang="zh-CN" altLang="en-US" sz="2400" b="1" dirty="0">
                    <a:latin typeface="Verdana" panose="020B0604030504040204" pitchFamily="34" charset="0"/>
                  </a:rPr>
                  <a:t>构造新对象</a:t>
                </a:r>
                <a:r>
                  <a:rPr lang="en-US" altLang="zh-CN" sz="2400" b="1" dirty="0">
                    <a:latin typeface="Verdana" panose="020B0604030504040204" pitchFamily="34" charset="0"/>
                  </a:rPr>
                  <a:t>》</a:t>
                </a:r>
                <a:endParaRPr lang="en-US" altLang="zh-CN" sz="2400" b="1" dirty="0">
                  <a:latin typeface="Verdana" panose="020B0604030504040204" pitchFamily="34" charset="0"/>
                </a:endParaRPr>
              </a:p>
              <a:p>
                <a:pPr eaLnBrk="1" hangingPunct="1"/>
                <a:r>
                  <a:rPr lang="en-US" altLang="zh-CN" sz="2400" b="1" dirty="0">
                    <a:latin typeface="Verdana" panose="020B0604030504040204" pitchFamily="34" charset="0"/>
                  </a:rPr>
                  <a:t>+</a:t>
                </a:r>
                <a:r>
                  <a:rPr lang="zh-CN" altLang="en-US" sz="2400" b="1" dirty="0">
                    <a:latin typeface="Verdana" panose="020B0604030504040204" pitchFamily="34" charset="0"/>
                  </a:rPr>
                  <a:t>课程管理器（）：</a:t>
                </a:r>
                <a:endParaRPr lang="en-US" altLang="zh-CN" sz="2400" b="1" dirty="0">
                  <a:latin typeface="Verdana" panose="020B0604030504040204" pitchFamily="34" charset="0"/>
                </a:endParaRPr>
              </a:p>
              <a:p>
                <a:pPr eaLnBrk="1" hangingPunct="1"/>
                <a:r>
                  <a:rPr lang="en-US" altLang="zh-CN" sz="2400" b="1" dirty="0">
                    <a:latin typeface="Verdana" panose="020B0604030504040204" pitchFamily="34" charset="0"/>
                  </a:rPr>
                  <a:t>  &lt;&lt;</a:t>
                </a:r>
                <a:r>
                  <a:rPr lang="zh-CN" altLang="en-US" sz="2000" b="1" dirty="0">
                    <a:latin typeface="Verdana" panose="020B0604030504040204" pitchFamily="34" charset="0"/>
                  </a:rPr>
                  <a:t>提取、访问、查询</a:t>
                </a:r>
                <a:r>
                  <a:rPr lang="en-US" altLang="zh-CN" sz="2000" b="1" dirty="0">
                    <a:latin typeface="Verdana" panose="020B0604030504040204" pitchFamily="34" charset="0"/>
                  </a:rPr>
                  <a:t>&gt;&gt;</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提取所有课程</a:t>
                </a:r>
                <a:r>
                  <a:rPr lang="en-US" altLang="zh-CN" sz="2000" b="1" dirty="0">
                    <a:latin typeface="Verdana" panose="020B0604030504040204" pitchFamily="34" charset="0"/>
                  </a:rPr>
                  <a:t>():</a:t>
                </a:r>
                <a:r>
                  <a:rPr lang="zh-CN" altLang="en-US" sz="2000" b="1" dirty="0">
                    <a:latin typeface="Verdana" panose="020B0604030504040204" pitchFamily="34" charset="0"/>
                  </a:rPr>
                  <a:t>课程</a:t>
                </a:r>
                <a:r>
                  <a:rPr lang="en-US" altLang="zh-CN" sz="2000" b="1" dirty="0">
                    <a:latin typeface="Verdana" panose="020B0604030504040204" pitchFamily="34" charset="0"/>
                  </a:rPr>
                  <a:t>[*]</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提取课程</a:t>
                </a:r>
                <a:r>
                  <a:rPr lang="en-US" altLang="zh-CN" sz="2000" b="1" dirty="0">
                    <a:latin typeface="Verdana" panose="020B0604030504040204" pitchFamily="34" charset="0"/>
                  </a:rPr>
                  <a:t>(</a:t>
                </a:r>
                <a:r>
                  <a:rPr lang="zh-CN" altLang="en-US" sz="2000" b="1" dirty="0">
                    <a:latin typeface="Verdana" panose="020B0604030504040204" pitchFamily="34" charset="0"/>
                  </a:rPr>
                  <a:t>课程名</a:t>
                </a:r>
                <a:r>
                  <a:rPr lang="en-US" altLang="zh-CN" sz="2000" b="1" dirty="0">
                    <a:latin typeface="Verdana" panose="020B0604030504040204" pitchFamily="34" charset="0"/>
                  </a:rPr>
                  <a:t>:String):</a:t>
                </a:r>
                <a:r>
                  <a:rPr lang="zh-CN" altLang="en-US" sz="2000" b="1" dirty="0">
                    <a:latin typeface="Verdana" panose="020B0604030504040204" pitchFamily="34" charset="0"/>
                  </a:rPr>
                  <a:t>课程</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课程计数</a:t>
                </a:r>
                <a:r>
                  <a:rPr lang="en-US" altLang="zh-CN" sz="2000" b="1" dirty="0">
                    <a:latin typeface="Verdana" panose="020B0604030504040204" pitchFamily="34" charset="0"/>
                  </a:rPr>
                  <a:t>():Integer</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存在判断</a:t>
                </a:r>
                <a:r>
                  <a:rPr lang="en-US" altLang="zh-CN" sz="2000" b="1" dirty="0">
                    <a:latin typeface="Verdana" panose="020B0604030504040204" pitchFamily="34" charset="0"/>
                  </a:rPr>
                  <a:t>():</a:t>
                </a:r>
                <a:r>
                  <a:rPr lang="zh-CN" altLang="en-US" sz="2000" b="1" dirty="0">
                    <a:latin typeface="Verdana" panose="020B0604030504040204" pitchFamily="34" charset="0"/>
                  </a:rPr>
                  <a:t>课程</a:t>
                </a:r>
                <a:r>
                  <a:rPr lang="en-US" altLang="zh-CN" sz="2000" b="1" dirty="0">
                    <a:latin typeface="Verdana" panose="020B0604030504040204" pitchFamily="34" charset="0"/>
                  </a:rPr>
                  <a:t>(</a:t>
                </a:r>
                <a:r>
                  <a:rPr lang="zh-CN" altLang="en-US" sz="2000" b="1" dirty="0">
                    <a:latin typeface="Verdana" panose="020B0604030504040204" pitchFamily="34" charset="0"/>
                  </a:rPr>
                  <a:t>课程</a:t>
                </a:r>
                <a:r>
                  <a:rPr lang="en-US" altLang="zh-CN" sz="2000" b="1" dirty="0">
                    <a:latin typeface="Verdana" panose="020B0604030504040204" pitchFamily="34" charset="0"/>
                  </a:rPr>
                  <a:t>:</a:t>
                </a:r>
                <a:r>
                  <a:rPr lang="zh-CN" altLang="en-US" sz="2000" b="1" dirty="0">
                    <a:latin typeface="Verdana" panose="020B0604030504040204" pitchFamily="34" charset="0"/>
                  </a:rPr>
                  <a:t>课程</a:t>
                </a:r>
                <a:r>
                  <a:rPr lang="en-US" altLang="zh-CN" sz="2000" b="1" dirty="0">
                    <a:latin typeface="Verdana" panose="020B0604030504040204" pitchFamily="34" charset="0"/>
                  </a:rPr>
                  <a:t>)</a:t>
                </a:r>
                <a:r>
                  <a:rPr lang="zh-CN" altLang="en-US" sz="2000" b="1" dirty="0">
                    <a:latin typeface="Verdana" panose="020B0604030504040204" pitchFamily="34" charset="0"/>
                  </a:rPr>
                  <a:t>：</a:t>
                </a:r>
                <a:r>
                  <a:rPr lang="en-US" altLang="zh-CN" sz="2000" b="1" dirty="0">
                    <a:latin typeface="Verdana" panose="020B0604030504040204" pitchFamily="34" charset="0"/>
                  </a:rPr>
                  <a:t>bool</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&lt;&lt;</a:t>
                </a:r>
                <a:r>
                  <a:rPr lang="zh-CN" altLang="en-US" sz="2000" b="1" dirty="0">
                    <a:latin typeface="Verdana" panose="020B0604030504040204" pitchFamily="34" charset="0"/>
                  </a:rPr>
                  <a:t>编辑修改</a:t>
                </a:r>
                <a:r>
                  <a:rPr lang="en-US" altLang="zh-CN" sz="2000" b="1" dirty="0">
                    <a:latin typeface="Verdana" panose="020B0604030504040204" pitchFamily="34" charset="0"/>
                  </a:rPr>
                  <a:t>&gt;&gt;</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增加课程</a:t>
                </a:r>
                <a:r>
                  <a:rPr lang="en-US" altLang="zh-CN" sz="2000" b="1" dirty="0">
                    <a:latin typeface="Verdana" panose="020B0604030504040204" pitchFamily="34" charset="0"/>
                  </a:rPr>
                  <a:t>(</a:t>
                </a:r>
                <a:r>
                  <a:rPr lang="zh-CN" altLang="en-US" sz="2000" b="1" dirty="0">
                    <a:latin typeface="Verdana" panose="020B0604030504040204" pitchFamily="34" charset="0"/>
                  </a:rPr>
                  <a:t>课程名</a:t>
                </a:r>
                <a:r>
                  <a:rPr lang="en-US" altLang="zh-CN" sz="2000" b="1" dirty="0">
                    <a:latin typeface="Verdana" panose="020B0604030504040204" pitchFamily="34" charset="0"/>
                  </a:rPr>
                  <a:t>:String):</a:t>
                </a:r>
                <a:r>
                  <a:rPr lang="zh-CN" altLang="en-US" sz="2000" b="1" dirty="0">
                    <a:latin typeface="Verdana" panose="020B0604030504040204" pitchFamily="34" charset="0"/>
                  </a:rPr>
                  <a:t>课程</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删除课程</a:t>
                </a:r>
                <a:r>
                  <a:rPr lang="en-US" altLang="zh-CN" sz="2000" b="1" dirty="0">
                    <a:latin typeface="Verdana" panose="020B0604030504040204" pitchFamily="34" charset="0"/>
                  </a:rPr>
                  <a:t>(</a:t>
                </a:r>
                <a:r>
                  <a:rPr lang="zh-CN" altLang="en-US" sz="2000" b="1" dirty="0">
                    <a:latin typeface="Verdana" panose="020B0604030504040204" pitchFamily="34" charset="0"/>
                  </a:rPr>
                  <a:t>课程名</a:t>
                </a:r>
                <a:r>
                  <a:rPr lang="en-US" altLang="zh-CN" sz="2000" b="1" dirty="0">
                    <a:latin typeface="Verdana" panose="020B0604030504040204" pitchFamily="34" charset="0"/>
                  </a:rPr>
                  <a:t>:String)</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删除课程</a:t>
                </a:r>
                <a:r>
                  <a:rPr lang="en-US" altLang="zh-CN" sz="2000" b="1" dirty="0">
                    <a:latin typeface="Verdana" panose="020B0604030504040204" pitchFamily="34" charset="0"/>
                  </a:rPr>
                  <a:t>(</a:t>
                </a:r>
                <a:r>
                  <a:rPr lang="zh-CN" altLang="en-US" sz="2000" b="1" dirty="0">
                    <a:latin typeface="Verdana" panose="020B0604030504040204" pitchFamily="34" charset="0"/>
                  </a:rPr>
                  <a:t>课程</a:t>
                </a:r>
                <a:r>
                  <a:rPr lang="en-US" altLang="zh-CN" sz="2000" b="1" dirty="0">
                    <a:latin typeface="Verdana" panose="020B0604030504040204" pitchFamily="34" charset="0"/>
                  </a:rPr>
                  <a:t>:</a:t>
                </a:r>
                <a:r>
                  <a:rPr lang="zh-CN" altLang="en-US" sz="2000" b="1" dirty="0">
                    <a:latin typeface="Verdana" panose="020B0604030504040204" pitchFamily="34" charset="0"/>
                  </a:rPr>
                  <a:t>课程）</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删除所有课程</a:t>
                </a:r>
                <a:endParaRPr lang="en-US" altLang="zh-CN" sz="2000" b="1" dirty="0">
                  <a:latin typeface="Verdana" panose="020B0604030504040204" pitchFamily="34" charset="0"/>
                </a:endParaRPr>
              </a:p>
              <a:p>
                <a:pPr eaLnBrk="1" hangingPunct="1"/>
                <a:endParaRPr lang="en-US" altLang="zh-CN" sz="2000" b="1" dirty="0">
                  <a:latin typeface="Verdana" panose="020B0604030504040204" pitchFamily="34" charset="0"/>
                </a:endParaRPr>
              </a:p>
              <a:p>
                <a:pPr eaLnBrk="1" hangingPunct="1"/>
                <a:endParaRPr lang="zh-CN" altLang="en-US" sz="2400" b="1" dirty="0">
                  <a:latin typeface="Verdana" panose="020B0604030504040204" pitchFamily="34" charset="0"/>
                </a:endParaRPr>
              </a:p>
            </p:txBody>
          </p:sp>
        </p:grpSp>
        <p:grpSp>
          <p:nvGrpSpPr>
            <p:cNvPr id="40970" name="组合 13"/>
            <p:cNvGrpSpPr/>
            <p:nvPr/>
          </p:nvGrpSpPr>
          <p:grpSpPr>
            <a:xfrm>
              <a:off x="5902466" y="1124744"/>
              <a:ext cx="3149675" cy="4603491"/>
              <a:chOff x="5796136" y="1124744"/>
              <a:chExt cx="3149675" cy="4603491"/>
            </a:xfrm>
          </p:grpSpPr>
          <p:grpSp>
            <p:nvGrpSpPr>
              <p:cNvPr id="40972" name="组合 3"/>
              <p:cNvGrpSpPr/>
              <p:nvPr/>
            </p:nvGrpSpPr>
            <p:grpSpPr>
              <a:xfrm>
                <a:off x="5796136" y="1124744"/>
                <a:ext cx="3149675" cy="4603491"/>
                <a:chOff x="4714490" y="1076579"/>
                <a:chExt cx="3149675" cy="4603491"/>
              </a:xfrm>
            </p:grpSpPr>
            <p:sp>
              <p:nvSpPr>
                <p:cNvPr id="40974" name="矩形 8"/>
                <p:cNvSpPr/>
                <p:nvPr/>
              </p:nvSpPr>
              <p:spPr>
                <a:xfrm>
                  <a:off x="4714490" y="1076579"/>
                  <a:ext cx="3149675" cy="43204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2400" b="1" dirty="0">
                      <a:latin typeface="Verdana" panose="020B0604030504040204" pitchFamily="34" charset="0"/>
                    </a:rPr>
                    <a:t>       课程</a:t>
                  </a:r>
                  <a:endParaRPr lang="zh-CN" altLang="en-US" sz="2400" b="1" dirty="0">
                    <a:latin typeface="Verdana" panose="020B0604030504040204" pitchFamily="34" charset="0"/>
                  </a:endParaRPr>
                </a:p>
              </p:txBody>
            </p:sp>
            <p:sp>
              <p:nvSpPr>
                <p:cNvPr id="40975" name="矩形 10"/>
                <p:cNvSpPr/>
                <p:nvPr/>
              </p:nvSpPr>
              <p:spPr>
                <a:xfrm>
                  <a:off x="4720742" y="1508627"/>
                  <a:ext cx="3143423" cy="417144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课程名</a:t>
                  </a:r>
                  <a:r>
                    <a:rPr lang="en-US" altLang="zh-CN" sz="2000" b="1" dirty="0">
                      <a:latin typeface="Verdana" panose="020B0604030504040204" pitchFamily="34" charset="0"/>
                    </a:rPr>
                    <a:t>:String</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课程编号</a:t>
                  </a:r>
                  <a:r>
                    <a:rPr lang="en-US" altLang="zh-CN" sz="2000" b="1" dirty="0">
                      <a:latin typeface="Verdana" panose="020B0604030504040204" pitchFamily="34" charset="0"/>
                    </a:rPr>
                    <a:t>:String</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上课时间</a:t>
                  </a:r>
                  <a:r>
                    <a:rPr lang="en-US" altLang="zh-CN" sz="2000" b="1" dirty="0">
                      <a:latin typeface="Verdana" panose="020B0604030504040204" pitchFamily="34" charset="0"/>
                    </a:rPr>
                    <a:t>1:Integer</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上课时间</a:t>
                  </a:r>
                  <a:r>
                    <a:rPr lang="en-US" altLang="zh-CN" sz="2000" b="1" dirty="0">
                      <a:latin typeface="Verdana" panose="020B0604030504040204" pitchFamily="34" charset="0"/>
                    </a:rPr>
                    <a:t>2:Integer</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总学时：</a:t>
                  </a:r>
                  <a:r>
                    <a:rPr lang="en-US" altLang="zh-CN" sz="2000" b="1" dirty="0">
                      <a:latin typeface="Verdana" panose="020B0604030504040204" pitchFamily="34" charset="0"/>
                    </a:rPr>
                    <a:t>Integer</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学分：</a:t>
                  </a:r>
                  <a:r>
                    <a:rPr lang="en-US" altLang="zh-CN" sz="2000" b="1" dirty="0">
                      <a:latin typeface="Verdana" panose="020B0604030504040204" pitchFamily="34" charset="0"/>
                    </a:rPr>
                    <a:t>Integer</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讲课教师</a:t>
                  </a:r>
                  <a:r>
                    <a:rPr lang="en-US" altLang="zh-CN" sz="2000" b="1" dirty="0">
                      <a:latin typeface="Verdana" panose="020B0604030504040204" pitchFamily="34" charset="0"/>
                    </a:rPr>
                    <a:t>:String</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地点</a:t>
                  </a:r>
                  <a:r>
                    <a:rPr lang="en-US" altLang="zh-CN" sz="2000" b="1" dirty="0">
                      <a:latin typeface="Verdana" panose="020B0604030504040204" pitchFamily="34" charset="0"/>
                    </a:rPr>
                    <a:t>:String</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学生人数：</a:t>
                  </a:r>
                  <a:r>
                    <a:rPr lang="en-US" altLang="zh-CN" sz="2000" b="1" dirty="0">
                      <a:latin typeface="Verdana" panose="020B0604030504040204" pitchFamily="34" charset="0"/>
                    </a:rPr>
                    <a:t>Integer</a:t>
                  </a:r>
                  <a:endParaRPr lang="en-US" altLang="zh-CN" sz="2000" b="1" dirty="0">
                    <a:latin typeface="Verdana" panose="020B0604030504040204" pitchFamily="34" charset="0"/>
                  </a:endParaRPr>
                </a:p>
                <a:p>
                  <a:pPr eaLnBrk="1" hangingPunct="1"/>
                  <a:r>
                    <a:rPr lang="en-US" altLang="zh-CN" sz="2000" b="1" dirty="0">
                      <a:latin typeface="Verdana" panose="020B0604030504040204" pitchFamily="34" charset="0"/>
                    </a:rPr>
                    <a:t>-</a:t>
                  </a:r>
                  <a:r>
                    <a:rPr lang="zh-CN" altLang="en-US" sz="2000" b="1" dirty="0">
                      <a:latin typeface="Verdana" panose="020B0604030504040204" pitchFamily="34" charset="0"/>
                    </a:rPr>
                    <a:t>人数限制：</a:t>
                  </a:r>
                  <a:r>
                    <a:rPr lang="en-US" altLang="zh-CN" sz="2000" b="1" dirty="0">
                      <a:latin typeface="Verdana" panose="020B0604030504040204" pitchFamily="34" charset="0"/>
                    </a:rPr>
                    <a:t>Integer</a:t>
                  </a:r>
                  <a:endParaRPr lang="en-US" altLang="zh-CN" sz="2000" b="1" dirty="0">
                    <a:latin typeface="Verdana" panose="020B0604030504040204" pitchFamily="34" charset="0"/>
                  </a:endParaRPr>
                </a:p>
                <a:p>
                  <a:pPr eaLnBrk="1" hangingPunct="1"/>
                  <a:endParaRPr lang="en-US" altLang="zh-CN" sz="2000" b="1" dirty="0">
                    <a:latin typeface="Verdana" panose="020B0604030504040204" pitchFamily="34" charset="0"/>
                  </a:endParaRPr>
                </a:p>
                <a:p>
                  <a:pPr eaLnBrk="1" hangingPunct="1"/>
                  <a:endParaRPr lang="en-US" altLang="zh-CN" sz="2000" b="1" dirty="0">
                    <a:latin typeface="Verdana" panose="020B0604030504040204" pitchFamily="34" charset="0"/>
                  </a:endParaRPr>
                </a:p>
                <a:p>
                  <a:pPr eaLnBrk="1" hangingPunct="1"/>
                  <a:endParaRPr lang="zh-CN" altLang="en-US" sz="2400" b="1" dirty="0">
                    <a:latin typeface="Verdana" panose="020B0604030504040204" pitchFamily="34" charset="0"/>
                  </a:endParaRPr>
                </a:p>
              </p:txBody>
            </p:sp>
          </p:grpSp>
          <p:cxnSp>
            <p:nvCxnSpPr>
              <p:cNvPr id="40973" name="直接连接符 11"/>
              <p:cNvCxnSpPr/>
              <p:nvPr/>
            </p:nvCxnSpPr>
            <p:spPr>
              <a:xfrm>
                <a:off x="5796136" y="4797152"/>
                <a:ext cx="3149675" cy="0"/>
              </a:xfrm>
              <a:prstGeom prst="line">
                <a:avLst/>
              </a:prstGeom>
              <a:ln w="9525" cap="flat" cmpd="sng">
                <a:solidFill>
                  <a:schemeClr val="tx1"/>
                </a:solidFill>
                <a:prstDash val="solid"/>
                <a:headEnd type="none" w="med" len="med"/>
                <a:tailEnd type="none" w="med" len="med"/>
              </a:ln>
            </p:spPr>
          </p:cxnSp>
        </p:grpSp>
        <p:cxnSp>
          <p:nvCxnSpPr>
            <p:cNvPr id="40971" name="直接连接符 15"/>
            <p:cNvCxnSpPr>
              <a:endCxn id="40975" idx="1"/>
            </p:cNvCxnSpPr>
            <p:nvPr/>
          </p:nvCxnSpPr>
          <p:spPr>
            <a:xfrm>
              <a:off x="4533744" y="3642513"/>
              <a:ext cx="1374974" cy="1"/>
            </a:xfrm>
            <a:prstGeom prst="line">
              <a:avLst/>
            </a:prstGeom>
            <a:ln w="9525" cap="flat" cmpd="sng">
              <a:solidFill>
                <a:schemeClr val="tx1"/>
              </a:solidFill>
              <a:prstDash val="solid"/>
              <a:headEnd type="none" w="med" len="med"/>
              <a:tailEnd type="none" w="med" len="med"/>
            </a:ln>
          </p:spPr>
        </p:cxnSp>
      </p:grpSp>
      <p:sp>
        <p:nvSpPr>
          <p:cNvPr id="40964" name="矩形 13"/>
          <p:cNvSpPr/>
          <p:nvPr/>
        </p:nvSpPr>
        <p:spPr>
          <a:xfrm>
            <a:off x="2411413" y="6373813"/>
            <a:ext cx="4608512" cy="385762"/>
          </a:xfrm>
          <a:prstGeom prst="rect">
            <a:avLst/>
          </a:prstGeom>
          <a:solidFill>
            <a:schemeClr val="bg1"/>
          </a:solidFill>
          <a:ln w="9525" cap="flat" cmpd="sng">
            <a:solidFill>
              <a:schemeClr val="bg1"/>
            </a:solidFill>
            <a:prstDash val="solid"/>
            <a:roun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一个对象集合管理器的例子</a:t>
            </a:r>
            <a:endParaRPr lang="zh-CN" altLang="en-US" sz="2400" b="1" dirty="0">
              <a:solidFill>
                <a:srgbClr val="0A06B0"/>
              </a:solidFill>
              <a:latin typeface="Verdana" panose="020B060403050404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p:nvPr/>
        </p:nvSpPr>
        <p:spPr>
          <a:xfrm>
            <a:off x="6007100" y="76200"/>
            <a:ext cx="3262313" cy="584200"/>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solidFill>
                  <a:srgbClr val="FF0000"/>
                </a:solidFill>
                <a:latin typeface="黑体" panose="02010609060101010101" pitchFamily="49" charset="-122"/>
                <a:ea typeface="黑体" panose="02010609060101010101" pitchFamily="49" charset="-122"/>
              </a:rPr>
              <a:t>3</a:t>
            </a:r>
            <a:r>
              <a:rPr lang="zh-CN" altLang="en-US" sz="3200" dirty="0">
                <a:solidFill>
                  <a:srgbClr val="FF0000"/>
                </a:solidFill>
                <a:latin typeface="黑体" panose="02010609060101010101" pitchFamily="49" charset="-122"/>
                <a:ea typeface="黑体" panose="02010609060101010101" pitchFamily="49" charset="-122"/>
              </a:rPr>
              <a:t>．对象容器模式</a:t>
            </a:r>
            <a:endParaRPr lang="zh-CN" altLang="en-US" sz="3200" dirty="0">
              <a:solidFill>
                <a:srgbClr val="FF0000"/>
              </a:solidFill>
              <a:latin typeface="黑体" panose="02010609060101010101" pitchFamily="49" charset="-122"/>
              <a:ea typeface="黑体" panose="02010609060101010101" pitchFamily="49" charset="-122"/>
            </a:endParaRPr>
          </a:p>
        </p:txBody>
      </p:sp>
      <p:grpSp>
        <p:nvGrpSpPr>
          <p:cNvPr id="41987" name="组合 3"/>
          <p:cNvGrpSpPr/>
          <p:nvPr/>
        </p:nvGrpSpPr>
        <p:grpSpPr>
          <a:xfrm>
            <a:off x="754063" y="1695450"/>
            <a:ext cx="6999287" cy="5075238"/>
            <a:chOff x="52429" y="137231"/>
            <a:chExt cx="8999712" cy="6106867"/>
          </a:xfrm>
        </p:grpSpPr>
        <p:sp>
          <p:nvSpPr>
            <p:cNvPr id="41996" name="椭圆 30"/>
            <p:cNvSpPr/>
            <p:nvPr/>
          </p:nvSpPr>
          <p:spPr>
            <a:xfrm>
              <a:off x="1669544" y="589339"/>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sz="1200" dirty="0">
                  <a:latin typeface="Verdana" panose="020B0604030504040204" pitchFamily="34" charset="0"/>
                </a:rPr>
                <a:t>1</a:t>
              </a:r>
              <a:endParaRPr lang="zh-CN" altLang="en-US" sz="1200" dirty="0">
                <a:latin typeface="Verdana" panose="020B0604030504040204" pitchFamily="34" charset="0"/>
              </a:endParaRPr>
            </a:p>
          </p:txBody>
        </p:sp>
        <p:sp>
          <p:nvSpPr>
            <p:cNvPr id="41997" name="椭圆 4"/>
            <p:cNvSpPr/>
            <p:nvPr/>
          </p:nvSpPr>
          <p:spPr>
            <a:xfrm>
              <a:off x="5605452" y="3282473"/>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sz="1200" dirty="0">
                  <a:latin typeface="Verdana" panose="020B0604030504040204" pitchFamily="34" charset="0"/>
                </a:rPr>
                <a:t>*</a:t>
              </a:r>
              <a:endParaRPr lang="zh-CN" altLang="en-US" sz="1200" dirty="0">
                <a:latin typeface="Verdana" panose="020B0604030504040204" pitchFamily="34" charset="0"/>
              </a:endParaRPr>
            </a:p>
          </p:txBody>
        </p:sp>
        <p:sp>
          <p:nvSpPr>
            <p:cNvPr id="41998" name="等腰三角形 5"/>
            <p:cNvSpPr/>
            <p:nvPr/>
          </p:nvSpPr>
          <p:spPr>
            <a:xfrm rot="-5570298" flipV="1">
              <a:off x="5457528" y="3438033"/>
              <a:ext cx="204084" cy="195446"/>
            </a:xfrm>
            <a:prstGeom prst="triangle">
              <a:avLst>
                <a:gd name="adj" fmla="val 50000"/>
              </a:avLst>
            </a:prstGeom>
            <a:solidFill>
              <a:schemeClr val="tx1"/>
            </a:solidFill>
            <a:ln w="9525" cap="flat" cmpd="sng">
              <a:solidFill>
                <a:schemeClr val="tx1"/>
              </a:solidFill>
              <a:prstDash val="solid"/>
              <a:round/>
              <a:headEnd type="none" w="med" len="med"/>
              <a:tailEnd type="none" w="med" len="med"/>
            </a:ln>
          </p:spPr>
          <p:txBody>
            <a:bodyPr wrap="none"/>
            <a:lstStyle/>
            <a:p>
              <a:pPr eaLnBrk="1" hangingPunct="1"/>
              <a:endParaRPr lang="zh-CN" altLang="en-US" sz="1200" dirty="0">
                <a:latin typeface="Verdana" panose="020B0604030504040204" pitchFamily="34" charset="0"/>
              </a:endParaRPr>
            </a:p>
          </p:txBody>
        </p:sp>
        <p:sp>
          <p:nvSpPr>
            <p:cNvPr id="41999" name="椭圆 6"/>
            <p:cNvSpPr/>
            <p:nvPr/>
          </p:nvSpPr>
          <p:spPr>
            <a:xfrm>
              <a:off x="4801832" y="3282473"/>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sz="1200" dirty="0">
                  <a:latin typeface="Verdana" panose="020B0604030504040204" pitchFamily="34" charset="0"/>
                </a:rPr>
                <a:t>管理</a:t>
              </a:r>
              <a:endParaRPr lang="zh-CN" altLang="en-US" sz="1200" dirty="0">
                <a:latin typeface="Verdana" panose="020B0604030504040204" pitchFamily="34" charset="0"/>
              </a:endParaRPr>
            </a:p>
          </p:txBody>
        </p:sp>
        <p:sp>
          <p:nvSpPr>
            <p:cNvPr id="42000" name="椭圆 7"/>
            <p:cNvSpPr/>
            <p:nvPr/>
          </p:nvSpPr>
          <p:spPr>
            <a:xfrm>
              <a:off x="4508166" y="3282473"/>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sz="1200" dirty="0">
                  <a:latin typeface="Verdana" panose="020B0604030504040204" pitchFamily="34" charset="0"/>
                </a:rPr>
                <a:t>1</a:t>
              </a:r>
              <a:endParaRPr lang="zh-CN" altLang="en-US" sz="1200" dirty="0">
                <a:latin typeface="Verdana" panose="020B0604030504040204" pitchFamily="34" charset="0"/>
              </a:endParaRPr>
            </a:p>
          </p:txBody>
        </p:sp>
        <p:grpSp>
          <p:nvGrpSpPr>
            <p:cNvPr id="42001" name="组合 8"/>
            <p:cNvGrpSpPr/>
            <p:nvPr/>
          </p:nvGrpSpPr>
          <p:grpSpPr>
            <a:xfrm>
              <a:off x="52429" y="1124744"/>
              <a:ext cx="4481315" cy="5119354"/>
              <a:chOff x="162693" y="1189965"/>
              <a:chExt cx="4696645" cy="5119354"/>
            </a:xfrm>
          </p:grpSpPr>
          <p:sp>
            <p:nvSpPr>
              <p:cNvPr id="42010" name="矩形 15"/>
              <p:cNvSpPr/>
              <p:nvPr/>
            </p:nvSpPr>
            <p:spPr>
              <a:xfrm>
                <a:off x="162693" y="1189965"/>
                <a:ext cx="4683661" cy="43204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600" dirty="0">
                    <a:latin typeface="Verdana" panose="020B0604030504040204" pitchFamily="34" charset="0"/>
                  </a:rPr>
                  <a:t> 课程管理器</a:t>
                </a:r>
                <a:endParaRPr lang="zh-CN" altLang="en-US" sz="1600" dirty="0">
                  <a:latin typeface="Verdana" panose="020B0604030504040204" pitchFamily="34" charset="0"/>
                </a:endParaRPr>
              </a:p>
            </p:txBody>
          </p:sp>
          <p:sp>
            <p:nvSpPr>
              <p:cNvPr id="42011" name="矩形 16"/>
              <p:cNvSpPr/>
              <p:nvPr/>
            </p:nvSpPr>
            <p:spPr>
              <a:xfrm>
                <a:off x="167241" y="1633821"/>
                <a:ext cx="4683661" cy="504056"/>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600" dirty="0">
                    <a:latin typeface="Verdana" panose="020B0604030504040204" pitchFamily="34" charset="0"/>
                  </a:rPr>
                  <a:t> </a:t>
                </a:r>
                <a:r>
                  <a:rPr lang="en-US" altLang="zh-CN" sz="1600" dirty="0">
                    <a:latin typeface="Verdana" panose="020B0604030504040204" pitchFamily="34" charset="0"/>
                  </a:rPr>
                  <a:t>+</a:t>
                </a:r>
                <a:r>
                  <a:rPr lang="zh-CN" altLang="en-US" sz="1600" dirty="0">
                    <a:latin typeface="Verdana" panose="020B0604030504040204" pitchFamily="34" charset="0"/>
                  </a:rPr>
                  <a:t>课程</a:t>
                </a:r>
                <a:r>
                  <a:rPr lang="en-US" altLang="zh-CN" sz="1600" dirty="0">
                    <a:latin typeface="Verdana" panose="020B0604030504040204" pitchFamily="34" charset="0"/>
                  </a:rPr>
                  <a:t>[*]:</a:t>
                </a:r>
                <a:r>
                  <a:rPr lang="zh-CN" altLang="en-US" sz="1600" dirty="0">
                    <a:latin typeface="Verdana" panose="020B0604030504040204" pitchFamily="34" charset="0"/>
                  </a:rPr>
                  <a:t>课程</a:t>
                </a:r>
                <a:endParaRPr lang="zh-CN" altLang="en-US" sz="1600" dirty="0">
                  <a:latin typeface="Verdana" panose="020B0604030504040204" pitchFamily="34" charset="0"/>
                </a:endParaRPr>
              </a:p>
            </p:txBody>
          </p:sp>
          <p:sp>
            <p:nvSpPr>
              <p:cNvPr id="42012" name="矩形 17"/>
              <p:cNvSpPr/>
              <p:nvPr/>
            </p:nvSpPr>
            <p:spPr>
              <a:xfrm>
                <a:off x="169245" y="2137876"/>
                <a:ext cx="4690093" cy="417144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构造新对象</a:t>
                </a:r>
                <a:r>
                  <a:rPr lang="en-US" altLang="zh-CN" sz="1600" dirty="0">
                    <a:latin typeface="Verdana" panose="020B0604030504040204" pitchFamily="34" charset="0"/>
                  </a:rPr>
                  <a:t>》</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课程管理器（）：</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  &lt;&lt;</a:t>
                </a:r>
                <a:r>
                  <a:rPr lang="zh-CN" altLang="en-US" sz="1400" dirty="0">
                    <a:latin typeface="Verdana" panose="020B0604030504040204" pitchFamily="34" charset="0"/>
                  </a:rPr>
                  <a:t>提取、访问、查询</a:t>
                </a:r>
                <a:r>
                  <a:rPr lang="en-US" altLang="zh-CN" sz="1400" dirty="0">
                    <a:latin typeface="Verdana" panose="020B0604030504040204" pitchFamily="34" charset="0"/>
                  </a:rPr>
                  <a:t>&gt;&gt;</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提取所有课程</a:t>
                </a:r>
                <a:r>
                  <a:rPr lang="en-US" altLang="zh-CN" sz="1400" dirty="0">
                    <a:latin typeface="Verdana" panose="020B0604030504040204" pitchFamily="34" charset="0"/>
                  </a:rPr>
                  <a:t>():</a:t>
                </a:r>
                <a:r>
                  <a:rPr lang="zh-CN" altLang="en-US" sz="1400" dirty="0">
                    <a:latin typeface="Verdana" panose="020B0604030504040204" pitchFamily="34" charset="0"/>
                  </a:rPr>
                  <a:t>课程</a:t>
                </a:r>
                <a:r>
                  <a:rPr lang="en-US" altLang="zh-CN" sz="1400" dirty="0">
                    <a:latin typeface="Verdana" panose="020B0604030504040204" pitchFamily="34" charset="0"/>
                  </a:rPr>
                  <a:t>[*]</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提取课程</a:t>
                </a:r>
                <a:r>
                  <a:rPr lang="en-US" altLang="zh-CN" sz="1400" dirty="0">
                    <a:latin typeface="Verdana" panose="020B0604030504040204" pitchFamily="34" charset="0"/>
                  </a:rPr>
                  <a:t>(</a:t>
                </a:r>
                <a:r>
                  <a:rPr lang="zh-CN" altLang="en-US" sz="1400" dirty="0">
                    <a:latin typeface="Verdana" panose="020B0604030504040204" pitchFamily="34" charset="0"/>
                  </a:rPr>
                  <a:t>课程名</a:t>
                </a:r>
                <a:r>
                  <a:rPr lang="en-US" altLang="zh-CN" sz="1400" dirty="0">
                    <a:latin typeface="Verdana" panose="020B0604030504040204" pitchFamily="34" charset="0"/>
                  </a:rPr>
                  <a:t>:String):</a:t>
                </a:r>
                <a:r>
                  <a:rPr lang="zh-CN" altLang="en-US" sz="1400" dirty="0">
                    <a:latin typeface="Verdana" panose="020B0604030504040204" pitchFamily="34" charset="0"/>
                  </a:rPr>
                  <a:t>课程</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课程计数</a:t>
                </a:r>
                <a:r>
                  <a:rPr lang="en-US" altLang="zh-CN" sz="1400" dirty="0">
                    <a:latin typeface="Verdana" panose="020B0604030504040204" pitchFamily="34" charset="0"/>
                  </a:rPr>
                  <a:t>():Integer</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存在判断</a:t>
                </a:r>
                <a:r>
                  <a:rPr lang="en-US" altLang="zh-CN" sz="1400" dirty="0">
                    <a:latin typeface="Verdana" panose="020B0604030504040204" pitchFamily="34" charset="0"/>
                  </a:rPr>
                  <a:t>():</a:t>
                </a:r>
                <a:r>
                  <a:rPr lang="zh-CN" altLang="en-US" sz="1400" dirty="0">
                    <a:latin typeface="Verdana" panose="020B0604030504040204" pitchFamily="34" charset="0"/>
                  </a:rPr>
                  <a:t>课程</a:t>
                </a:r>
                <a:r>
                  <a:rPr lang="en-US" altLang="zh-CN" sz="1400" dirty="0">
                    <a:latin typeface="Verdana" panose="020B0604030504040204" pitchFamily="34" charset="0"/>
                  </a:rPr>
                  <a:t>(</a:t>
                </a:r>
                <a:r>
                  <a:rPr lang="zh-CN" altLang="en-US" sz="1400" dirty="0">
                    <a:latin typeface="Verdana" panose="020B0604030504040204" pitchFamily="34" charset="0"/>
                  </a:rPr>
                  <a:t>课程</a:t>
                </a:r>
                <a:r>
                  <a:rPr lang="en-US" altLang="zh-CN" sz="1400" dirty="0">
                    <a:latin typeface="Verdana" panose="020B0604030504040204" pitchFamily="34" charset="0"/>
                  </a:rPr>
                  <a:t>:</a:t>
                </a:r>
                <a:r>
                  <a:rPr lang="zh-CN" altLang="en-US" sz="1400" dirty="0">
                    <a:latin typeface="Verdana" panose="020B0604030504040204" pitchFamily="34" charset="0"/>
                  </a:rPr>
                  <a:t>课程</a:t>
                </a:r>
                <a:r>
                  <a:rPr lang="en-US" altLang="zh-CN" sz="1400" dirty="0">
                    <a:latin typeface="Verdana" panose="020B0604030504040204" pitchFamily="34" charset="0"/>
                  </a:rPr>
                  <a:t>)</a:t>
                </a:r>
                <a:r>
                  <a:rPr lang="zh-CN" altLang="en-US" sz="1400" dirty="0">
                    <a:latin typeface="Verdana" panose="020B0604030504040204" pitchFamily="34" charset="0"/>
                  </a:rPr>
                  <a:t>：</a:t>
                </a:r>
                <a:r>
                  <a:rPr lang="en-US" altLang="zh-CN" sz="1400" dirty="0">
                    <a:latin typeface="Verdana" panose="020B0604030504040204" pitchFamily="34" charset="0"/>
                  </a:rPr>
                  <a:t>bool</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&lt;&lt;</a:t>
                </a:r>
                <a:r>
                  <a:rPr lang="zh-CN" altLang="en-US" sz="1400" dirty="0">
                    <a:latin typeface="Verdana" panose="020B0604030504040204" pitchFamily="34" charset="0"/>
                  </a:rPr>
                  <a:t>编辑修改</a:t>
                </a:r>
                <a:r>
                  <a:rPr lang="en-US" altLang="zh-CN" sz="1400" dirty="0">
                    <a:latin typeface="Verdana" panose="020B0604030504040204" pitchFamily="34" charset="0"/>
                  </a:rPr>
                  <a:t>&gt;&gt;</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增加课程</a:t>
                </a:r>
                <a:r>
                  <a:rPr lang="en-US" altLang="zh-CN" sz="1400" dirty="0">
                    <a:latin typeface="Verdana" panose="020B0604030504040204" pitchFamily="34" charset="0"/>
                  </a:rPr>
                  <a:t>(</a:t>
                </a:r>
                <a:r>
                  <a:rPr lang="zh-CN" altLang="en-US" sz="1400" dirty="0">
                    <a:latin typeface="Verdana" panose="020B0604030504040204" pitchFamily="34" charset="0"/>
                  </a:rPr>
                  <a:t>课程名</a:t>
                </a:r>
                <a:r>
                  <a:rPr lang="en-US" altLang="zh-CN" sz="1400" dirty="0">
                    <a:latin typeface="Verdana" panose="020B0604030504040204" pitchFamily="34" charset="0"/>
                  </a:rPr>
                  <a:t>:String):</a:t>
                </a:r>
                <a:r>
                  <a:rPr lang="zh-CN" altLang="en-US" sz="1400" dirty="0">
                    <a:latin typeface="Verdana" panose="020B0604030504040204" pitchFamily="34" charset="0"/>
                  </a:rPr>
                  <a:t>课程</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删除课程</a:t>
                </a:r>
                <a:r>
                  <a:rPr lang="en-US" altLang="zh-CN" sz="1400" dirty="0">
                    <a:latin typeface="Verdana" panose="020B0604030504040204" pitchFamily="34" charset="0"/>
                  </a:rPr>
                  <a:t>(</a:t>
                </a:r>
                <a:r>
                  <a:rPr lang="zh-CN" altLang="en-US" sz="1400" dirty="0">
                    <a:latin typeface="Verdana" panose="020B0604030504040204" pitchFamily="34" charset="0"/>
                  </a:rPr>
                  <a:t>课程名</a:t>
                </a:r>
                <a:r>
                  <a:rPr lang="en-US" altLang="zh-CN" sz="1400" dirty="0">
                    <a:latin typeface="Verdana" panose="020B0604030504040204" pitchFamily="34" charset="0"/>
                  </a:rPr>
                  <a:t>:String)</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删除课程</a:t>
                </a:r>
                <a:r>
                  <a:rPr lang="en-US" altLang="zh-CN" sz="1400" dirty="0">
                    <a:latin typeface="Verdana" panose="020B0604030504040204" pitchFamily="34" charset="0"/>
                  </a:rPr>
                  <a:t>(</a:t>
                </a:r>
                <a:r>
                  <a:rPr lang="zh-CN" altLang="en-US" sz="1400" dirty="0">
                    <a:latin typeface="Verdana" panose="020B0604030504040204" pitchFamily="34" charset="0"/>
                  </a:rPr>
                  <a:t>课程</a:t>
                </a:r>
                <a:r>
                  <a:rPr lang="en-US" altLang="zh-CN" sz="1400" dirty="0">
                    <a:latin typeface="Verdana" panose="020B0604030504040204" pitchFamily="34" charset="0"/>
                  </a:rPr>
                  <a:t>:</a:t>
                </a:r>
                <a:r>
                  <a:rPr lang="zh-CN" altLang="en-US" sz="1400" dirty="0">
                    <a:latin typeface="Verdana" panose="020B0604030504040204" pitchFamily="34" charset="0"/>
                  </a:rPr>
                  <a:t>课程）</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删除所有课程</a:t>
                </a:r>
                <a:endParaRPr lang="en-US" altLang="zh-CN" sz="1400" dirty="0">
                  <a:latin typeface="Verdana" panose="020B0604030504040204" pitchFamily="34" charset="0"/>
                </a:endParaRPr>
              </a:p>
              <a:p>
                <a:pPr eaLnBrk="1" hangingPunct="1"/>
                <a:endParaRPr lang="en-US" altLang="zh-CN" sz="1400" dirty="0">
                  <a:latin typeface="Verdana" panose="020B0604030504040204" pitchFamily="34" charset="0"/>
                </a:endParaRPr>
              </a:p>
              <a:p>
                <a:pPr eaLnBrk="1" hangingPunct="1"/>
                <a:endParaRPr lang="zh-CN" altLang="en-US" sz="1600" dirty="0">
                  <a:latin typeface="Verdana" panose="020B0604030504040204" pitchFamily="34" charset="0"/>
                </a:endParaRPr>
              </a:p>
            </p:txBody>
          </p:sp>
        </p:grpSp>
        <p:grpSp>
          <p:nvGrpSpPr>
            <p:cNvPr id="42002" name="组合 9"/>
            <p:cNvGrpSpPr/>
            <p:nvPr/>
          </p:nvGrpSpPr>
          <p:grpSpPr>
            <a:xfrm>
              <a:off x="5902466" y="1124744"/>
              <a:ext cx="3149675" cy="4603491"/>
              <a:chOff x="5796136" y="1124744"/>
              <a:chExt cx="3149675" cy="4603491"/>
            </a:xfrm>
          </p:grpSpPr>
          <p:grpSp>
            <p:nvGrpSpPr>
              <p:cNvPr id="42006" name="组合 11"/>
              <p:cNvGrpSpPr/>
              <p:nvPr/>
            </p:nvGrpSpPr>
            <p:grpSpPr>
              <a:xfrm>
                <a:off x="5796136" y="1124744"/>
                <a:ext cx="3149675" cy="4603491"/>
                <a:chOff x="4714490" y="1076579"/>
                <a:chExt cx="3149675" cy="4603491"/>
              </a:xfrm>
            </p:grpSpPr>
            <p:sp>
              <p:nvSpPr>
                <p:cNvPr id="42008" name="矩形 13"/>
                <p:cNvSpPr/>
                <p:nvPr/>
              </p:nvSpPr>
              <p:spPr>
                <a:xfrm>
                  <a:off x="4714490" y="1076579"/>
                  <a:ext cx="3149675" cy="432048"/>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600" dirty="0">
                      <a:latin typeface="Verdana" panose="020B0604030504040204" pitchFamily="34" charset="0"/>
                    </a:rPr>
                    <a:t>       课程</a:t>
                  </a:r>
                  <a:endParaRPr lang="zh-CN" altLang="en-US" sz="1600" dirty="0">
                    <a:latin typeface="Verdana" panose="020B0604030504040204" pitchFamily="34" charset="0"/>
                  </a:endParaRPr>
                </a:p>
              </p:txBody>
            </p:sp>
            <p:sp>
              <p:nvSpPr>
                <p:cNvPr id="42009" name="矩形 14"/>
                <p:cNvSpPr/>
                <p:nvPr/>
              </p:nvSpPr>
              <p:spPr>
                <a:xfrm>
                  <a:off x="4720742" y="1508627"/>
                  <a:ext cx="3143423" cy="4171443"/>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课程名</a:t>
                  </a:r>
                  <a:r>
                    <a:rPr lang="en-US" altLang="zh-CN" sz="1400" dirty="0">
                      <a:latin typeface="Verdana" panose="020B0604030504040204" pitchFamily="34" charset="0"/>
                    </a:rPr>
                    <a:t>:String</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课程编号</a:t>
                  </a:r>
                  <a:r>
                    <a:rPr lang="en-US" altLang="zh-CN" sz="1400" dirty="0">
                      <a:latin typeface="Verdana" panose="020B0604030504040204" pitchFamily="34" charset="0"/>
                    </a:rPr>
                    <a:t>:String</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上课时间</a:t>
                  </a:r>
                  <a:r>
                    <a:rPr lang="en-US" altLang="zh-CN" sz="1400" dirty="0">
                      <a:latin typeface="Verdana" panose="020B0604030504040204" pitchFamily="34" charset="0"/>
                    </a:rPr>
                    <a:t>1:Integer</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上课时间</a:t>
                  </a:r>
                  <a:r>
                    <a:rPr lang="en-US" altLang="zh-CN" sz="1400" dirty="0">
                      <a:latin typeface="Verdana" panose="020B0604030504040204" pitchFamily="34" charset="0"/>
                    </a:rPr>
                    <a:t>2:Integer</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总学时：</a:t>
                  </a:r>
                  <a:r>
                    <a:rPr lang="en-US" altLang="zh-CN" sz="1400" dirty="0">
                      <a:latin typeface="Verdana" panose="020B0604030504040204" pitchFamily="34" charset="0"/>
                    </a:rPr>
                    <a:t>Integer</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学分：</a:t>
                  </a:r>
                  <a:r>
                    <a:rPr lang="en-US" altLang="zh-CN" sz="1400" dirty="0">
                      <a:latin typeface="Verdana" panose="020B0604030504040204" pitchFamily="34" charset="0"/>
                    </a:rPr>
                    <a:t>Integer</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讲课教师</a:t>
                  </a:r>
                  <a:r>
                    <a:rPr lang="en-US" altLang="zh-CN" sz="1400" dirty="0">
                      <a:latin typeface="Verdana" panose="020B0604030504040204" pitchFamily="34" charset="0"/>
                    </a:rPr>
                    <a:t>:String</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地点</a:t>
                  </a:r>
                  <a:r>
                    <a:rPr lang="en-US" altLang="zh-CN" sz="1400" dirty="0">
                      <a:latin typeface="Verdana" panose="020B0604030504040204" pitchFamily="34" charset="0"/>
                    </a:rPr>
                    <a:t>:String</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学生人数：</a:t>
                  </a:r>
                  <a:r>
                    <a:rPr lang="en-US" altLang="zh-CN" sz="1400" dirty="0">
                      <a:latin typeface="Verdana" panose="020B0604030504040204" pitchFamily="34" charset="0"/>
                    </a:rPr>
                    <a:t>Integer</a:t>
                  </a:r>
                  <a:endParaRPr lang="en-US" altLang="zh-CN" sz="1400"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人数限制：</a:t>
                  </a:r>
                  <a:r>
                    <a:rPr lang="en-US" altLang="zh-CN" sz="1400" dirty="0">
                      <a:latin typeface="Verdana" panose="020B0604030504040204" pitchFamily="34" charset="0"/>
                    </a:rPr>
                    <a:t>Integer</a:t>
                  </a:r>
                  <a:endParaRPr lang="en-US" altLang="zh-CN" sz="1400" dirty="0">
                    <a:latin typeface="Verdana" panose="020B0604030504040204" pitchFamily="34" charset="0"/>
                  </a:endParaRPr>
                </a:p>
                <a:p>
                  <a:pPr eaLnBrk="1" hangingPunct="1"/>
                  <a:endParaRPr lang="en-US" altLang="zh-CN" sz="1400" dirty="0">
                    <a:latin typeface="Verdana" panose="020B0604030504040204" pitchFamily="34" charset="0"/>
                  </a:endParaRPr>
                </a:p>
                <a:p>
                  <a:pPr eaLnBrk="1" hangingPunct="1"/>
                  <a:endParaRPr lang="en-US" altLang="zh-CN" sz="1400" dirty="0">
                    <a:latin typeface="Verdana" panose="020B0604030504040204" pitchFamily="34" charset="0"/>
                  </a:endParaRPr>
                </a:p>
                <a:p>
                  <a:pPr eaLnBrk="1" hangingPunct="1"/>
                  <a:endParaRPr lang="zh-CN" altLang="en-US" sz="1600" dirty="0">
                    <a:latin typeface="Verdana" panose="020B0604030504040204" pitchFamily="34" charset="0"/>
                  </a:endParaRPr>
                </a:p>
              </p:txBody>
            </p:sp>
          </p:grpSp>
          <p:cxnSp>
            <p:nvCxnSpPr>
              <p:cNvPr id="42007" name="直接连接符 12"/>
              <p:cNvCxnSpPr/>
              <p:nvPr/>
            </p:nvCxnSpPr>
            <p:spPr>
              <a:xfrm>
                <a:off x="5796136" y="4797152"/>
                <a:ext cx="3149675" cy="0"/>
              </a:xfrm>
              <a:prstGeom prst="line">
                <a:avLst/>
              </a:prstGeom>
              <a:ln w="9525" cap="flat" cmpd="sng">
                <a:solidFill>
                  <a:schemeClr val="tx1"/>
                </a:solidFill>
                <a:prstDash val="solid"/>
                <a:headEnd type="none" w="med" len="med"/>
                <a:tailEnd type="none" w="med" len="med"/>
              </a:ln>
            </p:spPr>
          </p:cxnSp>
        </p:grpSp>
        <p:cxnSp>
          <p:nvCxnSpPr>
            <p:cNvPr id="42003" name="直接连接符 10"/>
            <p:cNvCxnSpPr>
              <a:endCxn id="42009" idx="1"/>
            </p:cNvCxnSpPr>
            <p:nvPr/>
          </p:nvCxnSpPr>
          <p:spPr>
            <a:xfrm>
              <a:off x="4533744" y="3642513"/>
              <a:ext cx="1374974" cy="1"/>
            </a:xfrm>
            <a:prstGeom prst="line">
              <a:avLst/>
            </a:prstGeom>
            <a:ln w="9525" cap="flat" cmpd="sng">
              <a:solidFill>
                <a:schemeClr val="tx1"/>
              </a:solidFill>
              <a:prstDash val="solid"/>
              <a:headEnd type="none" w="med" len="med"/>
              <a:tailEnd type="none" w="med" len="med"/>
            </a:ln>
          </p:spPr>
        </p:cxnSp>
        <p:sp>
          <p:nvSpPr>
            <p:cNvPr id="42004" name="椭圆 28"/>
            <p:cNvSpPr/>
            <p:nvPr/>
          </p:nvSpPr>
          <p:spPr>
            <a:xfrm>
              <a:off x="1493270" y="307728"/>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sz="1200" dirty="0">
                  <a:latin typeface="Verdana" panose="020B0604030504040204" pitchFamily="34" charset="0"/>
                </a:rPr>
                <a:t>管理</a:t>
              </a:r>
              <a:endParaRPr lang="zh-CN" altLang="en-US" sz="1200" dirty="0">
                <a:latin typeface="Verdana" panose="020B0604030504040204" pitchFamily="34" charset="0"/>
              </a:endParaRPr>
            </a:p>
          </p:txBody>
        </p:sp>
        <p:sp>
          <p:nvSpPr>
            <p:cNvPr id="42005" name="椭圆 29"/>
            <p:cNvSpPr/>
            <p:nvPr/>
          </p:nvSpPr>
          <p:spPr>
            <a:xfrm>
              <a:off x="1199151" y="137231"/>
              <a:ext cx="360040" cy="360040"/>
            </a:xfrm>
            <a:prstGeom prst="ellipse">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sz="1200" dirty="0">
                  <a:latin typeface="Verdana" panose="020B0604030504040204" pitchFamily="34" charset="0"/>
                </a:rPr>
                <a:t>1</a:t>
              </a:r>
              <a:endParaRPr lang="zh-CN" altLang="en-US" sz="1200" dirty="0">
                <a:latin typeface="Verdana" panose="020B0604030504040204" pitchFamily="34" charset="0"/>
              </a:endParaRPr>
            </a:p>
          </p:txBody>
        </p:sp>
      </p:grpSp>
      <p:sp>
        <p:nvSpPr>
          <p:cNvPr id="41988" name="矩形 1"/>
          <p:cNvSpPr/>
          <p:nvPr/>
        </p:nvSpPr>
        <p:spPr>
          <a:xfrm>
            <a:off x="495300" y="2330450"/>
            <a:ext cx="7488238" cy="4541838"/>
          </a:xfrm>
          <a:prstGeom prst="rect">
            <a:avLst/>
          </a:prstGeom>
          <a:noFill/>
          <a:ln w="9525" cap="flat" cmpd="sng">
            <a:solidFill>
              <a:schemeClr val="tx1"/>
            </a:solidFill>
            <a:prstDash val="sysDash"/>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grpSp>
        <p:nvGrpSpPr>
          <p:cNvPr id="41989" name="组合 2"/>
          <p:cNvGrpSpPr/>
          <p:nvPr/>
        </p:nvGrpSpPr>
        <p:grpSpPr>
          <a:xfrm>
            <a:off x="477838" y="76200"/>
            <a:ext cx="3086100" cy="1685925"/>
            <a:chOff x="477053" y="198412"/>
            <a:chExt cx="3086837" cy="1685739"/>
          </a:xfrm>
        </p:grpSpPr>
        <p:sp>
          <p:nvSpPr>
            <p:cNvPr id="41993" name="矩形 1"/>
            <p:cNvSpPr/>
            <p:nvPr/>
          </p:nvSpPr>
          <p:spPr>
            <a:xfrm>
              <a:off x="477053" y="198412"/>
              <a:ext cx="3080751" cy="588210"/>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b="1" dirty="0">
                  <a:latin typeface="Verdana" panose="020B0604030504040204" pitchFamily="34" charset="0"/>
                </a:rPr>
                <a:t>课程管理器</a:t>
              </a:r>
              <a:endParaRPr lang="zh-CN" altLang="en-US" b="1" dirty="0">
                <a:latin typeface="Verdana" panose="020B0604030504040204" pitchFamily="34" charset="0"/>
              </a:endParaRPr>
            </a:p>
          </p:txBody>
        </p:sp>
        <p:sp>
          <p:nvSpPr>
            <p:cNvPr id="41994" name="矩形 4"/>
            <p:cNvSpPr/>
            <p:nvPr/>
          </p:nvSpPr>
          <p:spPr>
            <a:xfrm>
              <a:off x="477054" y="603685"/>
              <a:ext cx="3086836" cy="316132"/>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sz="1400" b="1" dirty="0">
                  <a:latin typeface="Verdana" panose="020B0604030504040204" pitchFamily="34" charset="0"/>
                </a:rPr>
                <a:t>+</a:t>
              </a:r>
              <a:r>
                <a:rPr lang="zh-CN" altLang="en-US" sz="1400" b="1" dirty="0">
                  <a:latin typeface="Verdana" panose="020B0604030504040204" pitchFamily="34" charset="0"/>
                </a:rPr>
                <a:t>课程存储器：课程容器</a:t>
              </a:r>
              <a:endParaRPr lang="zh-CN" altLang="en-US" sz="1400" b="1" dirty="0">
                <a:latin typeface="Verdana" panose="020B0604030504040204" pitchFamily="34" charset="0"/>
              </a:endParaRPr>
            </a:p>
          </p:txBody>
        </p:sp>
        <p:sp>
          <p:nvSpPr>
            <p:cNvPr id="41995" name="矩形 5"/>
            <p:cNvSpPr/>
            <p:nvPr/>
          </p:nvSpPr>
          <p:spPr>
            <a:xfrm>
              <a:off x="477054" y="931132"/>
              <a:ext cx="3086836" cy="953019"/>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en-US" altLang="zh-CN" sz="1400" b="1" dirty="0">
                  <a:latin typeface="Verdana" panose="020B0604030504040204" pitchFamily="34" charset="0"/>
                </a:rPr>
                <a:t>&lt;&lt;</a:t>
              </a:r>
              <a:r>
                <a:rPr lang="zh-CN" altLang="en-US" sz="1400" b="1" dirty="0">
                  <a:latin typeface="Verdana" panose="020B0604030504040204" pitchFamily="34" charset="0"/>
                </a:rPr>
                <a:t>构造新对象</a:t>
              </a:r>
              <a:r>
                <a:rPr lang="en-US" altLang="zh-CN" sz="1400" b="1" dirty="0">
                  <a:latin typeface="Verdana" panose="020B0604030504040204" pitchFamily="34" charset="0"/>
                </a:rPr>
                <a:t>&gt;&gt;</a:t>
              </a:r>
              <a:endParaRPr lang="en-US" altLang="zh-CN" sz="1400" b="1" dirty="0">
                <a:latin typeface="Verdana" panose="020B0604030504040204" pitchFamily="34" charset="0"/>
              </a:endParaRPr>
            </a:p>
            <a:p>
              <a:pPr eaLnBrk="1" hangingPunct="1"/>
              <a:r>
                <a:rPr lang="en-US" altLang="zh-CN" sz="1400" b="1" dirty="0">
                  <a:latin typeface="Verdana" panose="020B0604030504040204" pitchFamily="34" charset="0"/>
                </a:rPr>
                <a:t>+</a:t>
              </a:r>
              <a:r>
                <a:rPr lang="zh-CN" altLang="en-US" sz="1400" b="1" dirty="0">
                  <a:latin typeface="Verdana" panose="020B0604030504040204" pitchFamily="34" charset="0"/>
                </a:rPr>
                <a:t>课程存储器（）</a:t>
              </a:r>
              <a:r>
                <a:rPr lang="en-US" altLang="zh-CN" sz="1400" b="1" dirty="0">
                  <a:latin typeface="Verdana" panose="020B0604030504040204" pitchFamily="34" charset="0"/>
                </a:rPr>
                <a:t>:</a:t>
              </a:r>
              <a:endParaRPr lang="en-US" altLang="zh-CN" sz="1400" b="1" dirty="0">
                <a:latin typeface="Verdana" panose="020B0604030504040204" pitchFamily="34" charset="0"/>
              </a:endParaRPr>
            </a:p>
            <a:p>
              <a:pPr eaLnBrk="1" hangingPunct="1"/>
              <a:r>
                <a:rPr lang="en-US" altLang="zh-CN" sz="1400" b="1" dirty="0">
                  <a:latin typeface="Verdana" panose="020B0604030504040204" pitchFamily="34" charset="0"/>
                </a:rPr>
                <a:t>         &lt;&lt;</a:t>
              </a:r>
              <a:r>
                <a:rPr lang="zh-CN" altLang="en-US" sz="1400" b="1" dirty="0">
                  <a:latin typeface="Verdana" panose="020B0604030504040204" pitchFamily="34" charset="0"/>
                </a:rPr>
                <a:t>编辑修改</a:t>
              </a:r>
              <a:r>
                <a:rPr lang="en-US" altLang="zh-CN" sz="1400" b="1" dirty="0">
                  <a:latin typeface="Verdana" panose="020B0604030504040204" pitchFamily="34" charset="0"/>
                </a:rPr>
                <a:t>&gt;&gt;</a:t>
              </a:r>
              <a:endParaRPr lang="en-US" altLang="zh-CN" sz="1400" b="1" dirty="0">
                <a:latin typeface="Verdana" panose="020B0604030504040204" pitchFamily="34" charset="0"/>
              </a:endParaRPr>
            </a:p>
            <a:p>
              <a:pPr eaLnBrk="1" hangingPunct="1"/>
              <a:r>
                <a:rPr lang="en-US" altLang="zh-CN" sz="1400" dirty="0">
                  <a:latin typeface="Verdana" panose="020B0604030504040204" pitchFamily="34" charset="0"/>
                </a:rPr>
                <a:t>+</a:t>
              </a:r>
              <a:r>
                <a:rPr lang="zh-CN" altLang="en-US" sz="1400" dirty="0">
                  <a:latin typeface="Verdana" panose="020B0604030504040204" pitchFamily="34" charset="0"/>
                </a:rPr>
                <a:t>增加课程</a:t>
              </a:r>
              <a:r>
                <a:rPr lang="en-US" altLang="zh-CN" sz="1400" dirty="0">
                  <a:latin typeface="Verdana" panose="020B0604030504040204" pitchFamily="34" charset="0"/>
                </a:rPr>
                <a:t>(</a:t>
              </a:r>
              <a:r>
                <a:rPr lang="zh-CN" altLang="en-US" sz="1400" dirty="0">
                  <a:latin typeface="Verdana" panose="020B0604030504040204" pitchFamily="34" charset="0"/>
                </a:rPr>
                <a:t>课程名</a:t>
              </a:r>
              <a:r>
                <a:rPr lang="en-US" altLang="zh-CN" sz="1400" dirty="0">
                  <a:latin typeface="Verdana" panose="020B0604030504040204" pitchFamily="34" charset="0"/>
                </a:rPr>
                <a:t>:String):</a:t>
              </a:r>
              <a:r>
                <a:rPr lang="zh-CN" altLang="en-US" sz="1400" dirty="0">
                  <a:latin typeface="Verdana" panose="020B0604030504040204" pitchFamily="34" charset="0"/>
                </a:rPr>
                <a:t>课程</a:t>
              </a:r>
              <a:endParaRPr lang="en-US" altLang="zh-CN" sz="1400" dirty="0">
                <a:latin typeface="Verdana" panose="020B0604030504040204" pitchFamily="34" charset="0"/>
              </a:endParaRPr>
            </a:p>
            <a:p>
              <a:pPr eaLnBrk="1" hangingPunct="1"/>
              <a:endParaRPr lang="en-US" altLang="zh-CN" sz="1400" b="1" dirty="0">
                <a:latin typeface="Verdana" panose="020B0604030504040204" pitchFamily="34" charset="0"/>
              </a:endParaRPr>
            </a:p>
            <a:p>
              <a:pPr eaLnBrk="1" hangingPunct="1"/>
              <a:r>
                <a:rPr lang="en-US" altLang="zh-CN" sz="1400" b="1" dirty="0">
                  <a:latin typeface="Verdana" panose="020B0604030504040204" pitchFamily="34" charset="0"/>
                </a:rPr>
                <a:t> </a:t>
              </a:r>
              <a:endParaRPr lang="zh-CN" altLang="en-US" sz="1400" b="1" dirty="0">
                <a:latin typeface="Verdana" panose="020B0604030504040204" pitchFamily="34" charset="0"/>
              </a:endParaRPr>
            </a:p>
          </p:txBody>
        </p:sp>
      </p:grpSp>
      <p:cxnSp>
        <p:nvCxnSpPr>
          <p:cNvPr id="41990" name="直接箭头连接符 23"/>
          <p:cNvCxnSpPr/>
          <p:nvPr/>
        </p:nvCxnSpPr>
        <p:spPr>
          <a:xfrm flipH="1">
            <a:off x="1962150" y="1774825"/>
            <a:ext cx="1588" cy="546100"/>
          </a:xfrm>
          <a:prstGeom prst="straightConnector1">
            <a:avLst/>
          </a:prstGeom>
          <a:ln w="9525" cap="flat" cmpd="sng">
            <a:solidFill>
              <a:schemeClr val="tx1"/>
            </a:solidFill>
            <a:prstDash val="solid"/>
            <a:headEnd type="none" w="med" len="med"/>
            <a:tailEnd type="triangle" w="med" len="med"/>
          </a:ln>
        </p:spPr>
      </p:cxnSp>
      <p:sp>
        <p:nvSpPr>
          <p:cNvPr id="41991" name="菱形 25"/>
          <p:cNvSpPr/>
          <p:nvPr/>
        </p:nvSpPr>
        <p:spPr>
          <a:xfrm>
            <a:off x="1905000" y="1754188"/>
            <a:ext cx="106363" cy="206375"/>
          </a:xfrm>
          <a:prstGeom prst="diamond">
            <a:avLst/>
          </a:prstGeom>
          <a:solidFill>
            <a:schemeClr val="tx1"/>
          </a:solidFill>
          <a:ln w="9525" cap="flat" cmpd="sng">
            <a:solidFill>
              <a:schemeClr val="tx1"/>
            </a:solidFill>
            <a:prstDash val="solid"/>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sp>
        <p:nvSpPr>
          <p:cNvPr id="41992" name="矩形 13"/>
          <p:cNvSpPr/>
          <p:nvPr/>
        </p:nvSpPr>
        <p:spPr>
          <a:xfrm>
            <a:off x="2687638" y="1814513"/>
            <a:ext cx="5700712" cy="385762"/>
          </a:xfrm>
          <a:prstGeom prst="rect">
            <a:avLst/>
          </a:prstGeom>
          <a:solidFill>
            <a:schemeClr val="bg1"/>
          </a:solidFill>
          <a:ln w="9525" cap="flat" cmpd="sng">
            <a:solidFill>
              <a:schemeClr val="bg1"/>
            </a:solidFill>
            <a:prstDash val="solid"/>
            <a:roun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由对象容器组成的对象集合管理器的例子</a:t>
            </a:r>
            <a:endParaRPr lang="zh-CN" altLang="en-US" sz="2400" b="1" dirty="0">
              <a:solidFill>
                <a:srgbClr val="0A06B0"/>
              </a:solidFill>
              <a:latin typeface="Verdana" panose="020B060403050404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p:nvPr/>
        </p:nvSpPr>
        <p:spPr>
          <a:xfrm>
            <a:off x="0" y="147638"/>
            <a:ext cx="2032000" cy="584200"/>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solidFill>
                  <a:srgbClr val="FF0000"/>
                </a:solidFill>
                <a:latin typeface="黑体" panose="02010609060101010101" pitchFamily="49" charset="-122"/>
                <a:ea typeface="黑体" panose="02010609060101010101" pitchFamily="49" charset="-122"/>
              </a:rPr>
              <a:t>5.5  </a:t>
            </a:r>
            <a:r>
              <a:rPr lang="zh-CN" altLang="en-US" sz="3200" dirty="0">
                <a:solidFill>
                  <a:srgbClr val="FF0000"/>
                </a:solidFill>
                <a:latin typeface="黑体" panose="02010609060101010101" pitchFamily="49" charset="-122"/>
                <a:ea typeface="黑体" panose="02010609060101010101" pitchFamily="49" charset="-122"/>
              </a:rPr>
              <a:t>接口</a:t>
            </a:r>
            <a:endParaRPr lang="zh-CN" altLang="en-US" sz="3200" dirty="0">
              <a:solidFill>
                <a:srgbClr val="FF0000"/>
              </a:solidFill>
              <a:latin typeface="黑体" panose="02010609060101010101" pitchFamily="49" charset="-122"/>
              <a:ea typeface="黑体" panose="02010609060101010101" pitchFamily="49" charset="-122"/>
            </a:endParaRPr>
          </a:p>
        </p:txBody>
      </p:sp>
      <p:sp>
        <p:nvSpPr>
          <p:cNvPr id="43011" name="Text Box 3"/>
          <p:cNvSpPr txBox="1"/>
          <p:nvPr/>
        </p:nvSpPr>
        <p:spPr>
          <a:xfrm>
            <a:off x="879475" y="981075"/>
            <a:ext cx="3236913" cy="523875"/>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solidFill>
                  <a:srgbClr val="FF0000"/>
                </a:solidFill>
                <a:latin typeface="黑体" panose="02010609060101010101" pitchFamily="49" charset="-122"/>
                <a:ea typeface="黑体" panose="02010609060101010101" pitchFamily="49" charset="-122"/>
              </a:rPr>
              <a:t>5.5.1  </a:t>
            </a:r>
            <a:r>
              <a:rPr lang="zh-CN" altLang="en-US" sz="2800" dirty="0">
                <a:solidFill>
                  <a:srgbClr val="FF0000"/>
                </a:solidFill>
                <a:latin typeface="黑体" panose="02010609060101010101" pitchFamily="49" charset="-122"/>
                <a:ea typeface="黑体" panose="02010609060101010101" pitchFamily="49" charset="-122"/>
              </a:rPr>
              <a:t>接口的定义</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43012" name="Text Box 4"/>
          <p:cNvSpPr txBox="1"/>
          <p:nvPr/>
        </p:nvSpPr>
        <p:spPr>
          <a:xfrm>
            <a:off x="611188" y="2349500"/>
            <a:ext cx="7991475" cy="3452813"/>
          </a:xfrm>
          <a:prstGeom prst="rect">
            <a:avLst/>
          </a:prstGeom>
          <a:solidFill>
            <a:schemeClr val="bg1"/>
          </a:solidFill>
          <a:ln w="9525">
            <a:noFill/>
          </a:ln>
        </p:spPr>
        <p:txBody>
          <a:bodyPr>
            <a:spAutoFit/>
          </a:bodyPr>
          <a:lstStyle/>
          <a:p>
            <a:pPr eaLnBrk="1" hangingPunct="1">
              <a:lnSpc>
                <a:spcPct val="130000"/>
              </a:lnSpc>
              <a:spcBef>
                <a:spcPts val="600"/>
              </a:spcBef>
              <a:buFont typeface="Arial" panose="020B0604020202020204" pitchFamily="34" charset="0"/>
            </a:pPr>
            <a:r>
              <a:rPr lang="zh-CN" altLang="en-US" sz="2800" b="1" dirty="0">
                <a:latin typeface="黑体" panose="02010609060101010101" pitchFamily="49" charset="-122"/>
                <a:ea typeface="黑体" panose="02010609060101010101" pitchFamily="49" charset="-122"/>
              </a:rPr>
              <a:t>    对于一个经常被其他类访问的类来讲，为了保证系统的安全性、通用性和限制软件的对外运算，一般不允许其他类直接与其通信，通常对外只开设一个窗口供其他类进行间接访问。这个窗口称为</a:t>
            </a:r>
            <a:r>
              <a:rPr lang="zh-CN" altLang="en-US" sz="2800" b="1" dirty="0">
                <a:solidFill>
                  <a:srgbClr val="FF0000"/>
                </a:solidFill>
                <a:latin typeface="黑体" panose="02010609060101010101" pitchFamily="49" charset="-122"/>
                <a:ea typeface="黑体" panose="02010609060101010101" pitchFamily="49" charset="-122"/>
              </a:rPr>
              <a:t>接口</a:t>
            </a:r>
            <a:r>
              <a:rPr lang="zh-CN" altLang="en-US" sz="2800" b="1" dirty="0">
                <a:latin typeface="黑体" panose="02010609060101010101" pitchFamily="49" charset="-122"/>
                <a:ea typeface="黑体" panose="02010609060101010101" pitchFamily="49" charset="-122"/>
              </a:rPr>
              <a:t>，也称为界面，被访问的类与接口连接。</a:t>
            </a:r>
            <a:endParaRPr lang="zh-CN" altLang="en-US" sz="2400" b="1" dirty="0">
              <a:latin typeface="楷体_GB2312" pitchFamily="49" charset="-122"/>
              <a:ea typeface="楷体_GB2312"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13"/>
          <p:cNvSpPr/>
          <p:nvPr/>
        </p:nvSpPr>
        <p:spPr>
          <a:xfrm>
            <a:off x="811213" y="127000"/>
            <a:ext cx="5700712" cy="387350"/>
          </a:xfrm>
          <a:prstGeom prst="rect">
            <a:avLst/>
          </a:prstGeom>
          <a:solidFill>
            <a:schemeClr val="bg1"/>
          </a:solidFill>
          <a:ln w="9525" cap="flat" cmpd="sng">
            <a:solidFill>
              <a:schemeClr val="bg1"/>
            </a:solidFill>
            <a:prstDash val="solid"/>
            <a:roun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接口举例</a:t>
            </a:r>
            <a:r>
              <a:rPr lang="en-US" altLang="zh-CN" sz="2400" b="1" dirty="0">
                <a:solidFill>
                  <a:srgbClr val="0A06B0"/>
                </a:solidFill>
                <a:latin typeface="Verdana" panose="020B0604030504040204" pitchFamily="34" charset="0"/>
              </a:rPr>
              <a:t>---UML</a:t>
            </a:r>
            <a:r>
              <a:rPr lang="zh-CN" altLang="en-US" sz="2400" b="1" dirty="0">
                <a:solidFill>
                  <a:srgbClr val="0A06B0"/>
                </a:solidFill>
                <a:latin typeface="Verdana" panose="020B0604030504040204" pitchFamily="34" charset="0"/>
              </a:rPr>
              <a:t>表示的选课接口</a:t>
            </a:r>
            <a:endParaRPr lang="zh-CN" altLang="en-US" sz="2400" b="1" dirty="0">
              <a:solidFill>
                <a:srgbClr val="0A06B0"/>
              </a:solidFill>
              <a:latin typeface="Verdana" panose="020B0604030504040204" pitchFamily="34" charset="0"/>
            </a:endParaRPr>
          </a:p>
        </p:txBody>
      </p:sp>
      <p:grpSp>
        <p:nvGrpSpPr>
          <p:cNvPr id="44035" name="组合 46"/>
          <p:cNvGrpSpPr/>
          <p:nvPr/>
        </p:nvGrpSpPr>
        <p:grpSpPr>
          <a:xfrm>
            <a:off x="2339975" y="3357563"/>
            <a:ext cx="4171950" cy="3614737"/>
            <a:chOff x="760163" y="2420888"/>
            <a:chExt cx="4171877" cy="3615822"/>
          </a:xfrm>
        </p:grpSpPr>
        <p:sp>
          <p:nvSpPr>
            <p:cNvPr id="44047" name="矩形 15"/>
            <p:cNvSpPr/>
            <p:nvPr/>
          </p:nvSpPr>
          <p:spPr>
            <a:xfrm>
              <a:off x="760163" y="2420888"/>
              <a:ext cx="4171877" cy="3615822"/>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600" dirty="0">
                  <a:latin typeface="Verdana" panose="020B0604030504040204" pitchFamily="34" charset="0"/>
                </a:rPr>
                <a:t> </a:t>
              </a:r>
              <a:r>
                <a:rPr lang="en-US" altLang="zh-CN" sz="1600" dirty="0">
                  <a:latin typeface="Verdana" panose="020B0604030504040204" pitchFamily="34" charset="0"/>
                </a:rPr>
                <a:t>&lt;&lt;IF Impl&gt;&gt;</a:t>
              </a:r>
              <a:endParaRPr lang="en-US" altLang="zh-CN" sz="1600" dirty="0">
                <a:latin typeface="Verdana" panose="020B0604030504040204" pitchFamily="34" charset="0"/>
              </a:endParaRPr>
            </a:p>
            <a:p>
              <a:pPr eaLnBrk="1" hangingPunct="1"/>
              <a:r>
                <a:rPr lang="zh-CN" altLang="en-US" sz="1600" dirty="0">
                  <a:latin typeface="Verdana" panose="020B0604030504040204" pitchFamily="34" charset="0"/>
                </a:rPr>
                <a:t>     选课实施</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课程名</a:t>
              </a:r>
              <a:r>
                <a:rPr lang="en-US" altLang="zh-CN" sz="1600" dirty="0">
                  <a:latin typeface="Verdana" panose="020B0604030504040204" pitchFamily="34" charset="0"/>
                </a:rPr>
                <a:t>:String</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课程编号</a:t>
              </a:r>
              <a:r>
                <a:rPr lang="en-US" altLang="zh-CN" sz="1600" dirty="0">
                  <a:latin typeface="Verdana" panose="020B0604030504040204" pitchFamily="34" charset="0"/>
                </a:rPr>
                <a:t>:String</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学号：</a:t>
              </a:r>
              <a:r>
                <a:rPr lang="en-US" altLang="zh-CN" sz="1600" dirty="0">
                  <a:latin typeface="Verdana" panose="020B0604030504040204" pitchFamily="34" charset="0"/>
                </a:rPr>
                <a:t>String</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姓名：</a:t>
              </a:r>
              <a:r>
                <a:rPr lang="en-US" altLang="zh-CN" sz="1600" dirty="0">
                  <a:latin typeface="Verdana" panose="020B0604030504040204" pitchFamily="34" charset="0"/>
                </a:rPr>
                <a:t>String</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学分：</a:t>
              </a:r>
              <a:r>
                <a:rPr lang="en-US" altLang="zh-CN" sz="1600" dirty="0">
                  <a:latin typeface="Verdana" panose="020B0604030504040204" pitchFamily="34" charset="0"/>
                </a:rPr>
                <a:t>Integer</a:t>
              </a:r>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构造对象</a:t>
              </a:r>
              <a:r>
                <a:rPr lang="en-US" altLang="zh-CN" sz="1600" dirty="0">
                  <a:latin typeface="Verdana" panose="020B0604030504040204" pitchFamily="34" charset="0"/>
                </a:rPr>
                <a:t>》</a:t>
              </a:r>
              <a:endParaRPr lang="en-US" altLang="zh-CN" sz="1600" dirty="0">
                <a:latin typeface="Verdana" panose="020B0604030504040204" pitchFamily="34" charset="0"/>
              </a:endParaRPr>
            </a:p>
            <a:p>
              <a:pPr eaLnBrk="1" hangingPunct="1"/>
              <a:r>
                <a:rPr lang="en-US" altLang="zh-CN" sz="1600" u="sng" dirty="0">
                  <a:latin typeface="Verdana" panose="020B0604030504040204" pitchFamily="34" charset="0"/>
                </a:rPr>
                <a:t>+</a:t>
              </a:r>
              <a:r>
                <a:rPr lang="zh-CN" altLang="en-US" sz="1600" u="sng" dirty="0">
                  <a:latin typeface="Verdana" panose="020B0604030504040204" pitchFamily="34" charset="0"/>
                </a:rPr>
                <a:t>选课实施（</a:t>
              </a:r>
              <a:r>
                <a:rPr lang="en-US" altLang="zh-CN" sz="1600" u="sng" dirty="0">
                  <a:latin typeface="Verdana" panose="020B0604030504040204" pitchFamily="34" charset="0"/>
                </a:rPr>
                <a:t>p1,p2,…</a:t>
              </a:r>
              <a:r>
                <a:rPr lang="zh-CN" altLang="en-US" sz="1600" u="sng" dirty="0">
                  <a:latin typeface="Verdana" panose="020B0604030504040204" pitchFamily="34" charset="0"/>
                </a:rPr>
                <a:t>）：</a:t>
              </a:r>
              <a:endParaRPr lang="en-US" altLang="zh-CN" sz="1600" u="sng" dirty="0">
                <a:latin typeface="Verdana" panose="020B0604030504040204" pitchFamily="34" charset="0"/>
              </a:endParaRPr>
            </a:p>
            <a:p>
              <a:pPr eaLnBrk="1" hangingPunct="1"/>
              <a:r>
                <a:rPr lang="en-US" altLang="zh-CN" sz="1600" dirty="0">
                  <a:latin typeface="Verdana" panose="020B0604030504040204" pitchFamily="34" charset="0"/>
                </a:rPr>
                <a:t>  &lt;&lt;</a:t>
              </a:r>
              <a:r>
                <a:rPr lang="zh-CN" altLang="en-US" sz="1600" dirty="0">
                  <a:latin typeface="Verdana" panose="020B0604030504040204" pitchFamily="34" charset="0"/>
                </a:rPr>
                <a:t>编辑修改</a:t>
              </a:r>
              <a:r>
                <a:rPr lang="en-US" altLang="zh-CN" sz="1600" dirty="0">
                  <a:latin typeface="Verdana" panose="020B0604030504040204" pitchFamily="34" charset="0"/>
                </a:rPr>
                <a:t>&gt;&gt;</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浏览所有课程</a:t>
              </a:r>
              <a:r>
                <a:rPr lang="en-US" altLang="zh-CN" sz="1600" dirty="0">
                  <a:latin typeface="Verdana" panose="020B0604030504040204" pitchFamily="34" charset="0"/>
                </a:rPr>
                <a:t>():</a:t>
              </a:r>
              <a:r>
                <a:rPr lang="zh-CN" altLang="en-US" sz="1600" dirty="0">
                  <a:latin typeface="Verdana" panose="020B0604030504040204" pitchFamily="34" charset="0"/>
                </a:rPr>
                <a:t>课程</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注册</a:t>
              </a:r>
              <a:r>
                <a:rPr lang="en-US" altLang="zh-CN" sz="1600" dirty="0">
                  <a:latin typeface="Verdana" panose="020B0604030504040204" pitchFamily="34" charset="0"/>
                </a:rPr>
                <a:t>(</a:t>
              </a:r>
              <a:r>
                <a:rPr lang="zh-CN" altLang="en-US" sz="1600" dirty="0">
                  <a:latin typeface="Verdana" panose="020B0604030504040204" pitchFamily="34" charset="0"/>
                </a:rPr>
                <a:t>课程名</a:t>
              </a:r>
              <a:r>
                <a:rPr lang="en-US" altLang="zh-CN" sz="1600" dirty="0">
                  <a:latin typeface="Verdana" panose="020B0604030504040204" pitchFamily="34" charset="0"/>
                </a:rPr>
                <a:t>:String</a:t>
              </a:r>
              <a:r>
                <a:rPr lang="zh-CN" altLang="en-US" sz="1600" dirty="0">
                  <a:latin typeface="Verdana" panose="020B0604030504040204" pitchFamily="34" charset="0"/>
                </a:rPr>
                <a:t>，学生</a:t>
              </a:r>
              <a:r>
                <a:rPr lang="en-US" altLang="zh-CN" sz="1600" dirty="0">
                  <a:latin typeface="Verdana" panose="020B0604030504040204" pitchFamily="34" charset="0"/>
                </a:rPr>
                <a:t>:</a:t>
              </a:r>
              <a:r>
                <a:rPr lang="zh-CN" altLang="en-US" sz="1600" dirty="0">
                  <a:latin typeface="Verdana" panose="020B0604030504040204" pitchFamily="34" charset="0"/>
                </a:rPr>
                <a:t>学生）</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取消注册</a:t>
              </a:r>
              <a:r>
                <a:rPr lang="en-US" altLang="zh-CN" sz="1600" dirty="0">
                  <a:latin typeface="Verdana" panose="020B0604030504040204" pitchFamily="34" charset="0"/>
                </a:rPr>
                <a:t>(</a:t>
              </a:r>
              <a:r>
                <a:rPr lang="zh-CN" altLang="en-US" sz="1600" dirty="0">
                  <a:latin typeface="Verdana" panose="020B0604030504040204" pitchFamily="34" charset="0"/>
                </a:rPr>
                <a:t>课程名</a:t>
              </a:r>
              <a:r>
                <a:rPr lang="en-US" altLang="zh-CN" sz="1600" dirty="0">
                  <a:latin typeface="Verdana" panose="020B0604030504040204" pitchFamily="34" charset="0"/>
                </a:rPr>
                <a:t>:String</a:t>
              </a:r>
              <a:r>
                <a:rPr lang="zh-CN" altLang="en-US" sz="1600" dirty="0">
                  <a:latin typeface="Verdana" panose="020B0604030504040204" pitchFamily="34" charset="0"/>
                </a:rPr>
                <a:t>，学生</a:t>
              </a:r>
              <a:r>
                <a:rPr lang="en-US" altLang="zh-CN" sz="1600" dirty="0">
                  <a:latin typeface="Verdana" panose="020B0604030504040204" pitchFamily="34" charset="0"/>
                </a:rPr>
                <a:t>:</a:t>
              </a:r>
              <a:r>
                <a:rPr lang="zh-CN" altLang="en-US" sz="1600" dirty="0">
                  <a:latin typeface="Verdana" panose="020B0604030504040204" pitchFamily="34" charset="0"/>
                </a:rPr>
                <a:t>学生）</a:t>
              </a:r>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zh-CN" altLang="en-US" sz="1600" dirty="0">
                <a:latin typeface="Verdana" panose="020B0604030504040204" pitchFamily="34" charset="0"/>
              </a:endParaRPr>
            </a:p>
          </p:txBody>
        </p:sp>
        <p:cxnSp>
          <p:nvCxnSpPr>
            <p:cNvPr id="44048" name="直接连接符 33"/>
            <p:cNvCxnSpPr/>
            <p:nvPr/>
          </p:nvCxnSpPr>
          <p:spPr>
            <a:xfrm>
              <a:off x="760163" y="2996952"/>
              <a:ext cx="4171877" cy="0"/>
            </a:xfrm>
            <a:prstGeom prst="line">
              <a:avLst/>
            </a:prstGeom>
            <a:ln w="9525" cap="flat" cmpd="sng">
              <a:solidFill>
                <a:schemeClr val="tx1"/>
              </a:solidFill>
              <a:prstDash val="solid"/>
              <a:headEnd type="none" w="med" len="med"/>
              <a:tailEnd type="none" w="med" len="med"/>
            </a:ln>
          </p:spPr>
        </p:cxnSp>
        <p:cxnSp>
          <p:nvCxnSpPr>
            <p:cNvPr id="44049" name="直接连接符 35"/>
            <p:cNvCxnSpPr/>
            <p:nvPr/>
          </p:nvCxnSpPr>
          <p:spPr>
            <a:xfrm>
              <a:off x="760163" y="4365104"/>
              <a:ext cx="4171877" cy="0"/>
            </a:xfrm>
            <a:prstGeom prst="line">
              <a:avLst/>
            </a:prstGeom>
            <a:ln w="9525" cap="flat" cmpd="sng">
              <a:solidFill>
                <a:schemeClr val="tx1"/>
              </a:solidFill>
              <a:prstDash val="solid"/>
              <a:headEnd type="none" w="med" len="med"/>
              <a:tailEnd type="none" w="med" len="med"/>
            </a:ln>
          </p:spPr>
        </p:cxnSp>
      </p:grpSp>
      <p:grpSp>
        <p:nvGrpSpPr>
          <p:cNvPr id="44036" name="组合 43"/>
          <p:cNvGrpSpPr/>
          <p:nvPr/>
        </p:nvGrpSpPr>
        <p:grpSpPr>
          <a:xfrm>
            <a:off x="2601913" y="982663"/>
            <a:ext cx="3646487" cy="1711325"/>
            <a:chOff x="5101888" y="1491204"/>
            <a:chExt cx="3646576" cy="1711177"/>
          </a:xfrm>
        </p:grpSpPr>
        <p:grpSp>
          <p:nvGrpSpPr>
            <p:cNvPr id="3" name="组合 2"/>
            <p:cNvGrpSpPr/>
            <p:nvPr/>
          </p:nvGrpSpPr>
          <p:grpSpPr>
            <a:xfrm>
              <a:off x="5101888" y="1491204"/>
              <a:ext cx="3646576" cy="1711177"/>
              <a:chOff x="477053" y="198411"/>
              <a:chExt cx="3086836" cy="1711177"/>
            </a:xfrm>
            <a:solidFill>
              <a:schemeClr val="bg1"/>
            </a:solidFill>
          </p:grpSpPr>
          <p:sp>
            <p:nvSpPr>
              <p:cNvPr id="21" name="矩形 1"/>
              <p:cNvSpPr>
                <a:spLocks noChangeArrowheads="1"/>
              </p:cNvSpPr>
              <p:nvPr/>
            </p:nvSpPr>
            <p:spPr bwMode="auto">
              <a:xfrm>
                <a:off x="477053" y="198411"/>
                <a:ext cx="3080751" cy="964771"/>
              </a:xfrm>
              <a:prstGeom prst="rect">
                <a:avLst/>
              </a:prstGeom>
              <a:grpFill/>
              <a:ln w="9525" algn="ctr">
                <a:solidFill>
                  <a:schemeClr val="tx1"/>
                </a:solidFill>
                <a:round/>
              </a:ln>
            </p:spPr>
            <p:txBody>
              <a:bodyPr wrap="none"/>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&lt;&lt;Interface&gt;&gt;</a:t>
                </a:r>
                <a:endParaRPr kumimoji="0" lang="en-US" altLang="zh-CN" sz="18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         选课</a:t>
                </a:r>
                <a:endParaRPr kumimoji="0" lang="en-US" altLang="zh-CN" sz="18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3" name="矩形 5"/>
              <p:cNvSpPr>
                <a:spLocks noChangeArrowheads="1"/>
              </p:cNvSpPr>
              <p:nvPr/>
            </p:nvSpPr>
            <p:spPr bwMode="auto">
              <a:xfrm>
                <a:off x="477053" y="1163182"/>
                <a:ext cx="3086836" cy="746406"/>
              </a:xfrm>
              <a:prstGeom prst="rect">
                <a:avLst/>
              </a:prstGeom>
              <a:grpFill/>
              <a:ln w="9525" algn="ctr">
                <a:solidFill>
                  <a:schemeClr val="tx1"/>
                </a:solidFill>
                <a:round/>
              </a:ln>
            </p:spPr>
            <p:txBody>
              <a:bodyPr wrap="none"/>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浏览所有课程（）</a:t>
                </a: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课程</a:t>
                </a:r>
                <a:endPar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注册</a:t>
                </a: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课程名</a:t>
                </a: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:String</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，学生</a:t>
                </a: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学生）</a:t>
                </a:r>
                <a:endPar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取消注册</a:t>
                </a: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课程名</a:t>
                </a: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:String</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，学生</a:t>
                </a: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a:t>
                </a:r>
                <a:r>
                  <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学生）</a:t>
                </a:r>
                <a:endPar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 </a:t>
                </a:r>
                <a:endParaRPr kumimoji="0" lang="zh-CN" altLang="en-US" sz="14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cxnSp>
          <p:nvCxnSpPr>
            <p:cNvPr id="44046" name="直接连接符 19"/>
            <p:cNvCxnSpPr/>
            <p:nvPr/>
          </p:nvCxnSpPr>
          <p:spPr>
            <a:xfrm>
              <a:off x="5101888" y="2095584"/>
              <a:ext cx="3639388" cy="37272"/>
            </a:xfrm>
            <a:prstGeom prst="line">
              <a:avLst/>
            </a:prstGeom>
            <a:ln w="6350" cap="flat" cmpd="sng">
              <a:solidFill>
                <a:schemeClr val="tx1"/>
              </a:solidFill>
              <a:prstDash val="solid"/>
              <a:headEnd type="none" w="med" len="med"/>
              <a:tailEnd type="none" w="med" len="med"/>
            </a:ln>
          </p:spPr>
        </p:cxnSp>
      </p:grpSp>
      <p:grpSp>
        <p:nvGrpSpPr>
          <p:cNvPr id="44037" name="组合 40"/>
          <p:cNvGrpSpPr/>
          <p:nvPr/>
        </p:nvGrpSpPr>
        <p:grpSpPr>
          <a:xfrm>
            <a:off x="4137025" y="2744788"/>
            <a:ext cx="288925" cy="612775"/>
            <a:chOff x="2558069" y="1808054"/>
            <a:chExt cx="288032" cy="612834"/>
          </a:xfrm>
        </p:grpSpPr>
        <p:sp>
          <p:nvSpPr>
            <p:cNvPr id="44043" name="等腰三角形 27"/>
            <p:cNvSpPr/>
            <p:nvPr/>
          </p:nvSpPr>
          <p:spPr>
            <a:xfrm>
              <a:off x="2558069" y="1808054"/>
              <a:ext cx="288032" cy="179365"/>
            </a:xfrm>
            <a:prstGeom prst="triangle">
              <a:avLst>
                <a:gd name="adj" fmla="val 50000"/>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cxnSp>
          <p:nvCxnSpPr>
            <p:cNvPr id="44044" name="直接连接符 39"/>
            <p:cNvCxnSpPr/>
            <p:nvPr/>
          </p:nvCxnSpPr>
          <p:spPr>
            <a:xfrm>
              <a:off x="2702085" y="1987419"/>
              <a:ext cx="0" cy="433469"/>
            </a:xfrm>
            <a:prstGeom prst="line">
              <a:avLst/>
            </a:prstGeom>
            <a:ln w="12700" cap="flat" cmpd="sng">
              <a:solidFill>
                <a:schemeClr val="tx1"/>
              </a:solidFill>
              <a:prstDash val="sysDash"/>
              <a:headEnd type="none" w="med" len="med"/>
              <a:tailEnd type="none" w="med" len="med"/>
            </a:ln>
          </p:spPr>
        </p:cxnSp>
      </p:grpSp>
      <p:grpSp>
        <p:nvGrpSpPr>
          <p:cNvPr id="52" name="组合 51"/>
          <p:cNvGrpSpPr/>
          <p:nvPr/>
        </p:nvGrpSpPr>
        <p:grpSpPr>
          <a:xfrm>
            <a:off x="6948488" y="2693988"/>
            <a:ext cx="2016125" cy="2319337"/>
            <a:chOff x="6948264" y="2694464"/>
            <a:chExt cx="2016224" cy="2318712"/>
          </a:xfrm>
        </p:grpSpPr>
        <p:sp>
          <p:nvSpPr>
            <p:cNvPr id="44040" name="圆角矩形 47"/>
            <p:cNvSpPr/>
            <p:nvPr/>
          </p:nvSpPr>
          <p:spPr>
            <a:xfrm>
              <a:off x="6948264" y="4437112"/>
              <a:ext cx="2016224" cy="576064"/>
            </a:xfrm>
            <a:prstGeom prst="roundRect">
              <a:avLst>
                <a:gd name="adj" fmla="val 16667"/>
              </a:avLst>
            </a:prstGeom>
            <a:solidFill>
              <a:schemeClr val="bg1"/>
            </a:solidFill>
            <a:ln w="9525" cap="flat" cmpd="sng">
              <a:solidFill>
                <a:schemeClr val="tx1"/>
              </a:solidFill>
              <a:prstDash val="solid"/>
              <a:headEnd type="none" w="med" len="med"/>
              <a:tailEnd type="none" w="med" len="med"/>
            </a:ln>
          </p:spPr>
          <p:txBody>
            <a:bodyPr wrap="none"/>
            <a:lstStyle/>
            <a:p>
              <a:pPr eaLnBrk="1" hangingPunct="1"/>
              <a:r>
                <a:rPr lang="zh-CN" altLang="en-US" dirty="0">
                  <a:latin typeface="Verdana" panose="020B0604030504040204" pitchFamily="34" charset="0"/>
                </a:rPr>
                <a:t>     </a:t>
              </a:r>
              <a:r>
                <a:rPr lang="zh-CN" altLang="en-US" sz="2400" dirty="0">
                  <a:latin typeface="Verdana" panose="020B0604030504040204" pitchFamily="34" charset="0"/>
                </a:rPr>
                <a:t>选课实施</a:t>
              </a:r>
              <a:endParaRPr lang="zh-CN" altLang="en-US" sz="2400" dirty="0">
                <a:latin typeface="Verdana" panose="020B0604030504040204" pitchFamily="34" charset="0"/>
              </a:endParaRPr>
            </a:p>
          </p:txBody>
        </p:sp>
        <p:sp>
          <p:nvSpPr>
            <p:cNvPr id="44041" name="椭圆 48"/>
            <p:cNvSpPr/>
            <p:nvPr/>
          </p:nvSpPr>
          <p:spPr>
            <a:xfrm>
              <a:off x="7452320" y="2694464"/>
              <a:ext cx="936104" cy="518512"/>
            </a:xfrm>
            <a:prstGeom prst="ellipse">
              <a:avLst/>
            </a:prstGeom>
            <a:solidFill>
              <a:schemeClr val="bg1"/>
            </a:solidFill>
            <a:ln w="9525" cap="flat" cmpd="sng">
              <a:solidFill>
                <a:schemeClr val="tx1"/>
              </a:solidFill>
              <a:prstDash val="solid"/>
              <a:headEnd type="none" w="med" len="med"/>
              <a:tailEnd type="none" w="med" len="med"/>
            </a:ln>
          </p:spPr>
          <p:txBody>
            <a:bodyPr wrap="none"/>
            <a:lstStyle/>
            <a:p>
              <a:pPr eaLnBrk="1" hangingPunct="1"/>
              <a:r>
                <a:rPr lang="zh-CN" altLang="en-US" sz="2400" dirty="0">
                  <a:latin typeface="Verdana" panose="020B0604030504040204" pitchFamily="34" charset="0"/>
                </a:rPr>
                <a:t>选课</a:t>
              </a:r>
              <a:endParaRPr lang="zh-CN" altLang="en-US" sz="2400" dirty="0">
                <a:latin typeface="Verdana" panose="020B0604030504040204" pitchFamily="34" charset="0"/>
              </a:endParaRPr>
            </a:p>
          </p:txBody>
        </p:sp>
        <p:cxnSp>
          <p:nvCxnSpPr>
            <p:cNvPr id="44042" name="直接连接符 50"/>
            <p:cNvCxnSpPr>
              <a:stCxn id="44041" idx="4"/>
            </p:cNvCxnSpPr>
            <p:nvPr/>
          </p:nvCxnSpPr>
          <p:spPr>
            <a:xfrm>
              <a:off x="7920372" y="3212976"/>
              <a:ext cx="36004" cy="1224136"/>
            </a:xfrm>
            <a:prstGeom prst="line">
              <a:avLst/>
            </a:prstGeom>
            <a:ln w="9525" cap="flat" cmpd="sng">
              <a:solidFill>
                <a:schemeClr val="tx1"/>
              </a:solidFill>
              <a:prstDash val="solid"/>
              <a:headEnd type="none" w="med" len="med"/>
              <a:tailEnd type="none" w="med" len="med"/>
            </a:ln>
          </p:spPr>
        </p:cxnSp>
      </p:grpSp>
      <p:sp>
        <p:nvSpPr>
          <p:cNvPr id="53" name="矩形 13"/>
          <p:cNvSpPr/>
          <p:nvPr/>
        </p:nvSpPr>
        <p:spPr>
          <a:xfrm>
            <a:off x="7267575" y="5468938"/>
            <a:ext cx="1876425" cy="385762"/>
          </a:xfrm>
          <a:prstGeom prst="rect">
            <a:avLst/>
          </a:prstGeom>
          <a:solidFill>
            <a:schemeClr val="bg1"/>
          </a:solidFill>
          <a:ln w="9525" cap="flat" cmpd="sng">
            <a:solidFill>
              <a:schemeClr val="bg1"/>
            </a:solidFill>
            <a:prstDash val="solid"/>
            <a:roun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短式表示</a:t>
            </a:r>
            <a:endParaRPr lang="zh-CN" altLang="en-US" sz="2400" b="1" dirty="0">
              <a:solidFill>
                <a:srgbClr val="0A06B0"/>
              </a:solidFill>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p:nvPr/>
        </p:nvSpPr>
        <p:spPr>
          <a:xfrm>
            <a:off x="-33337" y="23813"/>
            <a:ext cx="3673475" cy="584200"/>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solidFill>
                  <a:srgbClr val="FF0000"/>
                </a:solidFill>
                <a:latin typeface="黑体" panose="02010609060101010101" pitchFamily="49" charset="-122"/>
                <a:ea typeface="黑体" panose="02010609060101010101" pitchFamily="49" charset="-122"/>
              </a:rPr>
              <a:t>5.5.2  </a:t>
            </a:r>
            <a:r>
              <a:rPr lang="zh-CN" altLang="en-US" sz="3200" dirty="0">
                <a:solidFill>
                  <a:srgbClr val="FF0000"/>
                </a:solidFill>
                <a:latin typeface="黑体" panose="02010609060101010101" pitchFamily="49" charset="-122"/>
                <a:ea typeface="黑体" panose="02010609060101010101" pitchFamily="49" charset="-122"/>
              </a:rPr>
              <a:t>接口的实施</a:t>
            </a:r>
            <a:endParaRPr lang="zh-CN" altLang="en-US" sz="3200" dirty="0">
              <a:solidFill>
                <a:srgbClr val="FF0000"/>
              </a:solidFill>
              <a:latin typeface="黑体" panose="02010609060101010101" pitchFamily="49" charset="-122"/>
              <a:ea typeface="黑体" panose="02010609060101010101" pitchFamily="49" charset="-122"/>
            </a:endParaRPr>
          </a:p>
        </p:txBody>
      </p:sp>
      <p:pic>
        <p:nvPicPr>
          <p:cNvPr id="45059" name="Picture 3" descr="image043"/>
          <p:cNvPicPr>
            <a:picLocks noChangeAspect="1"/>
          </p:cNvPicPr>
          <p:nvPr/>
        </p:nvPicPr>
        <p:blipFill>
          <a:blip r:embed="rId1"/>
          <a:stretch>
            <a:fillRect/>
          </a:stretch>
        </p:blipFill>
        <p:spPr>
          <a:xfrm>
            <a:off x="171450" y="1858963"/>
            <a:ext cx="8853488" cy="4367212"/>
          </a:xfrm>
          <a:prstGeom prst="rect">
            <a:avLst/>
          </a:prstGeom>
          <a:noFill/>
          <a:ln w="9525" cap="flat" cmpd="sng">
            <a:solidFill>
              <a:srgbClr val="000000"/>
            </a:solidFill>
            <a:prstDash val="solid"/>
            <a:miter/>
            <a:headEnd type="none" w="med" len="med"/>
            <a:tailEnd type="none" w="med" len="med"/>
          </a:ln>
        </p:spPr>
      </p:pic>
      <p:sp>
        <p:nvSpPr>
          <p:cNvPr id="45060" name="圆角矩形 1"/>
          <p:cNvSpPr/>
          <p:nvPr/>
        </p:nvSpPr>
        <p:spPr>
          <a:xfrm>
            <a:off x="1079500" y="2540000"/>
            <a:ext cx="1728788" cy="390525"/>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b="1" dirty="0">
                <a:latin typeface="Verdana" panose="020B0604030504040204" pitchFamily="34" charset="0"/>
              </a:rPr>
              <a:t>     选 课</a:t>
            </a:r>
            <a:endParaRPr lang="zh-CN" altLang="en-US" b="1" dirty="0">
              <a:latin typeface="Verdana" panose="020B0604030504040204" pitchFamily="34" charset="0"/>
            </a:endParaRPr>
          </a:p>
        </p:txBody>
      </p:sp>
      <p:sp>
        <p:nvSpPr>
          <p:cNvPr id="45061" name="圆角矩形 4"/>
          <p:cNvSpPr/>
          <p:nvPr/>
        </p:nvSpPr>
        <p:spPr>
          <a:xfrm>
            <a:off x="1025525" y="4460875"/>
            <a:ext cx="1808163" cy="696913"/>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&lt;&lt;IF Impl&gt;&gt;</a:t>
            </a:r>
            <a:endParaRPr lang="en-US" altLang="zh-CN" b="1" dirty="0">
              <a:latin typeface="Verdana" panose="020B0604030504040204" pitchFamily="34" charset="0"/>
            </a:endParaRPr>
          </a:p>
          <a:p>
            <a:pPr eaLnBrk="1" hangingPunct="1"/>
            <a:r>
              <a:rPr lang="zh-CN" altLang="en-US" b="1" dirty="0">
                <a:latin typeface="Verdana" panose="020B0604030504040204" pitchFamily="34" charset="0"/>
              </a:rPr>
              <a:t>     选课实施</a:t>
            </a:r>
            <a:endParaRPr lang="zh-CN" altLang="en-US" b="1" dirty="0">
              <a:latin typeface="Verdana" panose="020B0604030504040204" pitchFamily="34" charset="0"/>
            </a:endParaRPr>
          </a:p>
        </p:txBody>
      </p:sp>
      <p:sp>
        <p:nvSpPr>
          <p:cNvPr id="45062" name="圆角矩形 5"/>
          <p:cNvSpPr/>
          <p:nvPr/>
        </p:nvSpPr>
        <p:spPr>
          <a:xfrm>
            <a:off x="2046288" y="3517900"/>
            <a:ext cx="941387" cy="358775"/>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b="1" dirty="0">
                <a:latin typeface="Verdana" panose="020B0604030504040204" pitchFamily="34" charset="0"/>
              </a:rPr>
              <a:t>实施</a:t>
            </a:r>
            <a:endParaRPr lang="zh-CN" altLang="en-US" b="1" dirty="0">
              <a:latin typeface="Verdana" panose="020B0604030504040204" pitchFamily="34" charset="0"/>
            </a:endParaRPr>
          </a:p>
        </p:txBody>
      </p:sp>
      <p:sp>
        <p:nvSpPr>
          <p:cNvPr id="45063" name="圆角矩形 6"/>
          <p:cNvSpPr/>
          <p:nvPr/>
        </p:nvSpPr>
        <p:spPr>
          <a:xfrm>
            <a:off x="7885113" y="3927475"/>
            <a:ext cx="935037" cy="360363"/>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b="1" dirty="0">
                <a:latin typeface="Verdana" panose="020B0604030504040204" pitchFamily="34" charset="0"/>
              </a:rPr>
              <a:t>选 课</a:t>
            </a:r>
            <a:endParaRPr lang="zh-CN" altLang="en-US" b="1" dirty="0">
              <a:latin typeface="Verdana" panose="020B0604030504040204" pitchFamily="34" charset="0"/>
            </a:endParaRPr>
          </a:p>
        </p:txBody>
      </p:sp>
      <p:sp>
        <p:nvSpPr>
          <p:cNvPr id="45064" name="圆角矩形 7"/>
          <p:cNvSpPr/>
          <p:nvPr/>
        </p:nvSpPr>
        <p:spPr>
          <a:xfrm>
            <a:off x="3348038" y="5661025"/>
            <a:ext cx="3303587" cy="550863"/>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接口及其实施类</a:t>
            </a:r>
            <a:endParaRPr lang="zh-CN" altLang="en-US" sz="2400" b="1" dirty="0">
              <a:solidFill>
                <a:srgbClr val="0A06B0"/>
              </a:solidFill>
              <a:latin typeface="Verdana" panose="020B0604030504040204" pitchFamily="34" charset="0"/>
            </a:endParaRPr>
          </a:p>
        </p:txBody>
      </p:sp>
      <p:sp>
        <p:nvSpPr>
          <p:cNvPr id="9" name="圆角矩形 8"/>
          <p:cNvSpPr/>
          <p:nvPr/>
        </p:nvSpPr>
        <p:spPr>
          <a:xfrm>
            <a:off x="195263" y="1138238"/>
            <a:ext cx="6456362" cy="549275"/>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接口常用来定义或限制软件构件的对外运算。</a:t>
            </a:r>
            <a:endParaRPr lang="zh-CN" altLang="en-US" sz="2400" b="1" dirty="0">
              <a:solidFill>
                <a:srgbClr val="0A06B0"/>
              </a:solidFill>
              <a:latin typeface="Verdana" panose="020B0604030504040204" pitchFamily="34" charset="0"/>
            </a:endParaRPr>
          </a:p>
        </p:txBody>
      </p:sp>
      <p:sp>
        <p:nvSpPr>
          <p:cNvPr id="45066" name="圆角矩形 1"/>
          <p:cNvSpPr/>
          <p:nvPr/>
        </p:nvSpPr>
        <p:spPr>
          <a:xfrm>
            <a:off x="900113" y="2160588"/>
            <a:ext cx="2087562" cy="379412"/>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&lt;&lt;Interface&gt;&gt;</a:t>
            </a:r>
            <a:endParaRPr lang="zh-CN" altLang="en-US" b="1" dirty="0">
              <a:latin typeface="Verdana" panose="020B0604030504040204" pitchFamily="34" charset="0"/>
            </a:endParaRPr>
          </a:p>
        </p:txBody>
      </p:sp>
      <p:sp>
        <p:nvSpPr>
          <p:cNvPr id="45067" name="圆角矩形 4"/>
          <p:cNvSpPr/>
          <p:nvPr/>
        </p:nvSpPr>
        <p:spPr>
          <a:xfrm>
            <a:off x="4297363" y="3411538"/>
            <a:ext cx="1808162" cy="696912"/>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&lt;&lt;IF Impl&gt;&gt;</a:t>
            </a:r>
            <a:endParaRPr lang="en-US" altLang="zh-CN" b="1" dirty="0">
              <a:latin typeface="Verdana" panose="020B0604030504040204" pitchFamily="34" charset="0"/>
            </a:endParaRPr>
          </a:p>
          <a:p>
            <a:pPr eaLnBrk="1" hangingPunct="1"/>
            <a:r>
              <a:rPr lang="zh-CN" altLang="en-US" b="1" dirty="0">
                <a:latin typeface="Verdana" panose="020B0604030504040204" pitchFamily="34" charset="0"/>
              </a:rPr>
              <a:t>     选课实施</a:t>
            </a:r>
            <a:endParaRPr lang="zh-CN" altLang="en-US" b="1"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p:nvPr/>
        </p:nvSpPr>
        <p:spPr>
          <a:xfrm>
            <a:off x="71438" y="484188"/>
            <a:ext cx="7308850" cy="641350"/>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5.6   </a:t>
            </a:r>
            <a:r>
              <a:rPr lang="zh-CN" altLang="en-US" sz="3600" dirty="0">
                <a:latin typeface="黑体" panose="02010609060101010101" pitchFamily="49" charset="-122"/>
                <a:ea typeface="黑体" panose="02010609060101010101" pitchFamily="49" charset="-122"/>
              </a:rPr>
              <a:t>系统体系结构的分层次描述</a:t>
            </a:r>
            <a:endParaRPr lang="zh-CN" altLang="en-US" sz="3600" dirty="0">
              <a:latin typeface="黑体" panose="02010609060101010101" pitchFamily="49" charset="-122"/>
              <a:ea typeface="黑体" panose="02010609060101010101" pitchFamily="49" charset="-122"/>
            </a:endParaRPr>
          </a:p>
        </p:txBody>
      </p:sp>
      <p:sp>
        <p:nvSpPr>
          <p:cNvPr id="46083" name="Text Box 3"/>
          <p:cNvSpPr txBox="1"/>
          <p:nvPr/>
        </p:nvSpPr>
        <p:spPr>
          <a:xfrm>
            <a:off x="395288" y="1614488"/>
            <a:ext cx="8451850" cy="519112"/>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5.6.1  </a:t>
            </a:r>
            <a:r>
              <a:rPr lang="zh-CN" altLang="en-US" sz="2800" dirty="0">
                <a:latin typeface="黑体" panose="02010609060101010101" pitchFamily="49" charset="-122"/>
                <a:ea typeface="黑体" panose="02010609060101010101" pitchFamily="49" charset="-122"/>
              </a:rPr>
              <a:t>系统体系结构的基本单元</a:t>
            </a:r>
            <a:r>
              <a:rPr lang="en-US" altLang="zh-CN" sz="2800" dirty="0">
                <a:latin typeface="Times New Roman" panose="02020603050405020304" pitchFamily="18" charset="0"/>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包（子系统）</a:t>
            </a:r>
            <a:endParaRPr lang="zh-CN" altLang="en-US" sz="2800" dirty="0">
              <a:latin typeface="黑体" panose="02010609060101010101" pitchFamily="49" charset="-122"/>
              <a:ea typeface="黑体" panose="02010609060101010101" pitchFamily="49" charset="-122"/>
            </a:endParaRPr>
          </a:p>
        </p:txBody>
      </p:sp>
      <p:pic>
        <p:nvPicPr>
          <p:cNvPr id="46084" name="Picture 4" descr="image045"/>
          <p:cNvPicPr>
            <a:picLocks noChangeAspect="1"/>
          </p:cNvPicPr>
          <p:nvPr/>
        </p:nvPicPr>
        <p:blipFill>
          <a:blip r:embed="rId1"/>
          <a:stretch>
            <a:fillRect/>
          </a:stretch>
        </p:blipFill>
        <p:spPr>
          <a:xfrm>
            <a:off x="827088" y="2481263"/>
            <a:ext cx="7667625" cy="3684587"/>
          </a:xfrm>
          <a:prstGeom prst="rect">
            <a:avLst/>
          </a:prstGeom>
          <a:noFill/>
          <a:ln w="9525" cap="flat" cmpd="sng">
            <a:solidFill>
              <a:srgbClr val="000000"/>
            </a:solidFill>
            <a:prstDash val="solid"/>
            <a:miter/>
            <a:headEnd type="none" w="med" len="med"/>
            <a:tailEnd type="none" w="med" len="med"/>
          </a:ln>
        </p:spPr>
      </p:pic>
      <p:sp>
        <p:nvSpPr>
          <p:cNvPr id="46085" name="圆角矩形 5"/>
          <p:cNvSpPr/>
          <p:nvPr/>
        </p:nvSpPr>
        <p:spPr>
          <a:xfrm>
            <a:off x="1619250" y="3357563"/>
            <a:ext cx="1584325" cy="358775"/>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a:t>
            </a:r>
            <a:r>
              <a:rPr lang="zh-CN" altLang="en-US" b="1" dirty="0">
                <a:latin typeface="Verdana" panose="020B0604030504040204" pitchFamily="34" charset="0"/>
              </a:rPr>
              <a:t>销售单</a:t>
            </a:r>
            <a:endParaRPr lang="zh-CN" altLang="en-US" b="1" dirty="0">
              <a:latin typeface="Verdana" panose="020B0604030504040204" pitchFamily="34" charset="0"/>
            </a:endParaRPr>
          </a:p>
        </p:txBody>
      </p:sp>
      <p:sp>
        <p:nvSpPr>
          <p:cNvPr id="46086" name="圆角矩形 6"/>
          <p:cNvSpPr/>
          <p:nvPr/>
        </p:nvSpPr>
        <p:spPr>
          <a:xfrm>
            <a:off x="1620838" y="3716338"/>
            <a:ext cx="1584325" cy="360362"/>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a:t>
            </a:r>
            <a:r>
              <a:rPr lang="zh-CN" altLang="en-US" b="1" dirty="0">
                <a:latin typeface="Verdana" panose="020B0604030504040204" pitchFamily="34" charset="0"/>
              </a:rPr>
              <a:t>财务统计表</a:t>
            </a:r>
            <a:endParaRPr lang="zh-CN" altLang="en-US" b="1" dirty="0">
              <a:latin typeface="Verdana" panose="020B0604030504040204" pitchFamily="34" charset="0"/>
            </a:endParaRPr>
          </a:p>
        </p:txBody>
      </p:sp>
      <p:sp>
        <p:nvSpPr>
          <p:cNvPr id="46087" name="圆角矩形 7"/>
          <p:cNvSpPr/>
          <p:nvPr/>
        </p:nvSpPr>
        <p:spPr>
          <a:xfrm>
            <a:off x="1614488" y="4143375"/>
            <a:ext cx="1584325" cy="360363"/>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a:t>
            </a:r>
            <a:r>
              <a:rPr lang="zh-CN" altLang="en-US" b="1" dirty="0">
                <a:latin typeface="Verdana" panose="020B0604030504040204" pitchFamily="34" charset="0"/>
              </a:rPr>
              <a:t>售后服务单</a:t>
            </a:r>
            <a:endParaRPr lang="zh-CN" altLang="en-US" b="1" dirty="0">
              <a:latin typeface="Verdana" panose="020B0604030504040204" pitchFamily="34" charset="0"/>
            </a:endParaRPr>
          </a:p>
        </p:txBody>
      </p:sp>
      <p:sp>
        <p:nvSpPr>
          <p:cNvPr id="46088" name="圆角矩形 8"/>
          <p:cNvSpPr/>
          <p:nvPr/>
        </p:nvSpPr>
        <p:spPr>
          <a:xfrm>
            <a:off x="5946775" y="3549650"/>
            <a:ext cx="1277938" cy="360363"/>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a:t>
            </a:r>
            <a:r>
              <a:rPr lang="zh-CN" altLang="en-US" b="1" dirty="0">
                <a:latin typeface="Verdana" panose="020B0604030504040204" pitchFamily="34" charset="0"/>
              </a:rPr>
              <a:t>销售单</a:t>
            </a:r>
            <a:endParaRPr lang="zh-CN" altLang="en-US" b="1" dirty="0">
              <a:latin typeface="Verdana" panose="020B0604030504040204" pitchFamily="34" charset="0"/>
            </a:endParaRPr>
          </a:p>
        </p:txBody>
      </p:sp>
      <p:sp>
        <p:nvSpPr>
          <p:cNvPr id="46089" name="圆角矩形 9"/>
          <p:cNvSpPr/>
          <p:nvPr/>
        </p:nvSpPr>
        <p:spPr>
          <a:xfrm>
            <a:off x="5865813" y="4244975"/>
            <a:ext cx="1439862" cy="328613"/>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a:t>
            </a:r>
            <a:r>
              <a:rPr lang="zh-CN" altLang="en-US" b="1" dirty="0">
                <a:latin typeface="Verdana" panose="020B0604030504040204" pitchFamily="34" charset="0"/>
              </a:rPr>
              <a:t>财务统计表</a:t>
            </a:r>
            <a:endParaRPr lang="zh-CN" altLang="en-US" b="1" dirty="0">
              <a:latin typeface="Verdana" panose="020B0604030504040204" pitchFamily="34" charset="0"/>
            </a:endParaRPr>
          </a:p>
        </p:txBody>
      </p:sp>
      <p:sp>
        <p:nvSpPr>
          <p:cNvPr id="46090" name="圆角矩形 10"/>
          <p:cNvSpPr/>
          <p:nvPr/>
        </p:nvSpPr>
        <p:spPr>
          <a:xfrm>
            <a:off x="1614488" y="2622550"/>
            <a:ext cx="1584325" cy="573088"/>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b="1" dirty="0">
                <a:latin typeface="Verdana" panose="020B0604030504040204" pitchFamily="34" charset="0"/>
              </a:rPr>
              <a:t>进销存</a:t>
            </a:r>
            <a:r>
              <a:rPr lang="en-US" altLang="zh-CN" b="1" dirty="0">
                <a:latin typeface="Verdana" panose="020B0604030504040204" pitchFamily="34" charset="0"/>
              </a:rPr>
              <a:t>::</a:t>
            </a:r>
            <a:r>
              <a:rPr lang="zh-CN" altLang="en-US" b="1" dirty="0">
                <a:latin typeface="Verdana" panose="020B0604030504040204" pitchFamily="34" charset="0"/>
              </a:rPr>
              <a:t>销售</a:t>
            </a:r>
            <a:endParaRPr lang="en-US" altLang="zh-CN" b="1" dirty="0">
              <a:latin typeface="Verdana" panose="020B0604030504040204" pitchFamily="34" charset="0"/>
            </a:endParaRPr>
          </a:p>
          <a:p>
            <a:pPr eaLnBrk="1" hangingPunct="1"/>
            <a:r>
              <a:rPr lang="en-US" altLang="zh-CN" b="1" dirty="0">
                <a:latin typeface="Verdana" panose="020B0604030504040204" pitchFamily="34" charset="0"/>
              </a:rPr>
              <a:t>System</a:t>
            </a:r>
            <a:endParaRPr lang="zh-CN" altLang="en-US" b="1" dirty="0">
              <a:latin typeface="Verdana" panose="020B0604030504040204" pitchFamily="34" charset="0"/>
            </a:endParaRPr>
          </a:p>
        </p:txBody>
      </p:sp>
      <p:sp>
        <p:nvSpPr>
          <p:cNvPr id="46091" name="圆角矩形 15"/>
          <p:cNvSpPr/>
          <p:nvPr/>
        </p:nvSpPr>
        <p:spPr>
          <a:xfrm>
            <a:off x="5865813" y="4957763"/>
            <a:ext cx="1514475" cy="360362"/>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en-US" altLang="zh-CN" b="1" dirty="0">
                <a:latin typeface="Verdana" panose="020B0604030504040204" pitchFamily="34" charset="0"/>
              </a:rPr>
              <a:t>-</a:t>
            </a:r>
            <a:r>
              <a:rPr lang="zh-CN" altLang="en-US" b="1" dirty="0">
                <a:latin typeface="Verdana" panose="020B0604030504040204" pitchFamily="34" charset="0"/>
              </a:rPr>
              <a:t>售后服务单</a:t>
            </a:r>
            <a:endParaRPr lang="zh-CN" altLang="en-US" b="1" dirty="0">
              <a:latin typeface="Verdana" panose="020B0604030504040204" pitchFamily="34" charset="0"/>
            </a:endParaRPr>
          </a:p>
        </p:txBody>
      </p:sp>
      <p:sp>
        <p:nvSpPr>
          <p:cNvPr id="46092" name="圆角矩形 16"/>
          <p:cNvSpPr/>
          <p:nvPr/>
        </p:nvSpPr>
        <p:spPr>
          <a:xfrm>
            <a:off x="3162300" y="5565775"/>
            <a:ext cx="3303588" cy="549275"/>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一个包的例子</a:t>
            </a:r>
            <a:endParaRPr lang="zh-CN" altLang="en-US" sz="2400" b="1" dirty="0">
              <a:solidFill>
                <a:srgbClr val="0A06B0"/>
              </a:solidFill>
              <a:latin typeface="Verdana" panose="020B0604030504040204" pitchFamily="34" charset="0"/>
            </a:endParaRPr>
          </a:p>
        </p:txBody>
      </p:sp>
      <p:sp>
        <p:nvSpPr>
          <p:cNvPr id="46093" name="圆角矩形 17"/>
          <p:cNvSpPr/>
          <p:nvPr/>
        </p:nvSpPr>
        <p:spPr>
          <a:xfrm>
            <a:off x="5543550" y="2595563"/>
            <a:ext cx="1584325" cy="573087"/>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b="1" dirty="0">
                <a:latin typeface="Verdana" panose="020B0604030504040204" pitchFamily="34" charset="0"/>
              </a:rPr>
              <a:t>进销存</a:t>
            </a:r>
            <a:r>
              <a:rPr lang="en-US" altLang="zh-CN" b="1" dirty="0">
                <a:latin typeface="Verdana" panose="020B0604030504040204" pitchFamily="34" charset="0"/>
              </a:rPr>
              <a:t>::</a:t>
            </a:r>
            <a:r>
              <a:rPr lang="zh-CN" altLang="en-US" b="1" dirty="0">
                <a:latin typeface="Verdana" panose="020B0604030504040204" pitchFamily="34" charset="0"/>
              </a:rPr>
              <a:t>销售</a:t>
            </a:r>
            <a:endParaRPr lang="en-US" altLang="zh-CN" b="1" dirty="0">
              <a:latin typeface="Verdana" panose="020B0604030504040204" pitchFamily="34" charset="0"/>
            </a:endParaRPr>
          </a:p>
          <a:p>
            <a:pPr eaLnBrk="1" hangingPunct="1"/>
            <a:r>
              <a:rPr lang="en-US" altLang="zh-CN" b="1" dirty="0">
                <a:latin typeface="Verdana" panose="020B0604030504040204" pitchFamily="34" charset="0"/>
              </a:rPr>
              <a:t>subsystem</a:t>
            </a:r>
            <a:endParaRPr lang="zh-CN" altLang="en-US" b="1" dirty="0">
              <a:latin typeface="Verdana" panose="020B060403050404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3"/>
          <p:cNvSpPr txBox="1"/>
          <p:nvPr/>
        </p:nvSpPr>
        <p:spPr>
          <a:xfrm>
            <a:off x="179388" y="333375"/>
            <a:ext cx="5670550" cy="579438"/>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UML</a:t>
            </a:r>
            <a:r>
              <a:rPr lang="zh-CN" altLang="en-US" sz="3200" dirty="0">
                <a:latin typeface="黑体" panose="02010609060101010101" pitchFamily="49" charset="-122"/>
                <a:ea typeface="黑体" panose="02010609060101010101" pitchFamily="49" charset="-122"/>
              </a:rPr>
              <a:t>中对包预定义的构造型有：</a:t>
            </a:r>
            <a:endParaRPr lang="zh-CN" altLang="en-US" sz="3200" dirty="0">
              <a:latin typeface="黑体" panose="02010609060101010101" pitchFamily="49" charset="-122"/>
              <a:ea typeface="黑体" panose="02010609060101010101" pitchFamily="49" charset="-122"/>
            </a:endParaRPr>
          </a:p>
        </p:txBody>
      </p:sp>
      <p:sp>
        <p:nvSpPr>
          <p:cNvPr id="47107" name="Text Box 4"/>
          <p:cNvSpPr txBox="1"/>
          <p:nvPr/>
        </p:nvSpPr>
        <p:spPr>
          <a:xfrm>
            <a:off x="468313" y="1217613"/>
            <a:ext cx="7704137" cy="2282825"/>
          </a:xfrm>
          <a:prstGeom prst="rect">
            <a:avLst/>
          </a:prstGeom>
          <a:noFill/>
          <a:ln w="9525">
            <a:noFill/>
          </a:ln>
        </p:spPr>
        <p:txBody>
          <a:bodyPr>
            <a:spAutoFit/>
          </a:bodyPr>
          <a:lstStyle/>
          <a:p>
            <a:pPr eaLnBrk="1" hangingPunct="1">
              <a:buFont typeface="Wingdings" panose="05000000000000000000" pitchFamily="2" charset="2"/>
              <a:buChar char="u"/>
            </a:pPr>
            <a:r>
              <a:rPr lang="en-US" altLang="zh-CN" sz="2400" dirty="0">
                <a:latin typeface="Arial" panose="020B0604020202020204" pitchFamily="34" charset="0"/>
                <a:ea typeface="楷体_GB2312" pitchFamily="49" charset="-122"/>
              </a:rPr>
              <a:t>&lt;&lt;system&gt;&gt;</a:t>
            </a:r>
            <a:r>
              <a:rPr lang="zh-CN" altLang="en-US" sz="2400" dirty="0">
                <a:latin typeface="Arial" panose="020B0604020202020204" pitchFamily="34" charset="0"/>
                <a:ea typeface="楷体_GB2312" pitchFamily="49" charset="-122"/>
              </a:rPr>
              <a:t>：系统模型。</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en-US" altLang="zh-CN" sz="2400" dirty="0">
                <a:latin typeface="Arial" panose="020B0604020202020204" pitchFamily="34" charset="0"/>
                <a:ea typeface="楷体_GB2312" pitchFamily="49" charset="-122"/>
              </a:rPr>
              <a:t>&lt;&lt;subsystem&gt;&gt;</a:t>
            </a:r>
            <a:r>
              <a:rPr lang="zh-CN" altLang="en-US" sz="2400" dirty="0">
                <a:latin typeface="Arial" panose="020B0604020202020204" pitchFamily="34" charset="0"/>
                <a:ea typeface="楷体_GB2312" pitchFamily="49" charset="-122"/>
              </a:rPr>
              <a:t>：子系统模型。</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en-US" altLang="zh-CN" sz="2400" dirty="0">
                <a:latin typeface="Arial" panose="020B0604020202020204" pitchFamily="34" charset="0"/>
                <a:ea typeface="楷体_GB2312" pitchFamily="49" charset="-122"/>
              </a:rPr>
              <a:t>&lt;&lt;facade&gt;&gt;</a:t>
            </a:r>
            <a:r>
              <a:rPr lang="zh-CN" altLang="en-US" sz="2400" dirty="0">
                <a:latin typeface="Arial" panose="020B0604020202020204" pitchFamily="34" charset="0"/>
                <a:ea typeface="楷体_GB2312" pitchFamily="49" charset="-122"/>
              </a:rPr>
              <a:t>：仅仅是其他包的某一个视图，如业务模型中有关产品的信息。</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en-US" altLang="zh-CN" sz="2400" dirty="0">
                <a:latin typeface="Arial" panose="020B0604020202020204" pitchFamily="34" charset="0"/>
                <a:ea typeface="楷体_GB2312" pitchFamily="49" charset="-122"/>
              </a:rPr>
              <a:t>&lt;&lt;stub&gt;&gt;</a:t>
            </a:r>
            <a:r>
              <a:rPr lang="zh-CN" altLang="en-US" sz="2400" dirty="0">
                <a:latin typeface="Arial" panose="020B0604020202020204" pitchFamily="34" charset="0"/>
                <a:ea typeface="楷体_GB2312" pitchFamily="49" charset="-122"/>
              </a:rPr>
              <a:t>：另一个包公共内容的服务代理（存根）。</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en-US" altLang="zh-CN" sz="2400" dirty="0">
                <a:latin typeface="Arial" panose="020B0604020202020204" pitchFamily="34" charset="0"/>
                <a:ea typeface="楷体_GB2312" pitchFamily="49" charset="-122"/>
              </a:rPr>
              <a:t>&lt;&lt;framework&gt;&gt;</a:t>
            </a:r>
            <a:r>
              <a:rPr lang="zh-CN" altLang="en-US" sz="2400" dirty="0">
                <a:latin typeface="Arial" panose="020B0604020202020204" pitchFamily="34" charset="0"/>
                <a:ea typeface="楷体_GB2312" pitchFamily="49" charset="-122"/>
              </a:rPr>
              <a:t>：模型的体系结构。</a:t>
            </a:r>
            <a:endParaRPr lang="zh-CN" altLang="en-US" sz="2400" dirty="0">
              <a:latin typeface="Arial" panose="020B0604020202020204" pitchFamily="34" charset="0"/>
              <a:ea typeface="楷体_GB2312" pitchFamily="49" charset="-122"/>
            </a:endParaRPr>
          </a:p>
        </p:txBody>
      </p:sp>
      <p:sp>
        <p:nvSpPr>
          <p:cNvPr id="47108" name="Text Box 5"/>
          <p:cNvSpPr txBox="1"/>
          <p:nvPr/>
        </p:nvSpPr>
        <p:spPr>
          <a:xfrm>
            <a:off x="195263" y="3786188"/>
            <a:ext cx="2647950" cy="579437"/>
          </a:xfrm>
          <a:prstGeom prst="rect">
            <a:avLst/>
          </a:prstGeom>
          <a:noFill/>
          <a:ln w="9525">
            <a:noFill/>
          </a:ln>
        </p:spPr>
        <p:txBody>
          <a:bodyPr>
            <a:spAutoFit/>
          </a:bodyPr>
          <a:lstStyle/>
          <a:p>
            <a:pPr eaLnBrk="1" hangingPunct="1">
              <a:buFont typeface="Arial" panose="020B0604020202020204" pitchFamily="34" charset="0"/>
            </a:pPr>
            <a:r>
              <a:rPr lang="zh-CN" altLang="en-US" sz="3200" dirty="0">
                <a:latin typeface="Arial" panose="020B0604020202020204" pitchFamily="34" charset="0"/>
                <a:ea typeface="黑体" panose="02010609060101010101" pitchFamily="49" charset="-122"/>
              </a:rPr>
              <a:t>基本功能：</a:t>
            </a:r>
            <a:endParaRPr lang="zh-CN" altLang="en-US" sz="3200" dirty="0">
              <a:latin typeface="Arial" panose="020B0604020202020204" pitchFamily="34" charset="0"/>
              <a:ea typeface="黑体" panose="02010609060101010101" pitchFamily="49" charset="-122"/>
            </a:endParaRPr>
          </a:p>
        </p:txBody>
      </p:sp>
      <p:sp>
        <p:nvSpPr>
          <p:cNvPr id="47109" name="Text Box 6"/>
          <p:cNvSpPr txBox="1"/>
          <p:nvPr/>
        </p:nvSpPr>
        <p:spPr>
          <a:xfrm>
            <a:off x="539750" y="4797425"/>
            <a:ext cx="7494588" cy="822325"/>
          </a:xfrm>
          <a:prstGeom prst="rect">
            <a:avLst/>
          </a:prstGeom>
          <a:noFill/>
          <a:ln w="9525">
            <a:noFill/>
          </a:ln>
        </p:spPr>
        <p:txBody>
          <a:bodyPr wrap="none">
            <a:spAutoFit/>
          </a:bodyPr>
          <a:lstStyle/>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规定了系统之间的接口，便于各小组独立开展工作；</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用来表示该小组当前工作的成果，供其他小组参考。</a:t>
            </a:r>
            <a:endParaRPr lang="zh-CN" altLang="en-US" sz="2400" dirty="0">
              <a:latin typeface="Arial" panose="020B0604020202020204" pitchFamily="34" charset="0"/>
              <a:ea typeface="楷体_GB2312"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3"/>
          <p:cNvSpPr txBox="1"/>
          <p:nvPr/>
        </p:nvSpPr>
        <p:spPr>
          <a:xfrm>
            <a:off x="5829300" y="-63500"/>
            <a:ext cx="3262313" cy="584200"/>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solidFill>
                  <a:srgbClr val="FF0000"/>
                </a:solidFill>
                <a:latin typeface="黑体" panose="02010609060101010101" pitchFamily="49" charset="-122"/>
                <a:ea typeface="黑体" panose="02010609060101010101" pitchFamily="49" charset="-122"/>
              </a:rPr>
              <a:t>5.6.2  </a:t>
            </a:r>
            <a:r>
              <a:rPr lang="zh-CN" altLang="en-US" sz="3200" dirty="0">
                <a:solidFill>
                  <a:srgbClr val="FF0000"/>
                </a:solidFill>
                <a:latin typeface="黑体" panose="02010609060101010101" pitchFamily="49" charset="-122"/>
                <a:ea typeface="黑体" panose="02010609060101010101" pitchFamily="49" charset="-122"/>
              </a:rPr>
              <a:t>包的嵌套</a:t>
            </a:r>
            <a:endParaRPr lang="zh-CN" altLang="en-US" sz="3200" dirty="0">
              <a:solidFill>
                <a:srgbClr val="FF0000"/>
              </a:solidFill>
              <a:latin typeface="黑体" panose="02010609060101010101" pitchFamily="49" charset="-122"/>
              <a:ea typeface="黑体" panose="02010609060101010101" pitchFamily="49" charset="-122"/>
            </a:endParaRPr>
          </a:p>
        </p:txBody>
      </p:sp>
      <p:pic>
        <p:nvPicPr>
          <p:cNvPr id="48131" name="Picture 4" descr="image047"/>
          <p:cNvPicPr>
            <a:picLocks noChangeAspect="1"/>
          </p:cNvPicPr>
          <p:nvPr/>
        </p:nvPicPr>
        <p:blipFill>
          <a:blip r:embed="rId1"/>
          <a:stretch>
            <a:fillRect/>
          </a:stretch>
        </p:blipFill>
        <p:spPr>
          <a:xfrm>
            <a:off x="1187450" y="465138"/>
            <a:ext cx="6480175" cy="3252787"/>
          </a:xfrm>
          <a:prstGeom prst="rect">
            <a:avLst/>
          </a:prstGeom>
          <a:noFill/>
          <a:ln w="9525" cap="flat" cmpd="sng">
            <a:solidFill>
              <a:srgbClr val="000000"/>
            </a:solidFill>
            <a:prstDash val="solid"/>
            <a:miter/>
            <a:headEnd type="none" w="med" len="med"/>
            <a:tailEnd type="none" w="med" len="med"/>
          </a:ln>
        </p:spPr>
      </p:pic>
      <p:pic>
        <p:nvPicPr>
          <p:cNvPr id="48132" name="Picture 5" descr="image048"/>
          <p:cNvPicPr>
            <a:picLocks noChangeAspect="1"/>
          </p:cNvPicPr>
          <p:nvPr/>
        </p:nvPicPr>
        <p:blipFill>
          <a:blip r:embed="rId2"/>
          <a:stretch>
            <a:fillRect/>
          </a:stretch>
        </p:blipFill>
        <p:spPr>
          <a:xfrm>
            <a:off x="1403350" y="3717925"/>
            <a:ext cx="7451725" cy="2965450"/>
          </a:xfrm>
          <a:prstGeom prst="rect">
            <a:avLst/>
          </a:prstGeom>
          <a:noFill/>
          <a:ln w="9525" cap="flat" cmpd="sng">
            <a:solidFill>
              <a:srgbClr val="000000"/>
            </a:solidFill>
            <a:prstDash val="solid"/>
            <a:miter/>
            <a:headEnd type="none" w="med" len="med"/>
            <a:tailEnd type="none" w="med" len="med"/>
          </a:ln>
        </p:spPr>
      </p:pic>
      <p:sp>
        <p:nvSpPr>
          <p:cNvPr id="48133" name="圆角矩形 4"/>
          <p:cNvSpPr/>
          <p:nvPr/>
        </p:nvSpPr>
        <p:spPr>
          <a:xfrm>
            <a:off x="1671638" y="522288"/>
            <a:ext cx="2108200" cy="4857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400" b="1" dirty="0">
                <a:latin typeface="Verdana" panose="020B0604030504040204" pitchFamily="34" charset="0"/>
              </a:rPr>
              <a:t>企业综合系统</a:t>
            </a:r>
            <a:r>
              <a:rPr lang="en-US" altLang="zh-CN" sz="1400" b="1" dirty="0">
                <a:latin typeface="Verdana" panose="020B0604030504040204" pitchFamily="34" charset="0"/>
              </a:rPr>
              <a:t>::</a:t>
            </a:r>
            <a:r>
              <a:rPr lang="zh-CN" altLang="en-US" sz="1400" b="1" dirty="0">
                <a:latin typeface="Verdana" panose="020B0604030504040204" pitchFamily="34" charset="0"/>
              </a:rPr>
              <a:t>进销存</a:t>
            </a:r>
            <a:endParaRPr lang="en-US" altLang="zh-CN" sz="1400" b="1" dirty="0">
              <a:latin typeface="Verdana" panose="020B0604030504040204" pitchFamily="34" charset="0"/>
            </a:endParaRPr>
          </a:p>
          <a:p>
            <a:pPr eaLnBrk="1" hangingPunct="1"/>
            <a:r>
              <a:rPr lang="en-US" altLang="zh-CN" sz="1600" b="1" dirty="0">
                <a:latin typeface="Verdana" panose="020B0604030504040204" pitchFamily="34" charset="0"/>
              </a:rPr>
              <a:t>subsystem</a:t>
            </a:r>
            <a:endParaRPr lang="zh-CN" altLang="en-US" sz="1600" b="1" dirty="0">
              <a:latin typeface="Verdana" panose="020B0604030504040204" pitchFamily="34" charset="0"/>
            </a:endParaRPr>
          </a:p>
        </p:txBody>
      </p:sp>
      <p:sp>
        <p:nvSpPr>
          <p:cNvPr id="48134" name="圆角矩形 6"/>
          <p:cNvSpPr/>
          <p:nvPr/>
        </p:nvSpPr>
        <p:spPr>
          <a:xfrm>
            <a:off x="1979613" y="1412875"/>
            <a:ext cx="1871662" cy="407988"/>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原材料购进管理</a:t>
            </a:r>
            <a:endParaRPr lang="zh-CN" altLang="en-US" sz="1600" b="1" dirty="0">
              <a:latin typeface="Verdana" panose="020B0604030504040204" pitchFamily="34" charset="0"/>
            </a:endParaRPr>
          </a:p>
        </p:txBody>
      </p:sp>
      <p:sp>
        <p:nvSpPr>
          <p:cNvPr id="48135" name="圆角矩形 7"/>
          <p:cNvSpPr/>
          <p:nvPr/>
        </p:nvSpPr>
        <p:spPr>
          <a:xfrm>
            <a:off x="2051050" y="2316163"/>
            <a:ext cx="1873250" cy="407987"/>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原材料存储管理</a:t>
            </a:r>
            <a:endParaRPr lang="zh-CN" altLang="en-US" sz="1600" b="1" dirty="0">
              <a:latin typeface="Verdana" panose="020B0604030504040204" pitchFamily="34" charset="0"/>
            </a:endParaRPr>
          </a:p>
        </p:txBody>
      </p:sp>
      <p:sp>
        <p:nvSpPr>
          <p:cNvPr id="48136" name="圆角矩形 8"/>
          <p:cNvSpPr/>
          <p:nvPr/>
        </p:nvSpPr>
        <p:spPr>
          <a:xfrm>
            <a:off x="2843213" y="1858963"/>
            <a:ext cx="1223962" cy="407987"/>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en-US" altLang="zh-CN" sz="1600" b="1" dirty="0">
                <a:latin typeface="Verdana" panose="020B0604030504040204" pitchFamily="34" charset="0"/>
              </a:rPr>
              <a:t>&lt;&lt;</a:t>
            </a:r>
            <a:r>
              <a:rPr lang="zh-CN" altLang="en-US" sz="1600" b="1" dirty="0">
                <a:latin typeface="Verdana" panose="020B0604030504040204" pitchFamily="34" charset="0"/>
              </a:rPr>
              <a:t>接收</a:t>
            </a:r>
            <a:r>
              <a:rPr lang="en-US" altLang="zh-CN" sz="1600" b="1" dirty="0">
                <a:latin typeface="Verdana" panose="020B0604030504040204" pitchFamily="34" charset="0"/>
              </a:rPr>
              <a:t>&gt;&gt;</a:t>
            </a:r>
            <a:endParaRPr lang="zh-CN" altLang="en-US" sz="1600" b="1" dirty="0">
              <a:latin typeface="Verdana" panose="020B0604030504040204" pitchFamily="34" charset="0"/>
            </a:endParaRPr>
          </a:p>
        </p:txBody>
      </p:sp>
      <p:sp>
        <p:nvSpPr>
          <p:cNvPr id="48137" name="圆角矩形 9"/>
          <p:cNvSpPr/>
          <p:nvPr/>
        </p:nvSpPr>
        <p:spPr>
          <a:xfrm>
            <a:off x="5164138" y="1423988"/>
            <a:ext cx="1408112" cy="407987"/>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销售管理</a:t>
            </a:r>
            <a:endParaRPr lang="zh-CN" altLang="en-US" sz="1600" b="1" dirty="0">
              <a:latin typeface="Verdana" panose="020B0604030504040204" pitchFamily="34" charset="0"/>
            </a:endParaRPr>
          </a:p>
        </p:txBody>
      </p:sp>
      <p:sp>
        <p:nvSpPr>
          <p:cNvPr id="48138" name="圆角矩形 10"/>
          <p:cNvSpPr/>
          <p:nvPr/>
        </p:nvSpPr>
        <p:spPr>
          <a:xfrm>
            <a:off x="5064125" y="2324100"/>
            <a:ext cx="1739900" cy="407988"/>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产成品存储管理</a:t>
            </a:r>
            <a:endParaRPr lang="zh-CN" altLang="en-US" sz="1600" b="1" dirty="0">
              <a:latin typeface="Verdana" panose="020B0604030504040204" pitchFamily="34" charset="0"/>
            </a:endParaRPr>
          </a:p>
        </p:txBody>
      </p:sp>
      <p:sp>
        <p:nvSpPr>
          <p:cNvPr id="48139" name="圆角矩形 11"/>
          <p:cNvSpPr/>
          <p:nvPr/>
        </p:nvSpPr>
        <p:spPr>
          <a:xfrm>
            <a:off x="5961063" y="1838325"/>
            <a:ext cx="1223962" cy="4095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en-US" altLang="zh-CN" sz="1600" b="1" dirty="0">
                <a:latin typeface="Verdana" panose="020B0604030504040204" pitchFamily="34" charset="0"/>
              </a:rPr>
              <a:t>&lt;&lt;</a:t>
            </a:r>
            <a:r>
              <a:rPr lang="zh-CN" altLang="en-US" sz="1600" b="1" dirty="0">
                <a:latin typeface="Verdana" panose="020B0604030504040204" pitchFamily="34" charset="0"/>
              </a:rPr>
              <a:t>调用</a:t>
            </a:r>
            <a:r>
              <a:rPr lang="en-US" altLang="zh-CN" sz="1600" b="1" dirty="0">
                <a:latin typeface="Verdana" panose="020B0604030504040204" pitchFamily="34" charset="0"/>
              </a:rPr>
              <a:t>&gt;&gt;</a:t>
            </a:r>
            <a:endParaRPr lang="zh-CN" altLang="en-US" sz="1600" b="1" dirty="0">
              <a:latin typeface="Verdana" panose="020B0604030504040204" pitchFamily="34" charset="0"/>
            </a:endParaRPr>
          </a:p>
        </p:txBody>
      </p:sp>
      <p:sp>
        <p:nvSpPr>
          <p:cNvPr id="48140" name="圆角矩形 12"/>
          <p:cNvSpPr/>
          <p:nvPr/>
        </p:nvSpPr>
        <p:spPr>
          <a:xfrm>
            <a:off x="2947988" y="3040063"/>
            <a:ext cx="3303587" cy="550862"/>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内嵌式表示法描述包的嵌套</a:t>
            </a:r>
            <a:endParaRPr lang="zh-CN" altLang="en-US" sz="2400" b="1" dirty="0">
              <a:solidFill>
                <a:srgbClr val="0A06B0"/>
              </a:solidFill>
              <a:latin typeface="Verdana" panose="020B0604030504040204" pitchFamily="34" charset="0"/>
            </a:endParaRPr>
          </a:p>
        </p:txBody>
      </p:sp>
      <p:sp>
        <p:nvSpPr>
          <p:cNvPr id="48141" name="圆角矩形 13"/>
          <p:cNvSpPr/>
          <p:nvPr/>
        </p:nvSpPr>
        <p:spPr>
          <a:xfrm>
            <a:off x="4211638" y="4084638"/>
            <a:ext cx="1749425" cy="4572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400" b="1" dirty="0">
                <a:latin typeface="Verdana" panose="020B0604030504040204" pitchFamily="34" charset="0"/>
              </a:rPr>
              <a:t>企业综合系统</a:t>
            </a:r>
            <a:r>
              <a:rPr lang="en-US" altLang="zh-CN" sz="1400" b="1" dirty="0">
                <a:latin typeface="Verdana" panose="020B0604030504040204" pitchFamily="34" charset="0"/>
              </a:rPr>
              <a:t>::</a:t>
            </a:r>
            <a:r>
              <a:rPr lang="zh-CN" altLang="en-US" sz="1400" b="1" dirty="0">
                <a:latin typeface="Verdana" panose="020B0604030504040204" pitchFamily="34" charset="0"/>
              </a:rPr>
              <a:t>进销存</a:t>
            </a:r>
            <a:endParaRPr lang="en-US" altLang="zh-CN" sz="1400" b="1" dirty="0">
              <a:latin typeface="Verdana" panose="020B0604030504040204" pitchFamily="34" charset="0"/>
            </a:endParaRPr>
          </a:p>
          <a:p>
            <a:pPr eaLnBrk="1" hangingPunct="1"/>
            <a:r>
              <a:rPr lang="en-US" altLang="zh-CN" sz="1600" b="1" dirty="0">
                <a:latin typeface="Verdana" panose="020B0604030504040204" pitchFamily="34" charset="0"/>
              </a:rPr>
              <a:t>subsystem</a:t>
            </a:r>
            <a:endParaRPr lang="zh-CN" altLang="en-US" sz="1600" b="1" dirty="0">
              <a:latin typeface="Verdana" panose="020B0604030504040204" pitchFamily="34" charset="0"/>
            </a:endParaRPr>
          </a:p>
        </p:txBody>
      </p:sp>
      <p:sp>
        <p:nvSpPr>
          <p:cNvPr id="48142" name="圆角矩形 15"/>
          <p:cNvSpPr/>
          <p:nvPr/>
        </p:nvSpPr>
        <p:spPr>
          <a:xfrm>
            <a:off x="1543050" y="5657850"/>
            <a:ext cx="1228725" cy="4349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原材料购进管理</a:t>
            </a:r>
            <a:endParaRPr lang="zh-CN" altLang="en-US" sz="1600" b="1" dirty="0">
              <a:latin typeface="Verdana" panose="020B0604030504040204" pitchFamily="34" charset="0"/>
            </a:endParaRPr>
          </a:p>
        </p:txBody>
      </p:sp>
      <p:sp>
        <p:nvSpPr>
          <p:cNvPr id="48143" name="圆角矩形 16"/>
          <p:cNvSpPr/>
          <p:nvPr/>
        </p:nvSpPr>
        <p:spPr>
          <a:xfrm>
            <a:off x="3219450" y="5656263"/>
            <a:ext cx="1281113" cy="357187"/>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原材料存储管理</a:t>
            </a:r>
            <a:endParaRPr lang="zh-CN" altLang="en-US" sz="1600" b="1" dirty="0">
              <a:latin typeface="Verdana" panose="020B0604030504040204" pitchFamily="34" charset="0"/>
            </a:endParaRPr>
          </a:p>
        </p:txBody>
      </p:sp>
      <p:sp>
        <p:nvSpPr>
          <p:cNvPr id="48144" name="圆角矩形 17"/>
          <p:cNvSpPr/>
          <p:nvPr/>
        </p:nvSpPr>
        <p:spPr>
          <a:xfrm>
            <a:off x="5268913" y="5684838"/>
            <a:ext cx="1408112" cy="407987"/>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销售管理</a:t>
            </a:r>
            <a:endParaRPr lang="zh-CN" altLang="en-US" sz="1600" b="1" dirty="0">
              <a:latin typeface="Verdana" panose="020B0604030504040204" pitchFamily="34" charset="0"/>
            </a:endParaRPr>
          </a:p>
        </p:txBody>
      </p:sp>
      <p:sp>
        <p:nvSpPr>
          <p:cNvPr id="48145" name="圆角矩形 18"/>
          <p:cNvSpPr/>
          <p:nvPr/>
        </p:nvSpPr>
        <p:spPr>
          <a:xfrm>
            <a:off x="7361238" y="5656263"/>
            <a:ext cx="1098550" cy="4365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产成品存储管理</a:t>
            </a:r>
            <a:endParaRPr lang="zh-CN" altLang="en-US" sz="1600" b="1" dirty="0">
              <a:latin typeface="Verdana" panose="020B0604030504040204" pitchFamily="34" charset="0"/>
            </a:endParaRPr>
          </a:p>
        </p:txBody>
      </p:sp>
      <p:sp>
        <p:nvSpPr>
          <p:cNvPr id="48146" name="圆角矩形 19"/>
          <p:cNvSpPr/>
          <p:nvPr/>
        </p:nvSpPr>
        <p:spPr>
          <a:xfrm>
            <a:off x="2987675" y="6205538"/>
            <a:ext cx="4373563" cy="550862"/>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0A06B0"/>
                </a:solidFill>
                <a:latin typeface="Verdana" panose="020B0604030504040204" pitchFamily="34" charset="0"/>
              </a:rPr>
              <a:t>包中模型元素的树形层次结构</a:t>
            </a:r>
            <a:endParaRPr lang="zh-CN" altLang="en-US" sz="2400" b="1" dirty="0">
              <a:solidFill>
                <a:srgbClr val="0A06B0"/>
              </a:solidFill>
              <a:latin typeface="Verdana" panose="020B060403050404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3"/>
          <p:cNvSpPr txBox="1"/>
          <p:nvPr/>
        </p:nvSpPr>
        <p:spPr>
          <a:xfrm>
            <a:off x="179388" y="333375"/>
            <a:ext cx="6076950" cy="579438"/>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5.6.3  </a:t>
            </a:r>
            <a:r>
              <a:rPr lang="zh-CN" altLang="en-US" sz="3200" dirty="0">
                <a:latin typeface="黑体" panose="02010609060101010101" pitchFamily="49" charset="-122"/>
                <a:ea typeface="黑体" panose="02010609060101010101" pitchFamily="49" charset="-122"/>
              </a:rPr>
              <a:t>包之间的依赖和继承关系</a:t>
            </a:r>
            <a:endParaRPr lang="zh-CN" altLang="en-US" sz="3200" dirty="0">
              <a:latin typeface="黑体" panose="02010609060101010101" pitchFamily="49" charset="-122"/>
              <a:ea typeface="黑体" panose="02010609060101010101" pitchFamily="49" charset="-122"/>
            </a:endParaRPr>
          </a:p>
        </p:txBody>
      </p:sp>
      <p:sp>
        <p:nvSpPr>
          <p:cNvPr id="49155" name="Text Box 4"/>
          <p:cNvSpPr txBox="1"/>
          <p:nvPr/>
        </p:nvSpPr>
        <p:spPr>
          <a:xfrm>
            <a:off x="827088" y="1052513"/>
            <a:ext cx="5518150" cy="519112"/>
          </a:xfrm>
          <a:prstGeom prst="rect">
            <a:avLst/>
          </a:prstGeom>
          <a:noFill/>
          <a:ln w="9525">
            <a:noFill/>
          </a:ln>
        </p:spPr>
        <p:txBody>
          <a:bodyPr wrap="none">
            <a:spAutoFit/>
          </a:bodyPr>
          <a:lstStyle/>
          <a:p>
            <a:pPr eaLnBrk="1" hangingPunct="1">
              <a:buFont typeface="Arial" panose="020B0604020202020204" pitchFamily="34" charset="0"/>
            </a:pPr>
            <a:r>
              <a:rPr lang="zh-CN" altLang="en-US" sz="2800" dirty="0">
                <a:latin typeface="Arial" panose="020B0604020202020204" pitchFamily="34" charset="0"/>
                <a:ea typeface="黑体" panose="02010609060101010101" pitchFamily="49" charset="-122"/>
              </a:rPr>
              <a:t>包之间可以有依赖和继承等关系。</a:t>
            </a:r>
            <a:endParaRPr lang="zh-CN" altLang="en-US" sz="2800" dirty="0">
              <a:latin typeface="Arial" panose="020B0604020202020204" pitchFamily="34" charset="0"/>
              <a:ea typeface="黑体" panose="02010609060101010101" pitchFamily="49" charset="-122"/>
            </a:endParaRPr>
          </a:p>
        </p:txBody>
      </p:sp>
      <p:sp>
        <p:nvSpPr>
          <p:cNvPr id="49156" name="Text Box 5"/>
          <p:cNvSpPr txBox="1"/>
          <p:nvPr/>
        </p:nvSpPr>
        <p:spPr>
          <a:xfrm>
            <a:off x="827088" y="1700213"/>
            <a:ext cx="8208962" cy="830262"/>
          </a:xfrm>
          <a:prstGeom prst="rect">
            <a:avLst/>
          </a:prstGeom>
          <a:noFill/>
          <a:ln w="9525">
            <a:noFill/>
          </a:ln>
        </p:spPr>
        <p:txBody>
          <a:bodyPr>
            <a:spAutoFit/>
          </a:bodyPr>
          <a:lstStyle/>
          <a:p>
            <a:pPr eaLnBrk="1" hangingPunct="1">
              <a:buFont typeface="Arial" panose="020B0604020202020204" pitchFamily="34" charset="0"/>
            </a:pPr>
            <a:r>
              <a:rPr lang="zh-CN" altLang="en-US" sz="2400" dirty="0">
                <a:solidFill>
                  <a:srgbClr val="FF0000"/>
                </a:solidFill>
                <a:latin typeface="Arial" panose="020B0604020202020204" pitchFamily="34" charset="0"/>
                <a:ea typeface="黑体" panose="02010609060101010101" pitchFamily="49" charset="-122"/>
              </a:rPr>
              <a:t>依赖</a:t>
            </a:r>
            <a:r>
              <a:rPr lang="zh-CN" altLang="en-US" sz="2400" dirty="0">
                <a:latin typeface="Arial" panose="020B0604020202020204" pitchFamily="34" charset="0"/>
                <a:ea typeface="黑体" panose="02010609060101010101" pitchFamily="49" charset="-122"/>
              </a:rPr>
              <a:t>：两个包中的对象类之间有依赖，则两个包有依赖；</a:t>
            </a:r>
            <a:endParaRPr lang="zh-CN" altLang="en-US" sz="2400" dirty="0">
              <a:latin typeface="Arial" panose="020B0604020202020204" pitchFamily="34" charset="0"/>
              <a:ea typeface="黑体" panose="02010609060101010101" pitchFamily="49" charset="-122"/>
            </a:endParaRPr>
          </a:p>
          <a:p>
            <a:pPr eaLnBrk="1" hangingPunct="1">
              <a:buFont typeface="Arial" panose="020B0604020202020204" pitchFamily="34" charset="0"/>
            </a:pPr>
            <a:r>
              <a:rPr lang="zh-CN" altLang="en-US" sz="2400" dirty="0">
                <a:solidFill>
                  <a:srgbClr val="FF0000"/>
                </a:solidFill>
                <a:latin typeface="Arial" panose="020B0604020202020204" pitchFamily="34" charset="0"/>
                <a:ea typeface="黑体" panose="02010609060101010101" pitchFamily="49" charset="-122"/>
              </a:rPr>
              <a:t>继承</a:t>
            </a:r>
            <a:r>
              <a:rPr lang="zh-CN" altLang="en-US" sz="2400" dirty="0">
                <a:latin typeface="Arial" panose="020B0604020202020204" pitchFamily="34" charset="0"/>
                <a:ea typeface="黑体" panose="02010609060101010101" pitchFamily="49" charset="-122"/>
              </a:rPr>
              <a:t>：包之间的继承关系描述了系统的接口。</a:t>
            </a:r>
            <a:endParaRPr lang="zh-CN" altLang="en-US" sz="2400" dirty="0">
              <a:latin typeface="Arial" panose="020B0604020202020204" pitchFamily="34" charset="0"/>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1907540" y="2492375"/>
            <a:ext cx="4688840" cy="404558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3"/>
          <p:cNvSpPr txBox="1"/>
          <p:nvPr/>
        </p:nvSpPr>
        <p:spPr>
          <a:xfrm>
            <a:off x="179388" y="188913"/>
            <a:ext cx="6076950" cy="579437"/>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5.7  </a:t>
            </a:r>
            <a:r>
              <a:rPr lang="zh-CN" altLang="en-US" sz="3200" dirty="0">
                <a:latin typeface="黑体" panose="02010609060101010101" pitchFamily="49" charset="-122"/>
                <a:ea typeface="黑体" panose="02010609060101010101" pitchFamily="49" charset="-122"/>
              </a:rPr>
              <a:t>对象类静态模型建模的步骤</a:t>
            </a:r>
            <a:endParaRPr lang="zh-CN" altLang="en-US" sz="3200" dirty="0">
              <a:latin typeface="黑体" panose="02010609060101010101" pitchFamily="49" charset="-122"/>
              <a:ea typeface="黑体" panose="02010609060101010101" pitchFamily="49" charset="-122"/>
            </a:endParaRPr>
          </a:p>
        </p:txBody>
      </p:sp>
      <p:sp>
        <p:nvSpPr>
          <p:cNvPr id="50179" name="Text Box 4"/>
          <p:cNvSpPr txBox="1"/>
          <p:nvPr/>
        </p:nvSpPr>
        <p:spPr>
          <a:xfrm>
            <a:off x="179388" y="2781300"/>
            <a:ext cx="8785225" cy="3743325"/>
          </a:xfrm>
          <a:prstGeom prst="rect">
            <a:avLst/>
          </a:prstGeom>
          <a:noFill/>
          <a:ln w="9525">
            <a:noFill/>
          </a:ln>
        </p:spPr>
        <p:txBody>
          <a:bodyPr>
            <a:spAutoFit/>
          </a:bodyPr>
          <a:lstStyle/>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寻找确定对象类。根据客户业务和系统实现需要，采用</a:t>
            </a:r>
            <a:r>
              <a:rPr lang="en-US" altLang="zh-CN" sz="2400" dirty="0">
                <a:latin typeface="Arial" panose="020B0604020202020204" pitchFamily="34" charset="0"/>
                <a:ea typeface="楷体_GB2312" pitchFamily="49" charset="-122"/>
              </a:rPr>
              <a:t>CRC</a:t>
            </a:r>
            <a:r>
              <a:rPr lang="zh-CN" altLang="en-US" sz="2400" dirty="0">
                <a:latin typeface="Arial" panose="020B0604020202020204" pitchFamily="34" charset="0"/>
                <a:ea typeface="楷体_GB2312" pitchFamily="49" charset="-122"/>
              </a:rPr>
              <a:t>卡</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pPr>
            <a:r>
              <a:rPr lang="zh-CN" altLang="en-US" sz="2400" dirty="0">
                <a:latin typeface="Arial" panose="020B0604020202020204" pitchFamily="34" charset="0"/>
                <a:ea typeface="楷体_GB2312" pitchFamily="49" charset="-122"/>
              </a:rPr>
              <a:t>   方式建立对象类。</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定义类的接口。为了系统的安全性和类之间的独立性，为一些</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pPr>
            <a:r>
              <a:rPr lang="zh-CN" altLang="en-US" sz="2400" dirty="0">
                <a:latin typeface="Arial" panose="020B0604020202020204" pitchFamily="34" charset="0"/>
                <a:ea typeface="楷体_GB2312" pitchFamily="49" charset="-122"/>
              </a:rPr>
              <a:t>   通用的类建立接口。</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定义类之间的关系。为满足系统功能要求和优化系统设计，定</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pPr>
            <a:r>
              <a:rPr lang="zh-CN" altLang="en-US" sz="2400" dirty="0">
                <a:latin typeface="Arial" panose="020B0604020202020204" pitchFamily="34" charset="0"/>
                <a:ea typeface="楷体_GB2312" pitchFamily="49" charset="-122"/>
              </a:rPr>
              <a:t>   义类之间的关系。</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建立对象类图。将确定的类、接口及类之间的关系用图标符号</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pPr>
            <a:r>
              <a:rPr lang="zh-CN" altLang="en-US" sz="2400" dirty="0">
                <a:latin typeface="Arial" panose="020B0604020202020204" pitchFamily="34" charset="0"/>
                <a:ea typeface="楷体_GB2312" pitchFamily="49" charset="-122"/>
              </a:rPr>
              <a:t>    描述，建立对象类图。</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建立系统包图。对一个复杂的大系统用包（子系统）的形式描</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pPr>
            <a:r>
              <a:rPr lang="zh-CN" altLang="en-US" sz="2400" dirty="0">
                <a:latin typeface="Arial" panose="020B0604020202020204" pitchFamily="34" charset="0"/>
                <a:ea typeface="楷体_GB2312" pitchFamily="49" charset="-122"/>
              </a:rPr>
              <a:t>    述其系统体系结构。</a:t>
            </a:r>
            <a:endParaRPr lang="zh-CN" altLang="en-US" sz="2400" dirty="0">
              <a:latin typeface="Arial" panose="020B0604020202020204" pitchFamily="34" charset="0"/>
              <a:ea typeface="楷体_GB2312" pitchFamily="49" charset="-122"/>
            </a:endParaRPr>
          </a:p>
        </p:txBody>
      </p:sp>
      <p:sp>
        <p:nvSpPr>
          <p:cNvPr id="50180" name="Text Box 5"/>
          <p:cNvSpPr txBox="1"/>
          <p:nvPr/>
        </p:nvSpPr>
        <p:spPr>
          <a:xfrm>
            <a:off x="827088" y="908050"/>
            <a:ext cx="3600450" cy="1187450"/>
          </a:xfrm>
          <a:prstGeom prst="rect">
            <a:avLst/>
          </a:prstGeom>
          <a:noFill/>
          <a:ln w="9525">
            <a:noFill/>
          </a:ln>
        </p:spPr>
        <p:txBody>
          <a:bodyPr>
            <a:spAutoFit/>
          </a:bodyPr>
          <a:lstStyle/>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客户需求阶段，</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系统分析阶段，</a:t>
            </a:r>
            <a:endParaRPr lang="zh-CN" altLang="en-US" sz="2400" dirty="0">
              <a:latin typeface="Arial" panose="020B0604020202020204" pitchFamily="34" charset="0"/>
              <a:ea typeface="楷体_GB2312" pitchFamily="49" charset="-122"/>
            </a:endParaRPr>
          </a:p>
          <a:p>
            <a:pPr eaLnBrk="1" hangingPunct="1">
              <a:buFont typeface="Wingdings" panose="05000000000000000000" pitchFamily="2" charset="2"/>
              <a:buChar char="u"/>
            </a:pPr>
            <a:r>
              <a:rPr lang="zh-CN" altLang="en-US" sz="2400" dirty="0">
                <a:latin typeface="Arial" panose="020B0604020202020204" pitchFamily="34" charset="0"/>
                <a:ea typeface="楷体_GB2312" pitchFamily="49" charset="-122"/>
              </a:rPr>
              <a:t>系统设计阶段，</a:t>
            </a:r>
            <a:endParaRPr lang="zh-CN" altLang="en-US" sz="2400" dirty="0">
              <a:latin typeface="Arial" panose="020B0604020202020204" pitchFamily="34" charset="0"/>
              <a:ea typeface="楷体_GB2312" pitchFamily="49" charset="-122"/>
            </a:endParaRPr>
          </a:p>
        </p:txBody>
      </p:sp>
      <p:sp>
        <p:nvSpPr>
          <p:cNvPr id="50181" name="Text Box 6"/>
          <p:cNvSpPr txBox="1"/>
          <p:nvPr/>
        </p:nvSpPr>
        <p:spPr>
          <a:xfrm>
            <a:off x="468313" y="2108200"/>
            <a:ext cx="5688012" cy="457200"/>
          </a:xfrm>
          <a:prstGeom prst="rect">
            <a:avLst/>
          </a:prstGeom>
          <a:noFill/>
          <a:ln w="9525">
            <a:noFill/>
          </a:ln>
        </p:spPr>
        <p:txBody>
          <a:bodyPr>
            <a:spAutoFit/>
          </a:bodyPr>
          <a:lstStyle/>
          <a:p>
            <a:pPr eaLnBrk="1" hangingPunct="1">
              <a:buFont typeface="Arial" panose="020B0604020202020204" pitchFamily="34" charset="0"/>
            </a:pPr>
            <a:r>
              <a:rPr lang="zh-CN" altLang="en-US" sz="2400" dirty="0">
                <a:latin typeface="Arial" panose="020B0604020202020204" pitchFamily="34" charset="0"/>
                <a:ea typeface="黑体" panose="02010609060101010101" pitchFamily="49" charset="-122"/>
              </a:rPr>
              <a:t>建立系统的对象类模型步骤如下：</a:t>
            </a:r>
            <a:endParaRPr lang="zh-CN" altLang="en-US" sz="2400" dirty="0">
              <a:latin typeface="Arial" panose="020B0604020202020204" pitchFamily="34" charset="0"/>
              <a:ea typeface="黑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3"/>
          <p:cNvSpPr txBox="1"/>
          <p:nvPr/>
        </p:nvSpPr>
        <p:spPr>
          <a:xfrm>
            <a:off x="180975" y="189230"/>
            <a:ext cx="6127115" cy="645795"/>
          </a:xfrm>
          <a:prstGeom prst="rect">
            <a:avLst/>
          </a:prstGeom>
          <a:noFill/>
          <a:ln w="9525">
            <a:noFill/>
          </a:ln>
        </p:spPr>
        <p:txBody>
          <a:bodyPr vert="horz" wrap="non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sz="3600" b="0" i="0">
                <a:solidFill>
                  <a:srgbClr val="FF0000"/>
                </a:solidFill>
                <a:latin typeface="黑体" panose="02010609060101010101" pitchFamily="49" charset="-122"/>
                <a:ea typeface="黑体" panose="02010609060101010101" pitchFamily="49" charset="-122"/>
              </a:rPr>
              <a:t>5.8 对象类静态模型建模案例</a:t>
            </a:r>
            <a:endParaRPr lang="ko-KR" altLang="en-US" sz="3600" b="0" i="0">
              <a:solidFill>
                <a:srgbClr val="FF0000"/>
              </a:solidFill>
              <a:latin typeface="黑体" panose="02010609060101010101" pitchFamily="49" charset="-122"/>
              <a:ea typeface="黑体" panose="02010609060101010101" pitchFamily="49" charset="-122"/>
            </a:endParaRPr>
          </a:p>
        </p:txBody>
      </p:sp>
      <p:sp>
        <p:nvSpPr>
          <p:cNvPr id="51203" name="Text Box 5"/>
          <p:cNvSpPr txBox="1"/>
          <p:nvPr/>
        </p:nvSpPr>
        <p:spPr>
          <a:xfrm>
            <a:off x="78105" y="1989455"/>
            <a:ext cx="8958580" cy="2784475"/>
          </a:xfrm>
          <a:prstGeom prst="rect">
            <a:avLst/>
          </a:prstGeom>
          <a:noFill/>
          <a:ln w="9525">
            <a:noFill/>
          </a:ln>
        </p:spPr>
        <p:txBody>
          <a:bodyPr vert="horz" wrap="square" lIns="91440" tIns="45720" rIns="91440" bIns="45720" numCol="1" anchor="t">
            <a:spAutoFit/>
          </a:bodyPr>
          <a:lstStyle/>
          <a:p>
            <a:pPr marL="0" indent="0" algn="l" defTabSz="914400" eaLnBrk="1" fontAlgn="base" latinLnBrk="0" hangingPunct="1">
              <a:lnSpc>
                <a:spcPct val="125000"/>
              </a:lnSpc>
              <a:spcBef>
                <a:spcPts val="600"/>
              </a:spcBef>
              <a:spcAft>
                <a:spcPts val="0"/>
              </a:spcAft>
              <a:buFontTx/>
              <a:buNone/>
            </a:pPr>
            <a:r>
              <a:rPr lang="zh-CN" altLang="en-US" sz="2800" b="0" i="0">
                <a:latin typeface="黑体" panose="02010609060101010101" pitchFamily="49" charset="-122"/>
                <a:ea typeface="黑体" panose="02010609060101010101" pitchFamily="49" charset="-122"/>
              </a:rPr>
              <a:t>    仍以“综合信息管理系统”中的“进销存管理子系统”为例，在</a:t>
            </a:r>
            <a:r>
              <a:rPr lang="zh-CN" altLang="en-US" sz="2800" b="0" i="0">
                <a:latin typeface="黑体" panose="02010609060101010101" pitchFamily="49" charset="-122"/>
                <a:ea typeface="黑体" panose="02010609060101010101" pitchFamily="49" charset="-122"/>
              </a:rPr>
              <a:t>前面</a:t>
            </a:r>
            <a:r>
              <a:rPr lang="zh-CN" altLang="en-US" sz="2800" b="0" i="0">
                <a:latin typeface="黑体" panose="02010609060101010101" pitchFamily="49" charset="-122"/>
                <a:ea typeface="黑体" panose="02010609060101010101" pitchFamily="49" charset="-122"/>
              </a:rPr>
              <a:t>完成了该子系统用例建模分析的基础上，对系统进行对象类建模，</a:t>
            </a:r>
            <a:r>
              <a:rPr sz="2800" b="0" i="0">
                <a:solidFill>
                  <a:srgbClr val="0611F2"/>
                </a:solidFill>
                <a:latin typeface="黑体" panose="02010609060101010101" pitchFamily="49" charset="-122"/>
                <a:ea typeface="黑体" panose="02010609060101010101" pitchFamily="49" charset="-122"/>
              </a:rPr>
              <a:t>建立系统的对象类图就是建立系统的静态结构模型</a:t>
            </a:r>
            <a:r>
              <a:rPr lang="zh-CN" altLang="en-US" sz="2800" b="0" i="0">
                <a:latin typeface="黑体" panose="02010609060101010101" pitchFamily="49" charset="-122"/>
                <a:ea typeface="黑体" panose="02010609060101010101" pitchFamily="49" charset="-122"/>
              </a:rPr>
              <a:t>，包括</a:t>
            </a:r>
            <a:r>
              <a:rPr lang="zh-CN" altLang="en-US" sz="2800" b="0" i="0">
                <a:solidFill>
                  <a:srgbClr val="FF0000"/>
                </a:solidFill>
                <a:latin typeface="黑体" panose="02010609060101010101" pitchFamily="49" charset="-122"/>
                <a:ea typeface="黑体" panose="02010609060101010101" pitchFamily="49" charset="-122"/>
              </a:rPr>
              <a:t>确定和建立对象类图，建立对象</a:t>
            </a:r>
            <a:r>
              <a:rPr lang="zh-CN" altLang="en-US" sz="2800" b="0" i="0">
                <a:solidFill>
                  <a:srgbClr val="FF0000"/>
                </a:solidFill>
                <a:latin typeface="黑体" panose="02010609060101010101" pitchFamily="49" charset="-122"/>
                <a:ea typeface="黑体" panose="02010609060101010101" pitchFamily="49" charset="-122"/>
              </a:rPr>
              <a:t>类</a:t>
            </a:r>
            <a:r>
              <a:rPr lang="zh-CN" altLang="en-US" sz="2800" b="0" i="0">
                <a:solidFill>
                  <a:srgbClr val="FF0000"/>
                </a:solidFill>
                <a:latin typeface="黑体" panose="02010609060101010101" pitchFamily="49" charset="-122"/>
                <a:ea typeface="黑体" panose="02010609060101010101" pitchFamily="49" charset="-122"/>
              </a:rPr>
              <a:t>及其之间的联系，确定其静态结构和行为</a:t>
            </a:r>
            <a:r>
              <a:rPr lang="zh-CN" altLang="en-US" sz="2800" b="0" i="0">
                <a:latin typeface="黑体" panose="02010609060101010101" pitchFamily="49" charset="-122"/>
                <a:ea typeface="黑体" panose="02010609060101010101" pitchFamily="49" charset="-122"/>
              </a:rPr>
              <a:t>。</a:t>
            </a:r>
            <a:endParaRPr lang="ko-KR" altLang="en-US" sz="2800" b="0" i="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5"/>
          <p:cNvSpPr txBox="1"/>
          <p:nvPr/>
        </p:nvSpPr>
        <p:spPr>
          <a:xfrm>
            <a:off x="92075" y="746125"/>
            <a:ext cx="8958263" cy="1570038"/>
          </a:xfrm>
          <a:prstGeom prst="rect">
            <a:avLst/>
          </a:prstGeom>
          <a:blipFill rotWithShape="1">
            <a:blip r:embed="rId1"/>
          </a:blipFill>
          <a:ln w="9525" cap="flat" cmpd="sng">
            <a:solidFill>
              <a:srgbClr val="7030A0"/>
            </a:solidFill>
            <a:prstDash val="sysDash"/>
            <a:miter/>
            <a:headEnd type="none" w="med" len="med"/>
            <a:tailEnd type="none" w="med" len="med"/>
          </a:ln>
        </p:spPr>
        <p:txBody>
          <a:bodyPr>
            <a:spAutoFit/>
          </a:bodyPr>
          <a:lstStyle/>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    根据已经建立的用例图和客户业务需求，采用</a:t>
            </a:r>
            <a:r>
              <a:rPr lang="en-US" altLang="zh-CN" sz="2400" dirty="0">
                <a:latin typeface="黑体" panose="02010609060101010101" pitchFamily="49" charset="-122"/>
                <a:ea typeface="黑体" panose="02010609060101010101" pitchFamily="49" charset="-122"/>
              </a:rPr>
              <a:t>CRC</a:t>
            </a:r>
            <a:r>
              <a:rPr lang="zh-CN" altLang="en-US" sz="2400" dirty="0">
                <a:latin typeface="黑体" panose="02010609060101010101" pitchFamily="49" charset="-122"/>
                <a:ea typeface="黑体" panose="02010609060101010101" pitchFamily="49" charset="-122"/>
              </a:rPr>
              <a:t>卡的方法确定对象类及其属性和操作。通过检查类的定义、分析问题的需求和运用该领域知识来完善和确定类的属性。根据系统功能要求和系统设计需要完善和确定类的操作</a:t>
            </a:r>
            <a:endParaRPr lang="zh-CN" altLang="en-US" sz="2400" dirty="0">
              <a:latin typeface="黑体" panose="02010609060101010101" pitchFamily="49" charset="-122"/>
              <a:ea typeface="黑体" panose="02010609060101010101" pitchFamily="49" charset="-122"/>
            </a:endParaRPr>
          </a:p>
        </p:txBody>
      </p:sp>
      <p:sp>
        <p:nvSpPr>
          <p:cNvPr id="52227" name="Text Box 4"/>
          <p:cNvSpPr txBox="1"/>
          <p:nvPr/>
        </p:nvSpPr>
        <p:spPr>
          <a:xfrm>
            <a:off x="42863" y="123825"/>
            <a:ext cx="3673475" cy="584200"/>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solidFill>
                  <a:srgbClr val="FF0000"/>
                </a:solidFill>
                <a:latin typeface="黑体" panose="02010609060101010101" pitchFamily="49" charset="-122"/>
                <a:ea typeface="黑体" panose="02010609060101010101" pitchFamily="49" charset="-122"/>
              </a:rPr>
              <a:t>5.8.1  </a:t>
            </a:r>
            <a:r>
              <a:rPr lang="zh-CN" altLang="en-US" sz="3200" dirty="0">
                <a:solidFill>
                  <a:srgbClr val="FF0000"/>
                </a:solidFill>
                <a:latin typeface="黑体" panose="02010609060101010101" pitchFamily="49" charset="-122"/>
                <a:ea typeface="黑体" panose="02010609060101010101" pitchFamily="49" charset="-122"/>
              </a:rPr>
              <a:t>建立对象类</a:t>
            </a:r>
            <a:endParaRPr lang="zh-CN" altLang="en-US" sz="3200" dirty="0">
              <a:solidFill>
                <a:srgbClr val="FF0000"/>
              </a:solidFill>
              <a:latin typeface="黑体" panose="02010609060101010101" pitchFamily="49" charset="-122"/>
              <a:ea typeface="黑体" panose="02010609060101010101" pitchFamily="49" charset="-122"/>
            </a:endParaRPr>
          </a:p>
        </p:txBody>
      </p:sp>
      <p:sp>
        <p:nvSpPr>
          <p:cNvPr id="52228" name="Text Box 5"/>
          <p:cNvSpPr txBox="1"/>
          <p:nvPr/>
        </p:nvSpPr>
        <p:spPr>
          <a:xfrm>
            <a:off x="92075" y="2565400"/>
            <a:ext cx="8958263" cy="830263"/>
          </a:xfrm>
          <a:prstGeom prst="rect">
            <a:avLst/>
          </a:prstGeom>
          <a:blipFill rotWithShape="1">
            <a:blip r:embed="rId1"/>
          </a:blipFill>
          <a:ln w="9525" cap="flat" cmpd="sng">
            <a:solidFill>
              <a:srgbClr val="7030A0"/>
            </a:solidFill>
            <a:prstDash val="sysDash"/>
            <a:miter/>
            <a:headEnd type="none" w="med" len="med"/>
            <a:tailEnd type="none" w="med" len="med"/>
          </a:ln>
        </p:spPr>
        <p:txBody>
          <a:bodyPr>
            <a:spAutoFit/>
          </a:bodyPr>
          <a:lstStyle/>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    下面将“进销存管理子系统”中</a:t>
            </a:r>
            <a:r>
              <a:rPr lang="en-US" altLang="zh-CN" sz="2400" dirty="0">
                <a:latin typeface="黑体" panose="02010609060101010101" pitchFamily="49" charset="-122"/>
                <a:ea typeface="黑体" panose="02010609060101010101" pitchFamily="49" charset="-122"/>
              </a:rPr>
              <a:t>7</a:t>
            </a:r>
            <a:r>
              <a:rPr lang="zh-CN" altLang="en-US" sz="2400" dirty="0">
                <a:latin typeface="黑体" panose="02010609060101010101" pitchFamily="49" charset="-122"/>
                <a:ea typeface="黑体" panose="02010609060101010101" pitchFamily="49" charset="-122"/>
              </a:rPr>
              <a:t>个典型的对象类及其属性和操作的定义简介如下：</a:t>
            </a:r>
            <a:endParaRPr lang="zh-CN" altLang="en-US" sz="2400" dirty="0">
              <a:latin typeface="黑体" panose="02010609060101010101" pitchFamily="49" charset="-122"/>
              <a:ea typeface="黑体" panose="02010609060101010101" pitchFamily="49" charset="-122"/>
            </a:endParaRPr>
          </a:p>
        </p:txBody>
      </p:sp>
      <p:sp>
        <p:nvSpPr>
          <p:cNvPr id="52229" name="Text Box 5"/>
          <p:cNvSpPr txBox="1"/>
          <p:nvPr/>
        </p:nvSpPr>
        <p:spPr>
          <a:xfrm>
            <a:off x="611188" y="3500438"/>
            <a:ext cx="5113337" cy="3108325"/>
          </a:xfrm>
          <a:prstGeom prst="rect">
            <a:avLst/>
          </a:prstGeom>
          <a:solidFill>
            <a:schemeClr val="bg1"/>
          </a:solidFill>
          <a:ln w="9525">
            <a:noFill/>
          </a:ln>
        </p:spPr>
        <p:txBody>
          <a:bodyPr>
            <a:spAutoFit/>
          </a:bodyPr>
          <a:lstStyle/>
          <a:p>
            <a:pPr eaLnBrk="1" hangingPunct="1">
              <a:buFont typeface="Arial" panose="020B0604020202020204" pitchFamily="34" charset="0"/>
            </a:pPr>
            <a:r>
              <a:rPr lang="zh-CN" altLang="en-US" sz="2800" dirty="0">
                <a:solidFill>
                  <a:srgbClr val="7030A0"/>
                </a:solidFill>
                <a:latin typeface="黑体" panose="02010609060101010101" pitchFamily="49" charset="-122"/>
                <a:ea typeface="黑体" panose="02010609060101010101" pitchFamily="49" charset="-122"/>
              </a:rPr>
              <a:t>（</a:t>
            </a:r>
            <a:r>
              <a:rPr lang="en-US" altLang="zh-CN" sz="2800" dirty="0">
                <a:solidFill>
                  <a:srgbClr val="7030A0"/>
                </a:solidFill>
                <a:latin typeface="黑体" panose="02010609060101010101" pitchFamily="49" charset="-122"/>
                <a:ea typeface="黑体" panose="02010609060101010101" pitchFamily="49" charset="-122"/>
              </a:rPr>
              <a:t>1</a:t>
            </a:r>
            <a:r>
              <a:rPr lang="zh-CN" altLang="en-US" sz="2800" dirty="0">
                <a:solidFill>
                  <a:srgbClr val="7030A0"/>
                </a:solidFill>
                <a:latin typeface="黑体" panose="02010609060101010101" pitchFamily="49" charset="-122"/>
                <a:ea typeface="黑体" panose="02010609060101010101" pitchFamily="49" charset="-122"/>
              </a:rPr>
              <a:t>）销售合同</a:t>
            </a:r>
            <a:endParaRPr lang="zh-CN" altLang="en-US" sz="2800" dirty="0">
              <a:solidFill>
                <a:srgbClr val="7030A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800" dirty="0">
                <a:solidFill>
                  <a:srgbClr val="7030A0"/>
                </a:solidFill>
                <a:latin typeface="黑体" panose="02010609060101010101" pitchFamily="49" charset="-122"/>
                <a:ea typeface="黑体" panose="02010609060101010101" pitchFamily="49" charset="-122"/>
              </a:rPr>
              <a:t>（</a:t>
            </a:r>
            <a:r>
              <a:rPr lang="en-US" altLang="zh-CN" sz="2800" dirty="0">
                <a:solidFill>
                  <a:srgbClr val="7030A0"/>
                </a:solidFill>
                <a:latin typeface="黑体" panose="02010609060101010101" pitchFamily="49" charset="-122"/>
                <a:ea typeface="黑体" panose="02010609060101010101" pitchFamily="49" charset="-122"/>
              </a:rPr>
              <a:t>2</a:t>
            </a:r>
            <a:r>
              <a:rPr lang="zh-CN" altLang="en-US" sz="2800" dirty="0">
                <a:solidFill>
                  <a:srgbClr val="7030A0"/>
                </a:solidFill>
                <a:latin typeface="黑体" panose="02010609060101010101" pitchFamily="49" charset="-122"/>
                <a:ea typeface="黑体" panose="02010609060101010101" pitchFamily="49" charset="-122"/>
              </a:rPr>
              <a:t>）采购合同</a:t>
            </a:r>
            <a:endParaRPr lang="zh-CN" altLang="en-US" sz="2800" dirty="0">
              <a:solidFill>
                <a:srgbClr val="7030A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800" dirty="0">
                <a:solidFill>
                  <a:srgbClr val="7030A0"/>
                </a:solidFill>
                <a:latin typeface="黑体" panose="02010609060101010101" pitchFamily="49" charset="-122"/>
                <a:ea typeface="黑体" panose="02010609060101010101" pitchFamily="49" charset="-122"/>
              </a:rPr>
              <a:t>（</a:t>
            </a:r>
            <a:r>
              <a:rPr lang="en-US" altLang="zh-CN" sz="2800" dirty="0">
                <a:solidFill>
                  <a:srgbClr val="7030A0"/>
                </a:solidFill>
                <a:latin typeface="黑体" panose="02010609060101010101" pitchFamily="49" charset="-122"/>
                <a:ea typeface="黑体" panose="02010609060101010101" pitchFamily="49" charset="-122"/>
              </a:rPr>
              <a:t>3</a:t>
            </a:r>
            <a:r>
              <a:rPr lang="zh-CN" altLang="en-US" sz="2800" dirty="0">
                <a:solidFill>
                  <a:srgbClr val="7030A0"/>
                </a:solidFill>
                <a:latin typeface="黑体" panose="02010609060101010101" pitchFamily="49" charset="-122"/>
                <a:ea typeface="黑体" panose="02010609060101010101" pitchFamily="49" charset="-122"/>
              </a:rPr>
              <a:t>）销售合同统计报表</a:t>
            </a:r>
            <a:endParaRPr lang="zh-CN" altLang="en-US" sz="2800" dirty="0">
              <a:solidFill>
                <a:srgbClr val="7030A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800" dirty="0">
                <a:solidFill>
                  <a:srgbClr val="7030A0"/>
                </a:solidFill>
                <a:latin typeface="黑体" panose="02010609060101010101" pitchFamily="49" charset="-122"/>
                <a:ea typeface="黑体" panose="02010609060101010101" pitchFamily="49" charset="-122"/>
              </a:rPr>
              <a:t>（</a:t>
            </a:r>
            <a:r>
              <a:rPr lang="en-US" altLang="zh-CN" sz="2800" dirty="0">
                <a:solidFill>
                  <a:srgbClr val="7030A0"/>
                </a:solidFill>
                <a:latin typeface="黑体" panose="02010609060101010101" pitchFamily="49" charset="-122"/>
                <a:ea typeface="黑体" panose="02010609060101010101" pitchFamily="49" charset="-122"/>
              </a:rPr>
              <a:t>4</a:t>
            </a:r>
            <a:r>
              <a:rPr lang="zh-CN" altLang="en-US" sz="2800" dirty="0">
                <a:solidFill>
                  <a:srgbClr val="7030A0"/>
                </a:solidFill>
                <a:latin typeface="黑体" panose="02010609060101010101" pitchFamily="49" charset="-122"/>
                <a:ea typeface="黑体" panose="02010609060101010101" pitchFamily="49" charset="-122"/>
              </a:rPr>
              <a:t>）采购合同统计报表</a:t>
            </a:r>
            <a:endParaRPr lang="zh-CN" altLang="en-US" sz="2800" dirty="0">
              <a:solidFill>
                <a:srgbClr val="7030A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800" dirty="0">
                <a:solidFill>
                  <a:srgbClr val="7030A0"/>
                </a:solidFill>
                <a:latin typeface="黑体" panose="02010609060101010101" pitchFamily="49" charset="-122"/>
                <a:ea typeface="黑体" panose="02010609060101010101" pitchFamily="49" charset="-122"/>
              </a:rPr>
              <a:t>（</a:t>
            </a:r>
            <a:r>
              <a:rPr lang="en-US" altLang="zh-CN" sz="2800" dirty="0">
                <a:solidFill>
                  <a:srgbClr val="7030A0"/>
                </a:solidFill>
                <a:latin typeface="黑体" panose="02010609060101010101" pitchFamily="49" charset="-122"/>
                <a:ea typeface="黑体" panose="02010609060101010101" pitchFamily="49" charset="-122"/>
              </a:rPr>
              <a:t>5</a:t>
            </a:r>
            <a:r>
              <a:rPr lang="zh-CN" altLang="en-US" sz="2800" dirty="0">
                <a:solidFill>
                  <a:srgbClr val="7030A0"/>
                </a:solidFill>
                <a:latin typeface="黑体" panose="02010609060101010101" pitchFamily="49" charset="-122"/>
                <a:ea typeface="黑体" panose="02010609060101010101" pitchFamily="49" charset="-122"/>
              </a:rPr>
              <a:t>）入库单</a:t>
            </a:r>
            <a:endParaRPr lang="zh-CN" altLang="en-US" sz="2800" dirty="0">
              <a:solidFill>
                <a:srgbClr val="7030A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800" dirty="0">
                <a:solidFill>
                  <a:srgbClr val="7030A0"/>
                </a:solidFill>
                <a:latin typeface="黑体" panose="02010609060101010101" pitchFamily="49" charset="-122"/>
                <a:ea typeface="黑体" panose="02010609060101010101" pitchFamily="49" charset="-122"/>
              </a:rPr>
              <a:t>（</a:t>
            </a:r>
            <a:r>
              <a:rPr lang="en-US" altLang="zh-CN" sz="2800" dirty="0">
                <a:solidFill>
                  <a:srgbClr val="7030A0"/>
                </a:solidFill>
                <a:latin typeface="黑体" panose="02010609060101010101" pitchFamily="49" charset="-122"/>
                <a:ea typeface="黑体" panose="02010609060101010101" pitchFamily="49" charset="-122"/>
              </a:rPr>
              <a:t>6</a:t>
            </a:r>
            <a:r>
              <a:rPr lang="zh-CN" altLang="en-US" sz="2800" dirty="0">
                <a:solidFill>
                  <a:srgbClr val="7030A0"/>
                </a:solidFill>
                <a:latin typeface="黑体" panose="02010609060101010101" pitchFamily="49" charset="-122"/>
                <a:ea typeface="黑体" panose="02010609060101010101" pitchFamily="49" charset="-122"/>
              </a:rPr>
              <a:t>）出库单</a:t>
            </a:r>
            <a:endParaRPr lang="zh-CN" altLang="en-US" sz="2800" dirty="0">
              <a:solidFill>
                <a:srgbClr val="7030A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800" dirty="0">
                <a:solidFill>
                  <a:srgbClr val="7030A0"/>
                </a:solidFill>
                <a:latin typeface="黑体" panose="02010609060101010101" pitchFamily="49" charset="-122"/>
                <a:ea typeface="黑体" panose="02010609060101010101" pitchFamily="49" charset="-122"/>
              </a:rPr>
              <a:t>（</a:t>
            </a:r>
            <a:r>
              <a:rPr lang="en-US" altLang="zh-CN" sz="2800" dirty="0">
                <a:solidFill>
                  <a:srgbClr val="7030A0"/>
                </a:solidFill>
                <a:latin typeface="黑体" panose="02010609060101010101" pitchFamily="49" charset="-122"/>
                <a:ea typeface="黑体" panose="02010609060101010101" pitchFamily="49" charset="-122"/>
              </a:rPr>
              <a:t>7</a:t>
            </a:r>
            <a:r>
              <a:rPr lang="zh-CN" altLang="en-US" sz="2800" dirty="0">
                <a:solidFill>
                  <a:srgbClr val="7030A0"/>
                </a:solidFill>
                <a:latin typeface="黑体" panose="02010609060101010101" pitchFamily="49" charset="-122"/>
                <a:ea typeface="黑体" panose="02010609060101010101" pitchFamily="49" charset="-122"/>
              </a:rPr>
              <a:t>）库存单</a:t>
            </a:r>
            <a:endParaRPr lang="zh-CN" altLang="en-US" sz="2800" dirty="0">
              <a:solidFill>
                <a:srgbClr val="7030A0"/>
              </a:solidFill>
              <a:latin typeface="黑体" panose="02010609060101010101" pitchFamily="49" charset="-122"/>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5"/>
          <p:cNvSpPr txBox="1"/>
          <p:nvPr/>
        </p:nvSpPr>
        <p:spPr>
          <a:xfrm>
            <a:off x="14288" y="0"/>
            <a:ext cx="9036050" cy="7110413"/>
          </a:xfrm>
          <a:prstGeom prst="rect">
            <a:avLst/>
          </a:prstGeom>
          <a:solidFill>
            <a:schemeClr val="bg1"/>
          </a:solidFill>
          <a:ln w="9525">
            <a:noFill/>
          </a:ln>
        </p:spPr>
        <p:txBody>
          <a:bodyPr>
            <a:spAutoFit/>
          </a:bodyPr>
          <a:lstStyle/>
          <a:p>
            <a:pPr eaLnBrk="1" hangingPunct="1">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）销售合同</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r>
              <a:rPr lang="zh-CN" altLang="en-US" sz="2400" b="1" dirty="0">
                <a:solidFill>
                  <a:srgbClr val="7030A0"/>
                </a:solidFill>
                <a:latin typeface="Verdana" panose="020B0604030504040204" pitchFamily="34" charset="0"/>
              </a:rPr>
              <a:t>类名</a:t>
            </a:r>
            <a:r>
              <a:rPr lang="zh-CN" altLang="en-US" sz="2400" dirty="0">
                <a:latin typeface="Verdana" panose="020B0604030504040204" pitchFamily="34" charset="0"/>
              </a:rPr>
              <a:t>：销售合同。</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类的编号</a:t>
            </a:r>
            <a:r>
              <a:rPr lang="zh-CN" altLang="en-US" sz="2400" dirty="0">
                <a:latin typeface="Verdana" panose="020B0604030504040204" pitchFamily="34" charset="0"/>
              </a:rPr>
              <a:t>：</a:t>
            </a:r>
            <a:r>
              <a:rPr lang="en-US" altLang="zh-CN" sz="2400" dirty="0">
                <a:latin typeface="Verdana" panose="020B0604030504040204" pitchFamily="34" charset="0"/>
              </a:rPr>
              <a:t>040101</a:t>
            </a:r>
            <a:r>
              <a:rPr lang="zh-CN" altLang="en-US" sz="2400" dirty="0">
                <a:latin typeface="Verdana" panose="020B0604030504040204" pitchFamily="34" charset="0"/>
              </a:rPr>
              <a:t>（共有三层包图结构，每层用</a:t>
            </a:r>
            <a:r>
              <a:rPr lang="en-US" altLang="zh-CN" sz="2400" dirty="0">
                <a:latin typeface="Verdana" panose="020B0604030504040204" pitchFamily="34" charset="0"/>
              </a:rPr>
              <a:t>2</a:t>
            </a:r>
            <a:r>
              <a:rPr lang="zh-CN" altLang="en-US" sz="2400" dirty="0">
                <a:latin typeface="Verdana" panose="020B0604030504040204" pitchFamily="34" charset="0"/>
              </a:rPr>
              <a:t>位数字表示，采用</a:t>
            </a:r>
            <a:r>
              <a:rPr lang="en-US" altLang="zh-CN" sz="2400" dirty="0">
                <a:latin typeface="Verdana" panose="020B0604030504040204" pitchFamily="34" charset="0"/>
              </a:rPr>
              <a:t>6</a:t>
            </a:r>
            <a:r>
              <a:rPr lang="zh-CN" altLang="en-US" sz="2400" dirty="0">
                <a:latin typeface="Verdana" panose="020B0604030504040204" pitchFamily="34" charset="0"/>
              </a:rPr>
              <a:t>位编号）。</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类的类型</a:t>
            </a:r>
            <a:r>
              <a:rPr lang="zh-CN" altLang="en-US" sz="2400" dirty="0">
                <a:latin typeface="Verdana" panose="020B0604030504040204" pitchFamily="34" charset="0"/>
              </a:rPr>
              <a:t>：该类创建的对象为持久对象存储在服务器上的数据库中，可以共享。</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：负责建立销售合同的基本信息并对这些信息进行处理，包括添加、删除、查询操作等，进行添加和删除操作时要按合同编号进行索引处理。</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属性</a:t>
            </a:r>
            <a:r>
              <a:rPr lang="zh-CN" altLang="en-US" sz="2400" dirty="0">
                <a:latin typeface="Verdana" panose="020B0604030504040204" pitchFamily="34" charset="0"/>
              </a:rPr>
              <a:t>：合同编号、甲方、乙方、商品名称、规格、单位、单价、数量、总金额、发货时间</a:t>
            </a:r>
            <a:r>
              <a:rPr lang="en-US" altLang="zh-CN" sz="2400" dirty="0">
                <a:latin typeface="Verdana" panose="020B0604030504040204" pitchFamily="34" charset="0"/>
              </a:rPr>
              <a:t>1</a:t>
            </a:r>
            <a:r>
              <a:rPr lang="zh-CN" altLang="en-US" sz="2400" dirty="0">
                <a:latin typeface="Verdana" panose="020B0604030504040204" pitchFamily="34" charset="0"/>
              </a:rPr>
              <a:t>、发货时间</a:t>
            </a:r>
            <a:r>
              <a:rPr lang="en-US" altLang="zh-CN" sz="2400" dirty="0">
                <a:latin typeface="Verdana" panose="020B0604030504040204" pitchFamily="34" charset="0"/>
              </a:rPr>
              <a:t>2</a:t>
            </a:r>
            <a:r>
              <a:rPr lang="zh-CN" altLang="en-US" sz="2400" dirty="0">
                <a:latin typeface="Verdana" panose="020B0604030504040204" pitchFamily="34" charset="0"/>
              </a:rPr>
              <a:t>、发货时间</a:t>
            </a:r>
            <a:r>
              <a:rPr lang="en-US" altLang="zh-CN" sz="2400" dirty="0">
                <a:latin typeface="Verdana" panose="020B0604030504040204" pitchFamily="34" charset="0"/>
              </a:rPr>
              <a:t>3</a:t>
            </a:r>
            <a:r>
              <a:rPr lang="zh-CN" altLang="en-US" sz="2400" dirty="0">
                <a:latin typeface="Verdana" panose="020B0604030504040204" pitchFamily="34" charset="0"/>
              </a:rPr>
              <a:t>、发货时间</a:t>
            </a:r>
            <a:r>
              <a:rPr lang="en-US" altLang="zh-CN" sz="2400" dirty="0">
                <a:latin typeface="Verdana" panose="020B0604030504040204" pitchFamily="34" charset="0"/>
              </a:rPr>
              <a:t>4</a:t>
            </a:r>
            <a:r>
              <a:rPr lang="zh-CN" altLang="en-US" sz="2400" dirty="0">
                <a:latin typeface="Verdana" panose="020B0604030504040204" pitchFamily="34" charset="0"/>
              </a:rPr>
              <a:t>、全部货发时间、发货量</a:t>
            </a:r>
            <a:r>
              <a:rPr lang="en-US" altLang="zh-CN" sz="2400" dirty="0">
                <a:latin typeface="Verdana" panose="020B0604030504040204" pitchFamily="34" charset="0"/>
              </a:rPr>
              <a:t>1</a:t>
            </a:r>
            <a:r>
              <a:rPr lang="zh-CN" altLang="en-US" sz="2400" dirty="0">
                <a:latin typeface="Verdana" panose="020B0604030504040204" pitchFamily="34" charset="0"/>
              </a:rPr>
              <a:t>、发货量</a:t>
            </a:r>
            <a:r>
              <a:rPr lang="en-US" altLang="zh-CN" sz="2400" dirty="0">
                <a:latin typeface="Verdana" panose="020B0604030504040204" pitchFamily="34" charset="0"/>
              </a:rPr>
              <a:t>2</a:t>
            </a:r>
            <a:r>
              <a:rPr lang="zh-CN" altLang="en-US" sz="2400" dirty="0">
                <a:latin typeface="Verdana" panose="020B0604030504040204" pitchFamily="34" charset="0"/>
              </a:rPr>
              <a:t>、发货量</a:t>
            </a:r>
            <a:r>
              <a:rPr lang="en-US" altLang="zh-CN" sz="2400" dirty="0">
                <a:latin typeface="Verdana" panose="020B0604030504040204" pitchFamily="34" charset="0"/>
              </a:rPr>
              <a:t>3</a:t>
            </a:r>
            <a:r>
              <a:rPr lang="zh-CN" altLang="en-US" sz="2400" dirty="0">
                <a:latin typeface="Verdana" panose="020B0604030504040204" pitchFamily="34" charset="0"/>
              </a:rPr>
              <a:t>、发货量</a:t>
            </a:r>
            <a:r>
              <a:rPr lang="en-US" altLang="zh-CN" sz="2400" dirty="0">
                <a:latin typeface="Verdana" panose="020B0604030504040204" pitchFamily="34" charset="0"/>
              </a:rPr>
              <a:t>4</a:t>
            </a:r>
            <a:r>
              <a:rPr lang="zh-CN" altLang="en-US" sz="2400" dirty="0">
                <a:latin typeface="Verdana" panose="020B0604030504040204" pitchFamily="34" charset="0"/>
              </a:rPr>
              <a:t>、全部发货量、标记</a:t>
            </a:r>
            <a:r>
              <a:rPr lang="en-US" altLang="zh-CN" sz="2400" dirty="0">
                <a:latin typeface="Verdana" panose="020B0604030504040204" pitchFamily="34" charset="0"/>
              </a:rPr>
              <a:t>1</a:t>
            </a:r>
            <a:r>
              <a:rPr lang="zh-CN" altLang="en-US" sz="2400" dirty="0">
                <a:latin typeface="Verdana" panose="020B0604030504040204" pitchFamily="34" charset="0"/>
              </a:rPr>
              <a:t>、标记</a:t>
            </a:r>
            <a:r>
              <a:rPr lang="en-US" altLang="zh-CN" sz="2400" dirty="0">
                <a:latin typeface="Verdana" panose="020B0604030504040204" pitchFamily="34" charset="0"/>
              </a:rPr>
              <a:t>2</a:t>
            </a:r>
            <a:r>
              <a:rPr lang="zh-CN" altLang="en-US" sz="2400" dirty="0">
                <a:latin typeface="Verdana" panose="020B0604030504040204" pitchFamily="34" charset="0"/>
              </a:rPr>
              <a:t>、标记</a:t>
            </a:r>
            <a:r>
              <a:rPr lang="en-US" altLang="zh-CN" sz="2400" dirty="0">
                <a:latin typeface="Verdana" panose="020B0604030504040204" pitchFamily="34" charset="0"/>
              </a:rPr>
              <a:t>3</a:t>
            </a:r>
            <a:r>
              <a:rPr lang="zh-CN" altLang="en-US" sz="2400" dirty="0">
                <a:latin typeface="Verdana" panose="020B0604030504040204" pitchFamily="34" charset="0"/>
              </a:rPr>
              <a:t>、标记</a:t>
            </a:r>
            <a:r>
              <a:rPr lang="en-US" altLang="zh-CN" sz="2400" dirty="0">
                <a:latin typeface="Verdana" panose="020B0604030504040204" pitchFamily="34" charset="0"/>
              </a:rPr>
              <a:t>4</a:t>
            </a:r>
            <a:r>
              <a:rPr lang="zh-CN" altLang="en-US" sz="2400" dirty="0">
                <a:latin typeface="Verdana" panose="020B0604030504040204" pitchFamily="34" charset="0"/>
              </a:rPr>
              <a:t>、标记</a:t>
            </a:r>
            <a:r>
              <a:rPr lang="en-US" altLang="zh-CN" sz="2400" dirty="0">
                <a:latin typeface="Verdana" panose="020B0604030504040204" pitchFamily="34" charset="0"/>
              </a:rPr>
              <a:t>5</a:t>
            </a:r>
            <a:r>
              <a:rPr lang="zh-CN" altLang="en-US" sz="2400" dirty="0">
                <a:latin typeface="Verdana" panose="020B0604030504040204" pitchFamily="34" charset="0"/>
              </a:rPr>
              <a:t>、首付款到时间、首付款到额、款到时间</a:t>
            </a:r>
            <a:r>
              <a:rPr lang="en-US" altLang="zh-CN" sz="2400" dirty="0">
                <a:latin typeface="Verdana" panose="020B0604030504040204" pitchFamily="34" charset="0"/>
              </a:rPr>
              <a:t>2</a:t>
            </a:r>
            <a:r>
              <a:rPr lang="zh-CN" altLang="en-US" sz="2400" dirty="0">
                <a:latin typeface="Verdana" panose="020B0604030504040204" pitchFamily="34" charset="0"/>
              </a:rPr>
              <a:t>、款到额</a:t>
            </a:r>
            <a:r>
              <a:rPr lang="en-US" altLang="zh-CN" sz="2400" dirty="0">
                <a:latin typeface="Verdana" panose="020B0604030504040204" pitchFamily="34" charset="0"/>
              </a:rPr>
              <a:t>2</a:t>
            </a:r>
            <a:r>
              <a:rPr lang="zh-CN" altLang="en-US" sz="2400" dirty="0">
                <a:latin typeface="Verdana" panose="020B0604030504040204" pitchFamily="34" charset="0"/>
              </a:rPr>
              <a:t>、款到时间</a:t>
            </a:r>
            <a:r>
              <a:rPr lang="en-US" altLang="zh-CN" sz="2400" dirty="0">
                <a:latin typeface="Verdana" panose="020B0604030504040204" pitchFamily="34" charset="0"/>
              </a:rPr>
              <a:t>3</a:t>
            </a:r>
            <a:r>
              <a:rPr lang="zh-CN" altLang="en-US" sz="2400" dirty="0">
                <a:latin typeface="Verdana" panose="020B0604030504040204" pitchFamily="34" charset="0"/>
              </a:rPr>
              <a:t>、款到额</a:t>
            </a:r>
            <a:r>
              <a:rPr lang="en-US" altLang="zh-CN" sz="2400" dirty="0">
                <a:latin typeface="Verdana" panose="020B0604030504040204" pitchFamily="34" charset="0"/>
              </a:rPr>
              <a:t>3</a:t>
            </a:r>
            <a:r>
              <a:rPr lang="zh-CN" altLang="en-US" sz="2400" dirty="0">
                <a:latin typeface="Verdana" panose="020B0604030504040204" pitchFamily="34" charset="0"/>
              </a:rPr>
              <a:t>、款到时间</a:t>
            </a:r>
            <a:r>
              <a:rPr lang="en-US" altLang="zh-CN" sz="2400" dirty="0">
                <a:latin typeface="Verdana" panose="020B0604030504040204" pitchFamily="34" charset="0"/>
              </a:rPr>
              <a:t>4</a:t>
            </a:r>
            <a:r>
              <a:rPr lang="zh-CN" altLang="en-US" sz="2400" dirty="0">
                <a:latin typeface="Verdana" panose="020B0604030504040204" pitchFamily="34" charset="0"/>
              </a:rPr>
              <a:t>、款到额</a:t>
            </a:r>
            <a:r>
              <a:rPr lang="en-US" altLang="zh-CN" sz="2400" dirty="0">
                <a:latin typeface="Verdana" panose="020B0604030504040204" pitchFamily="34" charset="0"/>
              </a:rPr>
              <a:t>4</a:t>
            </a:r>
            <a:r>
              <a:rPr lang="zh-CN" altLang="en-US" sz="2400" dirty="0">
                <a:latin typeface="Verdana" panose="020B0604030504040204" pitchFamily="34" charset="0"/>
              </a:rPr>
              <a:t>、全部款到时间、全部款到额、签约日期、终止日期、甲方经手人、已方经手人、审批人、履约标志等。</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操作：</a:t>
            </a:r>
            <a:r>
              <a:rPr lang="zh-CN" altLang="en-US" sz="2400" dirty="0">
                <a:latin typeface="Verdana" panose="020B0604030504040204" pitchFamily="34" charset="0"/>
              </a:rPr>
              <a:t>添加新合同</a:t>
            </a:r>
            <a:r>
              <a:rPr lang="en-US" altLang="zh-CN" sz="2400" dirty="0">
                <a:latin typeface="Verdana" panose="020B0604030504040204" pitchFamily="34" charset="0"/>
              </a:rPr>
              <a:t>()</a:t>
            </a:r>
            <a:r>
              <a:rPr lang="zh-CN" altLang="en-US" sz="2400" dirty="0">
                <a:latin typeface="Verdana" panose="020B0604030504040204" pitchFamily="34" charset="0"/>
              </a:rPr>
              <a:t>、查询</a:t>
            </a:r>
            <a:r>
              <a:rPr lang="en-US" altLang="zh-CN" sz="2400" dirty="0">
                <a:latin typeface="Verdana" panose="020B0604030504040204" pitchFamily="34" charset="0"/>
              </a:rPr>
              <a:t>()</a:t>
            </a:r>
            <a:r>
              <a:rPr lang="zh-CN" altLang="en-US" sz="2400" dirty="0">
                <a:latin typeface="Verdana" panose="020B0604030504040204" pitchFamily="34" charset="0"/>
              </a:rPr>
              <a:t>、删除合同</a:t>
            </a:r>
            <a:r>
              <a:rPr lang="en-US" altLang="zh-CN" sz="2400" dirty="0">
                <a:latin typeface="Verdana" panose="020B0604030504040204" pitchFamily="34" charset="0"/>
              </a:rPr>
              <a:t>()</a:t>
            </a:r>
            <a:r>
              <a:rPr lang="zh-CN" altLang="en-US" sz="2400" dirty="0">
                <a:latin typeface="Verdana" panose="020B0604030504040204" pitchFamily="34" charset="0"/>
              </a:rPr>
              <a:t>、修改合同</a:t>
            </a:r>
            <a:r>
              <a:rPr lang="en-US" altLang="zh-CN" sz="2400" dirty="0">
                <a:latin typeface="Verdana" panose="020B0604030504040204" pitchFamily="34" charset="0"/>
              </a:rPr>
              <a:t>()</a:t>
            </a:r>
            <a:r>
              <a:rPr lang="zh-CN" altLang="en-US" sz="2400" dirty="0">
                <a:latin typeface="Verdana" panose="020B0604030504040204" pitchFamily="34" charset="0"/>
              </a:rPr>
              <a:t>、履约率</a:t>
            </a:r>
            <a:r>
              <a:rPr lang="en-US" altLang="zh-CN" sz="2400" dirty="0">
                <a:latin typeface="Verdana" panose="020B0604030504040204" pitchFamily="34" charset="0"/>
              </a:rPr>
              <a:t>()</a:t>
            </a:r>
            <a:r>
              <a:rPr lang="zh-CN" altLang="en-US" sz="2400" dirty="0">
                <a:latin typeface="Verdana" panose="020B0604030504040204" pitchFamily="34" charset="0"/>
              </a:rPr>
              <a:t>、过期预警</a:t>
            </a:r>
            <a:r>
              <a:rPr lang="en-US" altLang="zh-CN" sz="2400" dirty="0">
                <a:latin typeface="Verdana" panose="020B0604030504040204" pitchFamily="34" charset="0"/>
              </a:rPr>
              <a:t>()</a:t>
            </a:r>
            <a:r>
              <a:rPr lang="zh-CN" altLang="en-US" sz="2400" dirty="0">
                <a:latin typeface="Verdana" panose="020B0604030504040204" pitchFamily="34" charset="0"/>
              </a:rPr>
              <a:t>、已发货未付款分类统计</a:t>
            </a:r>
            <a:r>
              <a:rPr lang="en-US" altLang="zh-CN" sz="2400" dirty="0">
                <a:latin typeface="Verdana" panose="020B0604030504040204" pitchFamily="34" charset="0"/>
              </a:rPr>
              <a:t>()</a:t>
            </a:r>
            <a:r>
              <a:rPr lang="zh-CN" altLang="en-US" sz="2400" dirty="0">
                <a:latin typeface="Verdana" panose="020B0604030504040204" pitchFamily="34" charset="0"/>
              </a:rPr>
              <a:t>、已发货未付款通计</a:t>
            </a:r>
            <a:r>
              <a:rPr lang="en-US" altLang="zh-CN" sz="2400" dirty="0">
                <a:latin typeface="Verdana" panose="020B0604030504040204" pitchFamily="34" charset="0"/>
              </a:rPr>
              <a:t>()</a:t>
            </a:r>
            <a:r>
              <a:rPr lang="zh-CN" altLang="en-US" sz="2400" dirty="0">
                <a:latin typeface="Verdana" panose="020B0604030504040204" pitchFamily="34" charset="0"/>
              </a:rPr>
              <a:t>、打印催款单</a:t>
            </a:r>
            <a:r>
              <a:rPr lang="en-US" altLang="zh-CN" sz="2400" dirty="0">
                <a:latin typeface="Verdana" panose="020B0604030504040204" pitchFamily="34" charset="0"/>
              </a:rPr>
              <a:t>()</a:t>
            </a:r>
            <a:r>
              <a:rPr lang="zh-CN" altLang="en-US" sz="2400" dirty="0">
                <a:latin typeface="Verdana" panose="020B0604030504040204" pitchFamily="34" charset="0"/>
              </a:rPr>
              <a:t>等。</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5"/>
          <p:cNvSpPr txBox="1"/>
          <p:nvPr/>
        </p:nvSpPr>
        <p:spPr>
          <a:xfrm>
            <a:off x="14288" y="0"/>
            <a:ext cx="9036050" cy="6802438"/>
          </a:xfrm>
          <a:prstGeom prst="rect">
            <a:avLst/>
          </a:prstGeom>
          <a:solidFill>
            <a:schemeClr val="bg1"/>
          </a:solidFill>
          <a:ln w="9525">
            <a:noFill/>
          </a:ln>
        </p:spPr>
        <p:txBody>
          <a:bodyPr>
            <a:spAutoFit/>
          </a:bodyPr>
          <a:lstStyle/>
          <a:p>
            <a:pPr eaLnBrk="1" hangingPunct="1">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）采购合同</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r>
              <a:rPr lang="zh-CN" altLang="en-US" sz="2400" b="1" dirty="0">
                <a:solidFill>
                  <a:srgbClr val="7030A0"/>
                </a:solidFill>
                <a:latin typeface="Verdana" panose="020B0604030504040204" pitchFamily="34" charset="0"/>
              </a:rPr>
              <a:t>类名</a:t>
            </a:r>
            <a:r>
              <a:rPr lang="zh-CN" altLang="en-US" sz="2400" dirty="0">
                <a:latin typeface="Verdana" panose="020B0604030504040204" pitchFamily="34" charset="0"/>
              </a:rPr>
              <a:t>：采购合同。</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类的编号</a:t>
            </a:r>
            <a:r>
              <a:rPr lang="zh-CN" altLang="en-US" sz="2400" dirty="0">
                <a:latin typeface="Verdana" panose="020B0604030504040204" pitchFamily="34" charset="0"/>
              </a:rPr>
              <a:t>：</a:t>
            </a:r>
            <a:r>
              <a:rPr lang="en-US" altLang="zh-CN" sz="2400" dirty="0">
                <a:latin typeface="Verdana" panose="020B0604030504040204" pitchFamily="34" charset="0"/>
              </a:rPr>
              <a:t>040201</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类的类型</a:t>
            </a:r>
            <a:r>
              <a:rPr lang="zh-CN" altLang="en-US" sz="2400" dirty="0">
                <a:latin typeface="Verdana" panose="020B0604030504040204" pitchFamily="34" charset="0"/>
              </a:rPr>
              <a:t>：该类创建的对象为持久对象存储在服务器上的数据库中，可以共享。</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：负责建立采购合同的基本信息并对这些信息进行处理，包括添加、删除、查询操作等，进行添加和删除操作时要按合同编号进行索引处理。</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属性</a:t>
            </a:r>
            <a:r>
              <a:rPr lang="zh-CN" altLang="en-US" sz="2400" dirty="0">
                <a:latin typeface="Verdana" panose="020B0604030504040204" pitchFamily="34" charset="0"/>
              </a:rPr>
              <a:t>：合同编号、甲方、乙方、商品名称、规格、单位、单价、数量、总金额、发货时间</a:t>
            </a:r>
            <a:r>
              <a:rPr lang="en-US" altLang="zh-CN" sz="2400" dirty="0">
                <a:latin typeface="Verdana" panose="020B0604030504040204" pitchFamily="34" charset="0"/>
              </a:rPr>
              <a:t>1</a:t>
            </a:r>
            <a:r>
              <a:rPr lang="zh-CN" altLang="en-US" sz="2400" dirty="0">
                <a:latin typeface="Verdana" panose="020B0604030504040204" pitchFamily="34" charset="0"/>
              </a:rPr>
              <a:t>、发货时间</a:t>
            </a:r>
            <a:r>
              <a:rPr lang="en-US" altLang="zh-CN" sz="2400" dirty="0">
                <a:latin typeface="Verdana" panose="020B0604030504040204" pitchFamily="34" charset="0"/>
              </a:rPr>
              <a:t>2</a:t>
            </a:r>
            <a:r>
              <a:rPr lang="zh-CN" altLang="en-US" sz="2400" dirty="0">
                <a:latin typeface="Verdana" panose="020B0604030504040204" pitchFamily="34" charset="0"/>
              </a:rPr>
              <a:t>、发货时间</a:t>
            </a:r>
            <a:r>
              <a:rPr lang="en-US" altLang="zh-CN" sz="2400" dirty="0">
                <a:latin typeface="Verdana" panose="020B0604030504040204" pitchFamily="34" charset="0"/>
              </a:rPr>
              <a:t>3</a:t>
            </a:r>
            <a:r>
              <a:rPr lang="zh-CN" altLang="en-US" sz="2400" dirty="0">
                <a:latin typeface="Verdana" panose="020B0604030504040204" pitchFamily="34" charset="0"/>
              </a:rPr>
              <a:t>、发货时间</a:t>
            </a:r>
            <a:r>
              <a:rPr lang="en-US" altLang="zh-CN" sz="2400" dirty="0">
                <a:latin typeface="Verdana" panose="020B0604030504040204" pitchFamily="34" charset="0"/>
              </a:rPr>
              <a:t>4</a:t>
            </a:r>
            <a:r>
              <a:rPr lang="zh-CN" altLang="en-US" sz="2400" dirty="0">
                <a:latin typeface="Verdana" panose="020B0604030504040204" pitchFamily="34" charset="0"/>
              </a:rPr>
              <a:t>、全部货发时间、发货量</a:t>
            </a:r>
            <a:r>
              <a:rPr lang="en-US" altLang="zh-CN" sz="2400" dirty="0">
                <a:latin typeface="Verdana" panose="020B0604030504040204" pitchFamily="34" charset="0"/>
              </a:rPr>
              <a:t>1</a:t>
            </a:r>
            <a:r>
              <a:rPr lang="zh-CN" altLang="en-US" sz="2400" dirty="0">
                <a:latin typeface="Verdana" panose="020B0604030504040204" pitchFamily="34" charset="0"/>
              </a:rPr>
              <a:t>、发货量</a:t>
            </a:r>
            <a:r>
              <a:rPr lang="en-US" altLang="zh-CN" sz="2400" dirty="0">
                <a:latin typeface="Verdana" panose="020B0604030504040204" pitchFamily="34" charset="0"/>
              </a:rPr>
              <a:t>2</a:t>
            </a:r>
            <a:r>
              <a:rPr lang="zh-CN" altLang="en-US" sz="2400" dirty="0">
                <a:latin typeface="Verdana" panose="020B0604030504040204" pitchFamily="34" charset="0"/>
              </a:rPr>
              <a:t>、发货量</a:t>
            </a:r>
            <a:r>
              <a:rPr lang="en-US" altLang="zh-CN" sz="2400" dirty="0">
                <a:latin typeface="Verdana" panose="020B0604030504040204" pitchFamily="34" charset="0"/>
              </a:rPr>
              <a:t>3</a:t>
            </a:r>
            <a:r>
              <a:rPr lang="zh-CN" altLang="en-US" sz="2400" dirty="0">
                <a:latin typeface="Verdana" panose="020B0604030504040204" pitchFamily="34" charset="0"/>
              </a:rPr>
              <a:t>、发货量</a:t>
            </a:r>
            <a:r>
              <a:rPr lang="en-US" altLang="zh-CN" sz="2400" dirty="0">
                <a:latin typeface="Verdana" panose="020B0604030504040204" pitchFamily="34" charset="0"/>
              </a:rPr>
              <a:t>4</a:t>
            </a:r>
            <a:r>
              <a:rPr lang="zh-CN" altLang="en-US" sz="2400" dirty="0">
                <a:latin typeface="Verdana" panose="020B0604030504040204" pitchFamily="34" charset="0"/>
              </a:rPr>
              <a:t>、全部发货量、标记</a:t>
            </a:r>
            <a:r>
              <a:rPr lang="en-US" altLang="zh-CN" sz="2400" dirty="0">
                <a:latin typeface="Verdana" panose="020B0604030504040204" pitchFamily="34" charset="0"/>
              </a:rPr>
              <a:t>1</a:t>
            </a:r>
            <a:r>
              <a:rPr lang="zh-CN" altLang="en-US" sz="2400" dirty="0">
                <a:latin typeface="Verdana" panose="020B0604030504040204" pitchFamily="34" charset="0"/>
              </a:rPr>
              <a:t>、标记</a:t>
            </a:r>
            <a:r>
              <a:rPr lang="en-US" altLang="zh-CN" sz="2400" dirty="0">
                <a:latin typeface="Verdana" panose="020B0604030504040204" pitchFamily="34" charset="0"/>
              </a:rPr>
              <a:t>2</a:t>
            </a:r>
            <a:r>
              <a:rPr lang="zh-CN" altLang="en-US" sz="2400" dirty="0">
                <a:latin typeface="Verdana" panose="020B0604030504040204" pitchFamily="34" charset="0"/>
              </a:rPr>
              <a:t>、标记</a:t>
            </a:r>
            <a:r>
              <a:rPr lang="en-US" altLang="zh-CN" sz="2400" dirty="0">
                <a:latin typeface="Verdana" panose="020B0604030504040204" pitchFamily="34" charset="0"/>
              </a:rPr>
              <a:t>3</a:t>
            </a:r>
            <a:r>
              <a:rPr lang="zh-CN" altLang="en-US" sz="2400" dirty="0">
                <a:latin typeface="Verdana" panose="020B0604030504040204" pitchFamily="34" charset="0"/>
              </a:rPr>
              <a:t>、标记</a:t>
            </a:r>
            <a:r>
              <a:rPr lang="en-US" altLang="zh-CN" sz="2400" dirty="0">
                <a:latin typeface="Verdana" panose="020B0604030504040204" pitchFamily="34" charset="0"/>
              </a:rPr>
              <a:t>4</a:t>
            </a:r>
            <a:r>
              <a:rPr lang="zh-CN" altLang="en-US" sz="2400" dirty="0">
                <a:latin typeface="Verdana" panose="020B0604030504040204" pitchFamily="34" charset="0"/>
              </a:rPr>
              <a:t>、标记</a:t>
            </a:r>
            <a:r>
              <a:rPr lang="en-US" altLang="zh-CN" sz="2400" dirty="0">
                <a:latin typeface="Verdana" panose="020B0604030504040204" pitchFamily="34" charset="0"/>
              </a:rPr>
              <a:t>5</a:t>
            </a:r>
            <a:r>
              <a:rPr lang="zh-CN" altLang="en-US" sz="2400" dirty="0">
                <a:latin typeface="Verdana" panose="020B0604030504040204" pitchFamily="34" charset="0"/>
              </a:rPr>
              <a:t>、首付款到时间、首付款到额、款到时间</a:t>
            </a:r>
            <a:r>
              <a:rPr lang="en-US" altLang="zh-CN" sz="2400" dirty="0">
                <a:latin typeface="Verdana" panose="020B0604030504040204" pitchFamily="34" charset="0"/>
              </a:rPr>
              <a:t>2</a:t>
            </a:r>
            <a:r>
              <a:rPr lang="zh-CN" altLang="en-US" sz="2400" dirty="0">
                <a:latin typeface="Verdana" panose="020B0604030504040204" pitchFamily="34" charset="0"/>
              </a:rPr>
              <a:t>、款到额</a:t>
            </a:r>
            <a:r>
              <a:rPr lang="en-US" altLang="zh-CN" sz="2400" dirty="0">
                <a:latin typeface="Verdana" panose="020B0604030504040204" pitchFamily="34" charset="0"/>
              </a:rPr>
              <a:t>2</a:t>
            </a:r>
            <a:r>
              <a:rPr lang="zh-CN" altLang="en-US" sz="2400" dirty="0">
                <a:latin typeface="Verdana" panose="020B0604030504040204" pitchFamily="34" charset="0"/>
              </a:rPr>
              <a:t>、款到时间</a:t>
            </a:r>
            <a:r>
              <a:rPr lang="en-US" altLang="zh-CN" sz="2400" dirty="0">
                <a:latin typeface="Verdana" panose="020B0604030504040204" pitchFamily="34" charset="0"/>
              </a:rPr>
              <a:t>3</a:t>
            </a:r>
            <a:r>
              <a:rPr lang="zh-CN" altLang="en-US" sz="2400" dirty="0">
                <a:latin typeface="Verdana" panose="020B0604030504040204" pitchFamily="34" charset="0"/>
              </a:rPr>
              <a:t>、款到额</a:t>
            </a:r>
            <a:r>
              <a:rPr lang="en-US" altLang="zh-CN" sz="2400" dirty="0">
                <a:latin typeface="Verdana" panose="020B0604030504040204" pitchFamily="34" charset="0"/>
              </a:rPr>
              <a:t>3</a:t>
            </a:r>
            <a:r>
              <a:rPr lang="zh-CN" altLang="en-US" sz="2400" dirty="0">
                <a:latin typeface="Verdana" panose="020B0604030504040204" pitchFamily="34" charset="0"/>
              </a:rPr>
              <a:t>、款到时间</a:t>
            </a:r>
            <a:r>
              <a:rPr lang="en-US" altLang="zh-CN" sz="2400" dirty="0">
                <a:latin typeface="Verdana" panose="020B0604030504040204" pitchFamily="34" charset="0"/>
              </a:rPr>
              <a:t>4</a:t>
            </a:r>
            <a:r>
              <a:rPr lang="zh-CN" altLang="en-US" sz="2400" dirty="0">
                <a:latin typeface="Verdana" panose="020B0604030504040204" pitchFamily="34" charset="0"/>
              </a:rPr>
              <a:t>、款到额</a:t>
            </a:r>
            <a:r>
              <a:rPr lang="en-US" altLang="zh-CN" sz="2400" dirty="0">
                <a:latin typeface="Verdana" panose="020B0604030504040204" pitchFamily="34" charset="0"/>
              </a:rPr>
              <a:t>4</a:t>
            </a:r>
            <a:r>
              <a:rPr lang="zh-CN" altLang="en-US" sz="2400" dirty="0">
                <a:latin typeface="Verdana" panose="020B0604030504040204" pitchFamily="34" charset="0"/>
              </a:rPr>
              <a:t>、全部款到时间、全部款到额、签约日期、终止日期、甲方经手人、已方经手人、审批人、履约标志等。</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操作：</a:t>
            </a:r>
            <a:r>
              <a:rPr lang="zh-CN" altLang="en-US" sz="2400" dirty="0">
                <a:latin typeface="Verdana" panose="020B0604030504040204" pitchFamily="34" charset="0"/>
              </a:rPr>
              <a:t>添加新合同</a:t>
            </a:r>
            <a:r>
              <a:rPr lang="en-US" altLang="zh-CN" sz="2400" dirty="0">
                <a:latin typeface="Verdana" panose="020B0604030504040204" pitchFamily="34" charset="0"/>
              </a:rPr>
              <a:t>()</a:t>
            </a:r>
            <a:r>
              <a:rPr lang="zh-CN" altLang="en-US" sz="2400" dirty="0">
                <a:latin typeface="Verdana" panose="020B0604030504040204" pitchFamily="34" charset="0"/>
              </a:rPr>
              <a:t>、查询</a:t>
            </a:r>
            <a:r>
              <a:rPr lang="en-US" altLang="zh-CN" sz="2400" dirty="0">
                <a:latin typeface="Verdana" panose="020B0604030504040204" pitchFamily="34" charset="0"/>
              </a:rPr>
              <a:t>()</a:t>
            </a:r>
            <a:r>
              <a:rPr lang="zh-CN" altLang="en-US" sz="2400" dirty="0">
                <a:latin typeface="Verdana" panose="020B0604030504040204" pitchFamily="34" charset="0"/>
              </a:rPr>
              <a:t>、删除合同</a:t>
            </a:r>
            <a:r>
              <a:rPr lang="en-US" altLang="zh-CN" sz="2400" dirty="0">
                <a:latin typeface="Verdana" panose="020B0604030504040204" pitchFamily="34" charset="0"/>
              </a:rPr>
              <a:t>()</a:t>
            </a:r>
            <a:r>
              <a:rPr lang="zh-CN" altLang="en-US" sz="2400" dirty="0">
                <a:latin typeface="Verdana" panose="020B0604030504040204" pitchFamily="34" charset="0"/>
              </a:rPr>
              <a:t>、修改合同</a:t>
            </a:r>
            <a:r>
              <a:rPr lang="en-US" altLang="zh-CN" sz="2400" dirty="0">
                <a:latin typeface="Verdana" panose="020B0604030504040204" pitchFamily="34" charset="0"/>
              </a:rPr>
              <a:t>()</a:t>
            </a:r>
            <a:r>
              <a:rPr lang="zh-CN" altLang="en-US" sz="2400" dirty="0">
                <a:latin typeface="Verdana" panose="020B0604030504040204" pitchFamily="34" charset="0"/>
              </a:rPr>
              <a:t>、履约率</a:t>
            </a:r>
            <a:r>
              <a:rPr lang="en-US" altLang="zh-CN" sz="2400" dirty="0">
                <a:latin typeface="Verdana" panose="020B0604030504040204" pitchFamily="34" charset="0"/>
              </a:rPr>
              <a:t>()</a:t>
            </a:r>
            <a:r>
              <a:rPr lang="zh-CN" altLang="en-US" sz="2400" dirty="0">
                <a:latin typeface="Verdana" panose="020B0604030504040204" pitchFamily="34" charset="0"/>
              </a:rPr>
              <a:t>、过期预警</a:t>
            </a:r>
            <a:r>
              <a:rPr lang="en-US" altLang="zh-CN" sz="2400" dirty="0">
                <a:latin typeface="Verdana" panose="020B0604030504040204" pitchFamily="34" charset="0"/>
              </a:rPr>
              <a:t>()</a:t>
            </a:r>
            <a:r>
              <a:rPr lang="zh-CN" altLang="en-US" sz="2400" dirty="0">
                <a:latin typeface="Verdana" panose="020B0604030504040204" pitchFamily="34" charset="0"/>
              </a:rPr>
              <a:t>、已发货未付款分类统计</a:t>
            </a:r>
            <a:r>
              <a:rPr lang="en-US" altLang="zh-CN" sz="2400" dirty="0">
                <a:latin typeface="Verdana" panose="020B0604030504040204" pitchFamily="34" charset="0"/>
              </a:rPr>
              <a:t>()</a:t>
            </a:r>
            <a:r>
              <a:rPr lang="zh-CN" altLang="en-US" sz="2400" dirty="0">
                <a:latin typeface="Verdana" panose="020B0604030504040204" pitchFamily="34" charset="0"/>
              </a:rPr>
              <a:t>、已发货未付款通计</a:t>
            </a:r>
            <a:r>
              <a:rPr lang="en-US" altLang="zh-CN" sz="2400" dirty="0">
                <a:latin typeface="Verdana" panose="020B0604030504040204" pitchFamily="34" charset="0"/>
              </a:rPr>
              <a:t>()</a:t>
            </a:r>
            <a:r>
              <a:rPr lang="zh-CN" altLang="en-US" sz="2400" dirty="0">
                <a:latin typeface="Verdana" panose="020B0604030504040204" pitchFamily="34" charset="0"/>
              </a:rPr>
              <a:t>、打印催款单</a:t>
            </a:r>
            <a:r>
              <a:rPr lang="en-US" altLang="zh-CN" sz="2400" dirty="0">
                <a:latin typeface="Verdana" panose="020B0604030504040204" pitchFamily="34" charset="0"/>
              </a:rPr>
              <a:t>()</a:t>
            </a:r>
            <a:r>
              <a:rPr lang="zh-CN" altLang="en-US" sz="2400" dirty="0">
                <a:latin typeface="Verdana" panose="020B0604030504040204" pitchFamily="34" charset="0"/>
              </a:rPr>
              <a:t>等。</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5"/>
          <p:cNvSpPr txBox="1"/>
          <p:nvPr/>
        </p:nvSpPr>
        <p:spPr>
          <a:xfrm>
            <a:off x="17463" y="0"/>
            <a:ext cx="9036050" cy="4425950"/>
          </a:xfrm>
          <a:prstGeom prst="rect">
            <a:avLst/>
          </a:prstGeom>
          <a:solidFill>
            <a:schemeClr val="bg1"/>
          </a:solidFill>
          <a:ln w="9525">
            <a:noFill/>
          </a:ln>
        </p:spPr>
        <p:txBody>
          <a:bodyPr>
            <a:spAutoFit/>
          </a:bodyPr>
          <a:lstStyle/>
          <a:p>
            <a:pPr eaLnBrk="1" hangingPunct="1">
              <a:lnSpc>
                <a:spcPct val="13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3</a:t>
            </a:r>
            <a:r>
              <a:rPr lang="zh-CN" altLang="en-US" sz="2800" dirty="0">
                <a:solidFill>
                  <a:srgbClr val="FF0000"/>
                </a:solidFill>
                <a:latin typeface="黑体" panose="02010609060101010101" pitchFamily="49" charset="-122"/>
                <a:ea typeface="黑体" panose="02010609060101010101" pitchFamily="49" charset="-122"/>
              </a:rPr>
              <a:t>）销售合同统计报表</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30000"/>
              </a:lnSpc>
            </a:pPr>
            <a:r>
              <a:rPr lang="zh-CN" altLang="en-US" sz="2400" b="1" dirty="0">
                <a:solidFill>
                  <a:srgbClr val="7030A0"/>
                </a:solidFill>
                <a:latin typeface="Verdana" panose="020B0604030504040204" pitchFamily="34" charset="0"/>
              </a:rPr>
              <a:t>类名</a:t>
            </a:r>
            <a:r>
              <a:rPr lang="zh-CN" altLang="en-US" sz="2400" dirty="0">
                <a:latin typeface="Verdana" panose="020B0604030504040204" pitchFamily="34" charset="0"/>
              </a:rPr>
              <a:t>：销售合同统计报表。</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类的编号</a:t>
            </a:r>
            <a:r>
              <a:rPr lang="zh-CN" altLang="en-US" sz="2400" dirty="0">
                <a:latin typeface="Verdana" panose="020B0604030504040204" pitchFamily="34" charset="0"/>
              </a:rPr>
              <a:t>：</a:t>
            </a:r>
            <a:r>
              <a:rPr lang="en-US" altLang="zh-CN" sz="2400" dirty="0">
                <a:latin typeface="Verdana" panose="020B0604030504040204" pitchFamily="34" charset="0"/>
              </a:rPr>
              <a:t>040102</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类的类型</a:t>
            </a:r>
            <a:r>
              <a:rPr lang="zh-CN" altLang="en-US" sz="2400" dirty="0">
                <a:latin typeface="Verdana" panose="020B0604030504040204" pitchFamily="34" charset="0"/>
              </a:rPr>
              <a:t>：该类创建的对象为持久对象存储在服务器上的数据库中，可以共享。</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：负责对所有销售合同（对象）的统计信息管理。</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属性</a:t>
            </a:r>
            <a:r>
              <a:rPr lang="zh-CN" altLang="en-US" sz="2400" dirty="0">
                <a:latin typeface="Verdana" panose="020B0604030504040204" pitchFamily="34" charset="0"/>
              </a:rPr>
              <a:t>：销售合同</a:t>
            </a:r>
            <a:r>
              <a:rPr lang="en-US" altLang="zh-CN" sz="2400" dirty="0">
                <a:latin typeface="Verdana" panose="020B0604030504040204" pitchFamily="34" charset="0"/>
              </a:rPr>
              <a:t>[ * ]</a:t>
            </a:r>
            <a:r>
              <a:rPr lang="zh-CN" altLang="en-US" sz="2400" dirty="0">
                <a:latin typeface="Verdana" panose="020B0604030504040204" pitchFamily="34" charset="0"/>
              </a:rPr>
              <a:t>等。</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操作：</a:t>
            </a:r>
            <a:r>
              <a:rPr lang="zh-CN" altLang="en-US" sz="2400" dirty="0">
                <a:latin typeface="Verdana" panose="020B0604030504040204" pitchFamily="34" charset="0"/>
              </a:rPr>
              <a:t>打印履约销售合同清单（）、销售合同履约率（）、销售欠款金额统计（）、销售欠货统计（）等。</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5"/>
          <p:cNvSpPr txBox="1"/>
          <p:nvPr/>
        </p:nvSpPr>
        <p:spPr>
          <a:xfrm>
            <a:off x="17463" y="0"/>
            <a:ext cx="9036050" cy="4494213"/>
          </a:xfrm>
          <a:prstGeom prst="rect">
            <a:avLst/>
          </a:prstGeom>
          <a:solidFill>
            <a:schemeClr val="bg1"/>
          </a:solidFill>
          <a:ln w="9525">
            <a:noFill/>
          </a:ln>
        </p:spPr>
        <p:txBody>
          <a:bodyPr>
            <a:spAutoFit/>
          </a:bodyPr>
          <a:lstStyle/>
          <a:p>
            <a:pPr eaLnBrk="1" hangingPunct="1">
              <a:lnSpc>
                <a:spcPct val="13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4</a:t>
            </a:r>
            <a:r>
              <a:rPr lang="zh-CN" altLang="en-US" sz="2800" dirty="0">
                <a:solidFill>
                  <a:srgbClr val="FF0000"/>
                </a:solidFill>
                <a:latin typeface="黑体" panose="02010609060101010101" pitchFamily="49" charset="-122"/>
                <a:ea typeface="黑体" panose="02010609060101010101" pitchFamily="49" charset="-122"/>
              </a:rPr>
              <a:t>）采购合同统计报表</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30000"/>
              </a:lnSpc>
            </a:pPr>
            <a:r>
              <a:rPr lang="zh-CN" altLang="en-US" sz="2400" b="1" dirty="0">
                <a:solidFill>
                  <a:srgbClr val="7030A0"/>
                </a:solidFill>
                <a:latin typeface="Verdana" panose="020B0604030504040204" pitchFamily="34" charset="0"/>
              </a:rPr>
              <a:t>类名</a:t>
            </a:r>
            <a:r>
              <a:rPr lang="zh-CN" altLang="en-US" sz="2400" dirty="0">
                <a:latin typeface="Verdana" panose="020B0604030504040204" pitchFamily="34" charset="0"/>
              </a:rPr>
              <a:t>：采购合同统计报表。</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类的编号</a:t>
            </a:r>
            <a:r>
              <a:rPr lang="zh-CN" altLang="en-US" sz="2400" dirty="0">
                <a:latin typeface="Verdana" panose="020B0604030504040204" pitchFamily="34" charset="0"/>
              </a:rPr>
              <a:t>：</a:t>
            </a:r>
            <a:r>
              <a:rPr lang="en-US" altLang="zh-CN" sz="2400" dirty="0">
                <a:latin typeface="Verdana" panose="020B0604030504040204" pitchFamily="34" charset="0"/>
              </a:rPr>
              <a:t>040202</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类的类型</a:t>
            </a:r>
            <a:r>
              <a:rPr lang="zh-CN" altLang="en-US" sz="2400" dirty="0">
                <a:latin typeface="Verdana" panose="020B0604030504040204" pitchFamily="34" charset="0"/>
              </a:rPr>
              <a:t>：该类创建的对象为持久对象存储在服务器上的数据库中，可以共享。</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：负责对所有采购合同（对象）的统计信息管理。</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属性</a:t>
            </a:r>
            <a:r>
              <a:rPr lang="zh-CN" altLang="en-US" sz="2400" dirty="0">
                <a:latin typeface="Verdana" panose="020B0604030504040204" pitchFamily="34" charset="0"/>
              </a:rPr>
              <a:t>：采购合同</a:t>
            </a:r>
            <a:r>
              <a:rPr lang="en-US" altLang="zh-CN" sz="2400" dirty="0">
                <a:latin typeface="Verdana" panose="020B0604030504040204" pitchFamily="34" charset="0"/>
              </a:rPr>
              <a:t>[ * ]</a:t>
            </a:r>
            <a:r>
              <a:rPr lang="zh-CN" altLang="en-US" sz="2400" dirty="0">
                <a:latin typeface="Verdana" panose="020B0604030504040204" pitchFamily="34" charset="0"/>
              </a:rPr>
              <a:t>等。</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操作：</a:t>
            </a:r>
            <a:r>
              <a:rPr lang="zh-CN" altLang="en-US" sz="2400" dirty="0">
                <a:latin typeface="Verdana" panose="020B0604030504040204" pitchFamily="34" charset="0"/>
              </a:rPr>
              <a:t>打印未履约采购合同清单（）、采购合同履约率（）、采购欠款金额统计（）、采购欠货统计（）等。</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5"/>
          <p:cNvSpPr txBox="1"/>
          <p:nvPr/>
        </p:nvSpPr>
        <p:spPr>
          <a:xfrm>
            <a:off x="17463" y="0"/>
            <a:ext cx="9036050" cy="4973638"/>
          </a:xfrm>
          <a:prstGeom prst="rect">
            <a:avLst/>
          </a:prstGeom>
          <a:solidFill>
            <a:schemeClr val="bg1"/>
          </a:solidFill>
          <a:ln w="9525">
            <a:noFill/>
          </a:ln>
        </p:spPr>
        <p:txBody>
          <a:bodyPr>
            <a:spAutoFit/>
          </a:bodyPr>
          <a:lstStyle/>
          <a:p>
            <a:pPr eaLnBrk="1" hangingPunct="1">
              <a:lnSpc>
                <a:spcPct val="13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5</a:t>
            </a:r>
            <a:r>
              <a:rPr lang="zh-CN" altLang="en-US" sz="2800" dirty="0">
                <a:solidFill>
                  <a:srgbClr val="FF0000"/>
                </a:solidFill>
                <a:latin typeface="黑体" panose="02010609060101010101" pitchFamily="49" charset="-122"/>
                <a:ea typeface="黑体" panose="02010609060101010101" pitchFamily="49" charset="-122"/>
              </a:rPr>
              <a:t>）入库单</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30000"/>
              </a:lnSpc>
              <a:buFont typeface="Arial" panose="020B0604020202020204" pitchFamily="34" charset="0"/>
            </a:pPr>
            <a:r>
              <a:rPr lang="zh-CN" altLang="en-US" sz="2400" b="1" dirty="0">
                <a:solidFill>
                  <a:srgbClr val="7030A0"/>
                </a:solidFill>
                <a:latin typeface="Verdana" panose="020B0604030504040204" pitchFamily="34" charset="0"/>
              </a:rPr>
              <a:t>类名</a:t>
            </a:r>
            <a:r>
              <a:rPr lang="zh-CN" altLang="en-US" sz="2400" dirty="0">
                <a:latin typeface="Verdana" panose="020B0604030504040204" pitchFamily="34" charset="0"/>
              </a:rPr>
              <a:t>：入库单。</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类的编号</a:t>
            </a:r>
            <a:r>
              <a:rPr lang="zh-CN" altLang="en-US" sz="2400" dirty="0">
                <a:latin typeface="Verdana" panose="020B0604030504040204" pitchFamily="34" charset="0"/>
              </a:rPr>
              <a:t>：</a:t>
            </a:r>
            <a:r>
              <a:rPr lang="en-US" altLang="zh-CN" sz="2400" dirty="0">
                <a:latin typeface="Verdana" panose="020B0604030504040204" pitchFamily="34" charset="0"/>
              </a:rPr>
              <a:t>040301</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类的类型</a:t>
            </a:r>
            <a:r>
              <a:rPr lang="zh-CN" altLang="en-US" sz="2400" dirty="0">
                <a:latin typeface="Verdana" panose="020B0604030504040204" pitchFamily="34" charset="0"/>
              </a:rPr>
              <a:t>：该类创建的对象为持久对象存储在服务器上的数据库中，可以共享。</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：对外购和自产货物进行入库信息处理。</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属性</a:t>
            </a:r>
            <a:r>
              <a:rPr lang="zh-CN" altLang="en-US" sz="2400" dirty="0">
                <a:latin typeface="Verdana" panose="020B0604030504040204" pitchFamily="34" charset="0"/>
              </a:rPr>
              <a:t>：货物编号、商品名称、规格、单位、单价、数量、货物、进货日期、产地、送货人、经手人、复验等。</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操作：</a:t>
            </a:r>
            <a:r>
              <a:rPr lang="zh-CN" altLang="en-US" sz="2400" dirty="0">
                <a:latin typeface="Verdana" panose="020B0604030504040204" pitchFamily="34" charset="0"/>
              </a:rPr>
              <a:t>查询</a:t>
            </a:r>
            <a:r>
              <a:rPr lang="en-US" altLang="zh-CN" sz="2400" dirty="0">
                <a:latin typeface="Verdana" panose="020B0604030504040204" pitchFamily="34" charset="0"/>
              </a:rPr>
              <a:t>()</a:t>
            </a:r>
            <a:r>
              <a:rPr lang="zh-CN" altLang="en-US" sz="2400" dirty="0">
                <a:latin typeface="Verdana" panose="020B0604030504040204" pitchFamily="34" charset="0"/>
              </a:rPr>
              <a:t>、删除 </a:t>
            </a:r>
            <a:r>
              <a:rPr lang="en-US" altLang="zh-CN" sz="2400" dirty="0">
                <a:latin typeface="Verdana" panose="020B0604030504040204" pitchFamily="34" charset="0"/>
              </a:rPr>
              <a:t>()</a:t>
            </a:r>
            <a:r>
              <a:rPr lang="zh-CN" altLang="en-US" sz="2400" dirty="0">
                <a:latin typeface="Verdana" panose="020B0604030504040204" pitchFamily="34" charset="0"/>
              </a:rPr>
              <a:t>、修改</a:t>
            </a:r>
            <a:r>
              <a:rPr lang="en-US" altLang="zh-CN" sz="2400" dirty="0">
                <a:latin typeface="Verdana" panose="020B0604030504040204" pitchFamily="34" charset="0"/>
              </a:rPr>
              <a:t>()</a:t>
            </a:r>
            <a:r>
              <a:rPr lang="zh-CN" altLang="en-US" sz="2400" dirty="0">
                <a:latin typeface="Verdana" panose="020B0604030504040204" pitchFamily="34" charset="0"/>
              </a:rPr>
              <a:t>、添加</a:t>
            </a:r>
            <a:r>
              <a:rPr lang="en-US" altLang="zh-CN" sz="2400" dirty="0">
                <a:latin typeface="Verdana" panose="020B0604030504040204" pitchFamily="34" charset="0"/>
              </a:rPr>
              <a:t>()</a:t>
            </a:r>
            <a:r>
              <a:rPr lang="zh-CN" altLang="en-US" sz="2400" dirty="0">
                <a:latin typeface="Verdana" panose="020B0604030504040204" pitchFamily="34" charset="0"/>
              </a:rPr>
              <a:t>、统计</a:t>
            </a:r>
            <a:r>
              <a:rPr lang="en-US" altLang="zh-CN" sz="2400" dirty="0">
                <a:latin typeface="Verdana" panose="020B0604030504040204" pitchFamily="34" charset="0"/>
              </a:rPr>
              <a:t>()</a:t>
            </a:r>
            <a:r>
              <a:rPr lang="zh-CN" altLang="en-US" sz="2400" dirty="0">
                <a:latin typeface="Verdana" panose="020B0604030504040204" pitchFamily="34" charset="0"/>
              </a:rPr>
              <a:t>、打印入库单</a:t>
            </a:r>
            <a:r>
              <a:rPr lang="en-US" altLang="zh-CN" sz="2400" dirty="0">
                <a:latin typeface="Verdana" panose="020B0604030504040204" pitchFamily="34" charset="0"/>
              </a:rPr>
              <a:t>()</a:t>
            </a:r>
            <a:r>
              <a:rPr lang="zh-CN" altLang="en-US" sz="2400" dirty="0">
                <a:latin typeface="Verdana" panose="020B0604030504040204" pitchFamily="34" charset="0"/>
              </a:rPr>
              <a:t>等。</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5"/>
          <p:cNvSpPr txBox="1"/>
          <p:nvPr/>
        </p:nvSpPr>
        <p:spPr>
          <a:xfrm>
            <a:off x="17463" y="0"/>
            <a:ext cx="9036050" cy="4973638"/>
          </a:xfrm>
          <a:prstGeom prst="rect">
            <a:avLst/>
          </a:prstGeom>
          <a:solidFill>
            <a:schemeClr val="bg1"/>
          </a:solidFill>
          <a:ln w="9525">
            <a:noFill/>
          </a:ln>
        </p:spPr>
        <p:txBody>
          <a:bodyPr>
            <a:spAutoFit/>
          </a:bodyPr>
          <a:lstStyle/>
          <a:p>
            <a:pPr eaLnBrk="1" hangingPunct="1">
              <a:lnSpc>
                <a:spcPct val="13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6</a:t>
            </a:r>
            <a:r>
              <a:rPr lang="zh-CN" altLang="en-US" sz="2800" dirty="0">
                <a:solidFill>
                  <a:srgbClr val="FF0000"/>
                </a:solidFill>
                <a:latin typeface="黑体" panose="02010609060101010101" pitchFamily="49" charset="-122"/>
                <a:ea typeface="黑体" panose="02010609060101010101" pitchFamily="49" charset="-122"/>
              </a:rPr>
              <a:t>）出库单</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30000"/>
              </a:lnSpc>
              <a:buFont typeface="Arial" panose="020B0604020202020204" pitchFamily="34" charset="0"/>
            </a:pPr>
            <a:r>
              <a:rPr lang="zh-CN" altLang="en-US" sz="2400" b="1" dirty="0">
                <a:solidFill>
                  <a:srgbClr val="7030A0"/>
                </a:solidFill>
                <a:latin typeface="Verdana" panose="020B0604030504040204" pitchFamily="34" charset="0"/>
              </a:rPr>
              <a:t>类名</a:t>
            </a:r>
            <a:r>
              <a:rPr lang="zh-CN" altLang="en-US" sz="2400" dirty="0">
                <a:latin typeface="Verdana" panose="020B0604030504040204" pitchFamily="34" charset="0"/>
              </a:rPr>
              <a:t>：入库单。</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类的编号</a:t>
            </a:r>
            <a:r>
              <a:rPr lang="zh-CN" altLang="en-US" sz="2400" dirty="0">
                <a:latin typeface="Verdana" panose="020B0604030504040204" pitchFamily="34" charset="0"/>
              </a:rPr>
              <a:t>：</a:t>
            </a:r>
            <a:r>
              <a:rPr lang="en-US" altLang="zh-CN" sz="2400" dirty="0">
                <a:latin typeface="Verdana" panose="020B0604030504040204" pitchFamily="34" charset="0"/>
              </a:rPr>
              <a:t>040302</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类的类型</a:t>
            </a:r>
            <a:r>
              <a:rPr lang="zh-CN" altLang="en-US" sz="2400" dirty="0">
                <a:latin typeface="Verdana" panose="020B0604030504040204" pitchFamily="34" charset="0"/>
              </a:rPr>
              <a:t>：该类创建的对象为持久对象存储在服务器上的数据库中，可以共享。</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：对库存货物进行出库信息处理。</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属性</a:t>
            </a:r>
            <a:r>
              <a:rPr lang="zh-CN" altLang="en-US" sz="2400" dirty="0">
                <a:latin typeface="Verdana" panose="020B0604030504040204" pitchFamily="34" charset="0"/>
              </a:rPr>
              <a:t>：货物编号、商品名称、规格、单位、单价、数量、货物、进货日期、产地、送货人、经手人、复验等。</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操作：</a:t>
            </a:r>
            <a:r>
              <a:rPr lang="zh-CN" altLang="en-US" sz="2400" dirty="0">
                <a:latin typeface="Verdana" panose="020B0604030504040204" pitchFamily="34" charset="0"/>
              </a:rPr>
              <a:t>查询</a:t>
            </a:r>
            <a:r>
              <a:rPr lang="en-US" altLang="zh-CN" sz="2400" dirty="0">
                <a:latin typeface="Verdana" panose="020B0604030504040204" pitchFamily="34" charset="0"/>
              </a:rPr>
              <a:t>()</a:t>
            </a:r>
            <a:r>
              <a:rPr lang="zh-CN" altLang="en-US" sz="2400" dirty="0">
                <a:latin typeface="Verdana" panose="020B0604030504040204" pitchFamily="34" charset="0"/>
              </a:rPr>
              <a:t>、删除 </a:t>
            </a:r>
            <a:r>
              <a:rPr lang="en-US" altLang="zh-CN" sz="2400" dirty="0">
                <a:latin typeface="Verdana" panose="020B0604030504040204" pitchFamily="34" charset="0"/>
              </a:rPr>
              <a:t>()</a:t>
            </a:r>
            <a:r>
              <a:rPr lang="zh-CN" altLang="en-US" sz="2400" dirty="0">
                <a:latin typeface="Verdana" panose="020B0604030504040204" pitchFamily="34" charset="0"/>
              </a:rPr>
              <a:t>、修改</a:t>
            </a:r>
            <a:r>
              <a:rPr lang="en-US" altLang="zh-CN" sz="2400" dirty="0">
                <a:latin typeface="Verdana" panose="020B0604030504040204" pitchFamily="34" charset="0"/>
              </a:rPr>
              <a:t>()</a:t>
            </a:r>
            <a:r>
              <a:rPr lang="zh-CN" altLang="en-US" sz="2400" dirty="0">
                <a:latin typeface="Verdana" panose="020B0604030504040204" pitchFamily="34" charset="0"/>
              </a:rPr>
              <a:t>、添加</a:t>
            </a:r>
            <a:r>
              <a:rPr lang="en-US" altLang="zh-CN" sz="2400" dirty="0">
                <a:latin typeface="Verdana" panose="020B0604030504040204" pitchFamily="34" charset="0"/>
              </a:rPr>
              <a:t>()</a:t>
            </a:r>
            <a:r>
              <a:rPr lang="zh-CN" altLang="en-US" sz="2400" dirty="0">
                <a:latin typeface="Verdana" panose="020B0604030504040204" pitchFamily="34" charset="0"/>
              </a:rPr>
              <a:t>、统计</a:t>
            </a:r>
            <a:r>
              <a:rPr lang="en-US" altLang="zh-CN" sz="2400" dirty="0">
                <a:latin typeface="Verdana" panose="020B0604030504040204" pitchFamily="34" charset="0"/>
              </a:rPr>
              <a:t>()</a:t>
            </a:r>
            <a:r>
              <a:rPr lang="zh-CN" altLang="en-US" sz="2400" dirty="0">
                <a:latin typeface="Verdana" panose="020B0604030504040204" pitchFamily="34" charset="0"/>
              </a:rPr>
              <a:t>、打印入库单</a:t>
            </a:r>
            <a:r>
              <a:rPr lang="en-US" altLang="zh-CN" sz="2400" dirty="0">
                <a:latin typeface="Verdana" panose="020B0604030504040204" pitchFamily="34" charset="0"/>
              </a:rPr>
              <a:t>()</a:t>
            </a:r>
            <a:r>
              <a:rPr lang="zh-CN" altLang="en-US" sz="2400" dirty="0">
                <a:latin typeface="Verdana" panose="020B0604030504040204" pitchFamily="34" charset="0"/>
              </a:rPr>
              <a:t>、打印出门证（）等。</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5"/>
          <p:cNvSpPr txBox="1"/>
          <p:nvPr/>
        </p:nvSpPr>
        <p:spPr>
          <a:xfrm>
            <a:off x="17463" y="0"/>
            <a:ext cx="9036050" cy="4973638"/>
          </a:xfrm>
          <a:prstGeom prst="rect">
            <a:avLst/>
          </a:prstGeom>
          <a:solidFill>
            <a:schemeClr val="bg1"/>
          </a:solidFill>
          <a:ln w="9525">
            <a:noFill/>
          </a:ln>
        </p:spPr>
        <p:txBody>
          <a:bodyPr>
            <a:spAutoFit/>
          </a:bodyPr>
          <a:lstStyle/>
          <a:p>
            <a:pPr eaLnBrk="1" hangingPunct="1">
              <a:lnSpc>
                <a:spcPct val="13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7</a:t>
            </a:r>
            <a:r>
              <a:rPr lang="zh-CN" altLang="en-US" sz="2800" dirty="0">
                <a:solidFill>
                  <a:srgbClr val="FF0000"/>
                </a:solidFill>
                <a:latin typeface="黑体" panose="02010609060101010101" pitchFamily="49" charset="-122"/>
                <a:ea typeface="黑体" panose="02010609060101010101" pitchFamily="49" charset="-122"/>
              </a:rPr>
              <a:t>）库存单</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30000"/>
              </a:lnSpc>
              <a:buFont typeface="Arial" panose="020B0604020202020204" pitchFamily="34" charset="0"/>
            </a:pPr>
            <a:r>
              <a:rPr lang="zh-CN" altLang="en-US" sz="2400" b="1" dirty="0">
                <a:solidFill>
                  <a:srgbClr val="7030A0"/>
                </a:solidFill>
                <a:latin typeface="Verdana" panose="020B0604030504040204" pitchFamily="34" charset="0"/>
              </a:rPr>
              <a:t>类名</a:t>
            </a:r>
            <a:r>
              <a:rPr lang="zh-CN" altLang="en-US" sz="2400" dirty="0">
                <a:latin typeface="Verdana" panose="020B0604030504040204" pitchFamily="34" charset="0"/>
              </a:rPr>
              <a:t>：库存单。</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类的编号</a:t>
            </a:r>
            <a:r>
              <a:rPr lang="zh-CN" altLang="en-US" sz="2400" dirty="0">
                <a:latin typeface="Verdana" panose="020B0604030504040204" pitchFamily="34" charset="0"/>
              </a:rPr>
              <a:t>：</a:t>
            </a:r>
            <a:r>
              <a:rPr lang="en-US" altLang="zh-CN" sz="2400" dirty="0">
                <a:latin typeface="Verdana" panose="020B0604030504040204" pitchFamily="34" charset="0"/>
              </a:rPr>
              <a:t>040303</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类的类型</a:t>
            </a:r>
            <a:r>
              <a:rPr lang="zh-CN" altLang="en-US" sz="2400" dirty="0">
                <a:latin typeface="Verdana" panose="020B0604030504040204" pitchFamily="34" charset="0"/>
              </a:rPr>
              <a:t>：该类创建的对象为持久对象存储在服务器上的数据库中，可以共享。</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：对库存货物进行库存信息处理。</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属性</a:t>
            </a:r>
            <a:r>
              <a:rPr lang="zh-CN" altLang="en-US" sz="2400" dirty="0">
                <a:latin typeface="Verdana" panose="020B0604030504040204" pitchFamily="34" charset="0"/>
              </a:rPr>
              <a:t>：货物编号、商品名称、规格、单位、单价、数量、货物、进货日期、产地、送货人、经手人、复验等。</a:t>
            </a:r>
            <a:endParaRPr lang="en-US" altLang="zh-CN" sz="2400" dirty="0">
              <a:latin typeface="Verdana" panose="020B0604030504040204" pitchFamily="34" charset="0"/>
            </a:endParaRPr>
          </a:p>
          <a:p>
            <a:pPr eaLnBrk="1" hangingPunct="1">
              <a:lnSpc>
                <a:spcPct val="130000"/>
              </a:lnSpc>
            </a:pPr>
            <a:r>
              <a:rPr lang="zh-CN" altLang="en-US" sz="2400" b="1" dirty="0">
                <a:solidFill>
                  <a:srgbClr val="7030A0"/>
                </a:solidFill>
                <a:latin typeface="Verdana" panose="020B0604030504040204" pitchFamily="34" charset="0"/>
              </a:rPr>
              <a:t>操作：</a:t>
            </a:r>
            <a:r>
              <a:rPr lang="zh-CN" altLang="en-US" sz="2400" dirty="0">
                <a:latin typeface="Verdana" panose="020B0604030504040204" pitchFamily="34" charset="0"/>
              </a:rPr>
              <a:t>查询</a:t>
            </a:r>
            <a:r>
              <a:rPr lang="en-US" altLang="zh-CN" sz="2400" dirty="0">
                <a:latin typeface="Verdana" panose="020B0604030504040204" pitchFamily="34" charset="0"/>
              </a:rPr>
              <a:t>()</a:t>
            </a:r>
            <a:r>
              <a:rPr lang="zh-CN" altLang="en-US" sz="2400" dirty="0">
                <a:latin typeface="Verdana" panose="020B0604030504040204" pitchFamily="34" charset="0"/>
              </a:rPr>
              <a:t>、修改货位（）、打印预警商品清单 </a:t>
            </a:r>
            <a:r>
              <a:rPr lang="en-US" altLang="zh-CN" sz="2400" dirty="0">
                <a:latin typeface="Verdana" panose="020B0604030504040204" pitchFamily="34" charset="0"/>
              </a:rPr>
              <a:t>()</a:t>
            </a:r>
            <a:r>
              <a:rPr lang="zh-CN" altLang="en-US" sz="2400" dirty="0">
                <a:latin typeface="Verdana" panose="020B0604030504040204" pitchFamily="34" charset="0"/>
              </a:rPr>
              <a:t>、库存量分类统计</a:t>
            </a:r>
            <a:r>
              <a:rPr lang="en-US" altLang="zh-CN" sz="2400" dirty="0">
                <a:latin typeface="Verdana" panose="020B0604030504040204" pitchFamily="34" charset="0"/>
              </a:rPr>
              <a:t>()</a:t>
            </a:r>
            <a:r>
              <a:rPr lang="zh-CN" altLang="en-US" sz="2400" dirty="0">
                <a:latin typeface="Verdana" panose="020B0604030504040204" pitchFamily="34" charset="0"/>
              </a:rPr>
              <a:t>、库存资金分类统计</a:t>
            </a:r>
            <a:r>
              <a:rPr lang="en-US" altLang="zh-CN" sz="2400" dirty="0">
                <a:latin typeface="Verdana" panose="020B0604030504040204" pitchFamily="34" charset="0"/>
              </a:rPr>
              <a:t>()</a:t>
            </a:r>
            <a:r>
              <a:rPr lang="zh-CN" altLang="en-US" sz="2400" dirty="0">
                <a:latin typeface="Verdana" panose="020B0604030504040204" pitchFamily="34" charset="0"/>
              </a:rPr>
              <a:t>等。</a:t>
            </a:r>
            <a:endParaRPr lang="zh-CN" altLang="en-US" sz="2400" dirty="0">
              <a:latin typeface="黑体" panose="02010609060101010101" pitchFamily="49" charset="-122"/>
              <a:ea typeface="黑体" panose="02010609060101010101" pitchFamily="49" charset="-122"/>
            </a:endParaRPr>
          </a:p>
        </p:txBody>
      </p:sp>
      <p:sp>
        <p:nvSpPr>
          <p:cNvPr id="59395" name="Text Box 5"/>
          <p:cNvSpPr txBox="1"/>
          <p:nvPr/>
        </p:nvSpPr>
        <p:spPr>
          <a:xfrm>
            <a:off x="17463" y="5229225"/>
            <a:ext cx="9036050" cy="984250"/>
          </a:xfrm>
          <a:prstGeom prst="rect">
            <a:avLst/>
          </a:prstGeom>
          <a:solidFill>
            <a:schemeClr val="bg1"/>
          </a:solidFill>
          <a:ln w="9525">
            <a:noFill/>
          </a:ln>
        </p:spPr>
        <p:txBody>
          <a:bodyPr>
            <a:spAutoFit/>
          </a:bodyPr>
          <a:lstStyle/>
          <a:p>
            <a:pPr eaLnBrk="1" hangingPunct="1">
              <a:lnSpc>
                <a:spcPct val="130000"/>
              </a:lnSpc>
              <a:buFont typeface="Arial" panose="020B0604020202020204" pitchFamily="34" charset="0"/>
            </a:pPr>
            <a:r>
              <a:rPr lang="zh-CN" altLang="en-US" sz="2400" b="1" i="1" dirty="0">
                <a:solidFill>
                  <a:srgbClr val="0070C0"/>
                </a:solidFill>
                <a:latin typeface="仿宋" panose="02010609060101010101" pitchFamily="49" charset="-122"/>
                <a:ea typeface="仿宋" panose="02010609060101010101" pitchFamily="49" charset="-122"/>
              </a:rPr>
              <a:t>在进销存管理子系统中还有一些其他的类需要定义，这里只介绍了主要的类及属性操作。</a:t>
            </a:r>
            <a:endParaRPr lang="zh-CN" altLang="en-US" sz="2400" b="1" i="1" dirty="0">
              <a:solidFill>
                <a:srgbClr val="0070C0"/>
              </a:solidFill>
              <a:latin typeface="仿宋" panose="02010609060101010101" pitchFamily="49" charset="-122"/>
              <a:ea typeface="仿宋"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3"/>
          <p:cNvSpPr txBox="1"/>
          <p:nvPr/>
        </p:nvSpPr>
        <p:spPr>
          <a:xfrm>
            <a:off x="547688" y="765175"/>
            <a:ext cx="4570412" cy="646113"/>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solidFill>
                  <a:srgbClr val="FF0000"/>
                </a:solidFill>
                <a:latin typeface="黑体" panose="02010609060101010101" pitchFamily="49" charset="-122"/>
                <a:ea typeface="黑体" panose="02010609060101010101" pitchFamily="49" charset="-122"/>
              </a:rPr>
              <a:t>5.8.2  </a:t>
            </a:r>
            <a:r>
              <a:rPr lang="zh-CN" altLang="en-US" sz="3600" dirty="0">
                <a:solidFill>
                  <a:srgbClr val="FF0000"/>
                </a:solidFill>
                <a:latin typeface="黑体" panose="02010609060101010101" pitchFamily="49" charset="-122"/>
                <a:ea typeface="黑体" panose="02010609060101010101" pitchFamily="49" charset="-122"/>
              </a:rPr>
              <a:t>定义用户接口</a:t>
            </a:r>
            <a:endParaRPr lang="zh-CN" altLang="en-US" sz="3600" dirty="0">
              <a:solidFill>
                <a:srgbClr val="FF0000"/>
              </a:solidFill>
              <a:latin typeface="黑体" panose="02010609060101010101" pitchFamily="49" charset="-122"/>
              <a:ea typeface="黑体" panose="02010609060101010101" pitchFamily="49" charset="-122"/>
            </a:endParaRPr>
          </a:p>
        </p:txBody>
      </p:sp>
      <p:sp>
        <p:nvSpPr>
          <p:cNvPr id="60419" name="Text Box 4"/>
          <p:cNvSpPr txBox="1"/>
          <p:nvPr/>
        </p:nvSpPr>
        <p:spPr>
          <a:xfrm>
            <a:off x="179388" y="1916113"/>
            <a:ext cx="8713787" cy="3109912"/>
          </a:xfrm>
          <a:prstGeom prst="rect">
            <a:avLst/>
          </a:prstGeom>
          <a:noFill/>
          <a:ln w="9525">
            <a:noFill/>
          </a:ln>
        </p:spPr>
        <p:txBody>
          <a:bodyPr>
            <a:spAutoFit/>
          </a:bodyPr>
          <a:lstStyle/>
          <a:p>
            <a:pPr eaLnBrk="1" hangingPunct="1">
              <a:buFont typeface="Arial" panose="020B0604020202020204" pitchFamily="34" charset="0"/>
            </a:pPr>
            <a:r>
              <a:rPr lang="zh-CN" altLang="en-US" sz="24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系统的基本对象类定义完毕，还要对系统的对外接口进行定义，接口可以用对象类描述。这里以“进销存管理子系统”中的“合同管理子系统”为例，其接口定义为：</a:t>
            </a:r>
            <a:r>
              <a:rPr lang="zh-CN" altLang="en-US" sz="2800" dirty="0">
                <a:solidFill>
                  <a:srgbClr val="7030A0"/>
                </a:solidFill>
                <a:latin typeface="黑体" panose="02010609060101010101" pitchFamily="49" charset="-122"/>
                <a:ea typeface="黑体" panose="02010609060101010101" pitchFamily="49" charset="-122"/>
              </a:rPr>
              <a:t>建立采购合同、建立销售合同、查询购进合同、查询销售合同和打印催货单等接口</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28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利用接口可以有效保证系统安全。</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5"/>
          <p:cNvSpPr txBox="1"/>
          <p:nvPr/>
        </p:nvSpPr>
        <p:spPr>
          <a:xfrm>
            <a:off x="17463" y="0"/>
            <a:ext cx="9036050" cy="3370263"/>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）建立采购合同接口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400" b="1" dirty="0">
                <a:solidFill>
                  <a:srgbClr val="7030A0"/>
                </a:solidFill>
                <a:latin typeface="Verdana" panose="020B0604030504040204" pitchFamily="34" charset="0"/>
              </a:rPr>
              <a:t>接口类名</a:t>
            </a:r>
            <a:r>
              <a:rPr lang="zh-CN" altLang="en-US" sz="2400" dirty="0">
                <a:latin typeface="Verdana" panose="020B0604030504040204" pitchFamily="34" charset="0"/>
              </a:rPr>
              <a:t>：建立采购合同。</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接口类名编号</a:t>
            </a:r>
            <a:r>
              <a:rPr lang="zh-CN" altLang="en-US" sz="2400" dirty="0">
                <a:latin typeface="Verdana" panose="020B0604030504040204" pitchFamily="34" charset="0"/>
              </a:rPr>
              <a:t>：</a:t>
            </a:r>
            <a:r>
              <a:rPr lang="en-US" altLang="zh-CN" sz="2400" dirty="0">
                <a:latin typeface="Verdana" panose="020B0604030504040204" pitchFamily="34" charset="0"/>
              </a:rPr>
              <a:t>04010101</a:t>
            </a:r>
            <a:r>
              <a:rPr lang="zh-CN" altLang="en-US" sz="2400" dirty="0">
                <a:latin typeface="Verdana" panose="020B0604030504040204" pitchFamily="34" charset="0"/>
              </a:rPr>
              <a:t> （共有</a:t>
            </a:r>
            <a:r>
              <a:rPr lang="en-US" altLang="zh-CN" sz="2400" dirty="0">
                <a:latin typeface="Verdana" panose="020B0604030504040204" pitchFamily="34" charset="0"/>
              </a:rPr>
              <a:t>4</a:t>
            </a:r>
            <a:r>
              <a:rPr lang="zh-CN" altLang="en-US" sz="2400" dirty="0">
                <a:latin typeface="Verdana" panose="020B0604030504040204" pitchFamily="34" charset="0"/>
              </a:rPr>
              <a:t>层包图结构，每层用</a:t>
            </a:r>
            <a:r>
              <a:rPr lang="en-US" altLang="zh-CN" sz="2400" dirty="0">
                <a:latin typeface="Verdana" panose="020B0604030504040204" pitchFamily="34" charset="0"/>
              </a:rPr>
              <a:t>2</a:t>
            </a:r>
            <a:r>
              <a:rPr lang="zh-CN" altLang="en-US" sz="2400" dirty="0">
                <a:latin typeface="Verdana" panose="020B0604030504040204" pitchFamily="34" charset="0"/>
              </a:rPr>
              <a:t>位数字表示，采用</a:t>
            </a:r>
            <a:r>
              <a:rPr lang="en-US" altLang="zh-CN" sz="2400" dirty="0">
                <a:latin typeface="Verdana" panose="020B0604030504040204" pitchFamily="34" charset="0"/>
              </a:rPr>
              <a:t>8</a:t>
            </a:r>
            <a:r>
              <a:rPr lang="zh-CN" altLang="en-US" sz="2400" dirty="0">
                <a:latin typeface="Verdana" panose="020B0604030504040204" pitchFamily="34" charset="0"/>
              </a:rPr>
              <a:t>位编号）。</a:t>
            </a:r>
            <a:br>
              <a:rPr lang="zh-CN" altLang="en-US" sz="2400" dirty="0">
                <a:latin typeface="Verdana" panose="020B0604030504040204" pitchFamily="34" charset="0"/>
              </a:rPr>
            </a:br>
            <a:r>
              <a:rPr lang="zh-CN" altLang="en-US" sz="2400" dirty="0">
                <a:latin typeface="Verdana" panose="020B0604030504040204" pitchFamily="34" charset="0"/>
              </a:rPr>
              <a:t>接口</a:t>
            </a:r>
            <a:r>
              <a:rPr lang="zh-CN" altLang="en-US" sz="2400" b="1" dirty="0">
                <a:solidFill>
                  <a:srgbClr val="7030A0"/>
                </a:solidFill>
                <a:latin typeface="Verdana" panose="020B0604030504040204" pitchFamily="34" charset="0"/>
              </a:rPr>
              <a:t>类型</a:t>
            </a:r>
            <a:r>
              <a:rPr lang="zh-CN" altLang="en-US" sz="2400" dirty="0">
                <a:latin typeface="Verdana" panose="020B0604030504040204" pitchFamily="34" charset="0"/>
              </a:rPr>
              <a:t>：抽象类。</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：为合同管理人员提供建立新采购合同信息管理的操作。</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抽象操作：</a:t>
            </a:r>
            <a:r>
              <a:rPr lang="zh-CN" altLang="en-US" sz="2400" dirty="0">
                <a:latin typeface="Verdana" panose="020B0604030504040204" pitchFamily="34" charset="0"/>
              </a:rPr>
              <a:t>创建新采购合同</a:t>
            </a:r>
            <a:r>
              <a:rPr lang="en-US" altLang="zh-CN" sz="2400" dirty="0">
                <a:latin typeface="Verdana" panose="020B0604030504040204" pitchFamily="34" charset="0"/>
              </a:rPr>
              <a:t>()</a:t>
            </a:r>
            <a:r>
              <a:rPr lang="zh-CN" altLang="en-US" sz="2400" dirty="0">
                <a:latin typeface="Verdana" panose="020B0604030504040204" pitchFamily="34" charset="0"/>
              </a:rPr>
              <a:t>、录入采购合同（）、修改采购合同</a:t>
            </a:r>
            <a:r>
              <a:rPr lang="en-US" altLang="zh-CN" sz="2400" dirty="0">
                <a:latin typeface="Verdana" panose="020B0604030504040204" pitchFamily="34" charset="0"/>
              </a:rPr>
              <a:t>()</a:t>
            </a:r>
            <a:r>
              <a:rPr lang="zh-CN" altLang="en-US" sz="2400" dirty="0">
                <a:latin typeface="Verdana" panose="020B0604030504040204" pitchFamily="34" charset="0"/>
              </a:rPr>
              <a:t>等。</a:t>
            </a:r>
            <a:endParaRPr lang="zh-CN" altLang="en-US" sz="2400" dirty="0">
              <a:latin typeface="黑体" panose="02010609060101010101" pitchFamily="49" charset="-122"/>
              <a:ea typeface="黑体" panose="02010609060101010101" pitchFamily="49" charset="-122"/>
            </a:endParaRPr>
          </a:p>
        </p:txBody>
      </p:sp>
      <p:sp>
        <p:nvSpPr>
          <p:cNvPr id="4" name="Text Box 5"/>
          <p:cNvSpPr txBox="1"/>
          <p:nvPr/>
        </p:nvSpPr>
        <p:spPr>
          <a:xfrm>
            <a:off x="17463" y="3455988"/>
            <a:ext cx="9036050" cy="2965450"/>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）建立销售合同接口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400" b="1" dirty="0">
                <a:solidFill>
                  <a:srgbClr val="7030A0"/>
                </a:solidFill>
                <a:latin typeface="Verdana" panose="020B0604030504040204" pitchFamily="34" charset="0"/>
              </a:rPr>
              <a:t>接口类名</a:t>
            </a:r>
            <a:r>
              <a:rPr lang="zh-CN" altLang="en-US" sz="2400" dirty="0">
                <a:latin typeface="Verdana" panose="020B0604030504040204" pitchFamily="34" charset="0"/>
              </a:rPr>
              <a:t>：建立销售合同。</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接口类名编号</a:t>
            </a:r>
            <a:r>
              <a:rPr lang="zh-CN" altLang="en-US" sz="2400" dirty="0">
                <a:latin typeface="Verdana" panose="020B0604030504040204" pitchFamily="34" charset="0"/>
              </a:rPr>
              <a:t>：</a:t>
            </a:r>
            <a:r>
              <a:rPr lang="en-US" altLang="zh-CN" sz="2400" dirty="0">
                <a:latin typeface="Verdana" panose="020B0604030504040204" pitchFamily="34" charset="0"/>
              </a:rPr>
              <a:t>04010102</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接口类型</a:t>
            </a:r>
            <a:r>
              <a:rPr lang="zh-CN" altLang="en-US" sz="2400" dirty="0">
                <a:latin typeface="Verdana" panose="020B0604030504040204" pitchFamily="34" charset="0"/>
              </a:rPr>
              <a:t>：抽象类。</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：为合同管理人员提供建立新销售合同信息管理的操作。</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抽象操作：</a:t>
            </a:r>
            <a:r>
              <a:rPr lang="zh-CN" altLang="en-US" sz="2400" dirty="0">
                <a:latin typeface="Verdana" panose="020B0604030504040204" pitchFamily="34" charset="0"/>
              </a:rPr>
              <a:t>创建新销售合同</a:t>
            </a:r>
            <a:r>
              <a:rPr lang="en-US" altLang="zh-CN" sz="2400" dirty="0">
                <a:latin typeface="Verdana" panose="020B0604030504040204" pitchFamily="34" charset="0"/>
              </a:rPr>
              <a:t>()</a:t>
            </a:r>
            <a:r>
              <a:rPr lang="zh-CN" altLang="en-US" sz="2400" dirty="0">
                <a:latin typeface="Verdana" panose="020B0604030504040204" pitchFamily="34" charset="0"/>
              </a:rPr>
              <a:t>、录入销售合同（）、修改销售合同</a:t>
            </a:r>
            <a:r>
              <a:rPr lang="en-US" altLang="zh-CN" sz="2400" dirty="0">
                <a:latin typeface="Verdana" panose="020B0604030504040204" pitchFamily="34" charset="0"/>
              </a:rPr>
              <a:t>()</a:t>
            </a:r>
            <a:r>
              <a:rPr lang="zh-CN" altLang="en-US" sz="2400" dirty="0">
                <a:latin typeface="Verdana" panose="020B0604030504040204" pitchFamily="34" charset="0"/>
              </a:rPr>
              <a:t>等。</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5"/>
          <p:cNvSpPr txBox="1"/>
          <p:nvPr/>
        </p:nvSpPr>
        <p:spPr>
          <a:xfrm>
            <a:off x="17463" y="0"/>
            <a:ext cx="9036050" cy="3003550"/>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3</a:t>
            </a:r>
            <a:r>
              <a:rPr lang="zh-CN" altLang="en-US" sz="2800" dirty="0">
                <a:solidFill>
                  <a:srgbClr val="FF0000"/>
                </a:solidFill>
                <a:latin typeface="黑体" panose="02010609060101010101" pitchFamily="49" charset="-122"/>
                <a:ea typeface="黑体" panose="02010609060101010101" pitchFamily="49" charset="-122"/>
              </a:rPr>
              <a:t>）查询购进合同接口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400" b="1" dirty="0">
                <a:solidFill>
                  <a:srgbClr val="7030A0"/>
                </a:solidFill>
                <a:latin typeface="Verdana" panose="020B0604030504040204" pitchFamily="34" charset="0"/>
              </a:rPr>
              <a:t>接口类名</a:t>
            </a:r>
            <a:r>
              <a:rPr lang="zh-CN" altLang="en-US" sz="2400" dirty="0">
                <a:latin typeface="Verdana" panose="020B0604030504040204" pitchFamily="34" charset="0"/>
              </a:rPr>
              <a:t>：查询采购合同。</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接口类名编号</a:t>
            </a:r>
            <a:r>
              <a:rPr lang="zh-CN" altLang="en-US" sz="2400" dirty="0">
                <a:latin typeface="Verdana" panose="020B0604030504040204" pitchFamily="34" charset="0"/>
              </a:rPr>
              <a:t>：</a:t>
            </a:r>
            <a:r>
              <a:rPr lang="en-US" altLang="zh-CN" sz="2400" dirty="0">
                <a:latin typeface="Verdana" panose="020B0604030504040204" pitchFamily="34" charset="0"/>
              </a:rPr>
              <a:t>04010103</a:t>
            </a:r>
            <a:r>
              <a:rPr lang="zh-CN" altLang="en-US" sz="2400" dirty="0">
                <a:latin typeface="Verdana" panose="020B0604030504040204" pitchFamily="34" charset="0"/>
              </a:rPr>
              <a:t> 。</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接口类型</a:t>
            </a:r>
            <a:r>
              <a:rPr lang="zh-CN" altLang="en-US" sz="2400" dirty="0">
                <a:latin typeface="Verdana" panose="020B0604030504040204" pitchFamily="34" charset="0"/>
              </a:rPr>
              <a:t>：抽象类。</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：为合同管理人员提供合同履约信息、分类检索等管理的操作。</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抽象操作：</a:t>
            </a:r>
            <a:r>
              <a:rPr lang="zh-CN" altLang="en-US" sz="2400" dirty="0">
                <a:latin typeface="Verdana" panose="020B0604030504040204" pitchFamily="34" charset="0"/>
              </a:rPr>
              <a:t>采购合同查询</a:t>
            </a:r>
            <a:r>
              <a:rPr lang="en-US" altLang="zh-CN" sz="2400" dirty="0">
                <a:latin typeface="Verdana" panose="020B0604030504040204" pitchFamily="34" charset="0"/>
              </a:rPr>
              <a:t>()</a:t>
            </a:r>
            <a:r>
              <a:rPr lang="zh-CN" altLang="en-US" sz="2400" dirty="0">
                <a:latin typeface="Verdana" panose="020B0604030504040204" pitchFamily="34" charset="0"/>
              </a:rPr>
              <a:t>、采购合同履约率（）、未履约合同</a:t>
            </a:r>
            <a:r>
              <a:rPr lang="en-US" altLang="zh-CN" sz="2400" dirty="0">
                <a:latin typeface="Verdana" panose="020B0604030504040204" pitchFamily="34" charset="0"/>
              </a:rPr>
              <a:t>()</a:t>
            </a:r>
            <a:r>
              <a:rPr lang="zh-CN" altLang="en-US" sz="2400" dirty="0">
                <a:latin typeface="Verdana" panose="020B0604030504040204" pitchFamily="34" charset="0"/>
              </a:rPr>
              <a:t>、分类统计（）等。</a:t>
            </a:r>
            <a:endParaRPr lang="zh-CN" altLang="en-US" sz="2400" dirty="0">
              <a:latin typeface="黑体" panose="02010609060101010101" pitchFamily="49" charset="-122"/>
              <a:ea typeface="黑体" panose="02010609060101010101" pitchFamily="49" charset="-122"/>
            </a:endParaRPr>
          </a:p>
        </p:txBody>
      </p:sp>
      <p:sp>
        <p:nvSpPr>
          <p:cNvPr id="4" name="Text Box 5"/>
          <p:cNvSpPr txBox="1"/>
          <p:nvPr/>
        </p:nvSpPr>
        <p:spPr>
          <a:xfrm>
            <a:off x="41275" y="3213100"/>
            <a:ext cx="9036050" cy="3003550"/>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4</a:t>
            </a:r>
            <a:r>
              <a:rPr lang="zh-CN" altLang="en-US" sz="2800" dirty="0">
                <a:solidFill>
                  <a:srgbClr val="FF0000"/>
                </a:solidFill>
                <a:latin typeface="黑体" panose="02010609060101010101" pitchFamily="49" charset="-122"/>
                <a:ea typeface="黑体" panose="02010609060101010101" pitchFamily="49" charset="-122"/>
              </a:rPr>
              <a:t>）查询销售合同接口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400" b="1" dirty="0">
                <a:solidFill>
                  <a:srgbClr val="7030A0"/>
                </a:solidFill>
                <a:latin typeface="Verdana" panose="020B0604030504040204" pitchFamily="34" charset="0"/>
              </a:rPr>
              <a:t>接口类名</a:t>
            </a:r>
            <a:r>
              <a:rPr lang="zh-CN" altLang="en-US" sz="2400" dirty="0">
                <a:latin typeface="Verdana" panose="020B0604030504040204" pitchFamily="34" charset="0"/>
              </a:rPr>
              <a:t>：查询销售合同。</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接口类名编号</a:t>
            </a:r>
            <a:r>
              <a:rPr lang="zh-CN" altLang="en-US" sz="2400" dirty="0">
                <a:latin typeface="Verdana" panose="020B0604030504040204" pitchFamily="34" charset="0"/>
              </a:rPr>
              <a:t>：</a:t>
            </a:r>
            <a:r>
              <a:rPr lang="en-US" altLang="zh-CN" sz="2400" dirty="0">
                <a:latin typeface="Verdana" panose="020B0604030504040204" pitchFamily="34" charset="0"/>
              </a:rPr>
              <a:t>04010104</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接口类型</a:t>
            </a:r>
            <a:r>
              <a:rPr lang="zh-CN" altLang="en-US" sz="2400" dirty="0">
                <a:latin typeface="Verdana" panose="020B0604030504040204" pitchFamily="34" charset="0"/>
              </a:rPr>
              <a:t>：抽象类。</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：为合同管理人员提供销售合同履约信息、分类检索等信息管理的操作。</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抽象操作：</a:t>
            </a:r>
            <a:r>
              <a:rPr lang="zh-CN" altLang="en-US" sz="2400" dirty="0">
                <a:latin typeface="Verdana" panose="020B0604030504040204" pitchFamily="34" charset="0"/>
              </a:rPr>
              <a:t>销售合同查询</a:t>
            </a:r>
            <a:r>
              <a:rPr lang="en-US" altLang="zh-CN" sz="2400" dirty="0">
                <a:latin typeface="Verdana" panose="020B0604030504040204" pitchFamily="34" charset="0"/>
              </a:rPr>
              <a:t>()</a:t>
            </a:r>
            <a:r>
              <a:rPr lang="zh-CN" altLang="en-US" sz="2400" dirty="0">
                <a:latin typeface="Verdana" panose="020B0604030504040204" pitchFamily="34" charset="0"/>
              </a:rPr>
              <a:t>、销售合同履约率（）、分类统计</a:t>
            </a:r>
            <a:r>
              <a:rPr lang="en-US" altLang="zh-CN" sz="2400" dirty="0">
                <a:latin typeface="Verdana" panose="020B0604030504040204" pitchFamily="34" charset="0"/>
              </a:rPr>
              <a:t>()</a:t>
            </a:r>
            <a:r>
              <a:rPr lang="zh-CN" altLang="en-US" sz="2400" dirty="0">
                <a:latin typeface="Verdana" panose="020B0604030504040204" pitchFamily="34" charset="0"/>
              </a:rPr>
              <a:t>等。</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5"/>
          <p:cNvSpPr txBox="1"/>
          <p:nvPr/>
        </p:nvSpPr>
        <p:spPr>
          <a:xfrm>
            <a:off x="17463" y="0"/>
            <a:ext cx="9036050" cy="3003550"/>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5</a:t>
            </a:r>
            <a:r>
              <a:rPr lang="zh-CN" altLang="en-US" sz="2800" dirty="0">
                <a:solidFill>
                  <a:srgbClr val="FF0000"/>
                </a:solidFill>
                <a:latin typeface="黑体" panose="02010609060101010101" pitchFamily="49" charset="-122"/>
                <a:ea typeface="黑体" panose="02010609060101010101" pitchFamily="49" charset="-122"/>
              </a:rPr>
              <a:t>）打印催货单接口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400" b="1" dirty="0">
                <a:solidFill>
                  <a:srgbClr val="7030A0"/>
                </a:solidFill>
                <a:latin typeface="Verdana" panose="020B0604030504040204" pitchFamily="34" charset="0"/>
              </a:rPr>
              <a:t>接口类名</a:t>
            </a:r>
            <a:r>
              <a:rPr lang="zh-CN" altLang="en-US" sz="2400" dirty="0">
                <a:latin typeface="Verdana" panose="020B0604030504040204" pitchFamily="34" charset="0"/>
              </a:rPr>
              <a:t>：打印催货单。</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接口类名编号</a:t>
            </a:r>
            <a:r>
              <a:rPr lang="zh-CN" altLang="en-US" sz="2400" dirty="0">
                <a:latin typeface="Verdana" panose="020B0604030504040204" pitchFamily="34" charset="0"/>
              </a:rPr>
              <a:t>：</a:t>
            </a:r>
            <a:r>
              <a:rPr lang="en-US" altLang="zh-CN" sz="2400" dirty="0">
                <a:latin typeface="Verdana" panose="020B0604030504040204" pitchFamily="34" charset="0"/>
              </a:rPr>
              <a:t>04010105</a:t>
            </a:r>
            <a:r>
              <a:rPr lang="zh-CN" altLang="en-US" sz="2400" dirty="0">
                <a:latin typeface="Verdana" panose="020B0604030504040204" pitchFamily="34" charset="0"/>
              </a:rPr>
              <a:t> 。</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接口类型</a:t>
            </a:r>
            <a:r>
              <a:rPr lang="zh-CN" altLang="en-US" sz="2400" dirty="0">
                <a:latin typeface="Verdana" panose="020B0604030504040204" pitchFamily="34" charset="0"/>
              </a:rPr>
              <a:t>：抽象类。</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：合同管理人员对未履约采购合同对方，打印催货单进行催货等操作。</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抽象操作：</a:t>
            </a:r>
            <a:r>
              <a:rPr lang="zh-CN" altLang="en-US" sz="2400" dirty="0">
                <a:latin typeface="Verdana" panose="020B0604030504040204" pitchFamily="34" charset="0"/>
              </a:rPr>
              <a:t>打印催货单</a:t>
            </a:r>
            <a:r>
              <a:rPr lang="en-US" altLang="zh-CN" sz="2400" dirty="0">
                <a:latin typeface="Verdana" panose="020B0604030504040204" pitchFamily="34" charset="0"/>
              </a:rPr>
              <a:t>()</a:t>
            </a:r>
            <a:r>
              <a:rPr lang="zh-CN" altLang="en-US" sz="2400" dirty="0">
                <a:latin typeface="Verdana" panose="020B0604030504040204" pitchFamily="34" charset="0"/>
              </a:rPr>
              <a:t> 。</a:t>
            </a:r>
            <a:endParaRPr lang="zh-CN" altLang="en-US" sz="2400" dirty="0">
              <a:latin typeface="黑体" panose="02010609060101010101" pitchFamily="49" charset="-122"/>
              <a:ea typeface="黑体" panose="02010609060101010101" pitchFamily="49" charset="-122"/>
            </a:endParaRPr>
          </a:p>
        </p:txBody>
      </p:sp>
      <p:sp>
        <p:nvSpPr>
          <p:cNvPr id="4" name="Text Box 5"/>
          <p:cNvSpPr txBox="1"/>
          <p:nvPr/>
        </p:nvSpPr>
        <p:spPr>
          <a:xfrm>
            <a:off x="41275" y="3213100"/>
            <a:ext cx="9036050" cy="3884613"/>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6</a:t>
            </a:r>
            <a:r>
              <a:rPr lang="zh-CN" altLang="en-US" sz="2800" dirty="0">
                <a:solidFill>
                  <a:srgbClr val="FF0000"/>
                </a:solidFill>
                <a:latin typeface="黑体" panose="02010609060101010101" pitchFamily="49" charset="-122"/>
                <a:ea typeface="黑体" panose="02010609060101010101" pitchFamily="49" charset="-122"/>
              </a:rPr>
              <a:t>）打印催款单接口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800" b="1" dirty="0">
                <a:solidFill>
                  <a:srgbClr val="7030A0"/>
                </a:solidFill>
                <a:latin typeface="Verdana" panose="020B0604030504040204" pitchFamily="34" charset="0"/>
              </a:rPr>
              <a:t>接口类名</a:t>
            </a:r>
            <a:r>
              <a:rPr lang="zh-CN" altLang="en-US" sz="2800" dirty="0">
                <a:latin typeface="Verdana" panose="020B0604030504040204" pitchFamily="34" charset="0"/>
              </a:rPr>
              <a:t>：打印催款单。</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接口类名编号</a:t>
            </a:r>
            <a:r>
              <a:rPr lang="zh-CN" altLang="en-US" sz="2800" dirty="0">
                <a:latin typeface="Verdana" panose="020B0604030504040204" pitchFamily="34" charset="0"/>
              </a:rPr>
              <a:t>：</a:t>
            </a:r>
            <a:r>
              <a:rPr lang="en-US" altLang="zh-CN" sz="2800" dirty="0">
                <a:latin typeface="Verdana" panose="020B0604030504040204" pitchFamily="34" charset="0"/>
              </a:rPr>
              <a:t>04010106</a:t>
            </a:r>
            <a:r>
              <a:rPr lang="zh-CN" altLang="en-US" sz="2800" dirty="0">
                <a:latin typeface="Verdana" panose="020B0604030504040204" pitchFamily="34" charset="0"/>
              </a:rPr>
              <a:t> 。</a:t>
            </a:r>
            <a:br>
              <a:rPr lang="zh-CN" altLang="en-US" sz="2800" dirty="0">
                <a:latin typeface="Verdana" panose="020B0604030504040204" pitchFamily="34" charset="0"/>
              </a:rPr>
            </a:br>
            <a:r>
              <a:rPr lang="zh-CN" altLang="en-US" sz="2800" b="1" dirty="0">
                <a:solidFill>
                  <a:srgbClr val="7030A0"/>
                </a:solidFill>
                <a:latin typeface="Verdana" panose="020B0604030504040204" pitchFamily="34" charset="0"/>
              </a:rPr>
              <a:t>接口类型</a:t>
            </a:r>
            <a:r>
              <a:rPr lang="zh-CN" altLang="en-US" sz="2800" dirty="0">
                <a:latin typeface="Verdana" panose="020B0604030504040204" pitchFamily="34" charset="0"/>
              </a:rPr>
              <a:t>：抽象类。</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功能</a:t>
            </a:r>
            <a:r>
              <a:rPr lang="zh-CN" altLang="en-US" sz="2800" dirty="0">
                <a:latin typeface="Verdana" panose="020B0604030504040204" pitchFamily="34" charset="0"/>
              </a:rPr>
              <a:t>：合同管理人员对未履约的销售合同对方，打印催款单进行催款等操作。</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抽象操作：</a:t>
            </a:r>
            <a:r>
              <a:rPr lang="zh-CN" altLang="en-US" sz="2800" dirty="0">
                <a:latin typeface="Verdana" panose="020B0604030504040204" pitchFamily="34" charset="0"/>
              </a:rPr>
              <a:t>打印催款单</a:t>
            </a:r>
            <a:r>
              <a:rPr lang="en-US" altLang="zh-CN" sz="2800" dirty="0">
                <a:latin typeface="Verdana" panose="020B0604030504040204" pitchFamily="34" charset="0"/>
              </a:rPr>
              <a:t>()</a:t>
            </a:r>
            <a:r>
              <a:rPr lang="zh-CN" altLang="en-US" sz="2800" dirty="0">
                <a:latin typeface="Verdana" panose="020B0604030504040204" pitchFamily="34" charset="0"/>
              </a:rPr>
              <a:t> 。</a:t>
            </a:r>
            <a:endParaRPr lang="zh-CN" altLang="en-US" sz="2800" dirty="0">
              <a:latin typeface="黑体" panose="02010609060101010101" pitchFamily="49" charset="-122"/>
              <a:ea typeface="黑体" panose="02010609060101010101" pitchFamily="49" charset="-122"/>
            </a:endParaRPr>
          </a:p>
          <a:p>
            <a:pPr eaLnBrk="1" hangingPunct="1">
              <a:lnSpc>
                <a:spcPct val="110000"/>
              </a:lnSpc>
            </a:pPr>
            <a:r>
              <a:rPr lang="zh-CN" altLang="en-US" sz="2400" dirty="0">
                <a:latin typeface="Verdana" panose="020B0604030504040204" pitchFamily="34" charset="0"/>
              </a:rPr>
              <a:t>。</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5"/>
          <p:cNvSpPr txBox="1"/>
          <p:nvPr/>
        </p:nvSpPr>
        <p:spPr>
          <a:xfrm>
            <a:off x="17463" y="0"/>
            <a:ext cx="9036050" cy="3003550"/>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7</a:t>
            </a:r>
            <a:r>
              <a:rPr lang="zh-CN" altLang="en-US" sz="2800" dirty="0">
                <a:solidFill>
                  <a:srgbClr val="FF0000"/>
                </a:solidFill>
                <a:latin typeface="黑体" panose="02010609060101010101" pitchFamily="49" charset="-122"/>
                <a:ea typeface="黑体" panose="02010609060101010101" pitchFamily="49" charset="-122"/>
              </a:rPr>
              <a:t>）接收到货通知单接口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400" b="1" dirty="0">
                <a:solidFill>
                  <a:srgbClr val="7030A0"/>
                </a:solidFill>
                <a:latin typeface="Verdana" panose="020B0604030504040204" pitchFamily="34" charset="0"/>
              </a:rPr>
              <a:t>接口类名</a:t>
            </a:r>
            <a:r>
              <a:rPr lang="zh-CN" altLang="en-US" sz="2400" dirty="0">
                <a:latin typeface="Verdana" panose="020B0604030504040204" pitchFamily="34" charset="0"/>
              </a:rPr>
              <a:t>：接收到货通知单。</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接口类名编号</a:t>
            </a:r>
            <a:r>
              <a:rPr lang="zh-CN" altLang="en-US" sz="2400" dirty="0">
                <a:latin typeface="Verdana" panose="020B0604030504040204" pitchFamily="34" charset="0"/>
              </a:rPr>
              <a:t>：</a:t>
            </a:r>
            <a:r>
              <a:rPr lang="en-US" altLang="zh-CN" sz="2400" dirty="0">
                <a:latin typeface="Verdana" panose="020B0604030504040204" pitchFamily="34" charset="0"/>
              </a:rPr>
              <a:t>04010107</a:t>
            </a:r>
            <a:r>
              <a:rPr lang="zh-CN" altLang="en-US" sz="2400" dirty="0">
                <a:latin typeface="Verdana" panose="020B0604030504040204" pitchFamily="34" charset="0"/>
              </a:rPr>
              <a:t> 。</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接口类型</a:t>
            </a:r>
            <a:r>
              <a:rPr lang="zh-CN" altLang="en-US" sz="2400" dirty="0">
                <a:latin typeface="Verdana" panose="020B0604030504040204" pitchFamily="34" charset="0"/>
              </a:rPr>
              <a:t>：抽象类。</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：接收库房发来的到货通知单，记录收到货物的商品名、规格、数量和时间，并设置到货标记。</a:t>
            </a:r>
            <a:endParaRPr lang="en-US" altLang="zh-CN" sz="2400" dirty="0">
              <a:latin typeface="Verdana" panose="020B0604030504040204" pitchFamily="34" charset="0"/>
            </a:endParaRPr>
          </a:p>
          <a:p>
            <a:pPr eaLnBrk="1" hangingPunct="1">
              <a:lnSpc>
                <a:spcPct val="110000"/>
              </a:lnSpc>
            </a:pPr>
            <a:r>
              <a:rPr lang="zh-CN" altLang="en-US" sz="2400" b="1" dirty="0">
                <a:solidFill>
                  <a:srgbClr val="7030A0"/>
                </a:solidFill>
                <a:latin typeface="Verdana" panose="020B0604030504040204" pitchFamily="34" charset="0"/>
              </a:rPr>
              <a:t>抽象操作：</a:t>
            </a:r>
            <a:r>
              <a:rPr lang="zh-CN" altLang="en-US" sz="2400" dirty="0">
                <a:latin typeface="Verdana" panose="020B0604030504040204" pitchFamily="34" charset="0"/>
              </a:rPr>
              <a:t>设置到货标记</a:t>
            </a:r>
            <a:r>
              <a:rPr lang="en-US" altLang="zh-CN" sz="2400" dirty="0">
                <a:latin typeface="Verdana" panose="020B0604030504040204" pitchFamily="34" charset="0"/>
              </a:rPr>
              <a:t>()</a:t>
            </a:r>
            <a:r>
              <a:rPr lang="zh-CN" altLang="en-US" sz="2400" dirty="0">
                <a:latin typeface="Verdana" panose="020B0604030504040204" pitchFamily="34" charset="0"/>
              </a:rPr>
              <a:t> 。</a:t>
            </a:r>
            <a:endParaRPr lang="zh-CN" altLang="en-US" sz="2400" dirty="0">
              <a:latin typeface="黑体" panose="02010609060101010101" pitchFamily="49" charset="-122"/>
              <a:ea typeface="黑体" panose="02010609060101010101" pitchFamily="49" charset="-122"/>
            </a:endParaRPr>
          </a:p>
        </p:txBody>
      </p:sp>
      <p:sp>
        <p:nvSpPr>
          <p:cNvPr id="4" name="Text Box 5"/>
          <p:cNvSpPr txBox="1"/>
          <p:nvPr/>
        </p:nvSpPr>
        <p:spPr>
          <a:xfrm>
            <a:off x="41275" y="3213100"/>
            <a:ext cx="9036050" cy="4291013"/>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8</a:t>
            </a:r>
            <a:r>
              <a:rPr lang="zh-CN" altLang="en-US" sz="2800" dirty="0">
                <a:solidFill>
                  <a:srgbClr val="FF0000"/>
                </a:solidFill>
                <a:latin typeface="黑体" panose="02010609060101010101" pitchFamily="49" charset="-122"/>
                <a:ea typeface="黑体" panose="02010609060101010101" pitchFamily="49" charset="-122"/>
              </a:rPr>
              <a:t>）打印复款通知单接口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800" b="1" dirty="0">
                <a:solidFill>
                  <a:srgbClr val="7030A0"/>
                </a:solidFill>
                <a:latin typeface="Verdana" panose="020B0604030504040204" pitchFamily="34" charset="0"/>
              </a:rPr>
              <a:t>接口类名</a:t>
            </a:r>
            <a:r>
              <a:rPr lang="zh-CN" altLang="en-US" sz="2800" dirty="0">
                <a:latin typeface="Verdana" panose="020B0604030504040204" pitchFamily="34" charset="0"/>
              </a:rPr>
              <a:t>：打印付款通知单。</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接口类名编号</a:t>
            </a:r>
            <a:r>
              <a:rPr lang="zh-CN" altLang="en-US" sz="2800" dirty="0">
                <a:latin typeface="Verdana" panose="020B0604030504040204" pitchFamily="34" charset="0"/>
              </a:rPr>
              <a:t>：</a:t>
            </a:r>
            <a:r>
              <a:rPr lang="en-US" altLang="zh-CN" sz="2800" dirty="0">
                <a:latin typeface="Verdana" panose="020B0604030504040204" pitchFamily="34" charset="0"/>
              </a:rPr>
              <a:t>04010108</a:t>
            </a:r>
            <a:r>
              <a:rPr lang="zh-CN" altLang="en-US" sz="2800" dirty="0">
                <a:latin typeface="Verdana" panose="020B0604030504040204" pitchFamily="34" charset="0"/>
              </a:rPr>
              <a:t> 。</a:t>
            </a:r>
            <a:br>
              <a:rPr lang="zh-CN" altLang="en-US" sz="2800" dirty="0">
                <a:latin typeface="Verdana" panose="020B0604030504040204" pitchFamily="34" charset="0"/>
              </a:rPr>
            </a:br>
            <a:r>
              <a:rPr lang="zh-CN" altLang="en-US" sz="2800" b="1" dirty="0">
                <a:solidFill>
                  <a:srgbClr val="7030A0"/>
                </a:solidFill>
                <a:latin typeface="Verdana" panose="020B0604030504040204" pitchFamily="34" charset="0"/>
              </a:rPr>
              <a:t>接口类型</a:t>
            </a:r>
            <a:r>
              <a:rPr lang="zh-CN" altLang="en-US" sz="2800" dirty="0">
                <a:latin typeface="Verdana" panose="020B0604030504040204" pitchFamily="34" charset="0"/>
              </a:rPr>
              <a:t>：抽象类。</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功能</a:t>
            </a:r>
            <a:r>
              <a:rPr lang="zh-CN" altLang="en-US" sz="2800" dirty="0">
                <a:latin typeface="Verdana" panose="020B0604030504040204" pitchFamily="34" charset="0"/>
              </a:rPr>
              <a:t>：根据库房发来的采购合同的对方货物收到数量和时间通知单和到货标记，向财务处打印货款通知单，通知财务处向对方进行付款。</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抽象操作：</a:t>
            </a:r>
            <a:r>
              <a:rPr lang="zh-CN" altLang="en-US" sz="2800" dirty="0">
                <a:latin typeface="Verdana" panose="020B0604030504040204" pitchFamily="34" charset="0"/>
              </a:rPr>
              <a:t>打印付款通知单</a:t>
            </a:r>
            <a:r>
              <a:rPr lang="en-US" altLang="zh-CN" sz="2800" dirty="0">
                <a:latin typeface="Verdana" panose="020B0604030504040204" pitchFamily="34" charset="0"/>
              </a:rPr>
              <a:t>()</a:t>
            </a:r>
            <a:r>
              <a:rPr lang="zh-CN" altLang="en-US" sz="2800" dirty="0">
                <a:latin typeface="Verdana" panose="020B0604030504040204" pitchFamily="34" charset="0"/>
              </a:rPr>
              <a:t> 。</a:t>
            </a:r>
            <a:endParaRPr lang="zh-CN" altLang="en-US" sz="2800" dirty="0">
              <a:latin typeface="黑体" panose="02010609060101010101" pitchFamily="49" charset="-122"/>
              <a:ea typeface="黑体" panose="02010609060101010101" pitchFamily="49" charset="-122"/>
            </a:endParaRPr>
          </a:p>
          <a:p>
            <a:pPr eaLnBrk="1" hangingPunct="1">
              <a:lnSpc>
                <a:spcPct val="110000"/>
              </a:lnSpc>
            </a:pPr>
            <a:r>
              <a:rPr lang="zh-CN" altLang="en-US" sz="2400" dirty="0">
                <a:latin typeface="Verdana" panose="020B0604030504040204" pitchFamily="34" charset="0"/>
              </a:rPr>
              <a:t>。</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5"/>
          <p:cNvSpPr txBox="1"/>
          <p:nvPr/>
        </p:nvSpPr>
        <p:spPr>
          <a:xfrm>
            <a:off x="17463" y="0"/>
            <a:ext cx="9036050" cy="3108325"/>
          </a:xfrm>
          <a:prstGeom prst="rect">
            <a:avLst/>
          </a:prstGeom>
          <a:solidFill>
            <a:schemeClr val="bg1"/>
          </a:solidFill>
          <a:ln w="9525">
            <a:noFill/>
          </a:ln>
        </p:spPr>
        <p:txBody>
          <a:bodyPr>
            <a:spAutoFit/>
          </a:bodyPr>
          <a:lstStyle/>
          <a:p>
            <a:pPr eaLnBrk="1" hangingPunct="1">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9</a:t>
            </a:r>
            <a:r>
              <a:rPr lang="zh-CN" altLang="en-US" sz="2800" dirty="0">
                <a:solidFill>
                  <a:srgbClr val="FF0000"/>
                </a:solidFill>
                <a:latin typeface="黑体" panose="02010609060101010101" pitchFamily="49" charset="-122"/>
                <a:ea typeface="黑体" panose="02010609060101010101" pitchFamily="49" charset="-122"/>
              </a:rPr>
              <a:t>）接收收款通知单接口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2400" b="1" dirty="0">
                <a:solidFill>
                  <a:srgbClr val="7030A0"/>
                </a:solidFill>
                <a:latin typeface="Verdana" panose="020B0604030504040204" pitchFamily="34" charset="0"/>
              </a:rPr>
              <a:t>接口类名</a:t>
            </a:r>
            <a:r>
              <a:rPr lang="zh-CN" altLang="en-US" sz="2400" dirty="0">
                <a:latin typeface="Verdana" panose="020B0604030504040204" pitchFamily="34" charset="0"/>
              </a:rPr>
              <a:t>：接收收款通知单。</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接口类名编号</a:t>
            </a:r>
            <a:r>
              <a:rPr lang="zh-CN" altLang="en-US" sz="2400" dirty="0">
                <a:latin typeface="Verdana" panose="020B0604030504040204" pitchFamily="34" charset="0"/>
              </a:rPr>
              <a:t>：</a:t>
            </a:r>
            <a:r>
              <a:rPr lang="en-US" altLang="zh-CN" sz="2400" dirty="0">
                <a:latin typeface="Verdana" panose="020B0604030504040204" pitchFamily="34" charset="0"/>
              </a:rPr>
              <a:t>04010109</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接口类型</a:t>
            </a:r>
            <a:r>
              <a:rPr lang="zh-CN" altLang="en-US" sz="2400" dirty="0">
                <a:latin typeface="Verdana" panose="020B0604030504040204" pitchFamily="34" charset="0"/>
              </a:rPr>
              <a:t>：抽象类。</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：接收财务处发来的销售合同的对方付款单，记录金额和时间，并作出标记，向财务处打印付款通知单，通知财务处向对方进行付款。</a:t>
            </a:r>
            <a:endParaRPr lang="en-US" altLang="zh-CN" sz="2400" dirty="0">
              <a:latin typeface="Verdana" panose="020B0604030504040204" pitchFamily="34" charset="0"/>
            </a:endParaRPr>
          </a:p>
          <a:p>
            <a:pPr eaLnBrk="1" hangingPunct="1"/>
            <a:r>
              <a:rPr lang="zh-CN" altLang="en-US" sz="2400" b="1" dirty="0">
                <a:solidFill>
                  <a:srgbClr val="7030A0"/>
                </a:solidFill>
                <a:latin typeface="Verdana" panose="020B0604030504040204" pitchFamily="34" charset="0"/>
              </a:rPr>
              <a:t>抽象操作：</a:t>
            </a:r>
            <a:r>
              <a:rPr lang="zh-CN" altLang="en-US" sz="2400" dirty="0">
                <a:latin typeface="Verdana" panose="020B0604030504040204" pitchFamily="34" charset="0"/>
              </a:rPr>
              <a:t>设置收款标记</a:t>
            </a:r>
            <a:r>
              <a:rPr lang="en-US" altLang="zh-CN" sz="2400" dirty="0">
                <a:latin typeface="Verdana" panose="020B0604030504040204" pitchFamily="34" charset="0"/>
              </a:rPr>
              <a:t>()</a:t>
            </a:r>
            <a:r>
              <a:rPr lang="zh-CN" altLang="en-US" sz="2400" dirty="0">
                <a:latin typeface="Verdana" panose="020B0604030504040204" pitchFamily="34" charset="0"/>
              </a:rPr>
              <a:t> 。</a:t>
            </a:r>
            <a:endParaRPr lang="zh-CN" altLang="en-US" sz="2400" dirty="0">
              <a:latin typeface="黑体" panose="02010609060101010101" pitchFamily="49" charset="-122"/>
              <a:ea typeface="黑体" panose="02010609060101010101" pitchFamily="49" charset="-122"/>
            </a:endParaRPr>
          </a:p>
        </p:txBody>
      </p:sp>
      <p:sp>
        <p:nvSpPr>
          <p:cNvPr id="4" name="Text Box 5"/>
          <p:cNvSpPr txBox="1"/>
          <p:nvPr/>
        </p:nvSpPr>
        <p:spPr>
          <a:xfrm>
            <a:off x="41275" y="3213100"/>
            <a:ext cx="9036050" cy="3884613"/>
          </a:xfrm>
          <a:prstGeom prst="rect">
            <a:avLst/>
          </a:prstGeom>
          <a:solidFill>
            <a:schemeClr val="bg1"/>
          </a:solidFill>
          <a:ln w="9525">
            <a:noFill/>
          </a:ln>
        </p:spPr>
        <p:txBody>
          <a:bodyPr>
            <a:spAutoFit/>
          </a:bodyPr>
          <a:lstStyle/>
          <a:p>
            <a:pPr eaLnBrk="1" hangingPunct="1">
              <a:lnSpc>
                <a:spcPct val="11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10</a:t>
            </a:r>
            <a:r>
              <a:rPr lang="zh-CN" altLang="en-US" sz="2800" dirty="0">
                <a:solidFill>
                  <a:srgbClr val="FF0000"/>
                </a:solidFill>
                <a:latin typeface="黑体" panose="02010609060101010101" pitchFamily="49" charset="-122"/>
                <a:ea typeface="黑体" panose="02010609060101010101" pitchFamily="49" charset="-122"/>
              </a:rPr>
              <a:t>）打印发货通知单接口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10000"/>
              </a:lnSpc>
              <a:buFont typeface="Arial" panose="020B0604020202020204" pitchFamily="34" charset="0"/>
            </a:pPr>
            <a:r>
              <a:rPr lang="zh-CN" altLang="en-US" sz="2800" b="1" dirty="0">
                <a:solidFill>
                  <a:srgbClr val="7030A0"/>
                </a:solidFill>
                <a:latin typeface="Verdana" panose="020B0604030504040204" pitchFamily="34" charset="0"/>
              </a:rPr>
              <a:t>接口类名</a:t>
            </a:r>
            <a:r>
              <a:rPr lang="zh-CN" altLang="en-US" sz="2800" dirty="0">
                <a:latin typeface="Verdana" panose="020B0604030504040204" pitchFamily="34" charset="0"/>
              </a:rPr>
              <a:t>：打印发货通知单。</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接口类名编号</a:t>
            </a:r>
            <a:r>
              <a:rPr lang="zh-CN" altLang="en-US" sz="2800" dirty="0">
                <a:latin typeface="Verdana" panose="020B0604030504040204" pitchFamily="34" charset="0"/>
              </a:rPr>
              <a:t>：</a:t>
            </a:r>
            <a:r>
              <a:rPr lang="en-US" altLang="zh-CN" sz="2800" dirty="0">
                <a:latin typeface="Verdana" panose="020B0604030504040204" pitchFamily="34" charset="0"/>
              </a:rPr>
              <a:t>04010110</a:t>
            </a:r>
            <a:r>
              <a:rPr lang="zh-CN" altLang="en-US" sz="2800" dirty="0">
                <a:latin typeface="Verdana" panose="020B0604030504040204" pitchFamily="34" charset="0"/>
              </a:rPr>
              <a:t> 。</a:t>
            </a:r>
            <a:br>
              <a:rPr lang="zh-CN" altLang="en-US" sz="2800" dirty="0">
                <a:latin typeface="Verdana" panose="020B0604030504040204" pitchFamily="34" charset="0"/>
              </a:rPr>
            </a:br>
            <a:r>
              <a:rPr lang="zh-CN" altLang="en-US" sz="2800" b="1" dirty="0">
                <a:solidFill>
                  <a:srgbClr val="7030A0"/>
                </a:solidFill>
                <a:latin typeface="Verdana" panose="020B0604030504040204" pitchFamily="34" charset="0"/>
              </a:rPr>
              <a:t>接口类型</a:t>
            </a:r>
            <a:r>
              <a:rPr lang="zh-CN" altLang="en-US" sz="2800" dirty="0">
                <a:latin typeface="Verdana" panose="020B0604030504040204" pitchFamily="34" charset="0"/>
              </a:rPr>
              <a:t>：抽象类。</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功能</a:t>
            </a:r>
            <a:r>
              <a:rPr lang="zh-CN" altLang="en-US" sz="2800" dirty="0">
                <a:latin typeface="Verdana" panose="020B0604030504040204" pitchFamily="34" charset="0"/>
              </a:rPr>
              <a:t>：根据财务处发来的记载合同对方付款金额和时间的通知单和付款标记，系统自动打印发货通知单通知库房发货。</a:t>
            </a:r>
            <a:endParaRPr lang="en-US" altLang="zh-CN" sz="2800" dirty="0">
              <a:latin typeface="Verdana" panose="020B0604030504040204" pitchFamily="34" charset="0"/>
            </a:endParaRPr>
          </a:p>
          <a:p>
            <a:pPr eaLnBrk="1" hangingPunct="1">
              <a:lnSpc>
                <a:spcPct val="110000"/>
              </a:lnSpc>
            </a:pPr>
            <a:r>
              <a:rPr lang="zh-CN" altLang="en-US" sz="2800" b="1" dirty="0">
                <a:solidFill>
                  <a:srgbClr val="7030A0"/>
                </a:solidFill>
                <a:latin typeface="Verdana" panose="020B0604030504040204" pitchFamily="34" charset="0"/>
              </a:rPr>
              <a:t>抽象操作：</a:t>
            </a:r>
            <a:r>
              <a:rPr lang="zh-CN" altLang="en-US" sz="2800" dirty="0">
                <a:latin typeface="Verdana" panose="020B0604030504040204" pitchFamily="34" charset="0"/>
              </a:rPr>
              <a:t>打印发货通知单</a:t>
            </a:r>
            <a:r>
              <a:rPr lang="en-US" altLang="zh-CN" sz="2800" dirty="0">
                <a:latin typeface="Verdana" panose="020B0604030504040204" pitchFamily="34" charset="0"/>
              </a:rPr>
              <a:t>()</a:t>
            </a:r>
            <a:r>
              <a:rPr lang="zh-CN" altLang="en-US" sz="2800" dirty="0">
                <a:latin typeface="Verdana" panose="020B0604030504040204" pitchFamily="34" charset="0"/>
              </a:rPr>
              <a:t> 。</a:t>
            </a:r>
            <a:r>
              <a:rPr lang="zh-CN" altLang="en-US" sz="2400" dirty="0">
                <a:latin typeface="Verdana" panose="020B0604030504040204" pitchFamily="34" charset="0"/>
              </a:rPr>
              <a:t>。</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5"/>
          <p:cNvSpPr txBox="1"/>
          <p:nvPr/>
        </p:nvSpPr>
        <p:spPr>
          <a:xfrm>
            <a:off x="12700" y="188913"/>
            <a:ext cx="9036050" cy="3652837"/>
          </a:xfrm>
          <a:prstGeom prst="rect">
            <a:avLst/>
          </a:prstGeom>
          <a:solidFill>
            <a:schemeClr val="bg1"/>
          </a:solidFill>
          <a:ln w="9525">
            <a:noFill/>
          </a:ln>
        </p:spPr>
        <p:txBody>
          <a:bodyPr>
            <a:spAutoFit/>
          </a:bodyPr>
          <a:lstStyle/>
          <a:p>
            <a:pPr eaLnBrk="1" hangingPunct="1">
              <a:lnSpc>
                <a:spcPct val="120000"/>
              </a:lnSpc>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11</a:t>
            </a:r>
            <a:r>
              <a:rPr lang="zh-CN" altLang="en-US" sz="2800" dirty="0">
                <a:solidFill>
                  <a:srgbClr val="FF0000"/>
                </a:solidFill>
                <a:latin typeface="黑体" panose="02010609060101010101" pitchFamily="49" charset="-122"/>
                <a:ea typeface="黑体" panose="02010609060101010101" pitchFamily="49" charset="-122"/>
              </a:rPr>
              <a:t>）合同统计接口</a:t>
            </a:r>
            <a:endParaRPr lang="en-US" altLang="zh-CN" sz="2800" dirty="0">
              <a:solidFill>
                <a:srgbClr val="FF0000"/>
              </a:solidFill>
              <a:latin typeface="黑体" panose="02010609060101010101" pitchFamily="49" charset="-122"/>
              <a:ea typeface="黑体" panose="02010609060101010101" pitchFamily="49" charset="-122"/>
            </a:endParaRPr>
          </a:p>
          <a:p>
            <a:pPr eaLnBrk="1" hangingPunct="1">
              <a:lnSpc>
                <a:spcPct val="120000"/>
              </a:lnSpc>
              <a:buFont typeface="Arial" panose="020B0604020202020204" pitchFamily="34" charset="0"/>
            </a:pPr>
            <a:r>
              <a:rPr lang="zh-CN" altLang="en-US" sz="2400" b="1" dirty="0">
                <a:solidFill>
                  <a:srgbClr val="7030A0"/>
                </a:solidFill>
                <a:latin typeface="Verdana" panose="020B0604030504040204" pitchFamily="34" charset="0"/>
              </a:rPr>
              <a:t>接口类名</a:t>
            </a:r>
            <a:r>
              <a:rPr lang="zh-CN" altLang="en-US" sz="2400" dirty="0">
                <a:latin typeface="Verdana" panose="020B0604030504040204" pitchFamily="34" charset="0"/>
              </a:rPr>
              <a:t>：合同统计。</a:t>
            </a:r>
            <a:endParaRPr lang="en-US" altLang="zh-CN" sz="2400" dirty="0">
              <a:latin typeface="Verdana" panose="020B0604030504040204" pitchFamily="34" charset="0"/>
            </a:endParaRPr>
          </a:p>
          <a:p>
            <a:pPr eaLnBrk="1" hangingPunct="1">
              <a:lnSpc>
                <a:spcPct val="120000"/>
              </a:lnSpc>
            </a:pPr>
            <a:r>
              <a:rPr lang="zh-CN" altLang="en-US" sz="2400" b="1" dirty="0">
                <a:solidFill>
                  <a:srgbClr val="7030A0"/>
                </a:solidFill>
                <a:latin typeface="Verdana" panose="020B0604030504040204" pitchFamily="34" charset="0"/>
              </a:rPr>
              <a:t>接口类名编号</a:t>
            </a:r>
            <a:r>
              <a:rPr lang="zh-CN" altLang="en-US" sz="2400" dirty="0">
                <a:latin typeface="Verdana" panose="020B0604030504040204" pitchFamily="34" charset="0"/>
              </a:rPr>
              <a:t>：</a:t>
            </a:r>
            <a:r>
              <a:rPr lang="en-US" altLang="zh-CN" sz="2400" dirty="0">
                <a:latin typeface="Verdana" panose="020B0604030504040204" pitchFamily="34" charset="0"/>
              </a:rPr>
              <a:t>04010111</a:t>
            </a:r>
            <a:r>
              <a:rPr lang="zh-CN" altLang="en-US" sz="2400" dirty="0">
                <a:latin typeface="Verdana" panose="020B0604030504040204" pitchFamily="34" charset="0"/>
              </a:rPr>
              <a:t>。</a:t>
            </a:r>
            <a:br>
              <a:rPr lang="zh-CN" altLang="en-US" sz="2400" dirty="0">
                <a:latin typeface="Verdana" panose="020B0604030504040204" pitchFamily="34" charset="0"/>
              </a:rPr>
            </a:br>
            <a:r>
              <a:rPr lang="zh-CN" altLang="en-US" sz="2400" b="1" dirty="0">
                <a:solidFill>
                  <a:srgbClr val="7030A0"/>
                </a:solidFill>
                <a:latin typeface="Verdana" panose="020B0604030504040204" pitchFamily="34" charset="0"/>
              </a:rPr>
              <a:t>接口类型</a:t>
            </a:r>
            <a:r>
              <a:rPr lang="zh-CN" altLang="en-US" sz="2400" dirty="0">
                <a:latin typeface="Verdana" panose="020B0604030504040204" pitchFamily="34" charset="0"/>
              </a:rPr>
              <a:t>：抽象类。</a:t>
            </a:r>
            <a:endParaRPr lang="en-US" altLang="zh-CN" sz="2400" dirty="0">
              <a:latin typeface="Verdana" panose="020B0604030504040204" pitchFamily="34" charset="0"/>
            </a:endParaRPr>
          </a:p>
          <a:p>
            <a:pPr eaLnBrk="1" hangingPunct="1">
              <a:lnSpc>
                <a:spcPct val="120000"/>
              </a:lnSpc>
            </a:pPr>
            <a:r>
              <a:rPr lang="zh-CN" altLang="en-US" sz="2400" b="1" dirty="0">
                <a:solidFill>
                  <a:srgbClr val="7030A0"/>
                </a:solidFill>
                <a:latin typeface="Verdana" panose="020B0604030504040204" pitchFamily="34" charset="0"/>
              </a:rPr>
              <a:t>功能</a:t>
            </a:r>
            <a:r>
              <a:rPr lang="zh-CN" altLang="en-US" sz="2400" dirty="0">
                <a:latin typeface="Verdana" panose="020B0604030504040204" pitchFamily="34" charset="0"/>
              </a:rPr>
              <a:t>：对销售合同的履约率、欠款金额和采购合同的履约率、欠发货物数量、金额等进行统计。</a:t>
            </a:r>
            <a:endParaRPr lang="en-US" altLang="zh-CN" sz="2400" dirty="0">
              <a:latin typeface="Verdana" panose="020B0604030504040204" pitchFamily="34" charset="0"/>
            </a:endParaRPr>
          </a:p>
          <a:p>
            <a:pPr eaLnBrk="1" hangingPunct="1">
              <a:lnSpc>
                <a:spcPct val="120000"/>
              </a:lnSpc>
            </a:pPr>
            <a:r>
              <a:rPr lang="zh-CN" altLang="en-US" sz="2400" b="1" dirty="0">
                <a:solidFill>
                  <a:srgbClr val="7030A0"/>
                </a:solidFill>
                <a:latin typeface="Verdana" panose="020B0604030504040204" pitchFamily="34" charset="0"/>
              </a:rPr>
              <a:t>抽象操作：</a:t>
            </a:r>
            <a:r>
              <a:rPr lang="zh-CN" altLang="en-US" sz="2400" dirty="0">
                <a:latin typeface="Verdana" panose="020B0604030504040204" pitchFamily="34" charset="0"/>
              </a:rPr>
              <a:t>销售合同的履约率</a:t>
            </a:r>
            <a:r>
              <a:rPr lang="en-US" altLang="zh-CN" sz="2400" dirty="0">
                <a:latin typeface="Verdana" panose="020B0604030504040204" pitchFamily="34" charset="0"/>
              </a:rPr>
              <a:t>()</a:t>
            </a:r>
            <a:r>
              <a:rPr lang="zh-CN" altLang="en-US" sz="2400" dirty="0">
                <a:latin typeface="Verdana" panose="020B0604030504040204" pitchFamily="34" charset="0"/>
              </a:rPr>
              <a:t> 、采购合同的履约率（）、销售欠款金额统计（）、采购欠发金额统计（）等。</a:t>
            </a:r>
            <a:endParaRPr lang="zh-CN" altLang="en-US" sz="2400" dirty="0">
              <a:latin typeface="黑体" panose="02010609060101010101" pitchFamily="49" charset="-122"/>
              <a:ea typeface="黑体" panose="02010609060101010101" pitchFamily="49" charset="-122"/>
            </a:endParaRPr>
          </a:p>
        </p:txBody>
      </p:sp>
      <p:sp>
        <p:nvSpPr>
          <p:cNvPr id="66563" name="Text Box 5"/>
          <p:cNvSpPr txBox="1"/>
          <p:nvPr/>
        </p:nvSpPr>
        <p:spPr>
          <a:xfrm>
            <a:off x="0" y="4508500"/>
            <a:ext cx="9036050" cy="920750"/>
          </a:xfrm>
          <a:prstGeom prst="rect">
            <a:avLst/>
          </a:prstGeom>
          <a:solidFill>
            <a:schemeClr val="bg1"/>
          </a:solidFill>
          <a:ln w="9525">
            <a:noFill/>
          </a:ln>
        </p:spPr>
        <p:txBody>
          <a:bodyPr>
            <a:spAutoFit/>
          </a:bodyPr>
          <a:lstStyle/>
          <a:p>
            <a:pPr eaLnBrk="1" hangingPunct="1">
              <a:lnSpc>
                <a:spcPct val="120000"/>
              </a:lnSpc>
              <a:buFont typeface="Arial" panose="020B0604020202020204" pitchFamily="34" charset="0"/>
            </a:pPr>
            <a:r>
              <a:rPr lang="zh-CN" altLang="en-US" sz="2400" dirty="0">
                <a:latin typeface="Verdana" panose="020B0604030504040204" pitchFamily="34" charset="0"/>
              </a:rPr>
              <a:t> </a:t>
            </a:r>
            <a:r>
              <a:rPr lang="zh-CN" altLang="en-US" sz="2400" i="1" dirty="0">
                <a:solidFill>
                  <a:srgbClr val="7030A0"/>
                </a:solidFill>
                <a:latin typeface="Verdana" panose="020B0604030504040204" pitchFamily="34" charset="0"/>
              </a:rPr>
              <a:t>这里只给出了“合同管理子系统”的几个接口，其他子系统的若干个接口定义在此省去。</a:t>
            </a:r>
            <a:endParaRPr lang="zh-CN" altLang="en-US" sz="2400" i="1" dirty="0">
              <a:solidFill>
                <a:srgbClr val="7030A0"/>
              </a:solidFill>
              <a:latin typeface="黑体" panose="02010609060101010101" pitchFamily="49" charset="-122"/>
              <a:ea typeface="黑体" panose="02010609060101010101"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p:nvPr/>
        </p:nvSpPr>
        <p:spPr>
          <a:xfrm>
            <a:off x="158750" y="315913"/>
            <a:ext cx="6750050" cy="579437"/>
          </a:xfrm>
          <a:prstGeom prst="rect">
            <a:avLst/>
          </a:prstGeom>
          <a:noFill/>
          <a:ln w="9525">
            <a:noFill/>
          </a:ln>
        </p:spPr>
        <p:txBody>
          <a:bodyPr wrap="none">
            <a:spAutoFit/>
          </a:bodyPr>
          <a:lstStyle/>
          <a:p>
            <a:pPr eaLnBrk="1" hangingPunct="1">
              <a:buFont typeface="Arial" panose="020B0604020202020204" pitchFamily="34" charset="0"/>
            </a:pPr>
            <a:r>
              <a:rPr lang="en-US" altLang="zh-CN" sz="3200" dirty="0">
                <a:latin typeface="黑体" panose="02010609060101010101" pitchFamily="49" charset="-122"/>
                <a:ea typeface="黑体" panose="02010609060101010101" pitchFamily="49" charset="-122"/>
              </a:rPr>
              <a:t>5.8.3  </a:t>
            </a:r>
            <a:r>
              <a:rPr lang="zh-CN" altLang="en-US" sz="3200" dirty="0">
                <a:latin typeface="黑体" panose="02010609060101010101" pitchFamily="49" charset="-122"/>
                <a:ea typeface="黑体" panose="02010609060101010101" pitchFamily="49" charset="-122"/>
              </a:rPr>
              <a:t>根据类之间的关系绘制类图</a:t>
            </a:r>
            <a:endParaRPr lang="zh-CN" altLang="en-US" sz="3200" dirty="0">
              <a:latin typeface="黑体" panose="02010609060101010101" pitchFamily="49" charset="-122"/>
              <a:ea typeface="黑体" panose="02010609060101010101" pitchFamily="49" charset="-122"/>
            </a:endParaRPr>
          </a:p>
        </p:txBody>
      </p:sp>
      <p:sp>
        <p:nvSpPr>
          <p:cNvPr id="67587" name="Text Box 3"/>
          <p:cNvSpPr txBox="1"/>
          <p:nvPr/>
        </p:nvSpPr>
        <p:spPr>
          <a:xfrm>
            <a:off x="179388" y="908050"/>
            <a:ext cx="2871787" cy="519113"/>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latin typeface="Arial" panose="020B0604020202020204" pitchFamily="34" charset="0"/>
                <a:ea typeface="楷体_GB2312" pitchFamily="49" charset="-122"/>
              </a:rPr>
              <a:t>1</a:t>
            </a:r>
            <a:r>
              <a:rPr lang="zh-CN" altLang="en-US" sz="2800" dirty="0">
                <a:latin typeface="Arial" panose="020B0604020202020204" pitchFamily="34" charset="0"/>
                <a:ea typeface="楷体_GB2312" pitchFamily="49" charset="-122"/>
              </a:rPr>
              <a:t>．类之间的关系</a:t>
            </a:r>
            <a:endParaRPr lang="zh-CN" altLang="en-US" sz="2800" dirty="0">
              <a:latin typeface="Arial" panose="020B0604020202020204" pitchFamily="34" charset="0"/>
              <a:ea typeface="楷体_GB2312" pitchFamily="49" charset="-122"/>
            </a:endParaRPr>
          </a:p>
        </p:txBody>
      </p:sp>
      <p:sp>
        <p:nvSpPr>
          <p:cNvPr id="67588" name="Text Box 4"/>
          <p:cNvSpPr txBox="1"/>
          <p:nvPr/>
        </p:nvSpPr>
        <p:spPr>
          <a:xfrm>
            <a:off x="179388" y="1412875"/>
            <a:ext cx="2851150" cy="519113"/>
          </a:xfrm>
          <a:prstGeom prst="rect">
            <a:avLst/>
          </a:prstGeom>
          <a:solidFill>
            <a:schemeClr val="bg1"/>
          </a:solidFill>
          <a:ln w="9525">
            <a:noFill/>
          </a:ln>
        </p:spPr>
        <p:txBody>
          <a:bodyPr wrap="none">
            <a:spAutoFit/>
          </a:bodyPr>
          <a:lstStyle/>
          <a:p>
            <a:pPr eaLnBrk="1" hangingPunct="1">
              <a:buFont typeface="Arial" panose="020B0604020202020204" pitchFamily="34" charset="0"/>
            </a:pPr>
            <a:r>
              <a:rPr lang="zh-CN" altLang="en-US" sz="2800" dirty="0">
                <a:solidFill>
                  <a:srgbClr val="FF0000"/>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）共享聚集</a:t>
            </a:r>
            <a:r>
              <a:rPr lang="zh-CN" altLang="en-US"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pic>
        <p:nvPicPr>
          <p:cNvPr id="67589" name="Picture 5" descr="image052"/>
          <p:cNvPicPr>
            <a:picLocks noChangeAspect="1"/>
          </p:cNvPicPr>
          <p:nvPr/>
        </p:nvPicPr>
        <p:blipFill>
          <a:blip r:embed="rId1"/>
          <a:stretch>
            <a:fillRect/>
          </a:stretch>
        </p:blipFill>
        <p:spPr>
          <a:xfrm>
            <a:off x="467360" y="1916430"/>
            <a:ext cx="7416800" cy="5002213"/>
          </a:xfrm>
          <a:prstGeom prst="rect">
            <a:avLst/>
          </a:prstGeom>
          <a:noFill/>
          <a:ln w="9525" cap="flat" cmpd="sng">
            <a:solidFill>
              <a:srgbClr val="000000"/>
            </a:solidFill>
            <a:prstDash val="solid"/>
            <a:miter/>
            <a:headEnd type="none" w="med" len="med"/>
            <a:tailEnd type="none" w="med" len="med"/>
          </a:ln>
        </p:spPr>
      </p:pic>
      <p:sp>
        <p:nvSpPr>
          <p:cNvPr id="67590" name="圆角矩形 5"/>
          <p:cNvSpPr/>
          <p:nvPr/>
        </p:nvSpPr>
        <p:spPr>
          <a:xfrm>
            <a:off x="666750" y="2378075"/>
            <a:ext cx="1170940" cy="23812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建立</a:t>
            </a:r>
            <a:r>
              <a:rPr lang="zh-CN" altLang="en-US" sz="1400" b="1" dirty="0">
                <a:latin typeface="Verdana" panose="020B0604030504040204" pitchFamily="34" charset="0"/>
              </a:rPr>
              <a:t>销售</a:t>
            </a:r>
            <a:r>
              <a:rPr lang="zh-CN" altLang="en-US" sz="1600" b="1" dirty="0">
                <a:latin typeface="Verdana" panose="020B0604030504040204" pitchFamily="34" charset="0"/>
              </a:rPr>
              <a:t>合同</a:t>
            </a:r>
            <a:endParaRPr lang="zh-CN" altLang="en-US" sz="1600" b="1" dirty="0">
              <a:latin typeface="Verdana" panose="020B0604030504040204" pitchFamily="34" charset="0"/>
            </a:endParaRPr>
          </a:p>
        </p:txBody>
      </p:sp>
      <p:sp>
        <p:nvSpPr>
          <p:cNvPr id="67591" name="圆角矩形 6"/>
          <p:cNvSpPr/>
          <p:nvPr/>
        </p:nvSpPr>
        <p:spPr>
          <a:xfrm>
            <a:off x="755015" y="3244215"/>
            <a:ext cx="1082675" cy="26860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销售合同查询</a:t>
            </a:r>
            <a:endParaRPr lang="zh-CN" altLang="en-US" sz="1200" b="1" dirty="0">
              <a:latin typeface="Verdana" panose="020B0604030504040204" pitchFamily="34" charset="0"/>
            </a:endParaRPr>
          </a:p>
        </p:txBody>
      </p:sp>
      <p:sp>
        <p:nvSpPr>
          <p:cNvPr id="67592" name="圆角矩形 7"/>
          <p:cNvSpPr/>
          <p:nvPr/>
        </p:nvSpPr>
        <p:spPr>
          <a:xfrm>
            <a:off x="684213" y="4202113"/>
            <a:ext cx="1171575"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付款通知单</a:t>
            </a:r>
            <a:endParaRPr lang="zh-CN" altLang="en-US" sz="1600" b="1" dirty="0">
              <a:latin typeface="Verdana" panose="020B0604030504040204" pitchFamily="34" charset="0"/>
            </a:endParaRPr>
          </a:p>
        </p:txBody>
      </p:sp>
      <p:sp>
        <p:nvSpPr>
          <p:cNvPr id="67593" name="圆角矩形 8"/>
          <p:cNvSpPr/>
          <p:nvPr/>
        </p:nvSpPr>
        <p:spPr>
          <a:xfrm>
            <a:off x="684213" y="5048250"/>
            <a:ext cx="1169987"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到款通知单</a:t>
            </a:r>
            <a:endParaRPr lang="zh-CN" altLang="en-US" sz="1600" b="1" dirty="0">
              <a:latin typeface="Verdana" panose="020B0604030504040204" pitchFamily="34" charset="0"/>
            </a:endParaRPr>
          </a:p>
        </p:txBody>
      </p:sp>
      <p:sp>
        <p:nvSpPr>
          <p:cNvPr id="67594" name="圆角矩形 9"/>
          <p:cNvSpPr/>
          <p:nvPr/>
        </p:nvSpPr>
        <p:spPr>
          <a:xfrm>
            <a:off x="684213" y="5895975"/>
            <a:ext cx="1169987"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催款单</a:t>
            </a:r>
            <a:endParaRPr lang="zh-CN" altLang="en-US" sz="1600" b="1" dirty="0">
              <a:latin typeface="Verdana" panose="020B0604030504040204" pitchFamily="34" charset="0"/>
            </a:endParaRPr>
          </a:p>
        </p:txBody>
      </p:sp>
      <p:sp>
        <p:nvSpPr>
          <p:cNvPr id="67595" name="圆角矩形 10"/>
          <p:cNvSpPr/>
          <p:nvPr/>
        </p:nvSpPr>
        <p:spPr>
          <a:xfrm>
            <a:off x="2411730" y="2992755"/>
            <a:ext cx="861060" cy="4476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销售合同</a:t>
            </a:r>
            <a:endParaRPr lang="en-US" altLang="zh-CN" sz="1200" b="1" dirty="0">
              <a:latin typeface="Verdana" panose="020B0604030504040204" pitchFamily="34" charset="0"/>
            </a:endParaRPr>
          </a:p>
          <a:p>
            <a:pPr eaLnBrk="1" hangingPunct="1"/>
            <a:r>
              <a:rPr lang="zh-CN" altLang="en-US" sz="1200" b="1" dirty="0">
                <a:latin typeface="Verdana" panose="020B0604030504040204" pitchFamily="34" charset="0"/>
              </a:rPr>
              <a:t>容器</a:t>
            </a:r>
            <a:endParaRPr lang="zh-CN" altLang="en-US" sz="1200" b="1" dirty="0">
              <a:latin typeface="Verdana" panose="020B0604030504040204" pitchFamily="34" charset="0"/>
            </a:endParaRPr>
          </a:p>
        </p:txBody>
      </p:sp>
      <p:sp>
        <p:nvSpPr>
          <p:cNvPr id="67596" name="圆角矩形 11"/>
          <p:cNvSpPr/>
          <p:nvPr/>
        </p:nvSpPr>
        <p:spPr>
          <a:xfrm>
            <a:off x="4860290" y="2988945"/>
            <a:ext cx="723265" cy="44005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采购合同</a:t>
            </a:r>
            <a:endParaRPr lang="en-US" altLang="zh-CN" sz="1200" b="1" dirty="0">
              <a:latin typeface="Verdana" panose="020B0604030504040204" pitchFamily="34" charset="0"/>
            </a:endParaRPr>
          </a:p>
          <a:p>
            <a:pPr eaLnBrk="1" hangingPunct="1"/>
            <a:r>
              <a:rPr lang="zh-CN" altLang="en-US" sz="1200" b="1" dirty="0">
                <a:latin typeface="Verdana" panose="020B0604030504040204" pitchFamily="34" charset="0"/>
              </a:rPr>
              <a:t>容器</a:t>
            </a:r>
            <a:endParaRPr lang="zh-CN" altLang="en-US" sz="1200" b="1" dirty="0">
              <a:latin typeface="Verdana" panose="020B0604030504040204" pitchFamily="34" charset="0"/>
            </a:endParaRPr>
          </a:p>
        </p:txBody>
      </p:sp>
      <p:sp>
        <p:nvSpPr>
          <p:cNvPr id="67597" name="圆角矩形 12"/>
          <p:cNvSpPr/>
          <p:nvPr/>
        </p:nvSpPr>
        <p:spPr>
          <a:xfrm>
            <a:off x="3533775" y="3716655"/>
            <a:ext cx="966788" cy="2159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合同统计表</a:t>
            </a:r>
            <a:endParaRPr lang="zh-CN" altLang="en-US" sz="1200" b="1" dirty="0">
              <a:latin typeface="Verdana" panose="020B0604030504040204" pitchFamily="34" charset="0"/>
            </a:endParaRPr>
          </a:p>
        </p:txBody>
      </p:sp>
      <p:sp>
        <p:nvSpPr>
          <p:cNvPr id="67599" name="圆角矩形 14"/>
          <p:cNvSpPr/>
          <p:nvPr/>
        </p:nvSpPr>
        <p:spPr>
          <a:xfrm>
            <a:off x="6308725" y="2268538"/>
            <a:ext cx="1171575"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建立采购合同</a:t>
            </a:r>
            <a:endParaRPr lang="zh-CN" altLang="en-US" sz="1600" b="1" dirty="0">
              <a:latin typeface="Verdana" panose="020B0604030504040204" pitchFamily="34" charset="0"/>
            </a:endParaRPr>
          </a:p>
        </p:txBody>
      </p:sp>
      <p:sp>
        <p:nvSpPr>
          <p:cNvPr id="67600" name="圆角矩形 14"/>
          <p:cNvSpPr/>
          <p:nvPr/>
        </p:nvSpPr>
        <p:spPr>
          <a:xfrm>
            <a:off x="6323013" y="3203575"/>
            <a:ext cx="1171575"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采购合同查询</a:t>
            </a:r>
            <a:endParaRPr lang="zh-CN" altLang="en-US" sz="1600" b="1" dirty="0">
              <a:latin typeface="Verdana" panose="020B0604030504040204" pitchFamily="34" charset="0"/>
            </a:endParaRPr>
          </a:p>
        </p:txBody>
      </p:sp>
      <p:sp>
        <p:nvSpPr>
          <p:cNvPr id="67601" name="圆角矩形 14"/>
          <p:cNvSpPr/>
          <p:nvPr/>
        </p:nvSpPr>
        <p:spPr>
          <a:xfrm>
            <a:off x="6332538" y="4035425"/>
            <a:ext cx="1171575"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付货通知单</a:t>
            </a:r>
            <a:endParaRPr lang="zh-CN" altLang="en-US" sz="1600" b="1" dirty="0">
              <a:latin typeface="Verdana" panose="020B0604030504040204" pitchFamily="34" charset="0"/>
            </a:endParaRPr>
          </a:p>
        </p:txBody>
      </p:sp>
      <p:sp>
        <p:nvSpPr>
          <p:cNvPr id="67602" name="圆角矩形 14"/>
          <p:cNvSpPr/>
          <p:nvPr/>
        </p:nvSpPr>
        <p:spPr>
          <a:xfrm>
            <a:off x="6345238" y="4921250"/>
            <a:ext cx="1171575"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到货通知单</a:t>
            </a:r>
            <a:endParaRPr lang="zh-CN" altLang="en-US" sz="1600" b="1" dirty="0">
              <a:latin typeface="Verdana" panose="020B0604030504040204" pitchFamily="34" charset="0"/>
            </a:endParaRPr>
          </a:p>
        </p:txBody>
      </p:sp>
      <p:sp>
        <p:nvSpPr>
          <p:cNvPr id="67603" name="圆角矩形 14"/>
          <p:cNvSpPr/>
          <p:nvPr/>
        </p:nvSpPr>
        <p:spPr>
          <a:xfrm>
            <a:off x="6323013" y="5768975"/>
            <a:ext cx="1171575"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催货单</a:t>
            </a:r>
            <a:endParaRPr lang="zh-CN" altLang="en-US" sz="1600" b="1" dirty="0">
              <a:latin typeface="Verdana" panose="020B0604030504040204" pitchFamily="34" charset="0"/>
            </a:endParaRPr>
          </a:p>
        </p:txBody>
      </p:sp>
      <p:sp>
        <p:nvSpPr>
          <p:cNvPr id="67604" name="圆角矩形 14"/>
          <p:cNvSpPr/>
          <p:nvPr/>
        </p:nvSpPr>
        <p:spPr>
          <a:xfrm>
            <a:off x="4643438" y="4322763"/>
            <a:ext cx="1150937" cy="2794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采购合同</a:t>
            </a:r>
            <a:endParaRPr lang="zh-CN" altLang="en-US" sz="1600" b="1" dirty="0">
              <a:latin typeface="Verdana" panose="020B0604030504040204" pitchFamily="34" charset="0"/>
            </a:endParaRPr>
          </a:p>
        </p:txBody>
      </p:sp>
      <p:sp>
        <p:nvSpPr>
          <p:cNvPr id="67605" name="圆角矩形 14"/>
          <p:cNvSpPr/>
          <p:nvPr/>
        </p:nvSpPr>
        <p:spPr>
          <a:xfrm>
            <a:off x="2411413" y="4352925"/>
            <a:ext cx="1152525" cy="2794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销售合同</a:t>
            </a:r>
            <a:endParaRPr lang="zh-CN" altLang="en-US" sz="1600" b="1" dirty="0">
              <a:latin typeface="Verdana" panose="020B0604030504040204" pitchFamily="34" charset="0"/>
            </a:endParaRPr>
          </a:p>
        </p:txBody>
      </p:sp>
      <p:sp>
        <p:nvSpPr>
          <p:cNvPr id="67606" name="圆角矩形 10"/>
          <p:cNvSpPr/>
          <p:nvPr/>
        </p:nvSpPr>
        <p:spPr>
          <a:xfrm>
            <a:off x="3543300" y="2297430"/>
            <a:ext cx="1024890" cy="23241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合同管理</a:t>
            </a:r>
            <a:r>
              <a:rPr lang="zh-CN" altLang="en-US" sz="1200" b="1" dirty="0">
                <a:latin typeface="Verdana" panose="020B0604030504040204" pitchFamily="34" charset="0"/>
              </a:rPr>
              <a:t>器</a:t>
            </a:r>
            <a:endParaRPr lang="zh-CN" altLang="en-US" sz="1200" b="1" dirty="0">
              <a:latin typeface="Verdana" panose="020B0604030504040204" pitchFamily="34" charset="0"/>
            </a:endParaRPr>
          </a:p>
        </p:txBody>
      </p:sp>
      <p:sp>
        <p:nvSpPr>
          <p:cNvPr id="67607" name="圆角矩形 10"/>
          <p:cNvSpPr/>
          <p:nvPr/>
        </p:nvSpPr>
        <p:spPr>
          <a:xfrm>
            <a:off x="3333750" y="2824163"/>
            <a:ext cx="633413" cy="338137"/>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统计</a:t>
            </a:r>
            <a:endParaRPr lang="zh-CN" altLang="en-US" sz="1600" b="1" dirty="0">
              <a:latin typeface="Verdana" panose="020B0604030504040204" pitchFamily="34" charset="0"/>
            </a:endParaRPr>
          </a:p>
        </p:txBody>
      </p:sp>
      <p:sp>
        <p:nvSpPr>
          <p:cNvPr id="67608" name="圆角矩形 10"/>
          <p:cNvSpPr/>
          <p:nvPr/>
        </p:nvSpPr>
        <p:spPr>
          <a:xfrm>
            <a:off x="4319270" y="2887980"/>
            <a:ext cx="332105" cy="23876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统计</a:t>
            </a:r>
            <a:endParaRPr lang="zh-CN" altLang="en-US" sz="1200" b="1" dirty="0">
              <a:latin typeface="Verdana" panose="020B0604030504040204" pitchFamily="34" charset="0"/>
            </a:endParaRPr>
          </a:p>
        </p:txBody>
      </p:sp>
      <p:sp>
        <p:nvSpPr>
          <p:cNvPr id="67609" name="圆角矩形 10"/>
          <p:cNvSpPr/>
          <p:nvPr/>
        </p:nvSpPr>
        <p:spPr>
          <a:xfrm>
            <a:off x="4111943" y="4335463"/>
            <a:ext cx="388937" cy="2968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统计</a:t>
            </a:r>
            <a:endParaRPr lang="zh-CN" altLang="en-US" sz="1200" b="1" dirty="0">
              <a:latin typeface="Verdana" panose="020B0604030504040204" pitchFamily="34" charset="0"/>
            </a:endParaRPr>
          </a:p>
        </p:txBody>
      </p:sp>
      <p:sp>
        <p:nvSpPr>
          <p:cNvPr id="67610" name="圆角矩形 10"/>
          <p:cNvSpPr/>
          <p:nvPr/>
        </p:nvSpPr>
        <p:spPr>
          <a:xfrm>
            <a:off x="4854575" y="3821113"/>
            <a:ext cx="388938" cy="2952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存储</a:t>
            </a:r>
            <a:endParaRPr lang="zh-CN" altLang="en-US" sz="1600" b="1" dirty="0">
              <a:latin typeface="Verdana" panose="020B0604030504040204" pitchFamily="34" charset="0"/>
            </a:endParaRPr>
          </a:p>
        </p:txBody>
      </p:sp>
      <p:sp>
        <p:nvSpPr>
          <p:cNvPr id="67611" name="圆角矩形 10"/>
          <p:cNvSpPr/>
          <p:nvPr/>
        </p:nvSpPr>
        <p:spPr>
          <a:xfrm>
            <a:off x="2833688" y="3860800"/>
            <a:ext cx="388937" cy="2952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存储</a:t>
            </a:r>
            <a:endParaRPr lang="zh-CN" altLang="en-US" sz="1600" b="1" dirty="0">
              <a:latin typeface="Verdana" panose="020B0604030504040204" pitchFamily="34" charset="0"/>
            </a:endParaRPr>
          </a:p>
        </p:txBody>
      </p:sp>
      <p:sp>
        <p:nvSpPr>
          <p:cNvPr id="67612" name="圆角矩形 10"/>
          <p:cNvSpPr/>
          <p:nvPr/>
        </p:nvSpPr>
        <p:spPr>
          <a:xfrm>
            <a:off x="2792413" y="2082800"/>
            <a:ext cx="390525" cy="2952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管理</a:t>
            </a:r>
            <a:endParaRPr lang="zh-CN" altLang="en-US" sz="1600" b="1" dirty="0">
              <a:latin typeface="Verdana" panose="020B0604030504040204" pitchFamily="34" charset="0"/>
            </a:endParaRPr>
          </a:p>
        </p:txBody>
      </p:sp>
      <p:sp>
        <p:nvSpPr>
          <p:cNvPr id="67613" name="圆角矩形 10"/>
          <p:cNvSpPr/>
          <p:nvPr/>
        </p:nvSpPr>
        <p:spPr>
          <a:xfrm>
            <a:off x="4911725" y="2000250"/>
            <a:ext cx="388938" cy="296863"/>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管理</a:t>
            </a:r>
            <a:endParaRPr lang="zh-CN" altLang="en-US" sz="1600" b="1" dirty="0">
              <a:latin typeface="Verdana" panose="020B0604030504040204" pitchFamily="34" charset="0"/>
            </a:endParaRPr>
          </a:p>
        </p:txBody>
      </p:sp>
      <p:sp>
        <p:nvSpPr>
          <p:cNvPr id="67614" name="圆角矩形 10"/>
          <p:cNvSpPr/>
          <p:nvPr/>
        </p:nvSpPr>
        <p:spPr>
          <a:xfrm>
            <a:off x="1492250" y="3517900"/>
            <a:ext cx="390525" cy="295275"/>
          </a:xfrm>
          <a:prstGeom prst="roundRect">
            <a:avLst>
              <a:gd name="adj" fmla="val 16667"/>
            </a:avLst>
          </a:prstGeom>
          <a:no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库房</a:t>
            </a:r>
            <a:endParaRPr lang="zh-CN" altLang="en-US" sz="1600" b="1" dirty="0">
              <a:latin typeface="Verdana" panose="020B0604030504040204" pitchFamily="34" charset="0"/>
            </a:endParaRPr>
          </a:p>
        </p:txBody>
      </p:sp>
      <p:sp>
        <p:nvSpPr>
          <p:cNvPr id="67615" name="圆角矩形 10"/>
          <p:cNvSpPr/>
          <p:nvPr/>
        </p:nvSpPr>
        <p:spPr>
          <a:xfrm>
            <a:off x="1584325" y="4481513"/>
            <a:ext cx="361950" cy="265112"/>
          </a:xfrm>
          <a:prstGeom prst="roundRect">
            <a:avLst>
              <a:gd name="adj" fmla="val 16667"/>
            </a:avLst>
          </a:prstGeom>
          <a:no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财务</a:t>
            </a:r>
            <a:endParaRPr lang="zh-CN" altLang="en-US" sz="1600" b="1" dirty="0">
              <a:latin typeface="Verdana" panose="020B0604030504040204" pitchFamily="34" charset="0"/>
            </a:endParaRPr>
          </a:p>
        </p:txBody>
      </p:sp>
      <p:sp>
        <p:nvSpPr>
          <p:cNvPr id="67616" name="圆角矩形 10"/>
          <p:cNvSpPr/>
          <p:nvPr/>
        </p:nvSpPr>
        <p:spPr>
          <a:xfrm>
            <a:off x="1492250" y="2644775"/>
            <a:ext cx="390525" cy="5659438"/>
          </a:xfrm>
          <a:prstGeom prst="roundRect">
            <a:avLst>
              <a:gd name="adj" fmla="val 16667"/>
            </a:avLst>
          </a:prstGeom>
          <a:no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销售员</a:t>
            </a:r>
            <a:endParaRPr lang="zh-CN" altLang="en-US" sz="1600" b="1" dirty="0">
              <a:latin typeface="Verdana" panose="020B0604030504040204" pitchFamily="34" charset="0"/>
            </a:endParaRPr>
          </a:p>
        </p:txBody>
      </p:sp>
      <p:sp>
        <p:nvSpPr>
          <p:cNvPr id="67617" name="圆角矩形 10"/>
          <p:cNvSpPr/>
          <p:nvPr/>
        </p:nvSpPr>
        <p:spPr>
          <a:xfrm>
            <a:off x="1490663" y="5341938"/>
            <a:ext cx="361950" cy="265112"/>
          </a:xfrm>
          <a:prstGeom prst="roundRect">
            <a:avLst>
              <a:gd name="adj" fmla="val 16667"/>
            </a:avLst>
          </a:prstGeom>
          <a:no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客户</a:t>
            </a:r>
            <a:endParaRPr lang="zh-CN" altLang="en-US" sz="1600" b="1" dirty="0">
              <a:latin typeface="Verdana" panose="020B0604030504040204" pitchFamily="34" charset="0"/>
            </a:endParaRPr>
          </a:p>
        </p:txBody>
      </p:sp>
      <p:sp>
        <p:nvSpPr>
          <p:cNvPr id="67618" name="圆角矩形 14"/>
          <p:cNvSpPr/>
          <p:nvPr/>
        </p:nvSpPr>
        <p:spPr>
          <a:xfrm>
            <a:off x="2362200" y="6445250"/>
            <a:ext cx="4657725" cy="474663"/>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7030A0"/>
                </a:solidFill>
                <a:latin typeface="Verdana" panose="020B0604030504040204" pitchFamily="34" charset="0"/>
              </a:rPr>
              <a:t>合同管理子系统的对象类图</a:t>
            </a:r>
            <a:endParaRPr lang="zh-CN" altLang="en-US" sz="2400" b="1" dirty="0">
              <a:solidFill>
                <a:srgbClr val="7030A0"/>
              </a:solidFill>
              <a:latin typeface="Verdana" panose="020B0604030504040204" pitchFamily="34" charset="0"/>
            </a:endParaRPr>
          </a:p>
        </p:txBody>
      </p:sp>
      <p:sp>
        <p:nvSpPr>
          <p:cNvPr id="2" name="圆角矩形 9"/>
          <p:cNvSpPr/>
          <p:nvPr/>
        </p:nvSpPr>
        <p:spPr>
          <a:xfrm>
            <a:off x="4572000" y="980440"/>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3" name="圆角矩形 9"/>
          <p:cNvSpPr/>
          <p:nvPr/>
        </p:nvSpPr>
        <p:spPr>
          <a:xfrm>
            <a:off x="755650" y="2132330"/>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4" name="圆角矩形 9"/>
          <p:cNvSpPr/>
          <p:nvPr/>
        </p:nvSpPr>
        <p:spPr>
          <a:xfrm>
            <a:off x="666750" y="2992120"/>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5" name="圆角矩形 9"/>
          <p:cNvSpPr/>
          <p:nvPr/>
        </p:nvSpPr>
        <p:spPr>
          <a:xfrm>
            <a:off x="684530" y="3932555"/>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6" name="圆角矩形 9"/>
          <p:cNvSpPr/>
          <p:nvPr/>
        </p:nvSpPr>
        <p:spPr>
          <a:xfrm>
            <a:off x="750570" y="4810760"/>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7" name="圆角矩形 9"/>
          <p:cNvSpPr/>
          <p:nvPr/>
        </p:nvSpPr>
        <p:spPr>
          <a:xfrm>
            <a:off x="611505" y="5715635"/>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8" name="圆角矩形 9"/>
          <p:cNvSpPr/>
          <p:nvPr/>
        </p:nvSpPr>
        <p:spPr>
          <a:xfrm>
            <a:off x="6393180" y="2082800"/>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9" name="圆角矩形 9"/>
          <p:cNvSpPr/>
          <p:nvPr/>
        </p:nvSpPr>
        <p:spPr>
          <a:xfrm>
            <a:off x="6430010" y="2996565"/>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10" name="圆角矩形 9"/>
          <p:cNvSpPr/>
          <p:nvPr/>
        </p:nvSpPr>
        <p:spPr>
          <a:xfrm>
            <a:off x="6430010" y="3813175"/>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11" name="圆角矩形 10"/>
          <p:cNvSpPr/>
          <p:nvPr/>
        </p:nvSpPr>
        <p:spPr>
          <a:xfrm>
            <a:off x="6516370" y="4667250"/>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12" name="圆角矩形 11"/>
          <p:cNvSpPr/>
          <p:nvPr/>
        </p:nvSpPr>
        <p:spPr>
          <a:xfrm>
            <a:off x="6308725" y="5588635"/>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
        <p:nvSpPr>
          <p:cNvPr id="13" name="圆角矩形 12"/>
          <p:cNvSpPr/>
          <p:nvPr/>
        </p:nvSpPr>
        <p:spPr>
          <a:xfrm>
            <a:off x="3564255" y="5342255"/>
            <a:ext cx="966788" cy="2159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200" b="1" dirty="0">
                <a:latin typeface="Verdana" panose="020B0604030504040204" pitchFamily="34" charset="0"/>
              </a:rPr>
              <a:t>合同统计表</a:t>
            </a:r>
            <a:endParaRPr lang="zh-CN" altLang="en-US" sz="1200" b="1" dirty="0">
              <a:latin typeface="Verdana" panose="020B0604030504040204" pitchFamily="34" charset="0"/>
            </a:endParaRPr>
          </a:p>
        </p:txBody>
      </p:sp>
      <p:sp>
        <p:nvSpPr>
          <p:cNvPr id="14" name="圆角矩形 9"/>
          <p:cNvSpPr/>
          <p:nvPr/>
        </p:nvSpPr>
        <p:spPr>
          <a:xfrm>
            <a:off x="3564255" y="5048250"/>
            <a:ext cx="1087120" cy="2540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p>
            <a:pPr eaLnBrk="1" hangingPunct="1"/>
            <a:r>
              <a:rPr lang="zh-CN" altLang="en-US" sz="1000" b="1" i="1" dirty="0">
                <a:latin typeface="Verdana" panose="020B0604030504040204" pitchFamily="34" charset="0"/>
              </a:rPr>
              <a:t>《</a:t>
            </a:r>
            <a:r>
              <a:rPr lang="en-US" altLang="zh-CN" sz="1000" b="1" i="1" dirty="0">
                <a:latin typeface="Verdana" panose="020B0604030504040204" pitchFamily="34" charset="0"/>
              </a:rPr>
              <a:t>Interface</a:t>
            </a:r>
            <a:r>
              <a:rPr lang="zh-CN" altLang="en-US" sz="1000" b="1" i="1" dirty="0">
                <a:latin typeface="Verdana" panose="020B0604030504040204" pitchFamily="34" charset="0"/>
              </a:rPr>
              <a:t>》</a:t>
            </a:r>
            <a:endParaRPr lang="zh-CN" altLang="en-US" sz="1000" b="1" i="1" dirty="0">
              <a:latin typeface="Verdana" panose="020B060403050404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3"/>
          <p:cNvSpPr txBox="1"/>
          <p:nvPr/>
        </p:nvSpPr>
        <p:spPr>
          <a:xfrm>
            <a:off x="539750" y="515938"/>
            <a:ext cx="3613150" cy="641350"/>
          </a:xfrm>
          <a:prstGeom prst="rect">
            <a:avLst/>
          </a:prstGeom>
          <a:noFill/>
          <a:ln w="9525">
            <a:noFill/>
          </a:ln>
        </p:spPr>
        <p:txBody>
          <a:bodyPr wrap="none">
            <a:spAutoFit/>
          </a:bodyPr>
          <a:lstStyle/>
          <a:p>
            <a:pPr eaLnBrk="1" hangingPunct="1">
              <a:buFont typeface="Arial" panose="020B0604020202020204" pitchFamily="34" charset="0"/>
            </a:pPr>
            <a:r>
              <a:rPr lang="en-US" altLang="zh-CN" sz="3600" dirty="0">
                <a:latin typeface="黑体" panose="02010609060101010101" pitchFamily="49" charset="-122"/>
                <a:ea typeface="黑体" panose="02010609060101010101" pitchFamily="49" charset="-122"/>
              </a:rPr>
              <a:t>1</a:t>
            </a:r>
            <a:r>
              <a:rPr lang="zh-CN" altLang="en-US" sz="3600" dirty="0">
                <a:latin typeface="黑体" panose="02010609060101010101" pitchFamily="49" charset="-122"/>
                <a:ea typeface="黑体" panose="02010609060101010101" pitchFamily="49" charset="-122"/>
              </a:rPr>
              <a:t>．类之间的关系</a:t>
            </a:r>
            <a:endParaRPr lang="zh-CN" altLang="en-US" sz="3600" dirty="0">
              <a:latin typeface="黑体" panose="02010609060101010101" pitchFamily="49" charset="-122"/>
              <a:ea typeface="黑体" panose="02010609060101010101" pitchFamily="49" charset="-122"/>
            </a:endParaRPr>
          </a:p>
        </p:txBody>
      </p:sp>
      <p:sp>
        <p:nvSpPr>
          <p:cNvPr id="68611" name="Text Box 4"/>
          <p:cNvSpPr txBox="1"/>
          <p:nvPr/>
        </p:nvSpPr>
        <p:spPr>
          <a:xfrm>
            <a:off x="468313" y="1843088"/>
            <a:ext cx="3233737" cy="579437"/>
          </a:xfrm>
          <a:prstGeom prst="rect">
            <a:avLst/>
          </a:prstGeom>
          <a:noFill/>
          <a:ln w="9525">
            <a:noFill/>
          </a:ln>
        </p:spPr>
        <p:txBody>
          <a:bodyPr wrap="none">
            <a:spAutoFit/>
          </a:bodyPr>
          <a:lstStyle/>
          <a:p>
            <a:pPr eaLnBrk="1" hangingPunct="1">
              <a:buFont typeface="Arial" panose="020B0604020202020204" pitchFamily="34" charset="0"/>
            </a:pPr>
            <a:r>
              <a:rPr lang="zh-CN" altLang="en-US" sz="3200"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1</a:t>
            </a:r>
            <a:r>
              <a:rPr lang="zh-CN" altLang="en-US" sz="3200" dirty="0">
                <a:latin typeface="黑体" panose="02010609060101010101" pitchFamily="49" charset="-122"/>
                <a:ea typeface="黑体" panose="02010609060101010101" pitchFamily="49" charset="-122"/>
              </a:rPr>
              <a:t>）共享聚集：</a:t>
            </a:r>
            <a:endParaRPr lang="zh-CN" altLang="en-US" sz="3200" dirty="0">
              <a:latin typeface="黑体" panose="02010609060101010101" pitchFamily="49" charset="-122"/>
              <a:ea typeface="黑体" panose="02010609060101010101" pitchFamily="49" charset="-122"/>
            </a:endParaRPr>
          </a:p>
        </p:txBody>
      </p:sp>
      <p:sp>
        <p:nvSpPr>
          <p:cNvPr id="68612" name="Text Box 5"/>
          <p:cNvSpPr txBox="1"/>
          <p:nvPr/>
        </p:nvSpPr>
        <p:spPr>
          <a:xfrm>
            <a:off x="468313" y="2419350"/>
            <a:ext cx="3435350" cy="2041525"/>
          </a:xfrm>
          <a:prstGeom prst="rect">
            <a:avLst/>
          </a:prstGeom>
          <a:noFill/>
          <a:ln w="9525">
            <a:noFill/>
          </a:ln>
        </p:spPr>
        <p:txBody>
          <a:bodyPr wrap="none">
            <a:spAutoFit/>
          </a:bodyPr>
          <a:lstStyle/>
          <a:p>
            <a:pPr eaLnBrk="1" hangingPunct="1">
              <a:buFont typeface="Arial" panose="020B0604020202020204" pitchFamily="34" charset="0"/>
            </a:pPr>
            <a:r>
              <a:rPr lang="zh-CN" altLang="en-US" sz="3200" dirty="0">
                <a:latin typeface="黑体" panose="02010609060101010101" pitchFamily="49" charset="-122"/>
                <a:ea typeface="黑体" panose="02010609060101010101" pitchFamily="49" charset="-122"/>
              </a:rPr>
              <a:t>（</a:t>
            </a:r>
            <a:r>
              <a:rPr lang="en-US" altLang="zh-CN" sz="3200" dirty="0">
                <a:latin typeface="黑体" panose="02010609060101010101" pitchFamily="49" charset="-122"/>
                <a:ea typeface="黑体" panose="02010609060101010101" pitchFamily="49" charset="-122"/>
              </a:rPr>
              <a:t>2</a:t>
            </a:r>
            <a:r>
              <a:rPr lang="zh-CN" altLang="en-US" sz="3200" dirty="0">
                <a:latin typeface="黑体" panose="02010609060101010101" pitchFamily="49" charset="-122"/>
                <a:ea typeface="黑体" panose="02010609060101010101" pitchFamily="49" charset="-122"/>
              </a:rPr>
              <a:t>）组合聚集： </a:t>
            </a:r>
            <a:endParaRPr lang="zh-CN" altLang="en-US" sz="32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3200" dirty="0">
                <a:latin typeface="黑体" panose="02010609060101010101" pitchFamily="49" charset="-122"/>
                <a:ea typeface="黑体" panose="02010609060101010101" pitchFamily="49" charset="-122"/>
              </a:rPr>
              <a:t>（</a:t>
            </a:r>
            <a:r>
              <a:rPr lang="en-US" altLang="zh-CN" sz="3200" dirty="0">
                <a:latin typeface="黑体" panose="02010609060101010101" pitchFamily="49" charset="-122"/>
                <a:ea typeface="黑体" panose="02010609060101010101" pitchFamily="49" charset="-122"/>
              </a:rPr>
              <a:t>3</a:t>
            </a:r>
            <a:r>
              <a:rPr lang="zh-CN" altLang="en-US" sz="3200" dirty="0">
                <a:latin typeface="黑体" panose="02010609060101010101" pitchFamily="49" charset="-122"/>
                <a:ea typeface="黑体" panose="02010609060101010101" pitchFamily="49" charset="-122"/>
              </a:rPr>
              <a:t>）依赖关系： </a:t>
            </a:r>
            <a:endParaRPr lang="zh-CN" altLang="en-US" sz="32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3200" dirty="0">
                <a:latin typeface="黑体" panose="02010609060101010101" pitchFamily="49" charset="-122"/>
                <a:ea typeface="黑体" panose="02010609060101010101" pitchFamily="49" charset="-122"/>
              </a:rPr>
              <a:t>（</a:t>
            </a:r>
            <a:r>
              <a:rPr lang="en-US" altLang="zh-CN" sz="3200" dirty="0">
                <a:latin typeface="黑体" panose="02010609060101010101" pitchFamily="49" charset="-122"/>
                <a:ea typeface="黑体" panose="02010609060101010101" pitchFamily="49" charset="-122"/>
              </a:rPr>
              <a:t>4</a:t>
            </a:r>
            <a:r>
              <a:rPr lang="zh-CN" altLang="en-US" sz="3200" dirty="0">
                <a:latin typeface="黑体" panose="02010609060101010101" pitchFamily="49" charset="-122"/>
                <a:ea typeface="黑体" panose="02010609060101010101" pitchFamily="49" charset="-122"/>
              </a:rPr>
              <a:t>）继承： </a:t>
            </a:r>
            <a:endParaRPr lang="zh-CN" altLang="en-US" sz="3200" dirty="0">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zh-CN" altLang="en-US" sz="3200" dirty="0">
                <a:latin typeface="黑体" panose="02010609060101010101" pitchFamily="49" charset="-122"/>
                <a:ea typeface="黑体" panose="02010609060101010101" pitchFamily="49" charset="-122"/>
              </a:rPr>
              <a:t>（</a:t>
            </a:r>
            <a:r>
              <a:rPr lang="en-US" altLang="zh-CN" sz="3200" dirty="0">
                <a:latin typeface="黑体" panose="02010609060101010101" pitchFamily="49" charset="-122"/>
                <a:ea typeface="黑体" panose="02010609060101010101" pitchFamily="49" charset="-122"/>
              </a:rPr>
              <a:t>5</a:t>
            </a:r>
            <a:r>
              <a:rPr lang="zh-CN" altLang="en-US" sz="3200" dirty="0">
                <a:latin typeface="黑体" panose="02010609060101010101" pitchFamily="49" charset="-122"/>
                <a:ea typeface="黑体" panose="02010609060101010101" pitchFamily="49" charset="-122"/>
              </a:rPr>
              <a:t>）关联： </a:t>
            </a:r>
            <a:endParaRPr lang="zh-CN" altLang="en-US" sz="3200" dirty="0">
              <a:latin typeface="黑体" panose="02010609060101010101" pitchFamily="49" charset="-122"/>
              <a:ea typeface="黑体" panose="02010609060101010101"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4" name="组合 40"/>
          <p:cNvGrpSpPr/>
          <p:nvPr/>
        </p:nvGrpSpPr>
        <p:grpSpPr>
          <a:xfrm>
            <a:off x="4137025" y="2924175"/>
            <a:ext cx="436563" cy="433388"/>
            <a:chOff x="2558069" y="1808054"/>
            <a:chExt cx="288032" cy="612834"/>
          </a:xfrm>
        </p:grpSpPr>
        <p:sp>
          <p:nvSpPr>
            <p:cNvPr id="69652" name="等腰三角形 27"/>
            <p:cNvSpPr/>
            <p:nvPr/>
          </p:nvSpPr>
          <p:spPr>
            <a:xfrm>
              <a:off x="2558069" y="1808054"/>
              <a:ext cx="288032" cy="179365"/>
            </a:xfrm>
            <a:prstGeom prst="triangle">
              <a:avLst>
                <a:gd name="adj" fmla="val 50000"/>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endParaRPr lang="zh-CN" altLang="en-US" dirty="0">
                <a:latin typeface="Verdana" panose="020B0604030504040204" pitchFamily="34" charset="0"/>
              </a:endParaRPr>
            </a:p>
          </p:txBody>
        </p:sp>
        <p:cxnSp>
          <p:nvCxnSpPr>
            <p:cNvPr id="69653" name="直接连接符 39"/>
            <p:cNvCxnSpPr/>
            <p:nvPr/>
          </p:nvCxnSpPr>
          <p:spPr>
            <a:xfrm>
              <a:off x="2702085" y="1987419"/>
              <a:ext cx="0" cy="433469"/>
            </a:xfrm>
            <a:prstGeom prst="line">
              <a:avLst/>
            </a:prstGeom>
            <a:ln w="12700" cap="flat" cmpd="sng">
              <a:solidFill>
                <a:schemeClr val="tx1"/>
              </a:solidFill>
              <a:prstDash val="sysDash"/>
              <a:headEnd type="none" w="med" len="med"/>
              <a:tailEnd type="none" w="med" len="med"/>
            </a:ln>
          </p:spPr>
        </p:cxnSp>
      </p:grpSp>
      <p:grpSp>
        <p:nvGrpSpPr>
          <p:cNvPr id="69635" name="组合 7"/>
          <p:cNvGrpSpPr/>
          <p:nvPr/>
        </p:nvGrpSpPr>
        <p:grpSpPr>
          <a:xfrm>
            <a:off x="1187450" y="3717925"/>
            <a:ext cx="2752725" cy="2303463"/>
            <a:chOff x="1547663" y="3140849"/>
            <a:chExt cx="2753179" cy="2304375"/>
          </a:xfrm>
        </p:grpSpPr>
        <p:sp>
          <p:nvSpPr>
            <p:cNvPr id="69649" name="矩形 15"/>
            <p:cNvSpPr/>
            <p:nvPr/>
          </p:nvSpPr>
          <p:spPr>
            <a:xfrm>
              <a:off x="1547663" y="3140849"/>
              <a:ext cx="2753179" cy="2304375"/>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600" dirty="0">
                  <a:latin typeface="Verdana" panose="020B0604030504040204" pitchFamily="34" charset="0"/>
                </a:rPr>
                <a:t>            购进合同</a:t>
              </a:r>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首付款时间</a:t>
              </a:r>
              <a:r>
                <a:rPr lang="en-US" altLang="zh-CN" sz="1600" dirty="0">
                  <a:latin typeface="Verdana" panose="020B0604030504040204" pitchFamily="34" charset="0"/>
                </a:rPr>
                <a:t>:date</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首付款额</a:t>
              </a:r>
              <a:r>
                <a:rPr lang="en-US" altLang="zh-CN" sz="1600" dirty="0">
                  <a:latin typeface="Verdana" panose="020B0604030504040204" pitchFamily="34" charset="0"/>
                </a:rPr>
                <a:t>:double</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首到货时间</a:t>
              </a:r>
              <a:r>
                <a:rPr lang="en-US" altLang="zh-CN" sz="1600" dirty="0">
                  <a:latin typeface="Verdana" panose="020B0604030504040204" pitchFamily="34" charset="0"/>
                </a:rPr>
                <a:t>:date</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首到货量</a:t>
              </a:r>
              <a:r>
                <a:rPr lang="en-US" altLang="zh-CN" sz="1600" dirty="0">
                  <a:latin typeface="Verdana" panose="020B0604030504040204" pitchFamily="34" charset="0"/>
                </a:rPr>
                <a:t>:double</a:t>
              </a:r>
              <a:endParaRPr lang="en-US" altLang="zh-CN" sz="1600" dirty="0">
                <a:latin typeface="Verdana" panose="020B0604030504040204" pitchFamily="34" charset="0"/>
              </a:endParaRPr>
            </a:p>
            <a:p>
              <a:pPr eaLnBrk="1" hangingPunct="1"/>
              <a:r>
                <a:rPr lang="en-US" altLang="zh-CN" sz="1600" b="1" dirty="0">
                  <a:latin typeface="Verdana" panose="020B0604030504040204" pitchFamily="34" charset="0"/>
                </a:rPr>
                <a:t> …</a:t>
              </a:r>
              <a:endParaRPr lang="en-US" altLang="zh-CN" sz="1600" b="1"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zh-CN" altLang="en-US" sz="1600" dirty="0">
                <a:latin typeface="Verdana" panose="020B0604030504040204" pitchFamily="34" charset="0"/>
              </a:endParaRPr>
            </a:p>
          </p:txBody>
        </p:sp>
        <p:cxnSp>
          <p:nvCxnSpPr>
            <p:cNvPr id="69650" name="直接连接符 33"/>
            <p:cNvCxnSpPr/>
            <p:nvPr/>
          </p:nvCxnSpPr>
          <p:spPr>
            <a:xfrm>
              <a:off x="1547663" y="3501008"/>
              <a:ext cx="2733825" cy="0"/>
            </a:xfrm>
            <a:prstGeom prst="line">
              <a:avLst/>
            </a:prstGeom>
            <a:ln w="9525" cap="flat" cmpd="sng">
              <a:solidFill>
                <a:schemeClr val="tx1"/>
              </a:solidFill>
              <a:prstDash val="solid"/>
              <a:headEnd type="none" w="med" len="med"/>
              <a:tailEnd type="none" w="med" len="med"/>
            </a:ln>
          </p:spPr>
        </p:cxnSp>
        <p:cxnSp>
          <p:nvCxnSpPr>
            <p:cNvPr id="69651" name="直接连接符 35"/>
            <p:cNvCxnSpPr/>
            <p:nvPr/>
          </p:nvCxnSpPr>
          <p:spPr>
            <a:xfrm>
              <a:off x="1547663" y="5114028"/>
              <a:ext cx="2753179" cy="0"/>
            </a:xfrm>
            <a:prstGeom prst="line">
              <a:avLst/>
            </a:prstGeom>
            <a:ln w="9525" cap="flat" cmpd="sng">
              <a:solidFill>
                <a:schemeClr val="tx1"/>
              </a:solidFill>
              <a:prstDash val="solid"/>
              <a:headEnd type="none" w="med" len="med"/>
              <a:tailEnd type="none" w="med" len="med"/>
            </a:ln>
          </p:spPr>
        </p:cxnSp>
      </p:grpSp>
      <p:grpSp>
        <p:nvGrpSpPr>
          <p:cNvPr id="69636" name="组合 14"/>
          <p:cNvGrpSpPr/>
          <p:nvPr/>
        </p:nvGrpSpPr>
        <p:grpSpPr>
          <a:xfrm>
            <a:off x="3131840" y="55561"/>
            <a:ext cx="2813050" cy="2868613"/>
            <a:chOff x="2956605" y="28674"/>
            <a:chExt cx="2812477" cy="2869031"/>
          </a:xfrm>
        </p:grpSpPr>
        <p:sp>
          <p:nvSpPr>
            <p:cNvPr id="69647" name="矩形 1"/>
            <p:cNvSpPr/>
            <p:nvPr/>
          </p:nvSpPr>
          <p:spPr>
            <a:xfrm>
              <a:off x="2956605" y="28674"/>
              <a:ext cx="2797893" cy="2869031"/>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b="1" dirty="0">
                  <a:latin typeface="Verdana" panose="020B0604030504040204" pitchFamily="34" charset="0"/>
                </a:rPr>
                <a:t>           合同</a:t>
              </a:r>
              <a:endParaRPr lang="en-US" altLang="zh-CN" b="1" dirty="0">
                <a:latin typeface="Verdana" panose="020B0604030504040204" pitchFamily="34" charset="0"/>
              </a:endParaRPr>
            </a:p>
            <a:p>
              <a:pPr eaLnBrk="1" hangingPunct="1"/>
              <a:r>
                <a:rPr lang="en-US" altLang="zh-CN" dirty="0">
                  <a:latin typeface="Verdana" panose="020B0604030504040204" pitchFamily="34" charset="0"/>
                </a:rPr>
                <a:t>-</a:t>
              </a:r>
              <a:r>
                <a:rPr lang="zh-CN" altLang="en-US" dirty="0">
                  <a:latin typeface="Verdana" panose="020B0604030504040204" pitchFamily="34" charset="0"/>
                </a:rPr>
                <a:t>合同编号</a:t>
              </a:r>
              <a:r>
                <a:rPr lang="en-US" altLang="zh-CN" dirty="0">
                  <a:latin typeface="Verdana" panose="020B0604030504040204" pitchFamily="34" charset="0"/>
                </a:rPr>
                <a:t>:String</a:t>
              </a:r>
              <a:endParaRPr lang="en-US" altLang="zh-CN" dirty="0">
                <a:latin typeface="Verdana" panose="020B0604030504040204" pitchFamily="34" charset="0"/>
              </a:endParaRPr>
            </a:p>
            <a:p>
              <a:pPr eaLnBrk="1" hangingPunct="1"/>
              <a:r>
                <a:rPr lang="en-US" altLang="zh-CN" dirty="0">
                  <a:latin typeface="Verdana" panose="020B0604030504040204" pitchFamily="34" charset="0"/>
                </a:rPr>
                <a:t>-</a:t>
              </a:r>
              <a:r>
                <a:rPr lang="zh-CN" altLang="en-US" dirty="0">
                  <a:latin typeface="Verdana" panose="020B0604030504040204" pitchFamily="34" charset="0"/>
                </a:rPr>
                <a:t>甲方</a:t>
              </a:r>
              <a:r>
                <a:rPr lang="en-US" altLang="zh-CN" dirty="0">
                  <a:latin typeface="Verdana" panose="020B0604030504040204" pitchFamily="34" charset="0"/>
                </a:rPr>
                <a:t>:String</a:t>
              </a:r>
              <a:endParaRPr lang="en-US" altLang="zh-CN" dirty="0">
                <a:latin typeface="Verdana" panose="020B0604030504040204" pitchFamily="34" charset="0"/>
              </a:endParaRPr>
            </a:p>
            <a:p>
              <a:pPr eaLnBrk="1" hangingPunct="1"/>
              <a:r>
                <a:rPr lang="en-US" altLang="zh-CN" dirty="0">
                  <a:latin typeface="Verdana" panose="020B0604030504040204" pitchFamily="34" charset="0"/>
                </a:rPr>
                <a:t>-</a:t>
              </a:r>
              <a:r>
                <a:rPr lang="zh-CN" altLang="en-US" dirty="0">
                  <a:latin typeface="Verdana" panose="020B0604030504040204" pitchFamily="34" charset="0"/>
                </a:rPr>
                <a:t>乙方：</a:t>
              </a:r>
              <a:r>
                <a:rPr lang="en-US" altLang="zh-CN" dirty="0">
                  <a:latin typeface="Verdana" panose="020B0604030504040204" pitchFamily="34" charset="0"/>
                </a:rPr>
                <a:t>String</a:t>
              </a:r>
              <a:endParaRPr lang="en-US" altLang="zh-CN" dirty="0">
                <a:latin typeface="Verdana" panose="020B0604030504040204" pitchFamily="34" charset="0"/>
              </a:endParaRPr>
            </a:p>
            <a:p>
              <a:pPr eaLnBrk="1" hangingPunct="1"/>
              <a:r>
                <a:rPr lang="en-US" altLang="zh-CN" dirty="0">
                  <a:latin typeface="Verdana" panose="020B0604030504040204" pitchFamily="34" charset="0"/>
                </a:rPr>
                <a:t>-</a:t>
              </a:r>
              <a:r>
                <a:rPr lang="zh-CN" altLang="en-US" dirty="0">
                  <a:latin typeface="Verdana" panose="020B0604030504040204" pitchFamily="34" charset="0"/>
                </a:rPr>
                <a:t>商品名称：</a:t>
              </a:r>
              <a:r>
                <a:rPr lang="en-US" altLang="zh-CN" dirty="0">
                  <a:latin typeface="Verdana" panose="020B0604030504040204" pitchFamily="34" charset="0"/>
                </a:rPr>
                <a:t>String</a:t>
              </a:r>
              <a:endParaRPr lang="en-US" altLang="zh-CN" dirty="0">
                <a:latin typeface="Verdana" panose="020B0604030504040204" pitchFamily="34" charset="0"/>
              </a:endParaRPr>
            </a:p>
            <a:p>
              <a:pPr eaLnBrk="1" hangingPunct="1"/>
              <a:r>
                <a:rPr lang="en-US" altLang="zh-CN" dirty="0">
                  <a:latin typeface="Verdana" panose="020B0604030504040204" pitchFamily="34" charset="0"/>
                </a:rPr>
                <a:t>-</a:t>
              </a:r>
              <a:r>
                <a:rPr lang="zh-CN" altLang="en-US" dirty="0">
                  <a:latin typeface="Verdana" panose="020B0604030504040204" pitchFamily="34" charset="0"/>
                </a:rPr>
                <a:t>规格：</a:t>
              </a:r>
              <a:r>
                <a:rPr lang="en-US" altLang="zh-CN" dirty="0">
                  <a:latin typeface="Verdana" panose="020B0604030504040204" pitchFamily="34" charset="0"/>
                </a:rPr>
                <a:t>String</a:t>
              </a:r>
              <a:endParaRPr lang="en-US" altLang="zh-CN" dirty="0">
                <a:latin typeface="Verdana" panose="020B0604030504040204" pitchFamily="34" charset="0"/>
              </a:endParaRPr>
            </a:p>
            <a:p>
              <a:pPr eaLnBrk="1" hangingPunct="1"/>
              <a:r>
                <a:rPr lang="en-US" altLang="zh-CN" b="1" dirty="0">
                  <a:latin typeface="Verdana" panose="020B0604030504040204" pitchFamily="34" charset="0"/>
                </a:rPr>
                <a:t>…</a:t>
              </a:r>
              <a:endParaRPr lang="en-US" altLang="zh-CN" b="1" dirty="0">
                <a:latin typeface="Verdana" panose="020B0604030504040204" pitchFamily="34" charset="0"/>
              </a:endParaRPr>
            </a:p>
            <a:p>
              <a:pPr eaLnBrk="1" hangingPunct="1"/>
              <a:r>
                <a:rPr lang="en-US" altLang="zh-CN" dirty="0">
                  <a:latin typeface="Verdana" panose="020B0604030504040204" pitchFamily="34" charset="0"/>
                </a:rPr>
                <a:t>《</a:t>
              </a:r>
              <a:r>
                <a:rPr lang="zh-CN" altLang="en-US" dirty="0">
                  <a:latin typeface="Verdana" panose="020B0604030504040204" pitchFamily="34" charset="0"/>
                </a:rPr>
                <a:t>构造新对象</a:t>
              </a:r>
              <a:r>
                <a:rPr lang="en-US" altLang="zh-CN" dirty="0">
                  <a:latin typeface="Verdana" panose="020B0604030504040204" pitchFamily="34" charset="0"/>
                </a:rPr>
                <a:t>》</a:t>
              </a:r>
              <a:endParaRPr lang="en-US" altLang="zh-CN" dirty="0">
                <a:latin typeface="Verdana" panose="020B0604030504040204" pitchFamily="34" charset="0"/>
              </a:endParaRPr>
            </a:p>
            <a:p>
              <a:pPr eaLnBrk="1" hangingPunct="1"/>
              <a:r>
                <a:rPr lang="en-US" altLang="zh-CN" dirty="0">
                  <a:latin typeface="Verdana" panose="020B0604030504040204" pitchFamily="34" charset="0"/>
                </a:rPr>
                <a:t>  </a:t>
              </a:r>
              <a:r>
                <a:rPr lang="en-US" altLang="zh-CN" u="sng" dirty="0">
                  <a:latin typeface="Verdana" panose="020B0604030504040204" pitchFamily="34" charset="0"/>
                </a:rPr>
                <a:t> +</a:t>
              </a:r>
              <a:r>
                <a:rPr lang="zh-CN" altLang="en-US" u="sng" dirty="0">
                  <a:latin typeface="Verdana" panose="020B0604030504040204" pitchFamily="34" charset="0"/>
                </a:rPr>
                <a:t>合同（）：</a:t>
              </a:r>
              <a:endParaRPr lang="en-US" altLang="zh-CN" u="sng" dirty="0">
                <a:latin typeface="Verdana" panose="020B0604030504040204" pitchFamily="34" charset="0"/>
              </a:endParaRPr>
            </a:p>
            <a:p>
              <a:pPr eaLnBrk="1" hangingPunct="1"/>
              <a:r>
                <a:rPr lang="en-US" altLang="zh-CN" dirty="0">
                  <a:latin typeface="Verdana" panose="020B0604030504040204" pitchFamily="34" charset="0"/>
                </a:rPr>
                <a:t>    …</a:t>
              </a:r>
              <a:endParaRPr lang="zh-CN" altLang="en-US" b="1" dirty="0">
                <a:latin typeface="Verdana" panose="020B0604030504040204" pitchFamily="34" charset="0"/>
              </a:endParaRPr>
            </a:p>
          </p:txBody>
        </p:sp>
        <p:cxnSp>
          <p:nvCxnSpPr>
            <p:cNvPr id="69648" name="直接连接符 19"/>
            <p:cNvCxnSpPr/>
            <p:nvPr/>
          </p:nvCxnSpPr>
          <p:spPr>
            <a:xfrm>
              <a:off x="2956605" y="404664"/>
              <a:ext cx="2812477" cy="0"/>
            </a:xfrm>
            <a:prstGeom prst="line">
              <a:avLst/>
            </a:prstGeom>
            <a:ln w="6350" cap="flat" cmpd="sng">
              <a:solidFill>
                <a:schemeClr val="tx1"/>
              </a:solidFill>
              <a:prstDash val="solid"/>
              <a:headEnd type="none" w="med" len="med"/>
              <a:tailEnd type="none" w="med" len="med"/>
            </a:ln>
          </p:spPr>
        </p:cxnSp>
      </p:grpSp>
      <p:cxnSp>
        <p:nvCxnSpPr>
          <p:cNvPr id="69637" name="直接连接符 19"/>
          <p:cNvCxnSpPr/>
          <p:nvPr/>
        </p:nvCxnSpPr>
        <p:spPr>
          <a:xfrm>
            <a:off x="2955925" y="1989138"/>
            <a:ext cx="2751138" cy="0"/>
          </a:xfrm>
          <a:prstGeom prst="line">
            <a:avLst/>
          </a:prstGeom>
          <a:ln w="6350" cap="flat" cmpd="sng">
            <a:solidFill>
              <a:schemeClr val="tx1"/>
            </a:solidFill>
            <a:prstDash val="solid"/>
            <a:headEnd type="none" w="med" len="med"/>
            <a:tailEnd type="none" w="med" len="med"/>
          </a:ln>
        </p:spPr>
      </p:cxnSp>
      <p:grpSp>
        <p:nvGrpSpPr>
          <p:cNvPr id="69638" name="组合 30"/>
          <p:cNvGrpSpPr/>
          <p:nvPr/>
        </p:nvGrpSpPr>
        <p:grpSpPr>
          <a:xfrm>
            <a:off x="5148263" y="3717925"/>
            <a:ext cx="2752725" cy="2303463"/>
            <a:chOff x="1547663" y="3140849"/>
            <a:chExt cx="2753179" cy="2304375"/>
          </a:xfrm>
        </p:grpSpPr>
        <p:sp>
          <p:nvSpPr>
            <p:cNvPr id="69644" name="矩形 15"/>
            <p:cNvSpPr/>
            <p:nvPr/>
          </p:nvSpPr>
          <p:spPr>
            <a:xfrm>
              <a:off x="1547663" y="3140849"/>
              <a:ext cx="2753179" cy="2304375"/>
            </a:xfrm>
            <a:prstGeom prst="rect">
              <a:avLst/>
            </a:prstGeom>
            <a:solidFill>
              <a:schemeClr val="bg1"/>
            </a:solidFill>
            <a:ln w="9525" cap="flat" cmpd="sng">
              <a:solidFill>
                <a:schemeClr val="tx1"/>
              </a:solidFill>
              <a:prstDash val="solid"/>
              <a:round/>
              <a:headEnd type="none" w="med" len="med"/>
              <a:tailEnd type="none" w="med" len="med"/>
            </a:ln>
          </p:spPr>
          <p:txBody>
            <a:bodyPr wrap="none"/>
            <a:lstStyle/>
            <a:p>
              <a:pPr eaLnBrk="1" hangingPunct="1"/>
              <a:r>
                <a:rPr lang="zh-CN" altLang="en-US" sz="1600" dirty="0">
                  <a:latin typeface="Verdana" panose="020B0604030504040204" pitchFamily="34" charset="0"/>
                </a:rPr>
                <a:t>           销售合同</a:t>
              </a:r>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首到款时间</a:t>
              </a:r>
              <a:r>
                <a:rPr lang="en-US" altLang="zh-CN" sz="1600" dirty="0">
                  <a:latin typeface="Verdana" panose="020B0604030504040204" pitchFamily="34" charset="0"/>
                </a:rPr>
                <a:t>:date</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首到款额</a:t>
              </a:r>
              <a:r>
                <a:rPr lang="en-US" altLang="zh-CN" sz="1600" dirty="0">
                  <a:latin typeface="Verdana" panose="020B0604030504040204" pitchFamily="34" charset="0"/>
                </a:rPr>
                <a:t>:double</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首发货时间</a:t>
              </a:r>
              <a:r>
                <a:rPr lang="en-US" altLang="zh-CN" sz="1600" dirty="0">
                  <a:latin typeface="Verdana" panose="020B0604030504040204" pitchFamily="34" charset="0"/>
                </a:rPr>
                <a:t>:date</a:t>
              </a:r>
              <a:endParaRPr lang="en-US" altLang="zh-CN" sz="1600" dirty="0">
                <a:latin typeface="Verdana" panose="020B0604030504040204" pitchFamily="34" charset="0"/>
              </a:endParaRPr>
            </a:p>
            <a:p>
              <a:pPr eaLnBrk="1" hangingPunct="1"/>
              <a:r>
                <a:rPr lang="en-US" altLang="zh-CN" sz="1600" dirty="0">
                  <a:latin typeface="Verdana" panose="020B0604030504040204" pitchFamily="34" charset="0"/>
                </a:rPr>
                <a:t>-</a:t>
              </a:r>
              <a:r>
                <a:rPr lang="zh-CN" altLang="en-US" sz="1600" dirty="0">
                  <a:latin typeface="Verdana" panose="020B0604030504040204" pitchFamily="34" charset="0"/>
                </a:rPr>
                <a:t>首发货量</a:t>
              </a:r>
              <a:r>
                <a:rPr lang="en-US" altLang="zh-CN" sz="1600" dirty="0">
                  <a:latin typeface="Verdana" panose="020B0604030504040204" pitchFamily="34" charset="0"/>
                </a:rPr>
                <a:t>:double</a:t>
              </a:r>
              <a:endParaRPr lang="en-US" altLang="zh-CN" sz="1600" dirty="0">
                <a:latin typeface="Verdana" panose="020B0604030504040204" pitchFamily="34" charset="0"/>
              </a:endParaRPr>
            </a:p>
            <a:p>
              <a:pPr eaLnBrk="1" hangingPunct="1"/>
              <a:r>
                <a:rPr lang="en-US" altLang="zh-CN" sz="1600" b="1" dirty="0">
                  <a:latin typeface="Verdana" panose="020B0604030504040204" pitchFamily="34" charset="0"/>
                </a:rPr>
                <a:t> …</a:t>
              </a:r>
              <a:endParaRPr lang="en-US" altLang="zh-CN" sz="1600" b="1"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en-US" altLang="zh-CN" sz="1600" dirty="0">
                <a:latin typeface="Verdana" panose="020B0604030504040204" pitchFamily="34" charset="0"/>
              </a:endParaRPr>
            </a:p>
            <a:p>
              <a:pPr eaLnBrk="1" hangingPunct="1"/>
              <a:endParaRPr lang="zh-CN" altLang="en-US" sz="1600" dirty="0">
                <a:latin typeface="Verdana" panose="020B0604030504040204" pitchFamily="34" charset="0"/>
              </a:endParaRPr>
            </a:p>
          </p:txBody>
        </p:sp>
        <p:cxnSp>
          <p:nvCxnSpPr>
            <p:cNvPr id="69645" name="直接连接符 33"/>
            <p:cNvCxnSpPr/>
            <p:nvPr/>
          </p:nvCxnSpPr>
          <p:spPr>
            <a:xfrm>
              <a:off x="1547663" y="3501008"/>
              <a:ext cx="2733825" cy="0"/>
            </a:xfrm>
            <a:prstGeom prst="line">
              <a:avLst/>
            </a:prstGeom>
            <a:ln w="9525" cap="flat" cmpd="sng">
              <a:solidFill>
                <a:schemeClr val="tx1"/>
              </a:solidFill>
              <a:prstDash val="solid"/>
              <a:headEnd type="none" w="med" len="med"/>
              <a:tailEnd type="none" w="med" len="med"/>
            </a:ln>
          </p:spPr>
        </p:cxnSp>
        <p:cxnSp>
          <p:nvCxnSpPr>
            <p:cNvPr id="69646" name="直接连接符 35"/>
            <p:cNvCxnSpPr/>
            <p:nvPr/>
          </p:nvCxnSpPr>
          <p:spPr>
            <a:xfrm>
              <a:off x="1547663" y="5114028"/>
              <a:ext cx="2753179" cy="0"/>
            </a:xfrm>
            <a:prstGeom prst="line">
              <a:avLst/>
            </a:prstGeom>
            <a:ln w="9525" cap="flat" cmpd="sng">
              <a:solidFill>
                <a:schemeClr val="tx1"/>
              </a:solidFill>
              <a:prstDash val="solid"/>
              <a:headEnd type="none" w="med" len="med"/>
              <a:tailEnd type="none" w="med" len="med"/>
            </a:ln>
          </p:spPr>
        </p:cxnSp>
      </p:grpSp>
      <p:cxnSp>
        <p:nvCxnSpPr>
          <p:cNvPr id="69639" name="直接连接符 9"/>
          <p:cNvCxnSpPr/>
          <p:nvPr/>
        </p:nvCxnSpPr>
        <p:spPr>
          <a:xfrm>
            <a:off x="2335213" y="3357563"/>
            <a:ext cx="3829050" cy="0"/>
          </a:xfrm>
          <a:prstGeom prst="line">
            <a:avLst/>
          </a:prstGeom>
          <a:ln w="9525" cap="flat" cmpd="sng">
            <a:solidFill>
              <a:schemeClr val="tx1"/>
            </a:solidFill>
            <a:prstDash val="solid"/>
            <a:headEnd type="none" w="med" len="med"/>
            <a:tailEnd type="none" w="med" len="med"/>
          </a:ln>
        </p:spPr>
      </p:cxnSp>
      <p:cxnSp>
        <p:nvCxnSpPr>
          <p:cNvPr id="69640" name="直接连接符 11"/>
          <p:cNvCxnSpPr/>
          <p:nvPr/>
        </p:nvCxnSpPr>
        <p:spPr>
          <a:xfrm>
            <a:off x="2349500" y="3357563"/>
            <a:ext cx="0" cy="360362"/>
          </a:xfrm>
          <a:prstGeom prst="line">
            <a:avLst/>
          </a:prstGeom>
          <a:ln w="9525" cap="flat" cmpd="sng">
            <a:solidFill>
              <a:schemeClr val="tx1"/>
            </a:solidFill>
            <a:prstDash val="solid"/>
            <a:headEnd type="none" w="med" len="med"/>
            <a:tailEnd type="none" w="med" len="med"/>
          </a:ln>
        </p:spPr>
      </p:cxnSp>
      <p:cxnSp>
        <p:nvCxnSpPr>
          <p:cNvPr id="69641" name="直接连接符 38"/>
          <p:cNvCxnSpPr/>
          <p:nvPr/>
        </p:nvCxnSpPr>
        <p:spPr>
          <a:xfrm>
            <a:off x="6164263" y="3357563"/>
            <a:ext cx="0" cy="360362"/>
          </a:xfrm>
          <a:prstGeom prst="line">
            <a:avLst/>
          </a:prstGeom>
          <a:ln w="9525" cap="flat" cmpd="sng">
            <a:solidFill>
              <a:schemeClr val="tx1"/>
            </a:solidFill>
            <a:prstDash val="solid"/>
            <a:headEnd type="none" w="med" len="med"/>
            <a:tailEnd type="none" w="med" len="med"/>
          </a:ln>
        </p:spPr>
      </p:cxnSp>
      <p:sp>
        <p:nvSpPr>
          <p:cNvPr id="69642" name="圆角矩形 14"/>
          <p:cNvSpPr/>
          <p:nvPr/>
        </p:nvSpPr>
        <p:spPr>
          <a:xfrm>
            <a:off x="2349500" y="6145213"/>
            <a:ext cx="4659313" cy="4746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7030A0"/>
                </a:solidFill>
                <a:latin typeface="Verdana" panose="020B0604030504040204" pitchFamily="34" charset="0"/>
              </a:rPr>
              <a:t>合同管理子系统的对象类图</a:t>
            </a:r>
            <a:endParaRPr lang="zh-CN" altLang="en-US" sz="2400" b="1" dirty="0">
              <a:solidFill>
                <a:srgbClr val="7030A0"/>
              </a:solidFill>
              <a:latin typeface="Verdana" panose="020B0604030504040204" pitchFamily="34" charset="0"/>
            </a:endParaRPr>
          </a:p>
        </p:txBody>
      </p:sp>
      <p:sp>
        <p:nvSpPr>
          <p:cNvPr id="69643" name="Text Box 3"/>
          <p:cNvSpPr txBox="1"/>
          <p:nvPr/>
        </p:nvSpPr>
        <p:spPr>
          <a:xfrm>
            <a:off x="58752" y="36431"/>
            <a:ext cx="2878138" cy="523875"/>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．建立对象类图</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3"/>
          <p:cNvSpPr txBox="1"/>
          <p:nvPr/>
        </p:nvSpPr>
        <p:spPr>
          <a:xfrm>
            <a:off x="-41275" y="69850"/>
            <a:ext cx="4673600" cy="523875"/>
          </a:xfrm>
          <a:prstGeom prst="rect">
            <a:avLst/>
          </a:prstGeom>
          <a:noFill/>
          <a:ln w="9525">
            <a:noFill/>
          </a:ln>
        </p:spPr>
        <p:txBody>
          <a:bodyPr wrap="none">
            <a:spAutoFit/>
          </a:bodyPr>
          <a:lstStyle/>
          <a:p>
            <a:pPr eaLnBrk="1" hangingPunct="1">
              <a:buFont typeface="Arial" panose="020B0604020202020204" pitchFamily="34" charset="0"/>
            </a:pPr>
            <a:r>
              <a:rPr lang="en-US" altLang="zh-CN" sz="2800" dirty="0">
                <a:solidFill>
                  <a:srgbClr val="FF0000"/>
                </a:solidFill>
                <a:latin typeface="黑体" panose="02010609060101010101" pitchFamily="49" charset="-122"/>
                <a:ea typeface="黑体" panose="02010609060101010101" pitchFamily="49" charset="-122"/>
              </a:rPr>
              <a:t>5.8.4  </a:t>
            </a:r>
            <a:r>
              <a:rPr lang="zh-CN" altLang="en-US" sz="2800" dirty="0">
                <a:solidFill>
                  <a:srgbClr val="FF0000"/>
                </a:solidFill>
                <a:latin typeface="黑体" panose="02010609060101010101" pitchFamily="49" charset="-122"/>
                <a:ea typeface="黑体" panose="02010609060101010101" pitchFamily="49" charset="-122"/>
              </a:rPr>
              <a:t>确定和建立系统包图</a:t>
            </a:r>
            <a:endParaRPr lang="zh-CN" altLang="en-US" sz="2800" dirty="0">
              <a:solidFill>
                <a:srgbClr val="FF0000"/>
              </a:solidFill>
              <a:latin typeface="黑体" panose="02010609060101010101" pitchFamily="49" charset="-122"/>
              <a:ea typeface="黑体" panose="02010609060101010101" pitchFamily="49" charset="-122"/>
            </a:endParaRPr>
          </a:p>
        </p:txBody>
      </p:sp>
      <p:pic>
        <p:nvPicPr>
          <p:cNvPr id="70659" name="Picture 4" descr="image056"/>
          <p:cNvPicPr>
            <a:picLocks noChangeAspect="1"/>
          </p:cNvPicPr>
          <p:nvPr/>
        </p:nvPicPr>
        <p:blipFill>
          <a:blip r:embed="rId1"/>
          <a:stretch>
            <a:fillRect/>
          </a:stretch>
        </p:blipFill>
        <p:spPr>
          <a:xfrm>
            <a:off x="1787525" y="639763"/>
            <a:ext cx="5688013" cy="2384425"/>
          </a:xfrm>
          <a:prstGeom prst="rect">
            <a:avLst/>
          </a:prstGeom>
          <a:noFill/>
          <a:ln w="9525" cap="flat" cmpd="sng">
            <a:solidFill>
              <a:srgbClr val="000000"/>
            </a:solidFill>
            <a:prstDash val="solid"/>
            <a:miter/>
            <a:headEnd type="none" w="med" len="med"/>
            <a:tailEnd type="none" w="med" len="med"/>
          </a:ln>
        </p:spPr>
      </p:pic>
      <p:pic>
        <p:nvPicPr>
          <p:cNvPr id="70660" name="Picture 5" descr="image058"/>
          <p:cNvPicPr>
            <a:picLocks noChangeAspect="1"/>
          </p:cNvPicPr>
          <p:nvPr/>
        </p:nvPicPr>
        <p:blipFill>
          <a:blip r:embed="rId2"/>
          <a:stretch>
            <a:fillRect/>
          </a:stretch>
        </p:blipFill>
        <p:spPr>
          <a:xfrm>
            <a:off x="1327150" y="3173413"/>
            <a:ext cx="6696075" cy="3460750"/>
          </a:xfrm>
          <a:prstGeom prst="rect">
            <a:avLst/>
          </a:prstGeom>
          <a:noFill/>
          <a:ln w="9525" cap="flat" cmpd="sng">
            <a:solidFill>
              <a:srgbClr val="000000"/>
            </a:solidFill>
            <a:prstDash val="solid"/>
            <a:miter/>
            <a:headEnd type="none" w="med" len="med"/>
            <a:tailEnd type="none" w="med" len="med"/>
          </a:ln>
        </p:spPr>
      </p:pic>
      <p:sp>
        <p:nvSpPr>
          <p:cNvPr id="70661" name="圆角矩形 14"/>
          <p:cNvSpPr/>
          <p:nvPr/>
        </p:nvSpPr>
        <p:spPr>
          <a:xfrm>
            <a:off x="4149725" y="1031875"/>
            <a:ext cx="895350" cy="3587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用户接口</a:t>
            </a:r>
            <a:endParaRPr lang="zh-CN" altLang="en-US" sz="1600" b="1" dirty="0">
              <a:latin typeface="Verdana" panose="020B0604030504040204" pitchFamily="34" charset="0"/>
            </a:endParaRPr>
          </a:p>
        </p:txBody>
      </p:sp>
      <p:sp>
        <p:nvSpPr>
          <p:cNvPr id="70662" name="圆角矩形 14"/>
          <p:cNvSpPr/>
          <p:nvPr/>
        </p:nvSpPr>
        <p:spPr>
          <a:xfrm>
            <a:off x="2190750" y="2144713"/>
            <a:ext cx="893763" cy="3603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出错处理</a:t>
            </a:r>
            <a:endParaRPr lang="zh-CN" altLang="en-US" sz="1600" b="1" dirty="0">
              <a:latin typeface="Verdana" panose="020B0604030504040204" pitchFamily="34" charset="0"/>
            </a:endParaRPr>
          </a:p>
        </p:txBody>
      </p:sp>
      <p:sp>
        <p:nvSpPr>
          <p:cNvPr id="70663" name="圆角矩形 14"/>
          <p:cNvSpPr/>
          <p:nvPr/>
        </p:nvSpPr>
        <p:spPr>
          <a:xfrm>
            <a:off x="4149725" y="2073275"/>
            <a:ext cx="895350" cy="4699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企业综合</a:t>
            </a:r>
            <a:endParaRPr lang="en-US" altLang="zh-CN" sz="1200" b="1" dirty="0">
              <a:latin typeface="Verdana" panose="020B0604030504040204" pitchFamily="34" charset="0"/>
            </a:endParaRPr>
          </a:p>
          <a:p>
            <a:pPr eaLnBrk="1" hangingPunct="1"/>
            <a:r>
              <a:rPr lang="zh-CN" altLang="en-US" sz="1200" b="1" dirty="0">
                <a:latin typeface="Verdana" panose="020B0604030504040204" pitchFamily="34" charset="0"/>
              </a:rPr>
              <a:t>信息管理系统</a:t>
            </a:r>
            <a:endParaRPr lang="zh-CN" altLang="en-US" sz="1200" b="1" dirty="0">
              <a:latin typeface="Verdana" panose="020B0604030504040204" pitchFamily="34" charset="0"/>
            </a:endParaRPr>
          </a:p>
        </p:txBody>
      </p:sp>
      <p:sp>
        <p:nvSpPr>
          <p:cNvPr id="70664" name="圆角矩形 14"/>
          <p:cNvSpPr/>
          <p:nvPr/>
        </p:nvSpPr>
        <p:spPr>
          <a:xfrm>
            <a:off x="6269038" y="2089150"/>
            <a:ext cx="893762" cy="360363"/>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数据库</a:t>
            </a:r>
            <a:endParaRPr lang="zh-CN" altLang="en-US" sz="1600" b="1" dirty="0">
              <a:latin typeface="Verdana" panose="020B0604030504040204" pitchFamily="34" charset="0"/>
            </a:endParaRPr>
          </a:p>
        </p:txBody>
      </p:sp>
      <p:sp>
        <p:nvSpPr>
          <p:cNvPr id="70665" name="圆角矩形 14"/>
          <p:cNvSpPr/>
          <p:nvPr/>
        </p:nvSpPr>
        <p:spPr>
          <a:xfrm>
            <a:off x="2222500" y="2714625"/>
            <a:ext cx="4905375" cy="47625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7030A0"/>
                </a:solidFill>
                <a:latin typeface="Verdana" panose="020B0604030504040204" pitchFamily="34" charset="0"/>
              </a:rPr>
              <a:t>与企业综合信息管理系统相关的包</a:t>
            </a:r>
            <a:endParaRPr lang="zh-CN" altLang="en-US" sz="2400" b="1" dirty="0">
              <a:solidFill>
                <a:srgbClr val="7030A0"/>
              </a:solidFill>
              <a:latin typeface="Verdana" panose="020B0604030504040204" pitchFamily="34" charset="0"/>
            </a:endParaRPr>
          </a:p>
        </p:txBody>
      </p:sp>
      <p:sp>
        <p:nvSpPr>
          <p:cNvPr id="70666" name="圆角矩形 14"/>
          <p:cNvSpPr/>
          <p:nvPr/>
        </p:nvSpPr>
        <p:spPr>
          <a:xfrm>
            <a:off x="1974850" y="3378200"/>
            <a:ext cx="1663700" cy="471488"/>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企业综合信息管理系统</a:t>
            </a:r>
            <a:endParaRPr lang="en-US" altLang="zh-CN" sz="1200" b="1" dirty="0">
              <a:latin typeface="Verdana" panose="020B0604030504040204" pitchFamily="34" charset="0"/>
            </a:endParaRPr>
          </a:p>
          <a:p>
            <a:pPr eaLnBrk="1" hangingPunct="1"/>
            <a:r>
              <a:rPr lang="en-US" altLang="zh-CN" sz="1200" b="1" dirty="0">
                <a:latin typeface="Verdana" panose="020B0604030504040204" pitchFamily="34" charset="0"/>
              </a:rPr>
              <a:t>   《subsystem》</a:t>
            </a:r>
            <a:endParaRPr lang="zh-CN" altLang="en-US" sz="1200" b="1" dirty="0">
              <a:latin typeface="Verdana" panose="020B0604030504040204" pitchFamily="34" charset="0"/>
            </a:endParaRPr>
          </a:p>
        </p:txBody>
      </p:sp>
      <p:sp>
        <p:nvSpPr>
          <p:cNvPr id="70667" name="圆角矩形 14"/>
          <p:cNvSpPr/>
          <p:nvPr/>
        </p:nvSpPr>
        <p:spPr>
          <a:xfrm>
            <a:off x="2406650" y="4284663"/>
            <a:ext cx="1520825" cy="4238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    财务管理系统</a:t>
            </a:r>
            <a:endParaRPr lang="en-US" altLang="zh-CN" sz="1200" b="1" dirty="0">
              <a:latin typeface="Verdana" panose="020B0604030504040204" pitchFamily="34" charset="0"/>
            </a:endParaRPr>
          </a:p>
          <a:p>
            <a:pPr eaLnBrk="1" hangingPunct="1"/>
            <a:r>
              <a:rPr lang="en-US" altLang="zh-CN" sz="1200" b="1" dirty="0">
                <a:latin typeface="Verdana" panose="020B0604030504040204" pitchFamily="34" charset="0"/>
              </a:rPr>
              <a:t> 《subsystem》</a:t>
            </a:r>
            <a:endParaRPr lang="zh-CN" altLang="en-US" sz="1200" b="1" dirty="0">
              <a:latin typeface="Verdana" panose="020B0604030504040204" pitchFamily="34" charset="0"/>
            </a:endParaRPr>
          </a:p>
        </p:txBody>
      </p:sp>
      <p:sp>
        <p:nvSpPr>
          <p:cNvPr id="70668" name="圆角矩形 14"/>
          <p:cNvSpPr/>
          <p:nvPr/>
        </p:nvSpPr>
        <p:spPr>
          <a:xfrm>
            <a:off x="2324100" y="5618163"/>
            <a:ext cx="1522413" cy="4238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    人力资源管理系统</a:t>
            </a:r>
            <a:endParaRPr lang="en-US" altLang="zh-CN" sz="1200" b="1" dirty="0">
              <a:latin typeface="Verdana" panose="020B0604030504040204" pitchFamily="34" charset="0"/>
            </a:endParaRPr>
          </a:p>
          <a:p>
            <a:pPr eaLnBrk="1" hangingPunct="1"/>
            <a:r>
              <a:rPr lang="en-US" altLang="zh-CN" sz="1200" b="1" dirty="0">
                <a:latin typeface="Verdana" panose="020B0604030504040204" pitchFamily="34" charset="0"/>
              </a:rPr>
              <a:t> 《subsystem》</a:t>
            </a:r>
            <a:endParaRPr lang="zh-CN" altLang="en-US" sz="1200" b="1" dirty="0">
              <a:latin typeface="Verdana" panose="020B0604030504040204" pitchFamily="34" charset="0"/>
            </a:endParaRPr>
          </a:p>
        </p:txBody>
      </p:sp>
      <p:sp>
        <p:nvSpPr>
          <p:cNvPr id="70669" name="圆角矩形 14"/>
          <p:cNvSpPr/>
          <p:nvPr/>
        </p:nvSpPr>
        <p:spPr>
          <a:xfrm>
            <a:off x="5508625" y="4237038"/>
            <a:ext cx="1520825" cy="4238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进销存源管理系统</a:t>
            </a:r>
            <a:endParaRPr lang="en-US" altLang="zh-CN" sz="1200" b="1" dirty="0">
              <a:latin typeface="Verdana" panose="020B0604030504040204" pitchFamily="34" charset="0"/>
            </a:endParaRPr>
          </a:p>
          <a:p>
            <a:pPr eaLnBrk="1" hangingPunct="1"/>
            <a:r>
              <a:rPr lang="en-US" altLang="zh-CN" sz="1200" b="1" dirty="0">
                <a:latin typeface="Verdana" panose="020B0604030504040204" pitchFamily="34" charset="0"/>
              </a:rPr>
              <a:t> 《subsystem》</a:t>
            </a:r>
            <a:endParaRPr lang="zh-CN" altLang="en-US" sz="1200" b="1" dirty="0">
              <a:latin typeface="Verdana" panose="020B0604030504040204" pitchFamily="34" charset="0"/>
            </a:endParaRPr>
          </a:p>
        </p:txBody>
      </p:sp>
      <p:sp>
        <p:nvSpPr>
          <p:cNvPr id="70670" name="圆角矩形 14"/>
          <p:cNvSpPr/>
          <p:nvPr/>
        </p:nvSpPr>
        <p:spPr>
          <a:xfrm>
            <a:off x="5524500" y="5548313"/>
            <a:ext cx="1520825" cy="4238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200" b="1" dirty="0">
                <a:latin typeface="Verdana" panose="020B0604030504040204" pitchFamily="34" charset="0"/>
              </a:rPr>
              <a:t>生产调度管理系统</a:t>
            </a:r>
            <a:endParaRPr lang="en-US" altLang="zh-CN" sz="1200" b="1" dirty="0">
              <a:latin typeface="Verdana" panose="020B0604030504040204" pitchFamily="34" charset="0"/>
            </a:endParaRPr>
          </a:p>
          <a:p>
            <a:pPr eaLnBrk="1" hangingPunct="1"/>
            <a:r>
              <a:rPr lang="en-US" altLang="zh-CN" sz="1200" b="1" dirty="0">
                <a:latin typeface="Verdana" panose="020B0604030504040204" pitchFamily="34" charset="0"/>
              </a:rPr>
              <a:t> 《subsystem》</a:t>
            </a:r>
            <a:endParaRPr lang="zh-CN" altLang="en-US" sz="1200" b="1" dirty="0">
              <a:latin typeface="Verdana" panose="020B0604030504040204" pitchFamily="34" charset="0"/>
            </a:endParaRPr>
          </a:p>
        </p:txBody>
      </p:sp>
      <p:sp>
        <p:nvSpPr>
          <p:cNvPr id="70671" name="圆角矩形 10"/>
          <p:cNvSpPr/>
          <p:nvPr/>
        </p:nvSpPr>
        <p:spPr>
          <a:xfrm>
            <a:off x="3995738" y="4176713"/>
            <a:ext cx="1357312" cy="1174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en-US" altLang="zh-CN" sz="1200" b="1" dirty="0">
                <a:latin typeface="Verdana" panose="020B0604030504040204" pitchFamily="34" charset="0"/>
              </a:rPr>
              <a:t>&lt;&lt;</a:t>
            </a:r>
            <a:r>
              <a:rPr lang="zh-CN" altLang="en-US" sz="1200" b="1" dirty="0">
                <a:latin typeface="Verdana" panose="020B0604030504040204" pitchFamily="34" charset="0"/>
              </a:rPr>
              <a:t>资金往来</a:t>
            </a:r>
            <a:r>
              <a:rPr lang="en-US" altLang="zh-CN" sz="1200" b="1" dirty="0">
                <a:latin typeface="Verdana" panose="020B0604030504040204" pitchFamily="34" charset="0"/>
              </a:rPr>
              <a:t>&gt;&gt;</a:t>
            </a:r>
            <a:endParaRPr lang="zh-CN" altLang="en-US" sz="1200" b="1" dirty="0">
              <a:latin typeface="Verdana" panose="020B0604030504040204" pitchFamily="34" charset="0"/>
            </a:endParaRPr>
          </a:p>
        </p:txBody>
      </p:sp>
      <p:sp>
        <p:nvSpPr>
          <p:cNvPr id="70672" name="圆角矩形 10"/>
          <p:cNvSpPr/>
          <p:nvPr/>
        </p:nvSpPr>
        <p:spPr>
          <a:xfrm>
            <a:off x="4141788" y="5334000"/>
            <a:ext cx="1001712" cy="17780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en-US" altLang="zh-CN" sz="1200" b="1" dirty="0">
                <a:latin typeface="Verdana" panose="020B0604030504040204" pitchFamily="34" charset="0"/>
              </a:rPr>
              <a:t>&lt;&lt;</a:t>
            </a:r>
            <a:r>
              <a:rPr lang="zh-CN" altLang="en-US" sz="1200" b="1" dirty="0">
                <a:latin typeface="Verdana" panose="020B0604030504040204" pitchFamily="34" charset="0"/>
              </a:rPr>
              <a:t>使用</a:t>
            </a:r>
            <a:r>
              <a:rPr lang="en-US" altLang="zh-CN" sz="1200" b="1" dirty="0">
                <a:latin typeface="Verdana" panose="020B0604030504040204" pitchFamily="34" charset="0"/>
              </a:rPr>
              <a:t>&gt;&gt;</a:t>
            </a:r>
            <a:endParaRPr lang="zh-CN" altLang="en-US" sz="1200" b="1" dirty="0">
              <a:latin typeface="Verdana" panose="020B0604030504040204" pitchFamily="34" charset="0"/>
            </a:endParaRPr>
          </a:p>
        </p:txBody>
      </p:sp>
      <p:sp>
        <p:nvSpPr>
          <p:cNvPr id="70673" name="圆角矩形 10"/>
          <p:cNvSpPr/>
          <p:nvPr/>
        </p:nvSpPr>
        <p:spPr>
          <a:xfrm>
            <a:off x="3167063" y="4845050"/>
            <a:ext cx="1357312" cy="1174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en-US" altLang="zh-CN" sz="1200" b="1" dirty="0">
                <a:latin typeface="Verdana" panose="020B0604030504040204" pitchFamily="34" charset="0"/>
              </a:rPr>
              <a:t>&lt;&lt;</a:t>
            </a:r>
            <a:r>
              <a:rPr lang="zh-CN" altLang="en-US" sz="1200" b="1" dirty="0">
                <a:latin typeface="Verdana" panose="020B0604030504040204" pitchFamily="34" charset="0"/>
              </a:rPr>
              <a:t>使用</a:t>
            </a:r>
            <a:r>
              <a:rPr lang="en-US" altLang="zh-CN" sz="1200" b="1" dirty="0">
                <a:latin typeface="Verdana" panose="020B0604030504040204" pitchFamily="34" charset="0"/>
              </a:rPr>
              <a:t>&gt;&gt;</a:t>
            </a:r>
            <a:endParaRPr lang="zh-CN" altLang="en-US" sz="1200" b="1" dirty="0">
              <a:latin typeface="Verdana" panose="020B0604030504040204" pitchFamily="34" charset="0"/>
            </a:endParaRPr>
          </a:p>
        </p:txBody>
      </p:sp>
      <p:sp>
        <p:nvSpPr>
          <p:cNvPr id="70674" name="圆角矩形 10"/>
          <p:cNvSpPr/>
          <p:nvPr/>
        </p:nvSpPr>
        <p:spPr>
          <a:xfrm>
            <a:off x="4821238" y="4973638"/>
            <a:ext cx="1357312" cy="1174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en-US" altLang="zh-CN" sz="1200" b="1" dirty="0">
                <a:latin typeface="Verdana" panose="020B0604030504040204" pitchFamily="34" charset="0"/>
              </a:rPr>
              <a:t>&lt;&lt;</a:t>
            </a:r>
            <a:r>
              <a:rPr lang="zh-CN" altLang="en-US" sz="1200" b="1" dirty="0">
                <a:latin typeface="Verdana" panose="020B0604030504040204" pitchFamily="34" charset="0"/>
              </a:rPr>
              <a:t>使用</a:t>
            </a:r>
            <a:r>
              <a:rPr lang="en-US" altLang="zh-CN" sz="1200" b="1" dirty="0">
                <a:latin typeface="Verdana" panose="020B0604030504040204" pitchFamily="34" charset="0"/>
              </a:rPr>
              <a:t>&gt;&gt;</a:t>
            </a:r>
            <a:endParaRPr lang="zh-CN" altLang="en-US" sz="1200" b="1" dirty="0">
              <a:latin typeface="Verdana" panose="020B0604030504040204" pitchFamily="34" charset="0"/>
            </a:endParaRPr>
          </a:p>
        </p:txBody>
      </p:sp>
      <p:sp>
        <p:nvSpPr>
          <p:cNvPr id="70675" name="圆角矩形 10"/>
          <p:cNvSpPr/>
          <p:nvPr/>
        </p:nvSpPr>
        <p:spPr>
          <a:xfrm>
            <a:off x="6269038" y="5045075"/>
            <a:ext cx="1033462" cy="68263"/>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en-US" altLang="zh-CN" sz="1200" b="1" dirty="0">
                <a:latin typeface="Verdana" panose="020B0604030504040204" pitchFamily="34" charset="0"/>
              </a:rPr>
              <a:t>&lt;&lt;</a:t>
            </a:r>
            <a:r>
              <a:rPr lang="zh-CN" altLang="en-US" sz="1200" b="1" dirty="0">
                <a:latin typeface="Verdana" panose="020B0604030504040204" pitchFamily="34" charset="0"/>
              </a:rPr>
              <a:t>使用</a:t>
            </a:r>
            <a:r>
              <a:rPr lang="en-US" altLang="zh-CN" sz="1200" b="1" dirty="0">
                <a:latin typeface="Verdana" panose="020B0604030504040204" pitchFamily="34" charset="0"/>
              </a:rPr>
              <a:t>&gt;&gt;</a:t>
            </a:r>
            <a:endParaRPr lang="zh-CN" altLang="en-US" sz="1200" b="1" dirty="0">
              <a:latin typeface="Verdana" panose="020B0604030504040204" pitchFamily="34" charset="0"/>
            </a:endParaRPr>
          </a:p>
        </p:txBody>
      </p:sp>
      <p:cxnSp>
        <p:nvCxnSpPr>
          <p:cNvPr id="70676" name="直接箭头连接符 2"/>
          <p:cNvCxnSpPr/>
          <p:nvPr/>
        </p:nvCxnSpPr>
        <p:spPr>
          <a:xfrm flipH="1">
            <a:off x="3995738" y="5765800"/>
            <a:ext cx="1512887" cy="0"/>
          </a:xfrm>
          <a:prstGeom prst="straightConnector1">
            <a:avLst/>
          </a:prstGeom>
          <a:ln w="19050" cap="flat" cmpd="sng">
            <a:solidFill>
              <a:schemeClr val="tx1"/>
            </a:solidFill>
            <a:prstDash val="sysDash"/>
            <a:headEnd type="none" w="med" len="med"/>
            <a:tailEnd type="triangle" w="med" len="med"/>
          </a:ln>
        </p:spPr>
      </p:cxnSp>
      <p:cxnSp>
        <p:nvCxnSpPr>
          <p:cNvPr id="70677" name="直接箭头连接符 23"/>
          <p:cNvCxnSpPr/>
          <p:nvPr/>
        </p:nvCxnSpPr>
        <p:spPr>
          <a:xfrm flipH="1">
            <a:off x="3638550" y="4757738"/>
            <a:ext cx="1870075" cy="754062"/>
          </a:xfrm>
          <a:prstGeom prst="straightConnector1">
            <a:avLst/>
          </a:prstGeom>
          <a:ln w="19050" cap="flat" cmpd="sng">
            <a:solidFill>
              <a:schemeClr val="tx1"/>
            </a:solidFill>
            <a:prstDash val="sysDash"/>
            <a:headEnd type="none" w="med" len="med"/>
            <a:tailEnd type="triangle" w="med" len="med"/>
          </a:ln>
        </p:spPr>
      </p:cxnSp>
      <p:cxnSp>
        <p:nvCxnSpPr>
          <p:cNvPr id="70678" name="直接箭头连接符 26"/>
          <p:cNvCxnSpPr/>
          <p:nvPr/>
        </p:nvCxnSpPr>
        <p:spPr>
          <a:xfrm>
            <a:off x="3132138" y="4760913"/>
            <a:ext cx="0" cy="727075"/>
          </a:xfrm>
          <a:prstGeom prst="straightConnector1">
            <a:avLst/>
          </a:prstGeom>
          <a:ln w="19050" cap="flat" cmpd="sng">
            <a:solidFill>
              <a:schemeClr val="tx1"/>
            </a:solidFill>
            <a:prstDash val="sysDash"/>
            <a:headEnd type="none" w="med" len="med"/>
            <a:tailEnd type="triangle" w="med" len="med"/>
          </a:ln>
        </p:spPr>
      </p:cxnSp>
      <p:sp>
        <p:nvSpPr>
          <p:cNvPr id="70679" name="圆角矩形 14"/>
          <p:cNvSpPr/>
          <p:nvPr/>
        </p:nvSpPr>
        <p:spPr>
          <a:xfrm>
            <a:off x="2295525" y="6237288"/>
            <a:ext cx="4905375" cy="4746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7030A0"/>
                </a:solidFill>
                <a:latin typeface="Verdana" panose="020B0604030504040204" pitchFamily="34" charset="0"/>
              </a:rPr>
              <a:t>企业综合信息管理系统包含的子系统</a:t>
            </a:r>
            <a:endParaRPr lang="zh-CN" altLang="en-US" sz="2400" b="1" dirty="0">
              <a:solidFill>
                <a:srgbClr val="7030A0"/>
              </a:solidFill>
              <a:latin typeface="Verdana" panose="020B060403050404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descr="image060"/>
          <p:cNvPicPr>
            <a:picLocks noChangeAspect="1"/>
          </p:cNvPicPr>
          <p:nvPr/>
        </p:nvPicPr>
        <p:blipFill>
          <a:blip r:embed="rId1"/>
          <a:stretch>
            <a:fillRect/>
          </a:stretch>
        </p:blipFill>
        <p:spPr>
          <a:xfrm>
            <a:off x="574675" y="234950"/>
            <a:ext cx="8569325" cy="6172200"/>
          </a:xfrm>
          <a:prstGeom prst="rect">
            <a:avLst/>
          </a:prstGeom>
          <a:noFill/>
          <a:ln w="9525" cap="flat" cmpd="sng">
            <a:solidFill>
              <a:srgbClr val="000000"/>
            </a:solidFill>
            <a:prstDash val="solid"/>
            <a:miter/>
            <a:headEnd type="none" w="med" len="med"/>
            <a:tailEnd type="none" w="med" len="med"/>
          </a:ln>
        </p:spPr>
      </p:pic>
      <p:sp>
        <p:nvSpPr>
          <p:cNvPr id="71683" name="圆角矩形 14"/>
          <p:cNvSpPr/>
          <p:nvPr/>
        </p:nvSpPr>
        <p:spPr>
          <a:xfrm>
            <a:off x="827088" y="404813"/>
            <a:ext cx="3457575" cy="5762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进销存管理：企业综合信息管理系统</a:t>
            </a:r>
            <a:endParaRPr lang="en-US" altLang="zh-CN" sz="1600" b="1" dirty="0">
              <a:latin typeface="Verdana" panose="020B0604030504040204" pitchFamily="34" charset="0"/>
            </a:endParaRPr>
          </a:p>
          <a:p>
            <a:pPr eaLnBrk="1" hangingPunct="1"/>
            <a:r>
              <a:rPr lang="en-US" altLang="zh-CN" sz="1600" b="1" dirty="0">
                <a:latin typeface="Verdana" panose="020B0604030504040204" pitchFamily="34" charset="0"/>
              </a:rPr>
              <a:t>         &lt;&lt;subsystem&gt;&gt;</a:t>
            </a:r>
            <a:endParaRPr lang="zh-CN" altLang="en-US" sz="1600" b="1" dirty="0">
              <a:latin typeface="Verdana" panose="020B0604030504040204" pitchFamily="34" charset="0"/>
            </a:endParaRPr>
          </a:p>
        </p:txBody>
      </p:sp>
      <p:sp>
        <p:nvSpPr>
          <p:cNvPr id="71684" name="圆角矩形 14"/>
          <p:cNvSpPr/>
          <p:nvPr/>
        </p:nvSpPr>
        <p:spPr>
          <a:xfrm>
            <a:off x="1042988" y="1412875"/>
            <a:ext cx="3024187" cy="287338"/>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合同管理系统</a:t>
            </a:r>
            <a:r>
              <a:rPr lang="en-US" altLang="zh-CN" sz="1600" b="1" dirty="0">
                <a:latin typeface="Verdana" panose="020B0604030504040204" pitchFamily="34" charset="0"/>
              </a:rPr>
              <a:t> &lt;&lt;subsystem</a:t>
            </a:r>
            <a:r>
              <a:rPr lang="en-US" altLang="zh-CN" sz="1400" b="1" dirty="0">
                <a:latin typeface="Verdana" panose="020B0604030504040204" pitchFamily="34" charset="0"/>
              </a:rPr>
              <a:t>&gt;&gt;</a:t>
            </a:r>
            <a:endParaRPr lang="zh-CN" altLang="en-US" sz="1600" b="1" dirty="0">
              <a:latin typeface="Verdana" panose="020B0604030504040204" pitchFamily="34" charset="0"/>
            </a:endParaRPr>
          </a:p>
        </p:txBody>
      </p:sp>
      <p:sp>
        <p:nvSpPr>
          <p:cNvPr id="71685" name="圆角矩形 14"/>
          <p:cNvSpPr/>
          <p:nvPr/>
        </p:nvSpPr>
        <p:spPr>
          <a:xfrm>
            <a:off x="5219700" y="1412875"/>
            <a:ext cx="3024188" cy="287338"/>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仓库管理系统</a:t>
            </a:r>
            <a:r>
              <a:rPr lang="en-US" altLang="zh-CN" sz="1600" b="1" dirty="0">
                <a:latin typeface="Verdana" panose="020B0604030504040204" pitchFamily="34" charset="0"/>
              </a:rPr>
              <a:t> &lt;&lt;subsystem</a:t>
            </a:r>
            <a:r>
              <a:rPr lang="en-US" altLang="zh-CN" sz="1400" b="1" dirty="0">
                <a:latin typeface="Verdana" panose="020B0604030504040204" pitchFamily="34" charset="0"/>
              </a:rPr>
              <a:t>&gt;&gt;</a:t>
            </a:r>
            <a:endParaRPr lang="zh-CN" altLang="en-US" sz="1600" b="1" dirty="0">
              <a:latin typeface="Verdana" panose="020B0604030504040204" pitchFamily="34" charset="0"/>
            </a:endParaRPr>
          </a:p>
        </p:txBody>
      </p:sp>
      <p:sp>
        <p:nvSpPr>
          <p:cNvPr id="71686" name="圆角矩形 14"/>
          <p:cNvSpPr/>
          <p:nvPr/>
        </p:nvSpPr>
        <p:spPr>
          <a:xfrm>
            <a:off x="2124075" y="6094413"/>
            <a:ext cx="5111750" cy="47625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2400" b="1" dirty="0">
                <a:solidFill>
                  <a:srgbClr val="7030A0"/>
                </a:solidFill>
                <a:latin typeface="Verdana" panose="020B0604030504040204" pitchFamily="34" charset="0"/>
              </a:rPr>
              <a:t>进销存管理子系统包所包含的类</a:t>
            </a:r>
            <a:endParaRPr lang="zh-CN" altLang="en-US" sz="2400" b="1" dirty="0">
              <a:solidFill>
                <a:srgbClr val="7030A0"/>
              </a:solidFill>
              <a:latin typeface="Verdana" panose="020B0604030504040204" pitchFamily="34" charset="0"/>
            </a:endParaRPr>
          </a:p>
        </p:txBody>
      </p:sp>
      <p:sp>
        <p:nvSpPr>
          <p:cNvPr id="71687" name="圆角矩形 14"/>
          <p:cNvSpPr/>
          <p:nvPr/>
        </p:nvSpPr>
        <p:spPr>
          <a:xfrm>
            <a:off x="2154238" y="1844675"/>
            <a:ext cx="1581150" cy="360363"/>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合同管理器</a:t>
            </a:r>
            <a:endParaRPr lang="zh-CN" altLang="en-US" sz="1600" b="1" dirty="0">
              <a:latin typeface="Verdana" panose="020B0604030504040204" pitchFamily="34" charset="0"/>
            </a:endParaRPr>
          </a:p>
        </p:txBody>
      </p:sp>
      <p:sp>
        <p:nvSpPr>
          <p:cNvPr id="71688" name="圆角矩形 14"/>
          <p:cNvSpPr/>
          <p:nvPr/>
        </p:nvSpPr>
        <p:spPr>
          <a:xfrm>
            <a:off x="2114550" y="2420938"/>
            <a:ext cx="1579563" cy="3603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采购合同容器</a:t>
            </a:r>
            <a:endParaRPr lang="zh-CN" altLang="en-US" sz="1600" b="1" dirty="0">
              <a:latin typeface="Verdana" panose="020B0604030504040204" pitchFamily="34" charset="0"/>
            </a:endParaRPr>
          </a:p>
        </p:txBody>
      </p:sp>
      <p:sp>
        <p:nvSpPr>
          <p:cNvPr id="71689" name="圆角矩形 14"/>
          <p:cNvSpPr/>
          <p:nvPr/>
        </p:nvSpPr>
        <p:spPr>
          <a:xfrm>
            <a:off x="2106613" y="2997200"/>
            <a:ext cx="1579562" cy="360363"/>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销售合同容器</a:t>
            </a:r>
            <a:endParaRPr lang="zh-CN" altLang="en-US" sz="1600" b="1" dirty="0">
              <a:latin typeface="Verdana" panose="020B0604030504040204" pitchFamily="34" charset="0"/>
            </a:endParaRPr>
          </a:p>
        </p:txBody>
      </p:sp>
      <p:sp>
        <p:nvSpPr>
          <p:cNvPr id="71690" name="圆角矩形 14"/>
          <p:cNvSpPr/>
          <p:nvPr/>
        </p:nvSpPr>
        <p:spPr>
          <a:xfrm>
            <a:off x="2084388" y="3578225"/>
            <a:ext cx="1579562" cy="3587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合同</a:t>
            </a:r>
            <a:endParaRPr lang="zh-CN" altLang="en-US" sz="1600" b="1" dirty="0">
              <a:latin typeface="Verdana" panose="020B0604030504040204" pitchFamily="34" charset="0"/>
            </a:endParaRPr>
          </a:p>
        </p:txBody>
      </p:sp>
      <p:sp>
        <p:nvSpPr>
          <p:cNvPr id="71691" name="圆角矩形 14"/>
          <p:cNvSpPr/>
          <p:nvPr/>
        </p:nvSpPr>
        <p:spPr>
          <a:xfrm>
            <a:off x="2189163" y="4114800"/>
            <a:ext cx="1579562" cy="360363"/>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销售合同</a:t>
            </a:r>
            <a:endParaRPr lang="zh-CN" altLang="en-US" sz="1600" b="1" dirty="0">
              <a:latin typeface="Verdana" panose="020B0604030504040204" pitchFamily="34" charset="0"/>
            </a:endParaRPr>
          </a:p>
        </p:txBody>
      </p:sp>
      <p:sp>
        <p:nvSpPr>
          <p:cNvPr id="71692" name="圆角矩形 14"/>
          <p:cNvSpPr/>
          <p:nvPr/>
        </p:nvSpPr>
        <p:spPr>
          <a:xfrm>
            <a:off x="2154238" y="4691063"/>
            <a:ext cx="1581150" cy="358775"/>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采购合同</a:t>
            </a:r>
            <a:endParaRPr lang="zh-CN" altLang="en-US" sz="1600" b="1" dirty="0">
              <a:latin typeface="Verdana" panose="020B0604030504040204" pitchFamily="34" charset="0"/>
            </a:endParaRPr>
          </a:p>
        </p:txBody>
      </p:sp>
      <p:sp>
        <p:nvSpPr>
          <p:cNvPr id="71693" name="圆角矩形 14"/>
          <p:cNvSpPr/>
          <p:nvPr/>
        </p:nvSpPr>
        <p:spPr>
          <a:xfrm>
            <a:off x="2190750" y="5267325"/>
            <a:ext cx="1581150" cy="360363"/>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合同统计</a:t>
            </a:r>
            <a:endParaRPr lang="zh-CN" altLang="en-US" sz="1600" b="1" dirty="0">
              <a:latin typeface="Verdana" panose="020B0604030504040204" pitchFamily="34" charset="0"/>
            </a:endParaRPr>
          </a:p>
        </p:txBody>
      </p:sp>
      <p:sp>
        <p:nvSpPr>
          <p:cNvPr id="71694" name="圆角矩形 14"/>
          <p:cNvSpPr/>
          <p:nvPr/>
        </p:nvSpPr>
        <p:spPr>
          <a:xfrm>
            <a:off x="6300788" y="1873250"/>
            <a:ext cx="1579562" cy="32385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出入库单管理器</a:t>
            </a:r>
            <a:endParaRPr lang="zh-CN" altLang="en-US" sz="1600" b="1" dirty="0">
              <a:latin typeface="Verdana" panose="020B0604030504040204" pitchFamily="34" charset="0"/>
            </a:endParaRPr>
          </a:p>
        </p:txBody>
      </p:sp>
      <p:sp>
        <p:nvSpPr>
          <p:cNvPr id="71695" name="圆角矩形 14"/>
          <p:cNvSpPr/>
          <p:nvPr/>
        </p:nvSpPr>
        <p:spPr>
          <a:xfrm>
            <a:off x="6227763" y="2457450"/>
            <a:ext cx="1581150" cy="32385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出库单容器</a:t>
            </a:r>
            <a:endParaRPr lang="zh-CN" altLang="en-US" sz="1600" b="1" dirty="0">
              <a:latin typeface="Verdana" panose="020B0604030504040204" pitchFamily="34" charset="0"/>
            </a:endParaRPr>
          </a:p>
        </p:txBody>
      </p:sp>
      <p:sp>
        <p:nvSpPr>
          <p:cNvPr id="71696" name="圆角矩形 15"/>
          <p:cNvSpPr/>
          <p:nvPr/>
        </p:nvSpPr>
        <p:spPr>
          <a:xfrm>
            <a:off x="6446838" y="3033713"/>
            <a:ext cx="1579562" cy="32385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入库单容器</a:t>
            </a:r>
            <a:endParaRPr lang="zh-CN" altLang="en-US" sz="1600" b="1" dirty="0">
              <a:latin typeface="Verdana" panose="020B0604030504040204" pitchFamily="34" charset="0"/>
            </a:endParaRPr>
          </a:p>
        </p:txBody>
      </p:sp>
      <p:sp>
        <p:nvSpPr>
          <p:cNvPr id="71697" name="圆角矩形 16"/>
          <p:cNvSpPr/>
          <p:nvPr/>
        </p:nvSpPr>
        <p:spPr>
          <a:xfrm>
            <a:off x="6446838" y="3563938"/>
            <a:ext cx="1579562" cy="32385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出库单</a:t>
            </a:r>
            <a:endParaRPr lang="zh-CN" altLang="en-US" sz="1600" b="1" dirty="0">
              <a:latin typeface="Verdana" panose="020B0604030504040204" pitchFamily="34" charset="0"/>
            </a:endParaRPr>
          </a:p>
        </p:txBody>
      </p:sp>
      <p:sp>
        <p:nvSpPr>
          <p:cNvPr id="71698" name="圆角矩形 17"/>
          <p:cNvSpPr/>
          <p:nvPr/>
        </p:nvSpPr>
        <p:spPr>
          <a:xfrm>
            <a:off x="6446838" y="4132263"/>
            <a:ext cx="1579562" cy="32385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入库单</a:t>
            </a:r>
            <a:endParaRPr lang="zh-CN" altLang="en-US" sz="1600" b="1" dirty="0">
              <a:latin typeface="Verdana" panose="020B0604030504040204" pitchFamily="34" charset="0"/>
            </a:endParaRPr>
          </a:p>
        </p:txBody>
      </p:sp>
      <p:sp>
        <p:nvSpPr>
          <p:cNvPr id="71699" name="圆角矩形 18"/>
          <p:cNvSpPr/>
          <p:nvPr/>
        </p:nvSpPr>
        <p:spPr>
          <a:xfrm>
            <a:off x="6446838" y="4683125"/>
            <a:ext cx="1579562" cy="323850"/>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库存管理器</a:t>
            </a:r>
            <a:endParaRPr lang="zh-CN" altLang="en-US" sz="1600" b="1" dirty="0">
              <a:latin typeface="Verdana" panose="020B0604030504040204" pitchFamily="34" charset="0"/>
            </a:endParaRPr>
          </a:p>
        </p:txBody>
      </p:sp>
      <p:sp>
        <p:nvSpPr>
          <p:cNvPr id="71700" name="圆角矩形 19"/>
          <p:cNvSpPr/>
          <p:nvPr/>
        </p:nvSpPr>
        <p:spPr>
          <a:xfrm>
            <a:off x="6446838" y="5307013"/>
            <a:ext cx="1579562" cy="322262"/>
          </a:xfrm>
          <a:prstGeom prst="roundRect">
            <a:avLst>
              <a:gd name="adj" fmla="val 16667"/>
            </a:avLst>
          </a:prstGeom>
          <a:solidFill>
            <a:schemeClr val="bg1"/>
          </a:solidFill>
          <a:ln w="12700" cap="flat" cmpd="sng">
            <a:solidFill>
              <a:schemeClr val="bg1"/>
            </a:solidFill>
            <a:prstDash val="solid"/>
            <a:headEnd type="none" w="med" len="med"/>
            <a:tailEnd type="none" w="med" len="med"/>
          </a:ln>
        </p:spPr>
        <p:txBody>
          <a:bodyPr wrap="none"/>
          <a:lstStyle/>
          <a:p>
            <a:pPr eaLnBrk="1" hangingPunct="1"/>
            <a:r>
              <a:rPr lang="zh-CN" altLang="en-US" sz="1600" b="1" dirty="0">
                <a:latin typeface="Verdana" panose="020B0604030504040204" pitchFamily="34" charset="0"/>
              </a:rPr>
              <a:t>库存单</a:t>
            </a:r>
            <a:endParaRPr lang="zh-CN" altLang="en-US" sz="1600" b="1" dirty="0">
              <a:latin typeface="Verdana" panose="020B060403050404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3"/>
          <p:cNvSpPr txBox="1"/>
          <p:nvPr/>
        </p:nvSpPr>
        <p:spPr>
          <a:xfrm>
            <a:off x="828040" y="1988820"/>
            <a:ext cx="8086725" cy="1076325"/>
          </a:xfrm>
          <a:prstGeom prst="rect">
            <a:avLst/>
          </a:prstGeom>
          <a:noFill/>
          <a:ln w="0">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lang="en-US" altLang="zh-CN" sz="3200" b="0" i="0">
                <a:latin typeface="黑体" panose="02010609060101010101" pitchFamily="49" charset="-122"/>
                <a:ea typeface="黑体" panose="02010609060101010101" pitchFamily="49" charset="-122"/>
              </a:rPr>
              <a:t>1.</a:t>
            </a:r>
            <a:r>
              <a:rPr lang="zh-CN" altLang="en-US" sz="3200" b="0" i="0">
                <a:latin typeface="黑体" panose="02010609060101010101" pitchFamily="49" charset="-122"/>
                <a:ea typeface="黑体" panose="02010609060101010101" pitchFamily="49" charset="-122"/>
              </a:rPr>
              <a:t>写出自己选择的软件项目开发的系统分析报告（单独一个</a:t>
            </a:r>
            <a:r>
              <a:rPr lang="en-US" altLang="zh-CN" sz="3200" b="0" i="0">
                <a:latin typeface="黑体" panose="02010609060101010101" pitchFamily="49" charset="-122"/>
                <a:ea typeface="黑体" panose="02010609060101010101" pitchFamily="49" charset="-122"/>
              </a:rPr>
              <a:t>WORD</a:t>
            </a:r>
            <a:r>
              <a:rPr lang="zh-CN" altLang="en-US" sz="3200" b="0" i="0">
                <a:latin typeface="黑体" panose="02010609060101010101" pitchFamily="49" charset="-122"/>
                <a:ea typeface="黑体" panose="02010609060101010101" pitchFamily="49" charset="-122"/>
              </a:rPr>
              <a:t>文档）</a:t>
            </a:r>
            <a:endParaRPr lang="ko-KR" altLang="en-US" sz="3200" b="0" i="0">
              <a:latin typeface="黑体" panose="02010609060101010101" pitchFamily="49" charset="-122"/>
              <a:ea typeface="黑体" panose="02010609060101010101" pitchFamily="49" charset="-122"/>
            </a:endParaRPr>
          </a:p>
        </p:txBody>
      </p:sp>
      <p:sp>
        <p:nvSpPr>
          <p:cNvPr id="73732" name="Text Box 3"/>
          <p:cNvSpPr txBox="1"/>
          <p:nvPr/>
        </p:nvSpPr>
        <p:spPr>
          <a:xfrm>
            <a:off x="828040" y="3212465"/>
            <a:ext cx="7691755" cy="1568450"/>
          </a:xfrm>
          <a:prstGeom prst="rect">
            <a:avLst/>
          </a:prstGeom>
          <a:noFill/>
          <a:ln w="0">
            <a:noFill/>
          </a:ln>
        </p:spPr>
        <p:txBody>
          <a:bodyPr vert="horz" wrap="square" lIns="91440" tIns="45720" rIns="91440" bIns="45720" numCol="1" anchor="t">
            <a:spAutoFit/>
          </a:bodyPr>
          <a:lstStyle/>
          <a:p>
            <a:pPr marL="0" indent="0" algn="l" defTabSz="914400" eaLnBrk="1" fontAlgn="base" latinLnBrk="0" hangingPunct="1">
              <a:lnSpc>
                <a:spcPct val="100000"/>
              </a:lnSpc>
              <a:spcBef>
                <a:spcPts val="0"/>
              </a:spcBef>
              <a:spcAft>
                <a:spcPts val="0"/>
              </a:spcAft>
              <a:buFontTx/>
              <a:buNone/>
            </a:pPr>
            <a:r>
              <a:rPr lang="en-US" altLang="zh-CN" sz="3200" b="0" i="0">
                <a:latin typeface="黑体" panose="02010609060101010101" pitchFamily="49" charset="-122"/>
                <a:ea typeface="黑体" panose="02010609060101010101" pitchFamily="49" charset="-122"/>
              </a:rPr>
              <a:t>2.</a:t>
            </a:r>
            <a:r>
              <a:rPr lang="zh-CN" altLang="en-US" sz="3200" b="0" i="0">
                <a:latin typeface="黑体" panose="02010609060101010101" pitchFamily="49" charset="-122"/>
                <a:ea typeface="黑体" panose="02010609060101010101" pitchFamily="49" charset="-122"/>
              </a:rPr>
              <a:t>写出自己选择的软件项目开发的对象类静态模型（在用例模型的基础上增加本部分内容，单独一个文档）</a:t>
            </a:r>
            <a:endParaRPr lang="ko-KR" altLang="en-US" sz="3200" b="0" i="0">
              <a:latin typeface="黑体" panose="02010609060101010101" pitchFamily="49" charset="-122"/>
              <a:ea typeface="黑体" panose="02010609060101010101" pitchFamily="49" charset="-122"/>
            </a:endParaRPr>
          </a:p>
        </p:txBody>
      </p:sp>
      <p:sp>
        <p:nvSpPr>
          <p:cNvPr id="73730" name="Text Box 3"/>
          <p:cNvSpPr txBox="1"/>
          <p:nvPr/>
        </p:nvSpPr>
        <p:spPr>
          <a:xfrm>
            <a:off x="612140" y="836295"/>
            <a:ext cx="3095625" cy="708025"/>
          </a:xfrm>
          <a:prstGeom prst="rect">
            <a:avLst/>
          </a:prstGeom>
          <a:noFill/>
          <a:ln w="9525">
            <a:noFill/>
          </a:ln>
        </p:spPr>
        <p:txBody>
          <a:bodyPr>
            <a:spAutoFit/>
          </a:bodyPr>
          <a:lstStyle/>
          <a:p>
            <a:pPr eaLnBrk="1" hangingPunct="1">
              <a:buFont typeface="Arial" panose="020B0604020202020204" pitchFamily="34" charset="0"/>
            </a:pPr>
            <a:r>
              <a:rPr lang="zh-CN" altLang="en-US" sz="4000" smtClean="0">
                <a:solidFill>
                  <a:srgbClr val="FF0000"/>
                </a:solidFill>
                <a:latin typeface="黑体" panose="02010609060101010101" pitchFamily="49" charset="-122"/>
                <a:ea typeface="黑体" panose="02010609060101010101" pitchFamily="49" charset="-122"/>
              </a:rPr>
              <a:t>作业</a:t>
            </a:r>
            <a:r>
              <a:rPr lang="en-US" altLang="zh-CN" sz="4000" dirty="0" smtClean="0">
                <a:solidFill>
                  <a:srgbClr val="FF0000"/>
                </a:solidFill>
                <a:latin typeface="黑体" panose="02010609060101010101" pitchFamily="49" charset="-122"/>
                <a:ea typeface="黑体" panose="02010609060101010101" pitchFamily="49" charset="-122"/>
              </a:rPr>
              <a:t>2</a:t>
            </a:r>
            <a:r>
              <a:rPr lang="zh-CN" altLang="en-US" sz="4000" dirty="0" smtClean="0">
                <a:solidFill>
                  <a:srgbClr val="FF0000"/>
                </a:solidFill>
                <a:latin typeface="黑体" panose="02010609060101010101" pitchFamily="49" charset="-122"/>
                <a:ea typeface="黑体" panose="02010609060101010101" pitchFamily="49" charset="-122"/>
              </a:rPr>
              <a:t>：</a:t>
            </a:r>
            <a:endParaRPr lang="zh-CN" altLang="en-US" sz="4000" dirty="0">
              <a:solidFill>
                <a:srgbClr val="FF0000"/>
              </a:solidFill>
              <a:latin typeface="黑体" panose="02010609060101010101" pitchFamily="49" charset="-122"/>
              <a:ea typeface="黑体" panose="02010609060101010101" pitchFamily="49" charset="-122"/>
            </a:endParaRPr>
          </a:p>
        </p:txBody>
      </p:sp>
      <p:sp>
        <p:nvSpPr>
          <p:cNvPr id="2" name="文本框 1"/>
          <p:cNvSpPr txBox="1"/>
          <p:nvPr/>
        </p:nvSpPr>
        <p:spPr>
          <a:xfrm>
            <a:off x="323850" y="4796790"/>
            <a:ext cx="8264525" cy="1241425"/>
          </a:xfrm>
          <a:prstGeom prst="rect">
            <a:avLst/>
          </a:prstGeom>
          <a:noFill/>
        </p:spPr>
        <p:txBody>
          <a:bodyPr wrap="square" rtlCol="0" anchor="t">
            <a:spAutoFit/>
          </a:bodyPr>
          <a:p>
            <a:pPr marL="1816100" indent="-1257300" algn="l" defTabSz="914400" eaLnBrk="1" fontAlgn="base" latinLnBrk="0" hangingPunct="1">
              <a:lnSpc>
                <a:spcPct val="110000"/>
              </a:lnSpc>
              <a:spcBef>
                <a:spcPts val="600"/>
              </a:spcBef>
              <a:spcAft>
                <a:spcPts val="0"/>
              </a:spcAft>
              <a:buFontTx/>
              <a:buNone/>
            </a:pPr>
            <a:r>
              <a:rPr lang="zh-CN" altLang="en-US" sz="3600" dirty="0">
                <a:solidFill>
                  <a:srgbClr val="0070C0"/>
                </a:solidFill>
                <a:latin typeface="Arial" panose="020B0604020202020204" pitchFamily="34" charset="0"/>
                <a:ea typeface="黑体" panose="02010609060101010101" pitchFamily="49" charset="-122"/>
                <a:sym typeface="+mn-ea"/>
              </a:rPr>
              <a:t>要求：</a:t>
            </a:r>
            <a:r>
              <a:rPr lang="zh-CN" altLang="en-US" sz="3200" dirty="0">
                <a:solidFill>
                  <a:srgbClr val="0070C0"/>
                </a:solidFill>
                <a:latin typeface="Arial" panose="020B0604020202020204" pitchFamily="34" charset="0"/>
                <a:ea typeface="黑体" panose="02010609060101010101" pitchFamily="49" charset="-122"/>
                <a:sym typeface="+mn-ea"/>
              </a:rPr>
              <a:t>在第</a:t>
            </a:r>
            <a:r>
              <a:rPr lang="en-US" altLang="zh-CN" sz="3200" dirty="0">
                <a:solidFill>
                  <a:srgbClr val="0070C0"/>
                </a:solidFill>
                <a:latin typeface="Arial" panose="020B0604020202020204" pitchFamily="34" charset="0"/>
                <a:ea typeface="黑体" panose="02010609060101010101" pitchFamily="49" charset="-122"/>
                <a:sym typeface="+mn-ea"/>
              </a:rPr>
              <a:t>5</a:t>
            </a:r>
            <a:r>
              <a:rPr lang="zh-CN" altLang="en-US" sz="3200" dirty="0">
                <a:solidFill>
                  <a:srgbClr val="0070C0"/>
                </a:solidFill>
                <a:latin typeface="Arial" panose="020B0604020202020204" pitchFamily="34" charset="0"/>
                <a:ea typeface="黑体" panose="02010609060101010101" pitchFamily="49" charset="-122"/>
                <a:sym typeface="+mn-ea"/>
              </a:rPr>
              <a:t>周周日晚上9点前提交（后面课堂上</a:t>
            </a:r>
            <a:r>
              <a:rPr lang="zh-CN" altLang="en-US" sz="3200">
                <a:solidFill>
                  <a:srgbClr val="0070C0"/>
                </a:solidFill>
                <a:latin typeface="Arial" panose="020B0604020202020204" pitchFamily="34" charset="0"/>
                <a:ea typeface="黑体" panose="02010609060101010101" pitchFamily="49" charset="-122"/>
                <a:sym typeface="+mn-ea"/>
              </a:rPr>
              <a:t>随机抽查在班上进行分享）</a:t>
            </a:r>
            <a:endParaRPr lang="zh-CN" altLang="en-US" sz="3200">
              <a:solidFill>
                <a:srgbClr val="0070C0"/>
              </a:solidFill>
              <a:latin typeface="Arial" panose="020B0604020202020204" pitchFamily="34" charset="0"/>
              <a:ea typeface="黑体" panose="02010609060101010101" pitchFamily="49"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commondata" val="eyJoZGlkIjoiZTMxYmY1NjA5NjhkNmFiOTUxMjU1MzlhYWVlMzA0YWYifQ=="/>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10637</Words>
  <Application>WPS 演示</Application>
  <PresentationFormat/>
  <Paragraphs>953</Paragraphs>
  <Slides>68</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68</vt:i4>
      </vt:variant>
    </vt:vector>
  </HeadingPairs>
  <TitlesOfParts>
    <vt:vector size="85" baseType="lpstr">
      <vt:lpstr>Arial</vt:lpstr>
      <vt:lpstr>宋体</vt:lpstr>
      <vt:lpstr>Wingdings</vt:lpstr>
      <vt:lpstr>Verdana</vt:lpstr>
      <vt:lpstr>Times New Roman</vt:lpstr>
      <vt:lpstr>微软雅黑</vt:lpstr>
      <vt:lpstr>Wingdings</vt:lpstr>
      <vt:lpstr>黑体</vt:lpstr>
      <vt:lpstr>楷体_GB2312</vt:lpstr>
      <vt:lpstr>新宋体</vt:lpstr>
      <vt:lpstr>微软雅黑 Light</vt:lpstr>
      <vt:lpstr>华文新魏</vt:lpstr>
      <vt:lpstr>Arial Unicode MS</vt:lpstr>
      <vt:lpstr>Wingdings</vt:lpstr>
      <vt:lpstr>楷体_GB2312</vt:lpstr>
      <vt:lpstr>仿宋</vt:lpstr>
      <vt:lpstr>Profile</vt:lpstr>
      <vt:lpstr>第五讲  系统分析与对象类建模 </vt:lpstr>
      <vt:lpstr>第五讲  系统分析与对象类建模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elite</Company>
  <LinksUpToDate>false</LinksUpToDate>
  <SharedDoc>false</SharedDoc>
  <HyperlinksChanged>false</HyperlinksChanged>
  <AppVersion>14.0000</AppVersion>
  <Pages>67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怡然</cp:lastModifiedBy>
  <cp:revision>8</cp:revision>
  <dcterms:created xsi:type="dcterms:W3CDTF">2024-03-26T01:56:00Z</dcterms:created>
  <dcterms:modified xsi:type="dcterms:W3CDTF">2025-03-18T06:14:25Z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A53D2F0875D847F7BC00EB917500CF94_13</vt:lpwstr>
  </property>
</Properties>
</file>