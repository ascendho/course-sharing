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  <p:sldMasterId id="2147483690" r:id="rId5"/>
  </p:sldMasterIdLst>
  <p:notesMasterIdLst>
    <p:notesMasterId r:id="rId7"/>
  </p:notesMasterIdLst>
  <p:sldIdLst>
    <p:sldId id="256" r:id="rId6"/>
    <p:sldId id="456" r:id="rId8"/>
    <p:sldId id="291" r:id="rId9"/>
    <p:sldId id="295" r:id="rId10"/>
    <p:sldId id="265" r:id="rId11"/>
    <p:sldId id="332" r:id="rId12"/>
    <p:sldId id="333" r:id="rId13"/>
    <p:sldId id="334" r:id="rId14"/>
    <p:sldId id="368" r:id="rId15"/>
    <p:sldId id="335" r:id="rId16"/>
    <p:sldId id="336" r:id="rId17"/>
    <p:sldId id="337" r:id="rId18"/>
    <p:sldId id="338" r:id="rId19"/>
    <p:sldId id="341" r:id="rId20"/>
    <p:sldId id="340" r:id="rId21"/>
    <p:sldId id="342" r:id="rId22"/>
    <p:sldId id="343" r:id="rId23"/>
    <p:sldId id="339" r:id="rId24"/>
    <p:sldId id="344" r:id="rId25"/>
    <p:sldId id="345" r:id="rId26"/>
    <p:sldId id="346" r:id="rId27"/>
    <p:sldId id="347" r:id="rId28"/>
    <p:sldId id="348" r:id="rId29"/>
    <p:sldId id="349" r:id="rId30"/>
    <p:sldId id="266" r:id="rId31"/>
    <p:sldId id="369" r:id="rId32"/>
    <p:sldId id="433" r:id="rId33"/>
    <p:sldId id="434" r:id="rId34"/>
    <p:sldId id="437" r:id="rId35"/>
    <p:sldId id="351" r:id="rId36"/>
    <p:sldId id="436" r:id="rId37"/>
    <p:sldId id="355" r:id="rId38"/>
    <p:sldId id="440" r:id="rId39"/>
    <p:sldId id="356" r:id="rId40"/>
    <p:sldId id="357" r:id="rId41"/>
    <p:sldId id="358" r:id="rId42"/>
    <p:sldId id="359" r:id="rId43"/>
    <p:sldId id="361" r:id="rId44"/>
    <p:sldId id="362" r:id="rId45"/>
    <p:sldId id="363" r:id="rId46"/>
    <p:sldId id="439" r:id="rId47"/>
    <p:sldId id="457" r:id="rId48"/>
    <p:sldId id="458" r:id="rId49"/>
    <p:sldId id="459" r:id="rId50"/>
    <p:sldId id="441" r:id="rId51"/>
    <p:sldId id="365" r:id="rId52"/>
    <p:sldId id="366" r:id="rId53"/>
    <p:sldId id="367" r:id="rId54"/>
    <p:sldId id="438" r:id="rId55"/>
    <p:sldId id="297" r:id="rId56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79B0"/>
    <a:srgbClr val="9B73B1"/>
    <a:srgbClr val="0243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28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5" d="100"/>
        <a:sy n="5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0" Type="http://schemas.openxmlformats.org/officeDocument/2006/relationships/tags" Target="tags/tag25.xml"/><Relationship Id="rId6" Type="http://schemas.openxmlformats.org/officeDocument/2006/relationships/slide" Target="slides/slide1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EF91E-AE7E-4BAF-BF0F-A8E6D9C66F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72A06-5543-4488-938F-F62FDA1BCB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更多模板请关注：https://haosc.tukuppt.com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更多模板请关注：https://haosc.tukuppt.com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918E3-0BDA-406C-9431-761F7ADB3B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918E3-0BDA-406C-9431-761F7ADB3B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918E3-0BDA-406C-9431-761F7ADB3B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918E3-0BDA-406C-9431-761F7ADB3B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61678-F871-4BA5-BC3E-7CD7D2CF1E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985" y="241557"/>
            <a:ext cx="10515600" cy="561632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503555" y="9944862"/>
            <a:ext cx="2316352" cy="534670"/>
          </a:xfrm>
          <a:prstGeom prst="rect">
            <a:avLst/>
          </a:prstGeom>
        </p:spPr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3424173" y="9944862"/>
            <a:ext cx="3222751" cy="53467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7251192" y="9944862"/>
            <a:ext cx="2316352" cy="534670"/>
          </a:xfrm>
          <a:prstGeom prst="rect">
            <a:avLst/>
          </a:prstGeom>
        </p:spPr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985" y="241557"/>
            <a:ext cx="10515600" cy="561632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503555" y="9944862"/>
            <a:ext cx="2316352" cy="534670"/>
          </a:xfrm>
          <a:prstGeom prst="rect">
            <a:avLst/>
          </a:prstGeom>
        </p:spPr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3424173" y="9944862"/>
            <a:ext cx="3222751" cy="53467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7251192" y="9944862"/>
            <a:ext cx="2316352" cy="534670"/>
          </a:xfrm>
          <a:prstGeom prst="rect">
            <a:avLst/>
          </a:prstGeom>
        </p:spPr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985" y="241557"/>
            <a:ext cx="10515600" cy="561632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503555" y="9944862"/>
            <a:ext cx="2316352" cy="534670"/>
          </a:xfrm>
          <a:prstGeom prst="rect">
            <a:avLst/>
          </a:prstGeom>
        </p:spPr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3424173" y="9944862"/>
            <a:ext cx="3222751" cy="53467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7251192" y="9944862"/>
            <a:ext cx="2316352" cy="534670"/>
          </a:xfrm>
          <a:prstGeom prst="rect">
            <a:avLst/>
          </a:prstGeom>
        </p:spPr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单击此处编辑母版标题样式</a:t>
            </a:r>
            <a:endParaRPr sz="2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400"/>
              <a:t>单击此处编辑母版副标题样式</a:t>
            </a:r>
            <a:endParaRPr lang="zh-CN" altLang="en-US" sz="2400"/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400"/>
              <a:t>单击此处编辑母版标题样式</a:t>
            </a:r>
            <a:endParaRPr lang="zh-CN" altLang="en-US" sz="4400"/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0" indent="0" algn="l" defTabSz="91440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1850" y="1710055"/>
            <a:ext cx="10516235" cy="285305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单击此处编辑母版标题样式</a:t>
            </a:r>
            <a:endParaRPr sz="2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1850" y="4589780"/>
            <a:ext cx="10516235" cy="150050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400"/>
              <a:t>单击此处编辑母版文本样式</a:t>
            </a:r>
            <a:endParaRPr lang="zh-CN" altLang="en-US" sz="2400"/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400"/>
              <a:t>单击此处编辑母版标题样式</a:t>
            </a:r>
            <a:endParaRPr lang="zh-CN" altLang="en-US" sz="4400"/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0" indent="0" defTabSz="508000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0" indent="0" algn="l" defTabSz="91440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6172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 algn="ctr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0" indent="0" algn="ctr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0" indent="0" algn="ctr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0" indent="0" algn="l" defTabSz="914400" eaLnBrk="1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400"/>
              <a:t>单击此处编辑母版标题样式</a:t>
            </a:r>
            <a:endParaRPr lang="zh-CN" altLang="en-US" sz="4400"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40105" y="1681480"/>
            <a:ext cx="5158105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400"/>
              <a:t>单击此处编辑母版文本样式</a:t>
            </a:r>
            <a:endParaRPr lang="zh-CN" altLang="en-US" sz="2400"/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840105" y="2505075"/>
            <a:ext cx="5158105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110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0" indent="0" algn="l" defTabSz="914400" eaLnBrk="1" latinLnBrk="0" hangingPunct="1">
              <a:lnSpc>
                <a:spcPts val="28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0" indent="0" algn="l" defTabSz="914400" eaLnBrk="1" latinLnBrk="0" hangingPunct="1">
              <a:lnSpc>
                <a:spcPts val="2800"/>
              </a:lnSpc>
              <a:spcBef>
                <a:spcPts val="70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6172200" y="1681480"/>
            <a:ext cx="5184140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400"/>
              <a:t>单击此处编辑母版文本样式</a:t>
            </a:r>
            <a:endParaRPr lang="zh-CN" altLang="en-US" sz="2400"/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6172200" y="2505075"/>
            <a:ext cx="5184140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单击此处编辑母版标题样式</a:t>
            </a:r>
            <a:endParaRPr lang="zh-CN" altLang="en-US" sz="2800"/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/>
              <a:t>单击此处编辑母版标题样式</a:t>
            </a:r>
            <a:endParaRPr lang="zh-CN" altLang="en-US" sz="3200"/>
          </a:p>
        </p:txBody>
      </p:sp>
      <p:sp>
        <p:nvSpPr>
          <p:cNvPr id="3" name="Rect 0"/>
          <p:cNvSpPr txBox="1">
            <a:spLocks noGrp="1"/>
          </p:cNvSpPr>
          <p:nvPr>
            <p:ph hasCustomPrompt="1"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	</a:t>
            </a:r>
            <a:r>
              <a:rPr lang="zh-CN" altLang="en-US" sz="3200"/>
              <a:t>单击此处编辑母版文本样式</a:t>
            </a:r>
            <a:endParaRPr lang="zh-CN" altLang="en-US" sz="3200"/>
          </a:p>
          <a:p>
            <a:pPr marL="0" indent="0" defTabSz="5080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第二级</a:t>
            </a:r>
            <a:endParaRPr lang="zh-CN" altLang="en-US" sz="2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第三级</a:t>
            </a:r>
            <a:endParaRPr lang="zh-CN" altLang="en-US" sz="2400"/>
          </a:p>
          <a:p>
            <a:pPr marL="0" indent="0" defTabSz="50800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第四级</a:t>
            </a:r>
            <a:endParaRPr lang="zh-CN" altLang="en-US" sz="2000"/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第五级</a:t>
            </a:r>
            <a:endParaRPr lang="zh-CN" altLang="en-US" sz="2000"/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单击此处编辑母版文本样式</a:t>
            </a:r>
            <a:endParaRPr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/>
              <a:t>单击此处编辑母版标题样式</a:t>
            </a:r>
            <a:endParaRPr lang="zh-CN" altLang="en-US" sz="3200"/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单击此处编辑母版文本样式</a:t>
            </a:r>
            <a:endParaRPr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400"/>
              <a:t>单击此处编辑母版标题样式</a:t>
            </a:r>
            <a:endParaRPr lang="zh-CN" altLang="en-US" sz="4400"/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8724900" y="365125"/>
            <a:ext cx="2629535" cy="5812790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400"/>
              <a:t>单击此处编辑母版标题样式</a:t>
            </a:r>
            <a:endParaRPr lang="zh-CN" altLang="en-US" sz="4400"/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365125"/>
            <a:ext cx="7734935" cy="58127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Title</a:t>
            </a:r>
            <a:endParaRPr sz="2400" b="1">
              <a:solidFill>
                <a:srgbClr val="7030A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hasCustomPrompt="1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6858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Text</a:t>
            </a:r>
            <a:endParaRPr sz="2400" b="1">
              <a:solidFill>
                <a:srgbClr val="7030A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11430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sz="4400"/>
              <a:t>Second level</a:t>
            </a:r>
            <a:endParaRPr lang="en-US" sz="4400"/>
          </a:p>
          <a:p>
            <a:pPr marL="16002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en-US" sz="2800"/>
              <a:t>Third level</a:t>
            </a:r>
            <a:endParaRPr lang="en-US" sz="2800"/>
          </a:p>
          <a:p>
            <a:pPr marL="20574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Fourth level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 defTabSz="508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Tx/>
              <a:buNone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Fifth level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503555" y="9944735"/>
            <a:ext cx="2317115" cy="53530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000"/>
              <a:t>3/4/2021</a:t>
            </a:r>
            <a:fld id="{B9320F77-B9A0-41C5-862A-B4B631284C64}" type="datetime1">
              <a:rPr/>
            </a:fld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3423920" y="9944735"/>
            <a:ext cx="3223260" cy="53530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7251065" y="9944735"/>
            <a:ext cx="2317115" cy="53530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000"/>
              <a:t>‹#›</a:t>
            </a:r>
            <a:fld id="{B9320F77-B9A0-41C5-862A-B4B631284C64}" type="slidenum">
              <a:rPr/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400"/>
              <a:t>单击此处编辑母版标题样式</a:t>
            </a:r>
            <a:endParaRPr lang="zh-CN" altLang="en-US" sz="4400"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defTabSz="508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Tx/>
              <a:buNone/>
            </a:pPr>
            <a:r>
              <a:rPr lang="zh-CN" altLang="en-US" sz="2800"/>
              <a:t>单击此处编辑母版文本样式</a:t>
            </a:r>
            <a:endParaRPr lang="zh-CN" altLang="en-US" sz="2800"/>
          </a:p>
          <a:p>
            <a:pPr marL="6858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zh-CN" altLang="en-US" sz="2400"/>
              <a:t>第二级</a:t>
            </a:r>
            <a:endParaRPr lang="zh-CN" altLang="en-US" sz="2400"/>
          </a:p>
          <a:p>
            <a:pPr marL="11430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zh-CN" altLang="en-US" sz="2000"/>
              <a:t>第三级</a:t>
            </a:r>
            <a:endParaRPr lang="zh-CN" altLang="en-US" sz="2000"/>
          </a:p>
          <a:p>
            <a:pPr marL="16002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第四级</a:t>
            </a:r>
            <a:endParaRPr lang="zh-CN" altLang="en-US" sz="1800"/>
          </a:p>
          <a:p>
            <a:pPr marL="2057400" indent="-228600" defTabSz="5080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Tx/>
              <a:buNone/>
            </a:pPr>
            <a:r>
              <a:rPr lang="zh-CN" altLang="en-US" sz="1800"/>
              <a:t>第五级</a:t>
            </a:r>
            <a:endParaRPr lang="zh-CN" altLang="en-US" sz="1800"/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zh-CN" altLang="en-US" sz="1200"/>
            </a:fld>
            <a:endParaRPr lang="zh-CN" altLang="en-US" sz="1200"/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zh-CN" altLang="en-US" sz="1200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 panose="020B0604020202020204"/>
        <a:buChar char="•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●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»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5.png"/><Relationship Id="rId3" Type="http://schemas.openxmlformats.org/officeDocument/2006/relationships/tags" Target="../tags/tag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9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image" Target="../media/image53.jpe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536825" y="3161030"/>
            <a:ext cx="7068820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zh-CN" altLang="en-US" sz="7200" b="1" dirty="0">
                <a:solidFill>
                  <a:srgbClr val="02438C"/>
                </a:solidFill>
                <a:latin typeface="+mn-ea"/>
                <a:ea typeface="+mn-ea"/>
              </a:rPr>
              <a:t>面向对象方法</a:t>
            </a:r>
            <a:endParaRPr lang="zh-CN" altLang="en-US" sz="7200" b="1" dirty="0">
              <a:solidFill>
                <a:srgbClr val="02438C"/>
              </a:solidFill>
              <a:latin typeface="+mn-ea"/>
              <a:ea typeface="+mn-ea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7032625" y="4255135"/>
            <a:ext cx="263652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defTabSz="508000" eaLnBrk="0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latin typeface="+mn-lt"/>
                <a:ea typeface="仿宋_GB2312" charset="0"/>
              </a:defRPr>
            </a:lvl2pPr>
            <a:lvl3pPr marL="1143000" indent="-228600" defTabSz="508000" eaLnBrk="0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400">
                <a:latin typeface="+mn-lt"/>
              </a:defRPr>
            </a:lvl3pPr>
            <a:lvl4pPr marL="1600200" indent="-228600" defTabSz="508000" eaLnBrk="0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latin typeface="+mn-lt"/>
              </a:defRPr>
            </a:lvl4pPr>
            <a:lvl5pPr marL="2057400" indent="-228600" defTabSz="508000" eaLnBrk="0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latin typeface="+mn-lt"/>
              </a:defRPr>
            </a:lvl5pPr>
            <a:lvl6pPr marL="2514600" indent="-228600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latin typeface="+mn-lt"/>
              </a:defRPr>
            </a:lvl6pPr>
            <a:lvl7pPr marL="2971800" indent="-228600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latin typeface="+mn-lt"/>
              </a:defRPr>
            </a:lvl7pPr>
            <a:lvl8pPr marL="3429000" indent="-228600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latin typeface="+mn-lt"/>
              </a:defRPr>
            </a:lvl8pPr>
            <a:lvl9pPr marL="3886200" indent="-228600" defTabSz="508000" eaLnBrk="0" fontAlgn="base" hangingPunct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  <a:defRPr lang="en-GB" altLang="en-US" sz="2000">
                <a:latin typeface="+mn-lt"/>
              </a:defRPr>
            </a:lvl9pPr>
          </a:lstStyle>
          <a:p>
            <a:pPr marL="0" indent="0" algn="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>
                <a:solidFill>
                  <a:srgbClr val="02438C"/>
                </a:solidFill>
                <a:latin typeface="Arial" panose="020B0604020202020204" pitchFamily="34" charset="0"/>
                <a:ea typeface="微软雅黑" panose="020B0503020204020204" charset="-122"/>
              </a:rPr>
              <a:t>  </a:t>
            </a:r>
            <a:r>
              <a:rPr lang="en-US" altLang="zh-CN" sz="2800" b="0" dirty="0" smtClean="0">
                <a:solidFill>
                  <a:srgbClr val="02438C"/>
                </a:solidFill>
                <a:latin typeface="Arial" panose="020B0604020202020204" pitchFamily="34" charset="0"/>
                <a:ea typeface="微软雅黑" panose="020B0503020204020204" charset="-122"/>
              </a:rPr>
              <a:t>2025</a:t>
            </a:r>
            <a:r>
              <a:rPr lang="zh-CN" altLang="en-US" sz="2800" b="0" dirty="0" smtClean="0">
                <a:solidFill>
                  <a:srgbClr val="02438C"/>
                </a:solidFill>
                <a:latin typeface="微软雅黑" panose="020B0503020204020204" charset="-122"/>
                <a:ea typeface="微软雅黑" panose="020B0503020204020204" charset="-122"/>
              </a:rPr>
              <a:t>春季</a:t>
            </a:r>
            <a:endParaRPr lang="zh-CN" altLang="en-US" sz="2800" b="0" dirty="0" smtClean="0">
              <a:solidFill>
                <a:srgbClr val="0243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01 42"/>
          <p:cNvSpPr txBox="1"/>
          <p:nvPr/>
        </p:nvSpPr>
        <p:spPr>
          <a:xfrm>
            <a:off x="3637280" y="5149215"/>
            <a:ext cx="1516380" cy="521970"/>
          </a:xfrm>
          <a:prstGeom prst="rect">
            <a:avLst/>
          </a:prstGeom>
          <a:solidFill>
            <a:srgbClr val="9B73B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主讲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01 43"/>
          <p:cNvSpPr txBox="1"/>
          <p:nvPr/>
        </p:nvSpPr>
        <p:spPr>
          <a:xfrm>
            <a:off x="5830570" y="5149215"/>
            <a:ext cx="1559560" cy="521970"/>
          </a:xfrm>
          <a:prstGeom prst="rect">
            <a:avLst/>
          </a:prstGeom>
          <a:solidFill>
            <a:srgbClr val="9B73B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杨先凤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1" grpId="0" bldLvl="0" animBg="1"/>
      <p:bldP spid="1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553970" y="1572895"/>
            <a:ext cx="3513455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/>
            <a:r>
              <a:rPr lang="zh-CN" altLang="en-US" sz="7200" b="1" dirty="0">
                <a:solidFill>
                  <a:srgbClr val="02438C"/>
                </a:solidFill>
                <a:latin typeface="+mn-ea"/>
                <a:ea typeface="+mn-ea"/>
              </a:rPr>
              <a:t>联系我</a:t>
            </a:r>
            <a:endParaRPr lang="zh-CN" altLang="en-US" sz="7200" b="1" dirty="0">
              <a:solidFill>
                <a:srgbClr val="02438C"/>
              </a:solidFill>
              <a:latin typeface="+mn-ea"/>
              <a:ea typeface="+mn-ea"/>
            </a:endParaRPr>
          </a:p>
        </p:txBody>
      </p:sp>
      <p:sp>
        <p:nvSpPr>
          <p:cNvPr id="11" name="01 42"/>
          <p:cNvSpPr txBox="1"/>
          <p:nvPr/>
        </p:nvSpPr>
        <p:spPr>
          <a:xfrm>
            <a:off x="5415280" y="2907030"/>
            <a:ext cx="2189480" cy="521970"/>
          </a:xfrm>
          <a:prstGeom prst="rect">
            <a:avLst/>
          </a:prstGeom>
          <a:solidFill>
            <a:srgbClr val="9B73B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班级飞书群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01 43"/>
          <p:cNvSpPr txBox="1"/>
          <p:nvPr/>
        </p:nvSpPr>
        <p:spPr>
          <a:xfrm>
            <a:off x="2931795" y="5090795"/>
            <a:ext cx="1770380" cy="521970"/>
          </a:xfrm>
          <a:prstGeom prst="rect">
            <a:avLst/>
          </a:prstGeom>
          <a:solidFill>
            <a:srgbClr val="9B73B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</a:t>
            </a:r>
            <a:r>
              <a:rPr lang="en-US" altLang="zh-CN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间</a:t>
            </a:r>
            <a:endParaRPr lang="zh-CN" altLang="en-US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01 43"/>
          <p:cNvSpPr txBox="1"/>
          <p:nvPr/>
        </p:nvSpPr>
        <p:spPr>
          <a:xfrm>
            <a:off x="5351780" y="5090795"/>
            <a:ext cx="2169160" cy="521970"/>
          </a:xfrm>
          <a:prstGeom prst="rect">
            <a:avLst/>
          </a:prstGeom>
          <a:solidFill>
            <a:srgbClr val="9B73B1"/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明理楼</a:t>
            </a:r>
            <a:r>
              <a:rPr lang="en-US" altLang="zh-CN" sz="2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B515</a:t>
            </a:r>
            <a:endParaRPr lang="en-US" altLang="zh-CN" sz="2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470" y="1990090"/>
            <a:ext cx="3115945" cy="27139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912495" y="2047240"/>
            <a:ext cx="2783205" cy="1823720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1" name="矩形 10"/>
          <p:cNvSpPr/>
          <p:nvPr/>
        </p:nvSpPr>
        <p:spPr>
          <a:xfrm>
            <a:off x="4608195" y="2047240"/>
            <a:ext cx="2783205" cy="182372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3" name="矩形 12"/>
          <p:cNvSpPr/>
          <p:nvPr/>
        </p:nvSpPr>
        <p:spPr>
          <a:xfrm>
            <a:off x="8443595" y="2047240"/>
            <a:ext cx="2783840" cy="1824355"/>
          </a:xfrm>
          <a:prstGeom prst="rect">
            <a:avLst/>
          </a:prstGeom>
          <a:blipFill rotWithShape="1">
            <a:blip r:embed="rId3" cstate="hqprint"/>
            <a:srcRect/>
            <a:stretch>
              <a:fillRect/>
            </a:stretch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3200"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7"/>
          <p:cNvSpPr txBox="1">
            <a:spLocks noChangeArrowheads="1"/>
          </p:cNvSpPr>
          <p:nvPr/>
        </p:nvSpPr>
        <p:spPr bwMode="auto">
          <a:xfrm>
            <a:off x="899795" y="4389120"/>
            <a:ext cx="2977515" cy="121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>
            <a:noAutofit/>
          </a:bodyPr>
          <a:lstStyle>
            <a:lvl1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32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1pPr>
            <a:lvl2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8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2pPr>
            <a:lvl3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4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3pPr>
            <a:lvl4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4pPr>
            <a:lvl5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5pPr>
            <a:lvl6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6pPr>
            <a:lvl7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7pPr>
            <a:lvl8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8pPr>
            <a:lvl9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9pPr>
          </a:lstStyle>
          <a:p>
            <a:pPr marL="0" indent="0" algn="l" defTabSz="91440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为什么学</a:t>
            </a:r>
            <a:r>
              <a:rPr sz="28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</a:rPr>
              <a:t>?</a:t>
            </a:r>
            <a:endParaRPr lang="ko-KR" altLang="en-US" sz="28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7"/>
          <p:cNvSpPr txBox="1"/>
          <p:nvPr/>
        </p:nvSpPr>
        <p:spPr bwMode="auto">
          <a:xfrm>
            <a:off x="4822825" y="4389120"/>
            <a:ext cx="2978150" cy="121539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>
            <a:lvl1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32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1pPr>
            <a:lvl2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8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2pPr>
            <a:lvl3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4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3pPr>
            <a:lvl4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4pPr>
            <a:lvl5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5pPr>
            <a:lvl6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6pPr>
            <a:lvl7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7pPr>
            <a:lvl8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8pPr>
            <a:lvl9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9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学什么?</a:t>
            </a:r>
            <a:endParaRPr lang="ko-KR" altLang="en-US" sz="28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框 7"/>
          <p:cNvSpPr txBox="1"/>
          <p:nvPr/>
        </p:nvSpPr>
        <p:spPr bwMode="auto">
          <a:xfrm>
            <a:off x="8208010" y="4389120"/>
            <a:ext cx="3651885" cy="121475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>
            <a:lvl1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32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1pPr>
            <a:lvl2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8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2pPr>
            <a:lvl3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4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3pPr>
            <a:lvl4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4pPr>
            <a:lvl5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5pPr>
            <a:lvl6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6pPr>
            <a:lvl7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7pPr>
            <a:lvl8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8pPr>
            <a:lvl9pPr marL="0" indent="0" defTabSz="508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chemeClr val="tx1"/>
                </a:solidFill>
                <a:latin typeface="Arial Narrow" panose="020B0606020202030204" charset="0"/>
                <a:ea typeface="微软雅黑" panose="020B0503020204020204" charset="-122"/>
              </a:defRPr>
            </a:lvl9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面向对象思想的产生</a:t>
            </a:r>
            <a:endParaRPr lang="ko-KR" altLang="en-US" sz="28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标题 16"/>
          <p:cNvSpPr txBox="1">
            <a:spLocks noGrp="1"/>
          </p:cNvSpPr>
          <p:nvPr>
            <p:ph type="title"/>
          </p:nvPr>
        </p:nvSpPr>
        <p:spPr>
          <a:xfrm>
            <a:off x="1124585" y="173990"/>
            <a:ext cx="10516870" cy="56261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 fontScale="97500"/>
          </a:bodyPr>
          <a:lstStyle/>
          <a:p>
            <a:pPr marL="0" indent="0" algn="l" defTabSz="9144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>
                <a:latin typeface="Arial Black" panose="020B0A04020102020204" charset="0"/>
                <a:ea typeface="微软雅黑" panose="020B0503020204020204" charset="-122"/>
                <a:cs typeface="+mj-cs"/>
              </a:rPr>
              <a:t>前言：</a:t>
            </a:r>
            <a:endParaRPr lang="ko-KR" altLang="en-US" sz="3200" b="1">
              <a:latin typeface="Arial Black" panose="020B0A04020102020204" charset="0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2" animBg="1"/>
      <p:bldP spid="15" grpId="5" animBg="1"/>
      <p:bldP spid="16" grpId="8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360170" y="1847850"/>
            <a:ext cx="2575560" cy="3839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60170" y="4454525"/>
            <a:ext cx="2575560" cy="829945"/>
            <a:chOff x="1360170" y="4454525"/>
            <a:chExt cx="2575560" cy="829945"/>
          </a:xfrm>
        </p:grpSpPr>
        <p:sp>
          <p:nvSpPr>
            <p:cNvPr id="10" name="矩形 9"/>
            <p:cNvSpPr/>
            <p:nvPr/>
          </p:nvSpPr>
          <p:spPr>
            <a:xfrm>
              <a:off x="1360170" y="4790440"/>
              <a:ext cx="2575560" cy="359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endParaRPr lang="zh-CN" altLang="en-US" sz="133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Box 30"/>
            <p:cNvSpPr txBox="1"/>
            <p:nvPr/>
          </p:nvSpPr>
          <p:spPr>
            <a:xfrm>
              <a:off x="1360170" y="4454525"/>
              <a:ext cx="2575560" cy="82994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sz="2400" dirty="0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rPr>
                <a:t>国家对软件</a:t>
              </a:r>
              <a:endParaRPr sz="24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endParaRPr>
            </a:p>
            <a:p>
              <a:pPr algn="ctr"/>
              <a:r>
                <a:rPr sz="2400" dirty="0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rPr>
                <a:t>人才的呼唤</a:t>
              </a:r>
              <a:endParaRPr lang="zh-CN" altLang="en-US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4419600" y="1847215"/>
            <a:ext cx="2575560" cy="3839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17695" y="1991360"/>
            <a:ext cx="2577465" cy="741680"/>
            <a:chOff x="4417695" y="1991360"/>
            <a:chExt cx="2577465" cy="741680"/>
          </a:xfrm>
        </p:grpSpPr>
        <p:sp>
          <p:nvSpPr>
            <p:cNvPr id="14" name="矩形 13"/>
            <p:cNvSpPr/>
            <p:nvPr/>
          </p:nvSpPr>
          <p:spPr>
            <a:xfrm>
              <a:off x="4419600" y="2373630"/>
              <a:ext cx="2575560" cy="359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endParaRPr lang="zh-CN" altLang="en-US" sz="133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TextBox 32"/>
            <p:cNvSpPr txBox="1"/>
            <p:nvPr/>
          </p:nvSpPr>
          <p:spPr>
            <a:xfrm>
              <a:off x="4417695" y="1991360"/>
              <a:ext cx="2575560" cy="50228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>
                <a:lnSpc>
                  <a:spcPts val="32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dirty="0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rPr>
                <a:t>产业背景</a:t>
              </a:r>
              <a:endParaRPr lang="zh-CN" altLang="en-US" sz="24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7637780" y="1847215"/>
            <a:ext cx="2575560" cy="3839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638415" y="4451350"/>
            <a:ext cx="2575560" cy="1198880"/>
            <a:chOff x="7638415" y="4451350"/>
            <a:chExt cx="2575560" cy="1198880"/>
          </a:xfrm>
        </p:grpSpPr>
        <p:sp>
          <p:nvSpPr>
            <p:cNvPr id="18" name="矩形 17"/>
            <p:cNvSpPr/>
            <p:nvPr/>
          </p:nvSpPr>
          <p:spPr>
            <a:xfrm>
              <a:off x="7638415" y="4834890"/>
              <a:ext cx="2575560" cy="359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endParaRPr lang="zh-CN" altLang="en-US" sz="133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TextBox 34"/>
            <p:cNvSpPr txBox="1"/>
            <p:nvPr/>
          </p:nvSpPr>
          <p:spPr>
            <a:xfrm>
              <a:off x="7638415" y="4451350"/>
              <a:ext cx="2575560" cy="119888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宋体" panose="02010600030101010101" pitchFamily="2" charset="-122"/>
                  <a:sym typeface="+mn-ea"/>
                </a:rPr>
                <a:t>系统的复杂性与软件的复杂性</a:t>
              </a:r>
              <a:r>
                <a:rPr lang="zh-CN" altLang="en-US" sz="24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（重点）</a:t>
              </a:r>
              <a:endPara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8" name="标题 27"/>
          <p:cNvSpPr>
            <a:spLocks noGrp="1"/>
          </p:cNvSpPr>
          <p:nvPr>
            <p:ph type="title"/>
          </p:nvPr>
        </p:nvSpPr>
        <p:spPr>
          <a:xfrm>
            <a:off x="899795" y="83820"/>
            <a:ext cx="10516870" cy="720090"/>
          </a:xfrm>
        </p:spPr>
        <p:txBody>
          <a:bodyPr vert="horz" wrap="square" lIns="91440" tIns="45720" rIns="91440" bIns="45720" numCol="1" anchor="ctr">
            <a:normAutofit fontScale="90000"/>
          </a:bodyPr>
          <a:lstStyle/>
          <a:p>
            <a:pPr marL="0" indent="0" algn="l" defTabSz="9144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445" b="1">
                <a:latin typeface="Arial Black" panose="020B0A04020102020204" charset="0"/>
                <a:ea typeface="微软雅黑" panose="020B0503020204020204" charset="-122"/>
                <a:cs typeface="+mj-cs"/>
              </a:rPr>
              <a:t>为什么学习《面向对象方法》</a:t>
            </a:r>
            <a:endParaRPr lang="ko-KR" altLang="en-US" sz="4445" b="1">
              <a:latin typeface="Arial Black" panose="020B0A04020102020204" charset="0"/>
              <a:ea typeface="微软雅黑" panose="020B0503020204020204" charset="-122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9535" y="1925320"/>
            <a:ext cx="2491105" cy="2333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65" y="2048510"/>
            <a:ext cx="2581275" cy="22104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846705"/>
            <a:ext cx="2488565" cy="2687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660" y="241300"/>
            <a:ext cx="10516235" cy="561975"/>
          </a:xfrm>
        </p:spPr>
        <p:txBody>
          <a:bodyPr vert="horz" wrap="square" lIns="91440" tIns="45720" rIns="91440" bIns="45720" numCol="1" anchor="ctr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 algn="l" defTabSz="9144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>
                <a:ln w="10160" cap="flat" cmpd="sng">
                  <a:solidFill>
                    <a:schemeClr val="accent5">
                      <a:alpha val="100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2980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1.国家对软件人才的呼唤</a:t>
            </a:r>
            <a:endParaRPr lang="ko-KR" altLang="en-US" sz="3200" b="1">
              <a:ln w="10160" cap="flat" cmpd="sng">
                <a:solidFill>
                  <a:schemeClr val="accent5">
                    <a:alpha val="100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38100" dist="22860" dir="5400000" algn="tl" rotWithShape="0">
                  <a:srgbClr val="000000">
                    <a:alpha val="29803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786245" y="1022985"/>
            <a:ext cx="128206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C:/Users/lenovo01/AppData/Roaming/JisuOffice/ETemp/118916_15514968/image9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0955" y="1138555"/>
            <a:ext cx="9010650" cy="506285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660" y="241300"/>
            <a:ext cx="10515600" cy="56134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产业背景</a:t>
            </a:r>
            <a:endParaRPr lang="zh-CN" altLang="en-US" sz="3200" dirty="0">
              <a:ln w="1016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786245" y="1022985"/>
            <a:ext cx="128206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335" y="854710"/>
            <a:ext cx="8235950" cy="589788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340735" y="2922905"/>
            <a:ext cx="2423160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2800" b="1" spc="16" dirty="0">
                <a:solidFill>
                  <a:srgbClr val="0070C0"/>
                </a:solidFill>
                <a:latin typeface="华文行楷" panose="02010800040101010101" charset="-122"/>
                <a:ea typeface="华文行楷" panose="02010800040101010101" charset="-122"/>
                <a:cs typeface="宋体" panose="02010600030101010101" pitchFamily="2" charset="-122"/>
                <a:sym typeface="+mn-ea"/>
              </a:rPr>
              <a:t>软件无处不在</a:t>
            </a:r>
            <a:endParaRPr lang="zh-CN" sz="2800" b="1" spc="16" dirty="0">
              <a:solidFill>
                <a:srgbClr val="0070C0"/>
              </a:solidFill>
              <a:latin typeface="华文行楷" panose="02010800040101010101" charset="-122"/>
              <a:ea typeface="华文行楷" panose="02010800040101010101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660" y="241300"/>
            <a:ext cx="10515600" cy="56134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系统的复杂性与软件的复杂性</a:t>
            </a:r>
            <a:endParaRPr lang="zh-CN" altLang="en-US" sz="3200" dirty="0">
              <a:ln w="1016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786245" y="1022985"/>
            <a:ext cx="128206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1321435"/>
            <a:ext cx="8820150" cy="4215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660" y="241300"/>
            <a:ext cx="10515600" cy="56134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3200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系统的复杂性与软件的复杂性</a:t>
            </a:r>
            <a:endParaRPr lang="zh-CN" altLang="en-US" sz="3200" dirty="0">
              <a:ln w="1016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786245" y="1022985"/>
            <a:ext cx="128206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9240" y="951865"/>
            <a:ext cx="4566920" cy="249428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55600" y="1425575"/>
            <a:ext cx="3512820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2800" b="1" spc="16" dirty="0">
                <a:solidFill>
                  <a:srgbClr val="0070C0"/>
                </a:solidFill>
                <a:latin typeface="华文行楷" panose="02010800040101010101" charset="-122"/>
                <a:ea typeface="华文行楷" panose="02010800040101010101" charset="-122"/>
                <a:cs typeface="宋体" panose="02010600030101010101" pitchFamily="2" charset="-122"/>
                <a:sym typeface="+mn-ea"/>
              </a:rPr>
              <a:t>复杂系统的结构</a:t>
            </a:r>
            <a:endParaRPr lang="zh-CN" sz="2800" b="1" spc="16" dirty="0">
              <a:solidFill>
                <a:srgbClr val="0070C0"/>
              </a:solidFill>
              <a:latin typeface="华文行楷" panose="02010800040101010101" charset="-122"/>
              <a:ea typeface="华文行楷" panose="02010800040101010101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611245"/>
            <a:ext cx="5017135" cy="2673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56985" y="3611245"/>
            <a:ext cx="5121275" cy="278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1689735" y="1814830"/>
            <a:ext cx="1931670" cy="3062605"/>
            <a:chOff x="1689735" y="1814830"/>
            <a:chExt cx="1931670" cy="3062605"/>
          </a:xfrm>
          <a:solidFill>
            <a:srgbClr val="489FB9"/>
          </a:solidFill>
        </p:grpSpPr>
        <p:grpSp>
          <p:nvGrpSpPr>
            <p:cNvPr id="2" name="组合 1"/>
            <p:cNvGrpSpPr/>
            <p:nvPr/>
          </p:nvGrpSpPr>
          <p:grpSpPr>
            <a:xfrm>
              <a:off x="1689735" y="1814830"/>
              <a:ext cx="1931670" cy="3062605"/>
              <a:chOff x="1689735" y="1814830"/>
              <a:chExt cx="1931670" cy="3062605"/>
            </a:xfrm>
            <a:grpFill/>
          </p:grpSpPr>
          <p:sp>
            <p:nvSpPr>
              <p:cNvPr id="3" name="矩形 2"/>
              <p:cNvSpPr/>
              <p:nvPr/>
            </p:nvSpPr>
            <p:spPr>
              <a:xfrm>
                <a:off x="1689735" y="2429510"/>
                <a:ext cx="1931670" cy="24479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3"/>
              <p:cNvSpPr/>
              <p:nvPr/>
            </p:nvSpPr>
            <p:spPr>
              <a:xfrm>
                <a:off x="2085975" y="1814830"/>
                <a:ext cx="1139825" cy="1182370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16"/>
              <p:cNvSpPr txBox="1"/>
              <p:nvPr/>
            </p:nvSpPr>
            <p:spPr>
              <a:xfrm>
                <a:off x="2214880" y="2171065"/>
                <a:ext cx="1052195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1.</a:t>
                </a:r>
                <a:endPara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6" name="文本框 51"/>
            <p:cNvSpPr txBox="1"/>
            <p:nvPr/>
          </p:nvSpPr>
          <p:spPr>
            <a:xfrm>
              <a:off x="1712595" y="3168015"/>
              <a:ext cx="1854200" cy="68389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问题域的复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杂性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895725" y="1797050"/>
            <a:ext cx="2073275" cy="3086735"/>
            <a:chOff x="3895725" y="1797050"/>
            <a:chExt cx="2073275" cy="3086735"/>
          </a:xfrm>
          <a:solidFill>
            <a:srgbClr val="489FB9"/>
          </a:solidFill>
        </p:grpSpPr>
        <p:grpSp>
          <p:nvGrpSpPr>
            <p:cNvPr id="6" name="组合 5"/>
            <p:cNvGrpSpPr/>
            <p:nvPr/>
          </p:nvGrpSpPr>
          <p:grpSpPr>
            <a:xfrm>
              <a:off x="3895725" y="1797050"/>
              <a:ext cx="1931035" cy="3086735"/>
              <a:chOff x="3895725" y="1797050"/>
              <a:chExt cx="1931035" cy="3086735"/>
            </a:xfrm>
            <a:grpFill/>
          </p:grpSpPr>
          <p:sp>
            <p:nvSpPr>
              <p:cNvPr id="7" name="矩形 6"/>
              <p:cNvSpPr/>
              <p:nvPr/>
            </p:nvSpPr>
            <p:spPr>
              <a:xfrm>
                <a:off x="3895725" y="2435225"/>
                <a:ext cx="1931035" cy="244856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4258310" y="1797050"/>
                <a:ext cx="1139825" cy="1183005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17"/>
              <p:cNvSpPr txBox="1"/>
              <p:nvPr/>
            </p:nvSpPr>
            <p:spPr>
              <a:xfrm>
                <a:off x="4483100" y="2113280"/>
                <a:ext cx="105219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2.</a:t>
                </a:r>
                <a:endPara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7" name="文本框 52"/>
            <p:cNvSpPr txBox="1"/>
            <p:nvPr/>
          </p:nvSpPr>
          <p:spPr>
            <a:xfrm>
              <a:off x="4048760" y="3173730"/>
              <a:ext cx="1920240" cy="68389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管理开发过程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的困难性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162040" y="1828165"/>
            <a:ext cx="1931670" cy="3075940"/>
            <a:chOff x="6162040" y="1828165"/>
            <a:chExt cx="1931670" cy="3075940"/>
          </a:xfrm>
          <a:solidFill>
            <a:srgbClr val="489FB9"/>
          </a:solidFill>
        </p:grpSpPr>
        <p:grpSp>
          <p:nvGrpSpPr>
            <p:cNvPr id="10" name="组合 9"/>
            <p:cNvGrpSpPr/>
            <p:nvPr/>
          </p:nvGrpSpPr>
          <p:grpSpPr>
            <a:xfrm>
              <a:off x="6162040" y="1828165"/>
              <a:ext cx="1931670" cy="3075940"/>
              <a:chOff x="6162040" y="1828165"/>
              <a:chExt cx="1931670" cy="3075940"/>
            </a:xfrm>
            <a:grpFill/>
          </p:grpSpPr>
          <p:sp>
            <p:nvSpPr>
              <p:cNvPr id="11" name="矩形 10"/>
              <p:cNvSpPr/>
              <p:nvPr/>
            </p:nvSpPr>
            <p:spPr>
              <a:xfrm>
                <a:off x="6162040" y="2455545"/>
                <a:ext cx="1931670" cy="244856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6558280" y="1828165"/>
                <a:ext cx="1139825" cy="1183005"/>
              </a:xfrm>
              <a:prstGeom prst="ellipse">
                <a:avLst/>
              </a:prstGeom>
              <a:solidFill>
                <a:schemeClr val="accent3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8"/>
              <p:cNvSpPr txBox="1"/>
              <p:nvPr/>
            </p:nvSpPr>
            <p:spPr>
              <a:xfrm>
                <a:off x="6695440" y="2163445"/>
                <a:ext cx="105219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3.</a:t>
                </a:r>
                <a:endParaRPr 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8" name="文本框 53"/>
            <p:cNvSpPr txBox="1"/>
            <p:nvPr/>
          </p:nvSpPr>
          <p:spPr>
            <a:xfrm>
              <a:off x="6172200" y="3173730"/>
              <a:ext cx="1911985" cy="68389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软件中随处可见的灵活性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407400" y="1850390"/>
            <a:ext cx="1948815" cy="3046730"/>
            <a:chOff x="8407400" y="1850390"/>
            <a:chExt cx="1948815" cy="3046730"/>
          </a:xfrm>
          <a:solidFill>
            <a:srgbClr val="489FB9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8407400" y="1850390"/>
              <a:ext cx="1932305" cy="3046730"/>
              <a:chOff x="8407400" y="1850390"/>
              <a:chExt cx="1932305" cy="3046730"/>
            </a:xfrm>
            <a:grpFill/>
          </p:grpSpPr>
          <p:sp>
            <p:nvSpPr>
              <p:cNvPr id="15" name="矩形 14"/>
              <p:cNvSpPr/>
              <p:nvPr/>
            </p:nvSpPr>
            <p:spPr>
              <a:xfrm>
                <a:off x="8407400" y="2448560"/>
                <a:ext cx="1932305" cy="244856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8838565" y="1850390"/>
                <a:ext cx="1139825" cy="1183005"/>
              </a:xfrm>
              <a:prstGeom prst="ellipse">
                <a:avLst/>
              </a:prstGeom>
              <a:solidFill>
                <a:schemeClr val="accent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9"/>
              <p:cNvSpPr txBox="1"/>
              <p:nvPr/>
            </p:nvSpPr>
            <p:spPr>
              <a:xfrm>
                <a:off x="9010015" y="2143125"/>
                <a:ext cx="105283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4.</a:t>
                </a:r>
                <a:endPara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9" name="文本框 54"/>
            <p:cNvSpPr txBox="1"/>
            <p:nvPr/>
          </p:nvSpPr>
          <p:spPr>
            <a:xfrm>
              <a:off x="8407400" y="3235960"/>
              <a:ext cx="1948815" cy="68389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如何描述系统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行为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4" name="标题 33"/>
          <p:cNvSpPr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</p:spPr>
        <p:txBody>
          <a:bodyPr/>
          <a:lstStyle/>
          <a:p>
            <a:r>
              <a:rPr lang="zh-CN" altLang="en-US" dirty="0"/>
              <a:t>为什么软件在本质上是复杂的？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660" y="241300"/>
            <a:ext cx="10515600" cy="56134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dirty="0">
                <a:sym typeface="+mn-ea"/>
              </a:rPr>
              <a:t>为什么软件在本质上是复杂的？</a:t>
            </a:r>
            <a:endParaRPr lang="zh-CN" altLang="en-US" sz="3200" dirty="0">
              <a:ln w="1016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5820" y="1210310"/>
            <a:ext cx="10708640" cy="416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680" y="4035425"/>
            <a:ext cx="7004050" cy="2822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" y="969010"/>
            <a:ext cx="7764780" cy="3239770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为什么软件在本质上是复杂的？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665" y="1202055"/>
            <a:ext cx="9373870" cy="4327525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为什么软件在本质上是复杂的？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85" y="1106805"/>
            <a:ext cx="7340600" cy="331914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5" y="4528185"/>
            <a:ext cx="7662545" cy="221615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</p:pic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为什么软件在本质上是复杂的？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15" y="1097915"/>
            <a:ext cx="11040110" cy="4895850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为什么软件在本质上是复杂的？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405" y="1440180"/>
            <a:ext cx="9903460" cy="4763770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为什么软件在本质上是复杂的？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243965"/>
            <a:ext cx="9655175" cy="3874135"/>
          </a:xfrm>
          <a:prstGeom prst="rect">
            <a:avLst/>
          </a:prstGeom>
        </p:spPr>
      </p:pic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为什么软件在本质上是复杂的？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35" y="1353185"/>
            <a:ext cx="9650095" cy="4152900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为什么软件在本质上是复杂的？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660" y="241300"/>
            <a:ext cx="10515600" cy="56134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zh-CN" sz="3200" spc="1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软件人如何认识复杂系统？</a:t>
            </a:r>
            <a:endParaRPr lang="zh-CN" altLang="en-US" sz="3200" spc="15" dirty="0">
              <a:ln w="1016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155" y="1492250"/>
            <a:ext cx="3806825" cy="38741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380" y="984885"/>
            <a:ext cx="3313430" cy="5358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20" y="1569085"/>
            <a:ext cx="7969250" cy="3780155"/>
          </a:xfrm>
          <a:prstGeom prst="rect">
            <a:avLst/>
          </a:prstGeom>
        </p:spPr>
      </p:pic>
      <p:sp>
        <p:nvSpPr>
          <p:cNvPr id="4" name="标题 3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zh-CN" spc="15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软件人如何认识复杂系统？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190" y="1500505"/>
            <a:ext cx="5384165" cy="3703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165" y="1117600"/>
            <a:ext cx="4888230" cy="4622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780" y="5636260"/>
            <a:ext cx="4029075" cy="485775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zh-CN" spc="15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软件人如何认识复杂系统？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805" y="1323975"/>
            <a:ext cx="6354445" cy="4377690"/>
          </a:xfrm>
          <a:prstGeom prst="rect">
            <a:avLst/>
          </a:prstGeom>
        </p:spPr>
      </p:pic>
      <p:sp>
        <p:nvSpPr>
          <p:cNvPr id="4" name="标题 3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zh-CN" spc="15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软件人如何认识复杂系统？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795" y="1296035"/>
            <a:ext cx="9003665" cy="3463290"/>
          </a:xfrm>
          <a:prstGeom prst="rect">
            <a:avLst/>
          </a:prstGeom>
        </p:spPr>
      </p:pic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spc="15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软件人如何认识复杂系统？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335" y="2030730"/>
            <a:ext cx="10534650" cy="3373755"/>
          </a:xfrm>
          <a:prstGeom prst="rect">
            <a:avLst/>
          </a:prstGeom>
        </p:spPr>
      </p:pic>
      <p:sp>
        <p:nvSpPr>
          <p:cNvPr id="5" name="object 3"/>
          <p:cNvSpPr txBox="1"/>
          <p:nvPr/>
        </p:nvSpPr>
        <p:spPr>
          <a:xfrm>
            <a:off x="1016635" y="1200785"/>
            <a:ext cx="4306570" cy="432435"/>
          </a:xfrm>
          <a:prstGeom prst="rect">
            <a:avLst/>
          </a:prstGeom>
          <a:gradFill>
            <a:gsLst>
              <a:gs pos="44000">
                <a:srgbClr val="F3F6F8"/>
              </a:gs>
              <a:gs pos="0">
                <a:srgbClr val="F7F9FA"/>
              </a:gs>
              <a:gs pos="100000">
                <a:srgbClr val="EEF2F5"/>
              </a:gs>
            </a:gsLst>
            <a:lin scaled="1"/>
          </a:gradFill>
        </p:spPr>
        <p:txBody>
          <a:bodyPr vert="horz"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2.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软件设计方法的要素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lang="zh-CN" spc="15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软件人如何认识复杂系统？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64790" y="4317365"/>
            <a:ext cx="2139950" cy="57023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5046980" y="2297430"/>
            <a:ext cx="1491615" cy="4864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" y="1424940"/>
            <a:ext cx="10497185" cy="4007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942975" y="2047875"/>
            <a:ext cx="1143000" cy="1143000"/>
            <a:chOff x="942975" y="2047875"/>
            <a:chExt cx="1143000" cy="1143000"/>
          </a:xfrm>
        </p:grpSpPr>
        <p:sp>
          <p:nvSpPr>
            <p:cNvPr id="38" name="椭圆 37"/>
            <p:cNvSpPr/>
            <p:nvPr/>
          </p:nvSpPr>
          <p:spPr>
            <a:xfrm>
              <a:off x="942975" y="2047875"/>
              <a:ext cx="1143000" cy="1143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1160780" y="2341880"/>
              <a:ext cx="709930" cy="547370"/>
              <a:chOff x="1160780" y="2341880"/>
              <a:chExt cx="709930" cy="547370"/>
            </a:xfrm>
            <a:solidFill>
              <a:schemeClr val="bg1"/>
            </a:solidFill>
          </p:grpSpPr>
          <p:sp>
            <p:nvSpPr>
              <p:cNvPr id="40" name="Freeform 23"/>
              <p:cNvSpPr>
                <a:spLocks noEditPoints="1"/>
              </p:cNvSpPr>
              <p:nvPr/>
            </p:nvSpPr>
            <p:spPr bwMode="auto">
              <a:xfrm>
                <a:off x="1160780" y="2403475"/>
                <a:ext cx="612775" cy="485775"/>
              </a:xfrm>
              <a:custGeom>
                <a:avLst/>
                <a:gdLst>
                  <a:gd name="T0" fmla="*/ 99 w 120"/>
                  <a:gd name="T1" fmla="*/ 40 h 95"/>
                  <a:gd name="T2" fmla="*/ 96 w 120"/>
                  <a:gd name="T3" fmla="*/ 36 h 95"/>
                  <a:gd name="T4" fmla="*/ 95 w 120"/>
                  <a:gd name="T5" fmla="*/ 22 h 95"/>
                  <a:gd name="T6" fmla="*/ 70 w 120"/>
                  <a:gd name="T7" fmla="*/ 23 h 95"/>
                  <a:gd name="T8" fmla="*/ 66 w 120"/>
                  <a:gd name="T9" fmla="*/ 16 h 95"/>
                  <a:gd name="T10" fmla="*/ 45 w 120"/>
                  <a:gd name="T11" fmla="*/ 6 h 95"/>
                  <a:gd name="T12" fmla="*/ 11 w 120"/>
                  <a:gd name="T13" fmla="*/ 34 h 95"/>
                  <a:gd name="T14" fmla="*/ 2 w 120"/>
                  <a:gd name="T15" fmla="*/ 60 h 95"/>
                  <a:gd name="T16" fmla="*/ 51 w 120"/>
                  <a:gd name="T17" fmla="*/ 93 h 95"/>
                  <a:gd name="T18" fmla="*/ 111 w 120"/>
                  <a:gd name="T19" fmla="*/ 67 h 95"/>
                  <a:gd name="T20" fmla="*/ 99 w 120"/>
                  <a:gd name="T21" fmla="*/ 40 h 95"/>
                  <a:gd name="T22" fmla="*/ 53 w 120"/>
                  <a:gd name="T23" fmla="*/ 86 h 95"/>
                  <a:gd name="T24" fmla="*/ 14 w 120"/>
                  <a:gd name="T25" fmla="*/ 62 h 95"/>
                  <a:gd name="T26" fmla="*/ 53 w 120"/>
                  <a:gd name="T27" fmla="*/ 35 h 95"/>
                  <a:gd name="T28" fmla="*/ 92 w 120"/>
                  <a:gd name="T29" fmla="*/ 57 h 95"/>
                  <a:gd name="T30" fmla="*/ 53 w 120"/>
                  <a:gd name="T31" fmla="*/ 86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0" h="95">
                    <a:moveTo>
                      <a:pt x="99" y="40"/>
                    </a:moveTo>
                    <a:cubicBezTo>
                      <a:pt x="94" y="39"/>
                      <a:pt x="96" y="36"/>
                      <a:pt x="96" y="36"/>
                    </a:cubicBezTo>
                    <a:cubicBezTo>
                      <a:pt x="96" y="36"/>
                      <a:pt x="101" y="28"/>
                      <a:pt x="95" y="22"/>
                    </a:cubicBezTo>
                    <a:cubicBezTo>
                      <a:pt x="88" y="14"/>
                      <a:pt x="70" y="23"/>
                      <a:pt x="70" y="23"/>
                    </a:cubicBezTo>
                    <a:cubicBezTo>
                      <a:pt x="63" y="25"/>
                      <a:pt x="65" y="22"/>
                      <a:pt x="66" y="16"/>
                    </a:cubicBezTo>
                    <a:cubicBezTo>
                      <a:pt x="66" y="10"/>
                      <a:pt x="64" y="0"/>
                      <a:pt x="45" y="6"/>
                    </a:cubicBezTo>
                    <a:cubicBezTo>
                      <a:pt x="27" y="12"/>
                      <a:pt x="11" y="34"/>
                      <a:pt x="11" y="34"/>
                    </a:cubicBezTo>
                    <a:cubicBezTo>
                      <a:pt x="0" y="49"/>
                      <a:pt x="2" y="60"/>
                      <a:pt x="2" y="60"/>
                    </a:cubicBezTo>
                    <a:cubicBezTo>
                      <a:pt x="5" y="85"/>
                      <a:pt x="31" y="91"/>
                      <a:pt x="51" y="93"/>
                    </a:cubicBezTo>
                    <a:cubicBezTo>
                      <a:pt x="73" y="95"/>
                      <a:pt x="102" y="86"/>
                      <a:pt x="111" y="67"/>
                    </a:cubicBezTo>
                    <a:cubicBezTo>
                      <a:pt x="120" y="48"/>
                      <a:pt x="104" y="41"/>
                      <a:pt x="99" y="40"/>
                    </a:cubicBezTo>
                    <a:close/>
                    <a:moveTo>
                      <a:pt x="53" y="86"/>
                    </a:moveTo>
                    <a:cubicBezTo>
                      <a:pt x="32" y="87"/>
                      <a:pt x="14" y="76"/>
                      <a:pt x="14" y="62"/>
                    </a:cubicBezTo>
                    <a:cubicBezTo>
                      <a:pt x="14" y="48"/>
                      <a:pt x="32" y="36"/>
                      <a:pt x="53" y="35"/>
                    </a:cubicBezTo>
                    <a:cubicBezTo>
                      <a:pt x="74" y="34"/>
                      <a:pt x="92" y="43"/>
                      <a:pt x="92" y="57"/>
                    </a:cubicBezTo>
                    <a:cubicBezTo>
                      <a:pt x="92" y="72"/>
                      <a:pt x="74" y="85"/>
                      <a:pt x="53" y="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1" name="Freeform 24"/>
              <p:cNvSpPr>
                <a:spLocks noEditPoints="1"/>
              </p:cNvSpPr>
              <p:nvPr/>
            </p:nvSpPr>
            <p:spPr bwMode="auto">
              <a:xfrm>
                <a:off x="1298575" y="2618105"/>
                <a:ext cx="239395" cy="214630"/>
              </a:xfrm>
              <a:custGeom>
                <a:avLst/>
                <a:gdLst>
                  <a:gd name="T0" fmla="*/ 22 w 47"/>
                  <a:gd name="T1" fmla="*/ 3 h 42"/>
                  <a:gd name="T2" fmla="*/ 3 w 47"/>
                  <a:gd name="T3" fmla="*/ 25 h 42"/>
                  <a:gd name="T4" fmla="*/ 9 w 47"/>
                  <a:gd name="T5" fmla="*/ 35 h 42"/>
                  <a:gd name="T6" fmla="*/ 41 w 47"/>
                  <a:gd name="T7" fmla="*/ 29 h 42"/>
                  <a:gd name="T8" fmla="*/ 22 w 47"/>
                  <a:gd name="T9" fmla="*/ 3 h 42"/>
                  <a:gd name="T10" fmla="*/ 16 w 47"/>
                  <a:gd name="T11" fmla="*/ 31 h 42"/>
                  <a:gd name="T12" fmla="*/ 9 w 47"/>
                  <a:gd name="T13" fmla="*/ 26 h 42"/>
                  <a:gd name="T14" fmla="*/ 16 w 47"/>
                  <a:gd name="T15" fmla="*/ 19 h 42"/>
                  <a:gd name="T16" fmla="*/ 24 w 47"/>
                  <a:gd name="T17" fmla="*/ 24 h 42"/>
                  <a:gd name="T18" fmla="*/ 16 w 47"/>
                  <a:gd name="T19" fmla="*/ 31 h 42"/>
                  <a:gd name="T20" fmla="*/ 29 w 47"/>
                  <a:gd name="T21" fmla="*/ 20 h 42"/>
                  <a:gd name="T22" fmla="*/ 25 w 47"/>
                  <a:gd name="T23" fmla="*/ 20 h 42"/>
                  <a:gd name="T24" fmla="*/ 26 w 47"/>
                  <a:gd name="T25" fmla="*/ 16 h 42"/>
                  <a:gd name="T26" fmla="*/ 30 w 47"/>
                  <a:gd name="T27" fmla="*/ 16 h 42"/>
                  <a:gd name="T28" fmla="*/ 29 w 47"/>
                  <a:gd name="T29" fmla="*/ 2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" h="42">
                    <a:moveTo>
                      <a:pt x="22" y="3"/>
                    </a:moveTo>
                    <a:cubicBezTo>
                      <a:pt x="0" y="5"/>
                      <a:pt x="3" y="25"/>
                      <a:pt x="3" y="25"/>
                    </a:cubicBezTo>
                    <a:cubicBezTo>
                      <a:pt x="3" y="25"/>
                      <a:pt x="3" y="32"/>
                      <a:pt x="9" y="35"/>
                    </a:cubicBezTo>
                    <a:cubicBezTo>
                      <a:pt x="21" y="42"/>
                      <a:pt x="34" y="38"/>
                      <a:pt x="41" y="29"/>
                    </a:cubicBezTo>
                    <a:cubicBezTo>
                      <a:pt x="47" y="21"/>
                      <a:pt x="43" y="0"/>
                      <a:pt x="22" y="3"/>
                    </a:cubicBezTo>
                    <a:close/>
                    <a:moveTo>
                      <a:pt x="16" y="31"/>
                    </a:moveTo>
                    <a:cubicBezTo>
                      <a:pt x="12" y="31"/>
                      <a:pt x="9" y="29"/>
                      <a:pt x="9" y="26"/>
                    </a:cubicBezTo>
                    <a:cubicBezTo>
                      <a:pt x="9" y="22"/>
                      <a:pt x="12" y="19"/>
                      <a:pt x="16" y="19"/>
                    </a:cubicBezTo>
                    <a:cubicBezTo>
                      <a:pt x="21" y="18"/>
                      <a:pt x="24" y="21"/>
                      <a:pt x="24" y="24"/>
                    </a:cubicBezTo>
                    <a:cubicBezTo>
                      <a:pt x="24" y="27"/>
                      <a:pt x="20" y="31"/>
                      <a:pt x="16" y="31"/>
                    </a:cubicBezTo>
                    <a:close/>
                    <a:moveTo>
                      <a:pt x="29" y="20"/>
                    </a:moveTo>
                    <a:cubicBezTo>
                      <a:pt x="28" y="21"/>
                      <a:pt x="26" y="21"/>
                      <a:pt x="25" y="20"/>
                    </a:cubicBezTo>
                    <a:cubicBezTo>
                      <a:pt x="25" y="19"/>
                      <a:pt x="25" y="17"/>
                      <a:pt x="26" y="16"/>
                    </a:cubicBezTo>
                    <a:cubicBezTo>
                      <a:pt x="28" y="15"/>
                      <a:pt x="29" y="15"/>
                      <a:pt x="30" y="16"/>
                    </a:cubicBezTo>
                    <a:cubicBezTo>
                      <a:pt x="31" y="17"/>
                      <a:pt x="30" y="19"/>
                      <a:pt x="2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2" name="Freeform 25"/>
              <p:cNvSpPr/>
              <p:nvPr/>
            </p:nvSpPr>
            <p:spPr bwMode="auto">
              <a:xfrm>
                <a:off x="1619250" y="2423795"/>
                <a:ext cx="127635" cy="137795"/>
              </a:xfrm>
              <a:custGeom>
                <a:avLst/>
                <a:gdLst>
                  <a:gd name="T0" fmla="*/ 19 w 25"/>
                  <a:gd name="T1" fmla="*/ 27 h 27"/>
                  <a:gd name="T2" fmla="*/ 23 w 25"/>
                  <a:gd name="T3" fmla="*/ 24 h 27"/>
                  <a:gd name="T4" fmla="*/ 23 w 25"/>
                  <a:gd name="T5" fmla="*/ 24 h 27"/>
                  <a:gd name="T6" fmla="*/ 3 w 25"/>
                  <a:gd name="T7" fmla="*/ 4 h 27"/>
                  <a:gd name="T8" fmla="*/ 0 w 25"/>
                  <a:gd name="T9" fmla="*/ 8 h 27"/>
                  <a:gd name="T10" fmla="*/ 3 w 25"/>
                  <a:gd name="T11" fmla="*/ 11 h 27"/>
                  <a:gd name="T12" fmla="*/ 16 w 25"/>
                  <a:gd name="T13" fmla="*/ 23 h 27"/>
                  <a:gd name="T14" fmla="*/ 19 w 25"/>
                  <a:gd name="T1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27">
                    <a:moveTo>
                      <a:pt x="19" y="27"/>
                    </a:moveTo>
                    <a:cubicBezTo>
                      <a:pt x="21" y="27"/>
                      <a:pt x="22" y="26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5" y="0"/>
                      <a:pt x="3" y="4"/>
                      <a:pt x="3" y="4"/>
                    </a:cubicBezTo>
                    <a:cubicBezTo>
                      <a:pt x="1" y="4"/>
                      <a:pt x="0" y="6"/>
                      <a:pt x="0" y="8"/>
                    </a:cubicBezTo>
                    <a:cubicBezTo>
                      <a:pt x="0" y="10"/>
                      <a:pt x="1" y="11"/>
                      <a:pt x="3" y="11"/>
                    </a:cubicBezTo>
                    <a:cubicBezTo>
                      <a:pt x="19" y="8"/>
                      <a:pt x="16" y="23"/>
                      <a:pt x="16" y="23"/>
                    </a:cubicBezTo>
                    <a:cubicBezTo>
                      <a:pt x="16" y="25"/>
                      <a:pt x="17" y="27"/>
                      <a:pt x="19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3" name="Freeform 26"/>
              <p:cNvSpPr/>
              <p:nvPr/>
            </p:nvSpPr>
            <p:spPr bwMode="auto">
              <a:xfrm>
                <a:off x="1594485" y="2341880"/>
                <a:ext cx="275590" cy="255270"/>
              </a:xfrm>
              <a:custGeom>
                <a:avLst/>
                <a:gdLst>
                  <a:gd name="T0" fmla="*/ 22 w 54"/>
                  <a:gd name="T1" fmla="*/ 2 h 50"/>
                  <a:gd name="T2" fmla="*/ 4 w 54"/>
                  <a:gd name="T3" fmla="*/ 2 h 50"/>
                  <a:gd name="T4" fmla="*/ 3 w 54"/>
                  <a:gd name="T5" fmla="*/ 2 h 50"/>
                  <a:gd name="T6" fmla="*/ 3 w 54"/>
                  <a:gd name="T7" fmla="*/ 2 h 50"/>
                  <a:gd name="T8" fmla="*/ 0 w 54"/>
                  <a:gd name="T9" fmla="*/ 7 h 50"/>
                  <a:gd name="T10" fmla="*/ 5 w 54"/>
                  <a:gd name="T11" fmla="*/ 12 h 50"/>
                  <a:gd name="T12" fmla="*/ 9 w 54"/>
                  <a:gd name="T13" fmla="*/ 11 h 50"/>
                  <a:gd name="T14" fmla="*/ 35 w 54"/>
                  <a:gd name="T15" fmla="*/ 24 h 50"/>
                  <a:gd name="T16" fmla="*/ 36 w 54"/>
                  <a:gd name="T17" fmla="*/ 41 h 50"/>
                  <a:gd name="T18" fmla="*/ 35 w 54"/>
                  <a:gd name="T19" fmla="*/ 46 h 50"/>
                  <a:gd name="T20" fmla="*/ 40 w 54"/>
                  <a:gd name="T21" fmla="*/ 50 h 50"/>
                  <a:gd name="T22" fmla="*/ 45 w 54"/>
                  <a:gd name="T23" fmla="*/ 46 h 50"/>
                  <a:gd name="T24" fmla="*/ 45 w 54"/>
                  <a:gd name="T25" fmla="*/ 46 h 50"/>
                  <a:gd name="T26" fmla="*/ 22 w 54"/>
                  <a:gd name="T27" fmla="*/ 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4" h="50">
                    <a:moveTo>
                      <a:pt x="22" y="2"/>
                    </a:moveTo>
                    <a:cubicBezTo>
                      <a:pt x="14" y="0"/>
                      <a:pt x="6" y="1"/>
                      <a:pt x="4" y="2"/>
                    </a:cubicBez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1" y="3"/>
                      <a:pt x="0" y="5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5" y="12"/>
                      <a:pt x="7" y="12"/>
                      <a:pt x="9" y="11"/>
                    </a:cubicBezTo>
                    <a:cubicBezTo>
                      <a:pt x="11" y="10"/>
                      <a:pt x="27" y="11"/>
                      <a:pt x="35" y="24"/>
                    </a:cubicBezTo>
                    <a:cubicBezTo>
                      <a:pt x="39" y="33"/>
                      <a:pt x="37" y="40"/>
                      <a:pt x="36" y="41"/>
                    </a:cubicBezTo>
                    <a:cubicBezTo>
                      <a:pt x="36" y="41"/>
                      <a:pt x="35" y="43"/>
                      <a:pt x="35" y="46"/>
                    </a:cubicBezTo>
                    <a:cubicBezTo>
                      <a:pt x="35" y="49"/>
                      <a:pt x="38" y="50"/>
                      <a:pt x="40" y="50"/>
                    </a:cubicBezTo>
                    <a:cubicBezTo>
                      <a:pt x="43" y="50"/>
                      <a:pt x="45" y="50"/>
                      <a:pt x="45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54" y="18"/>
                      <a:pt x="35" y="5"/>
                      <a:pt x="2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4440555" y="3572510"/>
            <a:ext cx="1143000" cy="1143000"/>
            <a:chOff x="4440555" y="3572510"/>
            <a:chExt cx="1143000" cy="1143000"/>
          </a:xfrm>
        </p:grpSpPr>
        <p:sp>
          <p:nvSpPr>
            <p:cNvPr id="50" name="椭圆 49"/>
            <p:cNvSpPr/>
            <p:nvPr/>
          </p:nvSpPr>
          <p:spPr>
            <a:xfrm>
              <a:off x="4440555" y="3572510"/>
              <a:ext cx="1143000" cy="1143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1" name="Freeform 39"/>
            <p:cNvSpPr>
              <a:spLocks noEditPoints="1"/>
            </p:cNvSpPr>
            <p:nvPr/>
          </p:nvSpPr>
          <p:spPr bwMode="auto">
            <a:xfrm>
              <a:off x="4661535" y="3841750"/>
              <a:ext cx="683895" cy="608965"/>
            </a:xfrm>
            <a:custGeom>
              <a:avLst/>
              <a:gdLst>
                <a:gd name="T0" fmla="*/ 115 w 115"/>
                <a:gd name="T1" fmla="*/ 37 h 102"/>
                <a:gd name="T2" fmla="*/ 114 w 115"/>
                <a:gd name="T3" fmla="*/ 36 h 102"/>
                <a:gd name="T4" fmla="*/ 101 w 115"/>
                <a:gd name="T5" fmla="*/ 36 h 102"/>
                <a:gd name="T6" fmla="*/ 79 w 115"/>
                <a:gd name="T7" fmla="*/ 36 h 102"/>
                <a:gd name="T8" fmla="*/ 74 w 115"/>
                <a:gd name="T9" fmla="*/ 27 h 102"/>
                <a:gd name="T10" fmla="*/ 60 w 115"/>
                <a:gd name="T11" fmla="*/ 0 h 102"/>
                <a:gd name="T12" fmla="*/ 58 w 115"/>
                <a:gd name="T13" fmla="*/ 0 h 102"/>
                <a:gd name="T14" fmla="*/ 45 w 115"/>
                <a:gd name="T15" fmla="*/ 27 h 102"/>
                <a:gd name="T16" fmla="*/ 40 w 115"/>
                <a:gd name="T17" fmla="*/ 36 h 102"/>
                <a:gd name="T18" fmla="*/ 18 w 115"/>
                <a:gd name="T19" fmla="*/ 36 h 102"/>
                <a:gd name="T20" fmla="*/ 0 w 115"/>
                <a:gd name="T21" fmla="*/ 36 h 102"/>
                <a:gd name="T22" fmla="*/ 0 w 115"/>
                <a:gd name="T23" fmla="*/ 37 h 102"/>
                <a:gd name="T24" fmla="*/ 7 w 115"/>
                <a:gd name="T25" fmla="*/ 42 h 102"/>
                <a:gd name="T26" fmla="*/ 27 w 115"/>
                <a:gd name="T27" fmla="*/ 60 h 102"/>
                <a:gd name="T28" fmla="*/ 23 w 115"/>
                <a:gd name="T29" fmla="*/ 100 h 102"/>
                <a:gd name="T30" fmla="*/ 26 w 115"/>
                <a:gd name="T31" fmla="*/ 102 h 102"/>
                <a:gd name="T32" fmla="*/ 59 w 115"/>
                <a:gd name="T33" fmla="*/ 81 h 102"/>
                <a:gd name="T34" fmla="*/ 92 w 115"/>
                <a:gd name="T35" fmla="*/ 102 h 102"/>
                <a:gd name="T36" fmla="*/ 95 w 115"/>
                <a:gd name="T37" fmla="*/ 100 h 102"/>
                <a:gd name="T38" fmla="*/ 88 w 115"/>
                <a:gd name="T39" fmla="*/ 60 h 102"/>
                <a:gd name="T40" fmla="*/ 107 w 115"/>
                <a:gd name="T41" fmla="*/ 43 h 102"/>
                <a:gd name="T42" fmla="*/ 115 w 115"/>
                <a:gd name="T43" fmla="*/ 37 h 102"/>
                <a:gd name="T44" fmla="*/ 31 w 115"/>
                <a:gd name="T45" fmla="*/ 76 h 102"/>
                <a:gd name="T46" fmla="*/ 68 w 115"/>
                <a:gd name="T47" fmla="*/ 46 h 102"/>
                <a:gd name="T48" fmla="*/ 33 w 115"/>
                <a:gd name="T49" fmla="*/ 40 h 102"/>
                <a:gd name="T50" fmla="*/ 86 w 115"/>
                <a:gd name="T51" fmla="*/ 40 h 102"/>
                <a:gd name="T52" fmla="*/ 54 w 115"/>
                <a:gd name="T53" fmla="*/ 69 h 102"/>
                <a:gd name="T54" fmla="*/ 87 w 115"/>
                <a:gd name="T55" fmla="*/ 76 h 102"/>
                <a:gd name="T56" fmla="*/ 31 w 115"/>
                <a:gd name="T57" fmla="*/ 7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5" h="102">
                  <a:moveTo>
                    <a:pt x="115" y="37"/>
                  </a:moveTo>
                  <a:cubicBezTo>
                    <a:pt x="115" y="36"/>
                    <a:pt x="115" y="36"/>
                    <a:pt x="114" y="36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8" y="0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102"/>
                    <a:pt x="23" y="102"/>
                    <a:pt x="26" y="102"/>
                  </a:cubicBezTo>
                  <a:cubicBezTo>
                    <a:pt x="59" y="81"/>
                    <a:pt x="59" y="81"/>
                    <a:pt x="59" y="81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3" y="102"/>
                    <a:pt x="93" y="102"/>
                    <a:pt x="95" y="10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107" y="43"/>
                    <a:pt x="107" y="43"/>
                    <a:pt x="107" y="43"/>
                  </a:cubicBezTo>
                  <a:lnTo>
                    <a:pt x="115" y="37"/>
                  </a:lnTo>
                  <a:close/>
                  <a:moveTo>
                    <a:pt x="31" y="76"/>
                  </a:moveTo>
                  <a:cubicBezTo>
                    <a:pt x="68" y="46"/>
                    <a:pt x="68" y="46"/>
                    <a:pt x="68" y="46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87" y="76"/>
                    <a:pt x="87" y="76"/>
                    <a:pt x="87" y="76"/>
                  </a:cubicBezTo>
                  <a:lnTo>
                    <a:pt x="31" y="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2239645" y="2155825"/>
            <a:ext cx="2386330" cy="46101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一种思维方式</a:t>
            </a:r>
            <a:endParaRPr lang="ko-KR" alt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583555" y="3841750"/>
            <a:ext cx="598741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利用面向对象的思维方式去思考实际问题</a:t>
            </a:r>
            <a:endParaRPr lang="zh-CN" altLang="en-US" sz="2400" b="1" dirty="0">
              <a:solidFill>
                <a:srgbClr val="0070C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190115" y="2792095"/>
            <a:ext cx="3663950" cy="39687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学习面向对象的思维方式</a:t>
            </a:r>
            <a:endParaRPr lang="ko-KR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212205" y="4380230"/>
            <a:ext cx="3693795" cy="49212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分析、设计、解决方案</a:t>
            </a:r>
            <a:endParaRPr lang="ko-KR" altLang="en-US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2965" y="250190"/>
            <a:ext cx="10515600" cy="56134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二、学什么？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63" grpId="0"/>
      <p:bldP spid="6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691380" y="3327400"/>
            <a:ext cx="37941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面向对象</a:t>
            </a:r>
            <a:r>
              <a:rPr sz="2400" spc="189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solidFill>
                  <a:srgbClr val="7030A0"/>
                </a:solidFill>
                <a:latin typeface="Tahoma" panose="020B0604030504040204"/>
                <a:cs typeface="Tahoma" panose="020B0604030504040204"/>
                <a:sym typeface="+mn-ea"/>
              </a:rPr>
              <a:t>Object-oriented</a:t>
            </a:r>
            <a:endParaRPr lang="zh-CN" altLang="en-US" sz="2400" b="1" dirty="0">
              <a:solidFill>
                <a:srgbClr val="7030A0"/>
              </a:solidFill>
              <a:latin typeface="Tahoma" panose="020B0604030504040204"/>
              <a:ea typeface="微软雅黑" panose="020B0503020204020204" charset="-122"/>
              <a:cs typeface="Tahoma" panose="020B0604030504040204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91380" y="4044950"/>
            <a:ext cx="3184525" cy="57213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 algn="ctr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是一种</a:t>
            </a:r>
            <a:r>
              <a:rPr sz="240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思维方式</a:t>
            </a:r>
            <a:endParaRPr lang="ko-KR" altLang="en-US" sz="240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298940" y="3378200"/>
            <a:ext cx="161099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dirty="0">
                <a:solidFill>
                  <a:srgbClr val="7030A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本课程</a:t>
            </a:r>
            <a:endParaRPr lang="zh-CN" altLang="en-US" sz="2800" b="1" dirty="0">
              <a:solidFill>
                <a:srgbClr val="7030A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85505" y="4044950"/>
            <a:ext cx="3486785" cy="201104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学习面向对象的思维方</a:t>
            </a:r>
            <a:r>
              <a:rPr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式</a:t>
            </a:r>
            <a:r>
              <a:rPr 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ko-KR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利用面向对象的思维</a:t>
            </a:r>
            <a:r>
              <a:rPr lang="zh-CN" sz="2000" b="1">
                <a:solidFill>
                  <a:srgbClr val="0070C0"/>
                </a:solidFill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方法</a:t>
            </a:r>
            <a:endParaRPr lang="zh-CN" sz="2000" b="1">
              <a:solidFill>
                <a:srgbClr val="0070C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None/>
            </a:pP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   </a:t>
            </a:r>
            <a:r>
              <a:rPr lang="zh-CN" sz="2000" b="1">
                <a:solidFill>
                  <a:srgbClr val="0070C0"/>
                </a:solidFill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去</a:t>
            </a:r>
            <a:r>
              <a:rPr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思考实际问题</a:t>
            </a:r>
            <a:endParaRPr lang="ko-KR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 b="1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1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分析、设计、解决方案</a:t>
            </a:r>
            <a:endParaRPr lang="ko-KR" altLang="en-US" sz="1800" b="1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b="1">
              <a:solidFill>
                <a:srgbClr val="C0000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942840" y="883920"/>
            <a:ext cx="2138045" cy="2138045"/>
            <a:chOff x="4942840" y="883920"/>
            <a:chExt cx="2138045" cy="2138045"/>
          </a:xfrm>
        </p:grpSpPr>
        <p:grpSp>
          <p:nvGrpSpPr>
            <p:cNvPr id="13" name="组合 12"/>
            <p:cNvGrpSpPr/>
            <p:nvPr/>
          </p:nvGrpSpPr>
          <p:grpSpPr>
            <a:xfrm>
              <a:off x="4942840" y="883920"/>
              <a:ext cx="2138045" cy="2138045"/>
              <a:chOff x="4942840" y="883920"/>
              <a:chExt cx="2138045" cy="2138045"/>
            </a:xfrm>
            <a:solidFill>
              <a:srgbClr val="0070C0"/>
            </a:solidFill>
          </p:grpSpPr>
          <p:sp>
            <p:nvSpPr>
              <p:cNvPr id="18" name="五角星 17"/>
              <p:cNvSpPr/>
              <p:nvPr/>
            </p:nvSpPr>
            <p:spPr>
              <a:xfrm>
                <a:off x="5044440" y="985520"/>
                <a:ext cx="1935480" cy="1935480"/>
              </a:xfrm>
              <a:prstGeom prst="star5">
                <a:avLst>
                  <a:gd name="adj" fmla="val 36401"/>
                  <a:gd name="hf" fmla="val 105146"/>
                  <a:gd name="vf" fmla="val 110557"/>
                </a:avLst>
              </a:prstGeom>
              <a:grpFill/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7E6E6">
                      <a:lumMod val="50000"/>
                    </a:srgbClr>
                  </a:solidFill>
                </a:endParaRPr>
              </a:p>
            </p:txBody>
          </p:sp>
          <p:sp>
            <p:nvSpPr>
              <p:cNvPr id="19" name="五角星 18"/>
              <p:cNvSpPr/>
              <p:nvPr/>
            </p:nvSpPr>
            <p:spPr>
              <a:xfrm>
                <a:off x="4942840" y="883920"/>
                <a:ext cx="2138045" cy="2138045"/>
              </a:xfrm>
              <a:prstGeom prst="star5">
                <a:avLst>
                  <a:gd name="adj" fmla="val 36401"/>
                  <a:gd name="hf" fmla="val 105146"/>
                  <a:gd name="vf" fmla="val 110557"/>
                </a:avLst>
              </a:prstGeom>
              <a:solidFill>
                <a:schemeClr val="accent3"/>
              </a:solidFill>
              <a:ln w="698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7E6E6">
                      <a:lumMod val="50000"/>
                    </a:srgbClr>
                  </a:solidFill>
                </a:endParaRPr>
              </a:p>
            </p:txBody>
          </p:sp>
        </p:grp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7820" y="1489710"/>
              <a:ext cx="1205230" cy="1205865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9047480" y="952500"/>
            <a:ext cx="2138045" cy="2138045"/>
            <a:chOff x="9047480" y="952500"/>
            <a:chExt cx="2138045" cy="2138045"/>
          </a:xfrm>
        </p:grpSpPr>
        <p:grpSp>
          <p:nvGrpSpPr>
            <p:cNvPr id="21" name="组合 20"/>
            <p:cNvGrpSpPr/>
            <p:nvPr/>
          </p:nvGrpSpPr>
          <p:grpSpPr>
            <a:xfrm>
              <a:off x="9047480" y="952500"/>
              <a:ext cx="2138045" cy="2138045"/>
              <a:chOff x="9047480" y="952500"/>
              <a:chExt cx="2138045" cy="2138045"/>
            </a:xfrm>
            <a:solidFill>
              <a:srgbClr val="0070C0"/>
            </a:solidFill>
          </p:grpSpPr>
          <p:sp>
            <p:nvSpPr>
              <p:cNvPr id="23" name="五角星 22"/>
              <p:cNvSpPr/>
              <p:nvPr/>
            </p:nvSpPr>
            <p:spPr>
              <a:xfrm>
                <a:off x="9149080" y="1054100"/>
                <a:ext cx="1935480" cy="1935480"/>
              </a:xfrm>
              <a:prstGeom prst="star5">
                <a:avLst>
                  <a:gd name="adj" fmla="val 36401"/>
                  <a:gd name="hf" fmla="val 105146"/>
                  <a:gd name="vf" fmla="val 110557"/>
                </a:avLst>
              </a:prstGeom>
              <a:grpFill/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7E6E6">
                      <a:lumMod val="50000"/>
                    </a:srgbClr>
                  </a:solidFill>
                </a:endParaRPr>
              </a:p>
            </p:txBody>
          </p:sp>
          <p:sp>
            <p:nvSpPr>
              <p:cNvPr id="24" name="五角星 23"/>
              <p:cNvSpPr/>
              <p:nvPr/>
            </p:nvSpPr>
            <p:spPr>
              <a:xfrm>
                <a:off x="9047480" y="952500"/>
                <a:ext cx="2138045" cy="2138045"/>
              </a:xfrm>
              <a:prstGeom prst="star5">
                <a:avLst>
                  <a:gd name="adj" fmla="val 36401"/>
                  <a:gd name="hf" fmla="val 105146"/>
                  <a:gd name="vf" fmla="val 110557"/>
                </a:avLst>
              </a:prstGeom>
              <a:solidFill>
                <a:schemeClr val="accent2"/>
              </a:solidFill>
              <a:ln w="698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7E6E6">
                      <a:lumMod val="50000"/>
                    </a:srgbClr>
                  </a:solidFill>
                </a:endParaRPr>
              </a:p>
            </p:txBody>
          </p:sp>
        </p:grp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5970" y="1643380"/>
              <a:ext cx="998855" cy="998855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1104900" y="934720"/>
            <a:ext cx="2138045" cy="2138045"/>
            <a:chOff x="1104900" y="934720"/>
            <a:chExt cx="2138045" cy="2138045"/>
          </a:xfrm>
        </p:grpSpPr>
        <p:grpSp>
          <p:nvGrpSpPr>
            <p:cNvPr id="26" name="组合 25"/>
            <p:cNvGrpSpPr/>
            <p:nvPr/>
          </p:nvGrpSpPr>
          <p:grpSpPr>
            <a:xfrm>
              <a:off x="1104900" y="934720"/>
              <a:ext cx="2138045" cy="2138045"/>
              <a:chOff x="1104900" y="934720"/>
              <a:chExt cx="2138045" cy="2138045"/>
            </a:xfrm>
            <a:solidFill>
              <a:srgbClr val="0070C0"/>
            </a:solidFill>
          </p:grpSpPr>
          <p:sp>
            <p:nvSpPr>
              <p:cNvPr id="28" name="五角星 27"/>
              <p:cNvSpPr/>
              <p:nvPr/>
            </p:nvSpPr>
            <p:spPr>
              <a:xfrm>
                <a:off x="1206500" y="1036320"/>
                <a:ext cx="1935480" cy="1935480"/>
              </a:xfrm>
              <a:prstGeom prst="star5">
                <a:avLst>
                  <a:gd name="adj" fmla="val 36401"/>
                  <a:gd name="hf" fmla="val 105146"/>
                  <a:gd name="vf" fmla="val 110557"/>
                </a:avLst>
              </a:prstGeom>
              <a:grpFill/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7E6E6">
                      <a:lumMod val="50000"/>
                    </a:srgbClr>
                  </a:solidFill>
                </a:endParaRPr>
              </a:p>
            </p:txBody>
          </p:sp>
          <p:sp>
            <p:nvSpPr>
              <p:cNvPr id="29" name="五角星 28"/>
              <p:cNvSpPr/>
              <p:nvPr/>
            </p:nvSpPr>
            <p:spPr>
              <a:xfrm>
                <a:off x="1104900" y="934720"/>
                <a:ext cx="2138045" cy="2138045"/>
              </a:xfrm>
              <a:prstGeom prst="star5">
                <a:avLst>
                  <a:gd name="adj" fmla="val 36401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 w="698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E7E6E6">
                      <a:lumMod val="50000"/>
                    </a:srgbClr>
                  </a:solidFill>
                </a:endParaRPr>
              </a:p>
            </p:txBody>
          </p:sp>
        </p:grp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7830" y="1643380"/>
              <a:ext cx="998855" cy="99885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</p:spPr>
        <p:txBody>
          <a:bodyPr/>
          <a:lstStyle/>
          <a:p>
            <a:r>
              <a:rPr lang="zh-CN" altLang="en-US" dirty="0"/>
              <a:t>关于思维</a:t>
            </a:r>
            <a:endParaRPr lang="zh-CN" alt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588645" y="3378200"/>
            <a:ext cx="4322445" cy="3435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Blip>
                <a:blip r:embed="rId5"/>
              </a:buBlip>
            </a:pPr>
            <a:r>
              <a:rPr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思维方式有多少种呢</a:t>
            </a:r>
            <a:r>
              <a:rPr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ko-KR" altLang="en-US" sz="28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7"/>
          <p:cNvSpPr txBox="1"/>
          <p:nvPr/>
        </p:nvSpPr>
        <p:spPr>
          <a:xfrm>
            <a:off x="899795" y="4136390"/>
            <a:ext cx="4289425" cy="206946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抽象思维</a:t>
            </a:r>
            <a:r>
              <a:rPr sz="2400" spc="140">
                <a:solidFill>
                  <a:srgbClr val="0070C0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、线性思维</a:t>
            </a:r>
            <a:endParaRPr lang="ko-KR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110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发散思维、横向思维</a:t>
            </a:r>
            <a:endParaRPr lang="ko-KR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辩证思维、究根思维</a:t>
            </a:r>
            <a:endParaRPr lang="ko-KR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800"/>
              </a:lnSpc>
              <a:spcBef>
                <a:spcPts val="70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明哲保身、一切向钱看</a:t>
            </a:r>
            <a:r>
              <a:rPr sz="2400">
                <a:solidFill>
                  <a:srgbClr val="0070C0"/>
                </a:solidFill>
                <a:latin typeface="Tahoma" panose="020B0604030504040204" charset="0"/>
                <a:ea typeface="Tahoma" panose="020B0604030504040204" charset="0"/>
                <a:cs typeface="Tahoma" panose="020B0604030504040204" charset="0"/>
              </a:rPr>
              <a:t>…</a:t>
            </a:r>
            <a:endParaRPr lang="ko-KR" altLang="en-US" sz="2400">
              <a:solidFill>
                <a:srgbClr val="0070C0"/>
              </a:solidFill>
              <a:latin typeface="Tahoma" panose="020B0604030504040204" charset="0"/>
              <a:ea typeface="Tahoma" panose="020B0604030504040204" charset="0"/>
              <a:cs typeface="Tahoma" panose="020B0604030504040204" charset="0"/>
            </a:endParaRPr>
          </a:p>
          <a:p>
            <a:pPr marL="0" indent="0" algn="l" defTabSz="914400" eaLnBrk="1" latinLnBrk="0" hangingPunct="1">
              <a:lnSpc>
                <a:spcPts val="2800"/>
              </a:lnSpc>
              <a:spcBef>
                <a:spcPts val="700"/>
              </a:spcBef>
              <a:spcAft>
                <a:spcPts val="0"/>
              </a:spcAft>
              <a:buClr>
                <a:srgbClr val="0070C0"/>
              </a:buClr>
              <a:buBlip>
                <a:blip r:embed="rId1"/>
              </a:buBlip>
            </a:pPr>
            <a:r>
              <a:rPr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无数！</a:t>
            </a:r>
            <a:endParaRPr lang="ko-KR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</p:spPr>
        <p:txBody>
          <a:bodyPr/>
          <a:lstStyle/>
          <a:p>
            <a:r>
              <a:rPr lang="zh-CN" altLang="en-US" dirty="0"/>
              <a:t>什么是面向对象的思考方式？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" y="4293870"/>
            <a:ext cx="5114925" cy="1638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520" y="4404995"/>
            <a:ext cx="5748655" cy="1819275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4446270" y="1938655"/>
            <a:ext cx="2313305" cy="220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思维方式很重要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489200" y="1502410"/>
            <a:ext cx="2397125" cy="2835275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/>
            <a:endParaRPr lang="en-US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835140" y="1569720"/>
            <a:ext cx="2306320" cy="2835275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</p:spPr>
        <p:txBody>
          <a:bodyPr/>
          <a:lstStyle/>
          <a:p>
            <a:r>
              <a:rPr lang="zh-CN" altLang="en-US" dirty="0"/>
              <a:t>什么是面向对象的思考方式？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" y="4293870"/>
            <a:ext cx="5114925" cy="1638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520" y="4404995"/>
            <a:ext cx="5748655" cy="1819275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4446270" y="1938655"/>
            <a:ext cx="2313305" cy="220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思维方式很重要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489200" y="1502410"/>
            <a:ext cx="2397125" cy="2835275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/>
            <a:endParaRPr lang="en-US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835140" y="1569720"/>
            <a:ext cx="2306320" cy="2835275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任意多边形 18"/>
          <p:cNvSpPr/>
          <p:nvPr/>
        </p:nvSpPr>
        <p:spPr>
          <a:xfrm>
            <a:off x="3946525" y="1690370"/>
            <a:ext cx="3709035" cy="3709035"/>
          </a:xfrm>
          <a:custGeom>
            <a:avLst/>
            <a:gdLst>
              <a:gd name="connsiteX0" fmla="*/ 928291 w 2094279"/>
              <a:gd name="connsiteY0" fmla="*/ 0 h 2094279"/>
              <a:gd name="connsiteX1" fmla="*/ 1165990 w 2094279"/>
              <a:gd name="connsiteY1" fmla="*/ 0 h 2094279"/>
              <a:gd name="connsiteX2" fmla="*/ 1212337 w 2094279"/>
              <a:gd name="connsiteY2" fmla="*/ 216228 h 2094279"/>
              <a:gd name="connsiteX3" fmla="*/ 1223536 w 2094279"/>
              <a:gd name="connsiteY3" fmla="*/ 217936 h 2094279"/>
              <a:gd name="connsiteX4" fmla="*/ 1318464 w 2094279"/>
              <a:gd name="connsiteY4" fmla="*/ 246132 h 2094279"/>
              <a:gd name="connsiteX5" fmla="*/ 1467784 w 2094279"/>
              <a:gd name="connsiteY5" fmla="*/ 80866 h 2094279"/>
              <a:gd name="connsiteX6" fmla="*/ 1673637 w 2094279"/>
              <a:gd name="connsiteY6" fmla="*/ 199715 h 2094279"/>
              <a:gd name="connsiteX7" fmla="*/ 1607482 w 2094279"/>
              <a:gd name="connsiteY7" fmla="*/ 404512 h 2094279"/>
              <a:gd name="connsiteX8" fmla="*/ 1619929 w 2094279"/>
              <a:gd name="connsiteY8" fmla="*/ 413588 h 2094279"/>
              <a:gd name="connsiteX9" fmla="*/ 1686118 w 2094279"/>
              <a:gd name="connsiteY9" fmla="*/ 477262 h 2094279"/>
              <a:gd name="connsiteX10" fmla="*/ 1693219 w 2094279"/>
              <a:gd name="connsiteY10" fmla="*/ 485684 h 2094279"/>
              <a:gd name="connsiteX11" fmla="*/ 1894566 w 2094279"/>
              <a:gd name="connsiteY11" fmla="*/ 420645 h 2094279"/>
              <a:gd name="connsiteX12" fmla="*/ 2013416 w 2094279"/>
              <a:gd name="connsiteY12" fmla="*/ 626498 h 2094279"/>
              <a:gd name="connsiteX13" fmla="*/ 1863405 w 2094279"/>
              <a:gd name="connsiteY13" fmla="*/ 762034 h 2094279"/>
              <a:gd name="connsiteX14" fmla="*/ 1875544 w 2094279"/>
              <a:gd name="connsiteY14" fmla="*/ 792151 h 2094279"/>
              <a:gd name="connsiteX15" fmla="*/ 1899390 w 2094279"/>
              <a:gd name="connsiteY15" fmla="*/ 886516 h 2094279"/>
              <a:gd name="connsiteX16" fmla="*/ 2094279 w 2094279"/>
              <a:gd name="connsiteY16" fmla="*/ 928291 h 2094279"/>
              <a:gd name="connsiteX17" fmla="*/ 2094279 w 2094279"/>
              <a:gd name="connsiteY17" fmla="*/ 1165989 h 2094279"/>
              <a:gd name="connsiteX18" fmla="*/ 1911738 w 2094279"/>
              <a:gd name="connsiteY18" fmla="*/ 1205117 h 2094279"/>
              <a:gd name="connsiteX19" fmla="*/ 1904613 w 2094279"/>
              <a:gd name="connsiteY19" fmla="*/ 1251805 h 2094279"/>
              <a:gd name="connsiteX20" fmla="*/ 1886180 w 2094279"/>
              <a:gd name="connsiteY20" fmla="*/ 1325380 h 2094279"/>
              <a:gd name="connsiteX21" fmla="*/ 1878958 w 2094279"/>
              <a:gd name="connsiteY21" fmla="*/ 1346300 h 2094279"/>
              <a:gd name="connsiteX22" fmla="*/ 2013416 w 2094279"/>
              <a:gd name="connsiteY22" fmla="*/ 1467785 h 2094279"/>
              <a:gd name="connsiteX23" fmla="*/ 1894566 w 2094279"/>
              <a:gd name="connsiteY23" fmla="*/ 1673636 h 2094279"/>
              <a:gd name="connsiteX24" fmla="*/ 1729332 w 2094279"/>
              <a:gd name="connsiteY24" fmla="*/ 1620262 h 2094279"/>
              <a:gd name="connsiteX25" fmla="*/ 1708961 w 2094279"/>
              <a:gd name="connsiteY25" fmla="*/ 1648199 h 2094279"/>
              <a:gd name="connsiteX26" fmla="*/ 1645290 w 2094279"/>
              <a:gd name="connsiteY26" fmla="*/ 1714389 h 2094279"/>
              <a:gd name="connsiteX27" fmla="*/ 1621825 w 2094279"/>
              <a:gd name="connsiteY27" fmla="*/ 1734168 h 2094279"/>
              <a:gd name="connsiteX28" fmla="*/ 1673637 w 2094279"/>
              <a:gd name="connsiteY28" fmla="*/ 1894565 h 2094279"/>
              <a:gd name="connsiteX29" fmla="*/ 1467784 w 2094279"/>
              <a:gd name="connsiteY29" fmla="*/ 2013414 h 2094279"/>
              <a:gd name="connsiteX30" fmla="*/ 1358517 w 2094279"/>
              <a:gd name="connsiteY30" fmla="*/ 1892480 h 2094279"/>
              <a:gd name="connsiteX31" fmla="*/ 1330399 w 2094279"/>
              <a:gd name="connsiteY31" fmla="*/ 1903815 h 2094279"/>
              <a:gd name="connsiteX32" fmla="*/ 1199738 w 2094279"/>
              <a:gd name="connsiteY32" fmla="*/ 1936832 h 2094279"/>
              <a:gd name="connsiteX33" fmla="*/ 1165990 w 2094279"/>
              <a:gd name="connsiteY33" fmla="*/ 2094279 h 2094279"/>
              <a:gd name="connsiteX34" fmla="*/ 928291 w 2094279"/>
              <a:gd name="connsiteY34" fmla="*/ 2094279 h 2094279"/>
              <a:gd name="connsiteX35" fmla="*/ 894472 w 2094279"/>
              <a:gd name="connsiteY35" fmla="*/ 1936503 h 2094279"/>
              <a:gd name="connsiteX36" fmla="*/ 870746 w 2094279"/>
              <a:gd name="connsiteY36" fmla="*/ 1932883 h 2094279"/>
              <a:gd name="connsiteX37" fmla="*/ 735541 w 2094279"/>
              <a:gd name="connsiteY37" fmla="*/ 1892727 h 2094279"/>
              <a:gd name="connsiteX38" fmla="*/ 626497 w 2094279"/>
              <a:gd name="connsiteY38" fmla="*/ 2013414 h 2094279"/>
              <a:gd name="connsiteX39" fmla="*/ 420645 w 2094279"/>
              <a:gd name="connsiteY39" fmla="*/ 1894565 h 2094279"/>
              <a:gd name="connsiteX40" fmla="*/ 472183 w 2094279"/>
              <a:gd name="connsiteY40" fmla="*/ 1735013 h 2094279"/>
              <a:gd name="connsiteX41" fmla="*/ 371751 w 2094279"/>
              <a:gd name="connsiteY41" fmla="*/ 1632153 h 2094279"/>
              <a:gd name="connsiteX42" fmla="*/ 363774 w 2094279"/>
              <a:gd name="connsiteY42" fmla="*/ 1620641 h 2094279"/>
              <a:gd name="connsiteX43" fmla="*/ 199717 w 2094279"/>
              <a:gd name="connsiteY43" fmla="*/ 1673636 h 2094279"/>
              <a:gd name="connsiteX44" fmla="*/ 80867 w 2094279"/>
              <a:gd name="connsiteY44" fmla="*/ 1467785 h 2094279"/>
              <a:gd name="connsiteX45" fmla="*/ 215420 w 2094279"/>
              <a:gd name="connsiteY45" fmla="*/ 1346213 h 2094279"/>
              <a:gd name="connsiteX46" fmla="*/ 202203 w 2094279"/>
              <a:gd name="connsiteY46" fmla="*/ 1304612 h 2094279"/>
              <a:gd name="connsiteX47" fmla="*/ 182180 w 2094279"/>
              <a:gd name="connsiteY47" fmla="*/ 1205040 h 2094279"/>
              <a:gd name="connsiteX48" fmla="*/ 0 w 2094279"/>
              <a:gd name="connsiteY48" fmla="*/ 1165989 h 2094279"/>
              <a:gd name="connsiteX49" fmla="*/ 0 w 2094279"/>
              <a:gd name="connsiteY49" fmla="*/ 928291 h 2094279"/>
              <a:gd name="connsiteX50" fmla="*/ 193080 w 2094279"/>
              <a:gd name="connsiteY50" fmla="*/ 886904 h 2094279"/>
              <a:gd name="connsiteX51" fmla="*/ 202203 w 2094279"/>
              <a:gd name="connsiteY51" fmla="*/ 846208 h 2094279"/>
              <a:gd name="connsiteX52" fmla="*/ 231323 w 2094279"/>
              <a:gd name="connsiteY52" fmla="*/ 762436 h 2094279"/>
              <a:gd name="connsiteX53" fmla="*/ 80867 w 2094279"/>
              <a:gd name="connsiteY53" fmla="*/ 626498 h 2094279"/>
              <a:gd name="connsiteX54" fmla="*/ 199717 w 2094279"/>
              <a:gd name="connsiteY54" fmla="*/ 420645 h 2094279"/>
              <a:gd name="connsiteX55" fmla="*/ 402631 w 2094279"/>
              <a:gd name="connsiteY55" fmla="*/ 486189 h 2094279"/>
              <a:gd name="connsiteX56" fmla="*/ 447078 w 2094279"/>
              <a:gd name="connsiteY56" fmla="*/ 438229 h 2094279"/>
              <a:gd name="connsiteX57" fmla="*/ 487077 w 2094279"/>
              <a:gd name="connsiteY57" fmla="*/ 405374 h 2094279"/>
              <a:gd name="connsiteX58" fmla="*/ 420645 w 2094279"/>
              <a:gd name="connsiteY58" fmla="*/ 199715 h 2094279"/>
              <a:gd name="connsiteX59" fmla="*/ 626497 w 2094279"/>
              <a:gd name="connsiteY59" fmla="*/ 80866 h 2094279"/>
              <a:gd name="connsiteX60" fmla="*/ 774618 w 2094279"/>
              <a:gd name="connsiteY60" fmla="*/ 244806 h 2094279"/>
              <a:gd name="connsiteX61" fmla="*/ 870746 w 2094279"/>
              <a:gd name="connsiteY61" fmla="*/ 217936 h 2094279"/>
              <a:gd name="connsiteX62" fmla="*/ 881943 w 2094279"/>
              <a:gd name="connsiteY62" fmla="*/ 216228 h 2094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094279" h="2094279">
                <a:moveTo>
                  <a:pt x="928291" y="0"/>
                </a:moveTo>
                <a:lnTo>
                  <a:pt x="1165990" y="0"/>
                </a:lnTo>
                <a:lnTo>
                  <a:pt x="1212337" y="216228"/>
                </a:lnTo>
                <a:lnTo>
                  <a:pt x="1223536" y="217936"/>
                </a:lnTo>
                <a:lnTo>
                  <a:pt x="1318464" y="246132"/>
                </a:lnTo>
                <a:lnTo>
                  <a:pt x="1467784" y="80866"/>
                </a:lnTo>
                <a:lnTo>
                  <a:pt x="1673637" y="199715"/>
                </a:lnTo>
                <a:lnTo>
                  <a:pt x="1607482" y="404512"/>
                </a:lnTo>
                <a:lnTo>
                  <a:pt x="1619929" y="413588"/>
                </a:lnTo>
                <a:cubicBezTo>
                  <a:pt x="1643088" y="433650"/>
                  <a:pt x="1665184" y="454905"/>
                  <a:pt x="1686118" y="477262"/>
                </a:cubicBezTo>
                <a:lnTo>
                  <a:pt x="1693219" y="485684"/>
                </a:lnTo>
                <a:lnTo>
                  <a:pt x="1894566" y="420645"/>
                </a:lnTo>
                <a:lnTo>
                  <a:pt x="2013416" y="626498"/>
                </a:lnTo>
                <a:lnTo>
                  <a:pt x="1863405" y="762034"/>
                </a:lnTo>
                <a:lnTo>
                  <a:pt x="1875544" y="792151"/>
                </a:lnTo>
                <a:lnTo>
                  <a:pt x="1899390" y="886516"/>
                </a:lnTo>
                <a:lnTo>
                  <a:pt x="2094279" y="928291"/>
                </a:lnTo>
                <a:lnTo>
                  <a:pt x="2094279" y="1165989"/>
                </a:lnTo>
                <a:lnTo>
                  <a:pt x="1911738" y="1205117"/>
                </a:lnTo>
                <a:lnTo>
                  <a:pt x="1904613" y="1251805"/>
                </a:lnTo>
                <a:cubicBezTo>
                  <a:pt x="1899513" y="1276732"/>
                  <a:pt x="1893352" y="1301274"/>
                  <a:pt x="1886180" y="1325380"/>
                </a:cubicBezTo>
                <a:lnTo>
                  <a:pt x="1878958" y="1346300"/>
                </a:lnTo>
                <a:lnTo>
                  <a:pt x="2013416" y="1467785"/>
                </a:lnTo>
                <a:lnTo>
                  <a:pt x="1894566" y="1673636"/>
                </a:lnTo>
                <a:lnTo>
                  <a:pt x="1729332" y="1620262"/>
                </a:lnTo>
                <a:lnTo>
                  <a:pt x="1708961" y="1648199"/>
                </a:lnTo>
                <a:cubicBezTo>
                  <a:pt x="1688901" y="1671358"/>
                  <a:pt x="1667646" y="1693454"/>
                  <a:pt x="1645290" y="1714389"/>
                </a:cubicBezTo>
                <a:lnTo>
                  <a:pt x="1621825" y="1734168"/>
                </a:lnTo>
                <a:lnTo>
                  <a:pt x="1673637" y="1894565"/>
                </a:lnTo>
                <a:lnTo>
                  <a:pt x="1467784" y="2013414"/>
                </a:lnTo>
                <a:lnTo>
                  <a:pt x="1358517" y="1892480"/>
                </a:lnTo>
                <a:lnTo>
                  <a:pt x="1330399" y="1903815"/>
                </a:lnTo>
                <a:lnTo>
                  <a:pt x="1199738" y="1936832"/>
                </a:lnTo>
                <a:lnTo>
                  <a:pt x="1165990" y="2094279"/>
                </a:lnTo>
                <a:lnTo>
                  <a:pt x="928291" y="2094279"/>
                </a:lnTo>
                <a:lnTo>
                  <a:pt x="894472" y="1936503"/>
                </a:lnTo>
                <a:lnTo>
                  <a:pt x="870746" y="1932883"/>
                </a:lnTo>
                <a:lnTo>
                  <a:pt x="735541" y="1892727"/>
                </a:lnTo>
                <a:lnTo>
                  <a:pt x="626497" y="2013414"/>
                </a:lnTo>
                <a:lnTo>
                  <a:pt x="420645" y="1894565"/>
                </a:lnTo>
                <a:lnTo>
                  <a:pt x="472183" y="1735013"/>
                </a:lnTo>
                <a:lnTo>
                  <a:pt x="371751" y="1632153"/>
                </a:lnTo>
                <a:lnTo>
                  <a:pt x="363774" y="1620641"/>
                </a:lnTo>
                <a:lnTo>
                  <a:pt x="199717" y="1673636"/>
                </a:lnTo>
                <a:lnTo>
                  <a:pt x="80867" y="1467785"/>
                </a:lnTo>
                <a:lnTo>
                  <a:pt x="215420" y="1346213"/>
                </a:lnTo>
                <a:lnTo>
                  <a:pt x="202203" y="1304612"/>
                </a:lnTo>
                <a:lnTo>
                  <a:pt x="182180" y="1205040"/>
                </a:lnTo>
                <a:lnTo>
                  <a:pt x="0" y="1165989"/>
                </a:lnTo>
                <a:lnTo>
                  <a:pt x="0" y="928291"/>
                </a:lnTo>
                <a:lnTo>
                  <a:pt x="193080" y="886904"/>
                </a:lnTo>
                <a:lnTo>
                  <a:pt x="202203" y="846208"/>
                </a:lnTo>
                <a:lnTo>
                  <a:pt x="231323" y="762436"/>
                </a:lnTo>
                <a:lnTo>
                  <a:pt x="80867" y="626498"/>
                </a:lnTo>
                <a:lnTo>
                  <a:pt x="199717" y="420645"/>
                </a:lnTo>
                <a:lnTo>
                  <a:pt x="402631" y="486189"/>
                </a:lnTo>
                <a:lnTo>
                  <a:pt x="447078" y="438229"/>
                </a:lnTo>
                <a:lnTo>
                  <a:pt x="487077" y="405374"/>
                </a:lnTo>
                <a:lnTo>
                  <a:pt x="420645" y="199715"/>
                </a:lnTo>
                <a:lnTo>
                  <a:pt x="626497" y="80866"/>
                </a:lnTo>
                <a:lnTo>
                  <a:pt x="774618" y="244806"/>
                </a:lnTo>
                <a:lnTo>
                  <a:pt x="870746" y="217936"/>
                </a:lnTo>
                <a:lnTo>
                  <a:pt x="881943" y="216228"/>
                </a:lnTo>
                <a:close/>
              </a:path>
            </a:pathLst>
          </a:custGeom>
          <a:solidFill>
            <a:schemeClr val="accent1"/>
          </a:solidFill>
          <a:ln w="12700">
            <a:gradFill>
              <a:gsLst>
                <a:gs pos="0">
                  <a:srgbClr val="F3F3F3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/>
          <a:scene3d>
            <a:camera prst="perspectiveContrastingLeftFacing">
              <a:rot lat="21552399" lon="20366100" rev="21191525"/>
            </a:camera>
            <a:lightRig rig="soft" dir="t">
              <a:rot lat="0" lon="0" rev="6600000"/>
            </a:lightRig>
          </a:scene3d>
          <a:sp3d extrusionH="266700">
            <a:extrusionClr>
              <a:schemeClr val="accent1">
                <a:lumMod val="50000"/>
              </a:schemeClr>
            </a:extrusionClr>
            <a:contourClr>
              <a:schemeClr val="bg1">
                <a:lumMod val="9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16" tIns="45708" rIns="91416" bIns="45708" rtlCol="0" anchor="ctr">
            <a:noAutofit/>
          </a:bodyPr>
          <a:lstStyle/>
          <a:p>
            <a:pPr algn="ctr">
              <a:defRPr/>
            </a:pPr>
            <a:endParaRPr lang="zh-CN" altLang="en-US" sz="320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5" name="任意多边形 33"/>
          <p:cNvSpPr/>
          <p:nvPr/>
        </p:nvSpPr>
        <p:spPr>
          <a:xfrm>
            <a:off x="4780280" y="2334260"/>
            <a:ext cx="3065145" cy="3065145"/>
          </a:xfrm>
          <a:custGeom>
            <a:avLst/>
            <a:gdLst>
              <a:gd name="connsiteX0" fmla="*/ 1533117 w 3066235"/>
              <a:gd name="connsiteY0" fmla="*/ 961617 h 3066235"/>
              <a:gd name="connsiteX1" fmla="*/ 961617 w 3066235"/>
              <a:gd name="connsiteY1" fmla="*/ 1533117 h 3066235"/>
              <a:gd name="connsiteX2" fmla="*/ 1533117 w 3066235"/>
              <a:gd name="connsiteY2" fmla="*/ 2104617 h 3066235"/>
              <a:gd name="connsiteX3" fmla="*/ 2104617 w 3066235"/>
              <a:gd name="connsiteY3" fmla="*/ 1533117 h 3066235"/>
              <a:gd name="connsiteX4" fmla="*/ 1533117 w 3066235"/>
              <a:gd name="connsiteY4" fmla="*/ 961617 h 3066235"/>
              <a:gd name="connsiteX5" fmla="*/ 1359112 w 3066235"/>
              <a:gd name="connsiteY5" fmla="*/ 0 h 3066235"/>
              <a:gd name="connsiteX6" fmla="*/ 1707127 w 3066235"/>
              <a:gd name="connsiteY6" fmla="*/ 0 h 3066235"/>
              <a:gd name="connsiteX7" fmla="*/ 1774983 w 3066235"/>
              <a:gd name="connsiteY7" fmla="*/ 316580 h 3066235"/>
              <a:gd name="connsiteX8" fmla="*/ 1791380 w 3066235"/>
              <a:gd name="connsiteY8" fmla="*/ 319080 h 3066235"/>
              <a:gd name="connsiteX9" fmla="*/ 1930364 w 3066235"/>
              <a:gd name="connsiteY9" fmla="*/ 360362 h 3066235"/>
              <a:gd name="connsiteX10" fmla="*/ 2148983 w 3066235"/>
              <a:gd name="connsiteY10" fmla="*/ 118396 h 3066235"/>
              <a:gd name="connsiteX11" fmla="*/ 2450373 w 3066235"/>
              <a:gd name="connsiteY11" fmla="*/ 292403 h 3066235"/>
              <a:gd name="connsiteX12" fmla="*/ 2353515 w 3066235"/>
              <a:gd name="connsiteY12" fmla="*/ 592246 h 3066235"/>
              <a:gd name="connsiteX13" fmla="*/ 2371739 w 3066235"/>
              <a:gd name="connsiteY13" fmla="*/ 605535 h 3066235"/>
              <a:gd name="connsiteX14" fmla="*/ 2468646 w 3066235"/>
              <a:gd name="connsiteY14" fmla="*/ 698760 h 3066235"/>
              <a:gd name="connsiteX15" fmla="*/ 2479043 w 3066235"/>
              <a:gd name="connsiteY15" fmla="*/ 711090 h 3066235"/>
              <a:gd name="connsiteX16" fmla="*/ 2773835 w 3066235"/>
              <a:gd name="connsiteY16" fmla="*/ 615867 h 3066235"/>
              <a:gd name="connsiteX17" fmla="*/ 2947844 w 3066235"/>
              <a:gd name="connsiteY17" fmla="*/ 917256 h 3066235"/>
              <a:gd name="connsiteX18" fmla="*/ 2728212 w 3066235"/>
              <a:gd name="connsiteY18" fmla="*/ 1115695 h 3066235"/>
              <a:gd name="connsiteX19" fmla="*/ 2745985 w 3066235"/>
              <a:gd name="connsiteY19" fmla="*/ 1159789 h 3066235"/>
              <a:gd name="connsiteX20" fmla="*/ 2780898 w 3066235"/>
              <a:gd name="connsiteY20" fmla="*/ 1297949 h 3066235"/>
              <a:gd name="connsiteX21" fmla="*/ 3066235 w 3066235"/>
              <a:gd name="connsiteY21" fmla="*/ 1359112 h 3066235"/>
              <a:gd name="connsiteX22" fmla="*/ 3066235 w 3066235"/>
              <a:gd name="connsiteY22" fmla="*/ 1707125 h 3066235"/>
              <a:gd name="connsiteX23" fmla="*/ 2798977 w 3066235"/>
              <a:gd name="connsiteY23" fmla="*/ 1764413 h 3066235"/>
              <a:gd name="connsiteX24" fmla="*/ 2788545 w 3066235"/>
              <a:gd name="connsiteY24" fmla="*/ 1832769 h 3066235"/>
              <a:gd name="connsiteX25" fmla="*/ 2761557 w 3066235"/>
              <a:gd name="connsiteY25" fmla="*/ 1940490 h 3066235"/>
              <a:gd name="connsiteX26" fmla="*/ 2750984 w 3066235"/>
              <a:gd name="connsiteY26" fmla="*/ 1971119 h 3066235"/>
              <a:gd name="connsiteX27" fmla="*/ 2947844 w 3066235"/>
              <a:gd name="connsiteY27" fmla="*/ 2148985 h 3066235"/>
              <a:gd name="connsiteX28" fmla="*/ 2773835 w 3066235"/>
              <a:gd name="connsiteY28" fmla="*/ 2450371 h 3066235"/>
              <a:gd name="connsiteX29" fmla="*/ 2531916 w 3066235"/>
              <a:gd name="connsiteY29" fmla="*/ 2372227 h 3066235"/>
              <a:gd name="connsiteX30" fmla="*/ 2502091 w 3066235"/>
              <a:gd name="connsiteY30" fmla="*/ 2413129 h 3066235"/>
              <a:gd name="connsiteX31" fmla="*/ 2408870 w 3066235"/>
              <a:gd name="connsiteY31" fmla="*/ 2510038 h 3066235"/>
              <a:gd name="connsiteX32" fmla="*/ 2374515 w 3066235"/>
              <a:gd name="connsiteY32" fmla="*/ 2538996 h 3066235"/>
              <a:gd name="connsiteX33" fmla="*/ 2450373 w 3066235"/>
              <a:gd name="connsiteY33" fmla="*/ 2773834 h 3066235"/>
              <a:gd name="connsiteX34" fmla="*/ 2148983 w 3066235"/>
              <a:gd name="connsiteY34" fmla="*/ 2947841 h 3066235"/>
              <a:gd name="connsiteX35" fmla="*/ 1989006 w 3066235"/>
              <a:gd name="connsiteY35" fmla="*/ 2770781 h 3066235"/>
              <a:gd name="connsiteX36" fmla="*/ 1947838 w 3066235"/>
              <a:gd name="connsiteY36" fmla="*/ 2787377 h 3066235"/>
              <a:gd name="connsiteX37" fmla="*/ 1756537 w 3066235"/>
              <a:gd name="connsiteY37" fmla="*/ 2835717 h 3066235"/>
              <a:gd name="connsiteX38" fmla="*/ 1707127 w 3066235"/>
              <a:gd name="connsiteY38" fmla="*/ 3066235 h 3066235"/>
              <a:gd name="connsiteX39" fmla="*/ 1359112 w 3066235"/>
              <a:gd name="connsiteY39" fmla="*/ 3066235 h 3066235"/>
              <a:gd name="connsiteX40" fmla="*/ 1309597 w 3066235"/>
              <a:gd name="connsiteY40" fmla="*/ 2835235 h 3066235"/>
              <a:gd name="connsiteX41" fmla="*/ 1274860 w 3066235"/>
              <a:gd name="connsiteY41" fmla="*/ 2829935 h 3066235"/>
              <a:gd name="connsiteX42" fmla="*/ 1076906 w 3066235"/>
              <a:gd name="connsiteY42" fmla="*/ 2771143 h 3066235"/>
              <a:gd name="connsiteX43" fmla="*/ 917255 w 3066235"/>
              <a:gd name="connsiteY43" fmla="*/ 2947841 h 3066235"/>
              <a:gd name="connsiteX44" fmla="*/ 615867 w 3066235"/>
              <a:gd name="connsiteY44" fmla="*/ 2773834 h 3066235"/>
              <a:gd name="connsiteX45" fmla="*/ 691324 w 3066235"/>
              <a:gd name="connsiteY45" fmla="*/ 2540234 h 3066235"/>
              <a:gd name="connsiteX46" fmla="*/ 544281 w 3066235"/>
              <a:gd name="connsiteY46" fmla="*/ 2389636 h 3066235"/>
              <a:gd name="connsiteX47" fmla="*/ 532602 w 3066235"/>
              <a:gd name="connsiteY47" fmla="*/ 2372781 h 3066235"/>
              <a:gd name="connsiteX48" fmla="*/ 292406 w 3066235"/>
              <a:gd name="connsiteY48" fmla="*/ 2450371 h 3066235"/>
              <a:gd name="connsiteX49" fmla="*/ 118398 w 3066235"/>
              <a:gd name="connsiteY49" fmla="*/ 2148985 h 3066235"/>
              <a:gd name="connsiteX50" fmla="*/ 315397 w 3066235"/>
              <a:gd name="connsiteY50" fmla="*/ 1970991 h 3066235"/>
              <a:gd name="connsiteX51" fmla="*/ 296046 w 3066235"/>
              <a:gd name="connsiteY51" fmla="*/ 1910083 h 3066235"/>
              <a:gd name="connsiteX52" fmla="*/ 266730 w 3066235"/>
              <a:gd name="connsiteY52" fmla="*/ 1764300 h 3066235"/>
              <a:gd name="connsiteX53" fmla="*/ 0 w 3066235"/>
              <a:gd name="connsiteY53" fmla="*/ 1707125 h 3066235"/>
              <a:gd name="connsiteX54" fmla="*/ 0 w 3066235"/>
              <a:gd name="connsiteY54" fmla="*/ 1359112 h 3066235"/>
              <a:gd name="connsiteX55" fmla="*/ 282689 w 3066235"/>
              <a:gd name="connsiteY55" fmla="*/ 1298517 h 3066235"/>
              <a:gd name="connsiteX56" fmla="*/ 296046 w 3066235"/>
              <a:gd name="connsiteY56" fmla="*/ 1238934 h 3066235"/>
              <a:gd name="connsiteX57" fmla="*/ 338680 w 3066235"/>
              <a:gd name="connsiteY57" fmla="*/ 1116283 h 3066235"/>
              <a:gd name="connsiteX58" fmla="*/ 118398 w 3066235"/>
              <a:gd name="connsiteY58" fmla="*/ 917256 h 3066235"/>
              <a:gd name="connsiteX59" fmla="*/ 292406 w 3066235"/>
              <a:gd name="connsiteY59" fmla="*/ 615867 h 3066235"/>
              <a:gd name="connsiteX60" fmla="*/ 589492 w 3066235"/>
              <a:gd name="connsiteY60" fmla="*/ 711830 h 3066235"/>
              <a:gd name="connsiteX61" fmla="*/ 654567 w 3066235"/>
              <a:gd name="connsiteY61" fmla="*/ 641611 h 3066235"/>
              <a:gd name="connsiteX62" fmla="*/ 713130 w 3066235"/>
              <a:gd name="connsiteY62" fmla="*/ 593508 h 3066235"/>
              <a:gd name="connsiteX63" fmla="*/ 615867 w 3066235"/>
              <a:gd name="connsiteY63" fmla="*/ 292403 h 3066235"/>
              <a:gd name="connsiteX64" fmla="*/ 917255 w 3066235"/>
              <a:gd name="connsiteY64" fmla="*/ 118396 h 3066235"/>
              <a:gd name="connsiteX65" fmla="*/ 1134119 w 3066235"/>
              <a:gd name="connsiteY65" fmla="*/ 358421 h 3066235"/>
              <a:gd name="connsiteX66" fmla="*/ 1274860 w 3066235"/>
              <a:gd name="connsiteY66" fmla="*/ 319080 h 3066235"/>
              <a:gd name="connsiteX67" fmla="*/ 1291253 w 3066235"/>
              <a:gd name="connsiteY67" fmla="*/ 316580 h 306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066235" h="3066235">
                <a:moveTo>
                  <a:pt x="1533117" y="961617"/>
                </a:moveTo>
                <a:cubicBezTo>
                  <a:pt x="1217486" y="961617"/>
                  <a:pt x="961617" y="1217486"/>
                  <a:pt x="961617" y="1533117"/>
                </a:cubicBezTo>
                <a:cubicBezTo>
                  <a:pt x="961617" y="1848748"/>
                  <a:pt x="1217486" y="2104617"/>
                  <a:pt x="1533117" y="2104617"/>
                </a:cubicBezTo>
                <a:cubicBezTo>
                  <a:pt x="1848748" y="2104617"/>
                  <a:pt x="2104617" y="1848748"/>
                  <a:pt x="2104617" y="1533117"/>
                </a:cubicBezTo>
                <a:cubicBezTo>
                  <a:pt x="2104617" y="1217486"/>
                  <a:pt x="1848748" y="961617"/>
                  <a:pt x="1533117" y="961617"/>
                </a:cubicBezTo>
                <a:close/>
                <a:moveTo>
                  <a:pt x="1359112" y="0"/>
                </a:moveTo>
                <a:lnTo>
                  <a:pt x="1707127" y="0"/>
                </a:lnTo>
                <a:lnTo>
                  <a:pt x="1774983" y="316580"/>
                </a:lnTo>
                <a:lnTo>
                  <a:pt x="1791380" y="319080"/>
                </a:lnTo>
                <a:lnTo>
                  <a:pt x="1930364" y="360362"/>
                </a:lnTo>
                <a:lnTo>
                  <a:pt x="2148983" y="118396"/>
                </a:lnTo>
                <a:lnTo>
                  <a:pt x="2450373" y="292403"/>
                </a:lnTo>
                <a:lnTo>
                  <a:pt x="2353515" y="592246"/>
                </a:lnTo>
                <a:lnTo>
                  <a:pt x="2371739" y="605535"/>
                </a:lnTo>
                <a:cubicBezTo>
                  <a:pt x="2405646" y="634907"/>
                  <a:pt x="2437997" y="666027"/>
                  <a:pt x="2468646" y="698760"/>
                </a:cubicBezTo>
                <a:lnTo>
                  <a:pt x="2479043" y="711090"/>
                </a:lnTo>
                <a:lnTo>
                  <a:pt x="2773835" y="615867"/>
                </a:lnTo>
                <a:lnTo>
                  <a:pt x="2947844" y="917256"/>
                </a:lnTo>
                <a:lnTo>
                  <a:pt x="2728212" y="1115695"/>
                </a:lnTo>
                <a:lnTo>
                  <a:pt x="2745985" y="1159789"/>
                </a:lnTo>
                <a:lnTo>
                  <a:pt x="2780898" y="1297949"/>
                </a:lnTo>
                <a:lnTo>
                  <a:pt x="3066235" y="1359112"/>
                </a:lnTo>
                <a:lnTo>
                  <a:pt x="3066235" y="1707125"/>
                </a:lnTo>
                <a:lnTo>
                  <a:pt x="2798977" y="1764413"/>
                </a:lnTo>
                <a:lnTo>
                  <a:pt x="2788545" y="1832769"/>
                </a:lnTo>
                <a:cubicBezTo>
                  <a:pt x="2781078" y="1869264"/>
                  <a:pt x="2772058" y="1905196"/>
                  <a:pt x="2761557" y="1940490"/>
                </a:cubicBezTo>
                <a:lnTo>
                  <a:pt x="2750984" y="1971119"/>
                </a:lnTo>
                <a:lnTo>
                  <a:pt x="2947844" y="2148985"/>
                </a:lnTo>
                <a:lnTo>
                  <a:pt x="2773835" y="2450371"/>
                </a:lnTo>
                <a:lnTo>
                  <a:pt x="2531916" y="2372227"/>
                </a:lnTo>
                <a:lnTo>
                  <a:pt x="2502091" y="2413129"/>
                </a:lnTo>
                <a:cubicBezTo>
                  <a:pt x="2472721" y="2447036"/>
                  <a:pt x="2441602" y="2479387"/>
                  <a:pt x="2408870" y="2510038"/>
                </a:cubicBezTo>
                <a:lnTo>
                  <a:pt x="2374515" y="2538996"/>
                </a:lnTo>
                <a:lnTo>
                  <a:pt x="2450373" y="2773834"/>
                </a:lnTo>
                <a:lnTo>
                  <a:pt x="2148983" y="2947841"/>
                </a:lnTo>
                <a:lnTo>
                  <a:pt x="1989006" y="2770781"/>
                </a:lnTo>
                <a:lnTo>
                  <a:pt x="1947838" y="2787377"/>
                </a:lnTo>
                <a:lnTo>
                  <a:pt x="1756537" y="2835717"/>
                </a:lnTo>
                <a:lnTo>
                  <a:pt x="1707127" y="3066235"/>
                </a:lnTo>
                <a:lnTo>
                  <a:pt x="1359112" y="3066235"/>
                </a:lnTo>
                <a:lnTo>
                  <a:pt x="1309597" y="2835235"/>
                </a:lnTo>
                <a:lnTo>
                  <a:pt x="1274860" y="2829935"/>
                </a:lnTo>
                <a:lnTo>
                  <a:pt x="1076906" y="2771143"/>
                </a:lnTo>
                <a:lnTo>
                  <a:pt x="917255" y="2947841"/>
                </a:lnTo>
                <a:lnTo>
                  <a:pt x="615867" y="2773834"/>
                </a:lnTo>
                <a:lnTo>
                  <a:pt x="691324" y="2540234"/>
                </a:lnTo>
                <a:lnTo>
                  <a:pt x="544281" y="2389636"/>
                </a:lnTo>
                <a:lnTo>
                  <a:pt x="532602" y="2372781"/>
                </a:lnTo>
                <a:lnTo>
                  <a:pt x="292406" y="2450371"/>
                </a:lnTo>
                <a:lnTo>
                  <a:pt x="118398" y="2148985"/>
                </a:lnTo>
                <a:lnTo>
                  <a:pt x="315397" y="1970991"/>
                </a:lnTo>
                <a:lnTo>
                  <a:pt x="296046" y="1910083"/>
                </a:lnTo>
                <a:lnTo>
                  <a:pt x="266730" y="1764300"/>
                </a:lnTo>
                <a:lnTo>
                  <a:pt x="0" y="1707125"/>
                </a:lnTo>
                <a:lnTo>
                  <a:pt x="0" y="1359112"/>
                </a:lnTo>
                <a:lnTo>
                  <a:pt x="282689" y="1298517"/>
                </a:lnTo>
                <a:lnTo>
                  <a:pt x="296046" y="1238934"/>
                </a:lnTo>
                <a:lnTo>
                  <a:pt x="338680" y="1116283"/>
                </a:lnTo>
                <a:lnTo>
                  <a:pt x="118398" y="917256"/>
                </a:lnTo>
                <a:lnTo>
                  <a:pt x="292406" y="615867"/>
                </a:lnTo>
                <a:lnTo>
                  <a:pt x="589492" y="711830"/>
                </a:lnTo>
                <a:lnTo>
                  <a:pt x="654567" y="641611"/>
                </a:lnTo>
                <a:lnTo>
                  <a:pt x="713130" y="593508"/>
                </a:lnTo>
                <a:lnTo>
                  <a:pt x="615867" y="292403"/>
                </a:lnTo>
                <a:lnTo>
                  <a:pt x="917255" y="118396"/>
                </a:lnTo>
                <a:lnTo>
                  <a:pt x="1134119" y="358421"/>
                </a:lnTo>
                <a:lnTo>
                  <a:pt x="1274860" y="319080"/>
                </a:lnTo>
                <a:lnTo>
                  <a:pt x="1291253" y="316580"/>
                </a:lnTo>
                <a:close/>
              </a:path>
            </a:pathLst>
          </a:custGeom>
          <a:solidFill>
            <a:schemeClr val="accent2"/>
          </a:solidFill>
          <a:ln w="12700">
            <a:gradFill>
              <a:gsLst>
                <a:gs pos="0">
                  <a:srgbClr val="F3F3F3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  <a:effectLst>
            <a:outerShdw blurRad="342900" dist="177800" dir="10200000" algn="br" rotWithShape="0">
              <a:prstClr val="black">
                <a:alpha val="41000"/>
              </a:prstClr>
            </a:outerShdw>
          </a:effectLst>
          <a:scene3d>
            <a:camera prst="perspectiveContrastingLeftFacing">
              <a:rot lat="21552399" lon="20366100" rev="21191525"/>
            </a:camera>
            <a:lightRig rig="soft" dir="t">
              <a:rot lat="0" lon="0" rev="6600000"/>
            </a:lightRig>
          </a:scene3d>
          <a:sp3d extrusionH="266700">
            <a:extrusionClr>
              <a:schemeClr val="accent2">
                <a:lumMod val="50000"/>
              </a:schemeClr>
            </a:extrusionClr>
            <a:contourClr>
              <a:schemeClr val="bg1">
                <a:lumMod val="9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16" tIns="45708" rIns="91416" bIns="45708" rtlCol="0" anchor="ctr">
            <a:noAutofit/>
          </a:bodyPr>
          <a:lstStyle/>
          <a:p>
            <a:pPr algn="ctr">
              <a:defRPr/>
            </a:pPr>
            <a:endParaRPr lang="zh-CN" altLang="en-US" sz="320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6" name="文本框 36"/>
          <p:cNvSpPr txBox="1"/>
          <p:nvPr/>
        </p:nvSpPr>
        <p:spPr>
          <a:xfrm>
            <a:off x="4111625" y="2950845"/>
            <a:ext cx="1000125" cy="584835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pPr algn="ctr">
              <a:defRPr/>
            </a:pPr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文本框 37"/>
          <p:cNvSpPr txBox="1"/>
          <p:nvPr/>
        </p:nvSpPr>
        <p:spPr>
          <a:xfrm>
            <a:off x="4831080" y="3360420"/>
            <a:ext cx="1000125" cy="584835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pPr algn="ctr">
              <a:defRPr/>
            </a:pPr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文本框 38"/>
          <p:cNvSpPr txBox="1"/>
          <p:nvPr/>
        </p:nvSpPr>
        <p:spPr>
          <a:xfrm>
            <a:off x="5414010" y="3801110"/>
            <a:ext cx="1000125" cy="584835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/>
          <a:p>
            <a:pPr algn="ctr">
              <a:defRPr/>
            </a:pPr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grpSp>
        <p:nvGrpSpPr>
          <p:cNvPr id="52" name="组合 53"/>
          <p:cNvGrpSpPr/>
          <p:nvPr/>
        </p:nvGrpSpPr>
        <p:grpSpPr>
          <a:xfrm flipH="1" flipV="1">
            <a:off x="1795780" y="2136775"/>
            <a:ext cx="2684145" cy="333375"/>
            <a:chOff x="1795780" y="2136775"/>
            <a:chExt cx="2684145" cy="333375"/>
          </a:xfrm>
          <a:effectLst>
            <a:outerShdw blurRad="76200" dist="254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3" name="椭圆 56"/>
            <p:cNvSpPr/>
            <p:nvPr/>
          </p:nvSpPr>
          <p:spPr>
            <a:xfrm>
              <a:off x="1795780" y="2136775"/>
              <a:ext cx="81280" cy="812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4" name="任意多边形 57"/>
            <p:cNvSpPr/>
            <p:nvPr/>
          </p:nvSpPr>
          <p:spPr>
            <a:xfrm>
              <a:off x="1858645" y="2197735"/>
              <a:ext cx="2621280" cy="271780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  <a:gd name="connsiteX0-1" fmla="*/ 0 w 2815771"/>
                <a:gd name="connsiteY0-2" fmla="*/ 0 h 649982"/>
                <a:gd name="connsiteX1-3" fmla="*/ 254183 w 2815771"/>
                <a:gd name="connsiteY1-4" fmla="*/ 649982 h 649982"/>
                <a:gd name="connsiteX2-5" fmla="*/ 2815771 w 2815771"/>
                <a:gd name="connsiteY2-6" fmla="*/ 638628 h 6499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15771" h="649982">
                  <a:moveTo>
                    <a:pt x="0" y="0"/>
                  </a:moveTo>
                  <a:lnTo>
                    <a:pt x="254183" y="649982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9" name="Rectangle 40"/>
          <p:cNvSpPr>
            <a:spLocks noChangeArrowheads="1"/>
          </p:cNvSpPr>
          <p:nvPr/>
        </p:nvSpPr>
        <p:spPr bwMode="auto">
          <a:xfrm>
            <a:off x="3703955" y="2056765"/>
            <a:ext cx="207010" cy="1651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pPr>
              <a:defRPr/>
            </a:pPr>
            <a:endParaRPr lang="zh-CN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3589655" y="1697355"/>
            <a:ext cx="435610" cy="356235"/>
            <a:chOff x="3589655" y="1697355"/>
            <a:chExt cx="435610" cy="356235"/>
          </a:xfrm>
          <a:solidFill>
            <a:schemeClr val="accent1"/>
          </a:solidFill>
        </p:grpSpPr>
        <p:sp>
          <p:nvSpPr>
            <p:cNvPr id="57" name="Freeform 37"/>
            <p:cNvSpPr>
              <a:spLocks noEditPoints="1"/>
            </p:cNvSpPr>
            <p:nvPr/>
          </p:nvSpPr>
          <p:spPr bwMode="auto">
            <a:xfrm>
              <a:off x="3589655" y="1697355"/>
              <a:ext cx="435610" cy="311150"/>
            </a:xfrm>
            <a:custGeom>
              <a:avLst/>
              <a:gdLst>
                <a:gd name="T0" fmla="*/ 37 w 438"/>
                <a:gd name="T1" fmla="*/ 255 h 313"/>
                <a:gd name="T2" fmla="*/ 20 w 438"/>
                <a:gd name="T3" fmla="*/ 237 h 313"/>
                <a:gd name="T4" fmla="*/ 20 w 438"/>
                <a:gd name="T5" fmla="*/ 42 h 313"/>
                <a:gd name="T6" fmla="*/ 37 w 438"/>
                <a:gd name="T7" fmla="*/ 25 h 313"/>
                <a:gd name="T8" fmla="*/ 401 w 438"/>
                <a:gd name="T9" fmla="*/ 25 h 313"/>
                <a:gd name="T10" fmla="*/ 418 w 438"/>
                <a:gd name="T11" fmla="*/ 42 h 313"/>
                <a:gd name="T12" fmla="*/ 418 w 438"/>
                <a:gd name="T13" fmla="*/ 237 h 313"/>
                <a:gd name="T14" fmla="*/ 401 w 438"/>
                <a:gd name="T15" fmla="*/ 255 h 313"/>
                <a:gd name="T16" fmla="*/ 37 w 438"/>
                <a:gd name="T17" fmla="*/ 255 h 313"/>
                <a:gd name="T18" fmla="*/ 424 w 438"/>
                <a:gd name="T19" fmla="*/ 0 h 313"/>
                <a:gd name="T20" fmla="*/ 14 w 438"/>
                <a:gd name="T21" fmla="*/ 0 h 313"/>
                <a:gd name="T22" fmla="*/ 0 w 438"/>
                <a:gd name="T23" fmla="*/ 14 h 313"/>
                <a:gd name="T24" fmla="*/ 0 w 438"/>
                <a:gd name="T25" fmla="*/ 298 h 313"/>
                <a:gd name="T26" fmla="*/ 14 w 438"/>
                <a:gd name="T27" fmla="*/ 313 h 313"/>
                <a:gd name="T28" fmla="*/ 424 w 438"/>
                <a:gd name="T29" fmla="*/ 313 h 313"/>
                <a:gd name="T30" fmla="*/ 438 w 438"/>
                <a:gd name="T31" fmla="*/ 298 h 313"/>
                <a:gd name="T32" fmla="*/ 438 w 438"/>
                <a:gd name="T33" fmla="*/ 14 h 313"/>
                <a:gd name="T34" fmla="*/ 424 w 438"/>
                <a:gd name="T35" fmla="*/ 0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38" h="313">
                  <a:moveTo>
                    <a:pt x="37" y="255"/>
                  </a:moveTo>
                  <a:cubicBezTo>
                    <a:pt x="28" y="255"/>
                    <a:pt x="20" y="247"/>
                    <a:pt x="20" y="237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33"/>
                    <a:pt x="28" y="25"/>
                    <a:pt x="37" y="25"/>
                  </a:cubicBezTo>
                  <a:cubicBezTo>
                    <a:pt x="401" y="25"/>
                    <a:pt x="401" y="25"/>
                    <a:pt x="401" y="25"/>
                  </a:cubicBezTo>
                  <a:cubicBezTo>
                    <a:pt x="410" y="25"/>
                    <a:pt x="418" y="33"/>
                    <a:pt x="418" y="42"/>
                  </a:cubicBezTo>
                  <a:cubicBezTo>
                    <a:pt x="418" y="237"/>
                    <a:pt x="418" y="237"/>
                    <a:pt x="418" y="237"/>
                  </a:cubicBezTo>
                  <a:cubicBezTo>
                    <a:pt x="418" y="247"/>
                    <a:pt x="410" y="255"/>
                    <a:pt x="401" y="255"/>
                  </a:cubicBezTo>
                  <a:cubicBezTo>
                    <a:pt x="37" y="255"/>
                    <a:pt x="37" y="255"/>
                    <a:pt x="37" y="255"/>
                  </a:cubicBezTo>
                  <a:moveTo>
                    <a:pt x="42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0" y="306"/>
                    <a:pt x="6" y="313"/>
                    <a:pt x="14" y="313"/>
                  </a:cubicBezTo>
                  <a:cubicBezTo>
                    <a:pt x="424" y="313"/>
                    <a:pt x="424" y="313"/>
                    <a:pt x="424" y="313"/>
                  </a:cubicBezTo>
                  <a:cubicBezTo>
                    <a:pt x="432" y="313"/>
                    <a:pt x="438" y="306"/>
                    <a:pt x="438" y="298"/>
                  </a:cubicBezTo>
                  <a:cubicBezTo>
                    <a:pt x="438" y="14"/>
                    <a:pt x="438" y="14"/>
                    <a:pt x="438" y="14"/>
                  </a:cubicBezTo>
                  <a:cubicBezTo>
                    <a:pt x="438" y="6"/>
                    <a:pt x="432" y="0"/>
                    <a:pt x="42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8" name="Rectangle 38"/>
            <p:cNvSpPr>
              <a:spLocks noChangeArrowheads="1"/>
            </p:cNvSpPr>
            <p:nvPr/>
          </p:nvSpPr>
          <p:spPr bwMode="auto">
            <a:xfrm>
              <a:off x="3754755" y="2012950"/>
              <a:ext cx="105410" cy="4064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60" name="Freeform 42"/>
            <p:cNvSpPr/>
            <p:nvPr/>
          </p:nvSpPr>
          <p:spPr bwMode="auto">
            <a:xfrm>
              <a:off x="3636010" y="1757045"/>
              <a:ext cx="321945" cy="167005"/>
            </a:xfrm>
            <a:custGeom>
              <a:avLst/>
              <a:gdLst>
                <a:gd name="T0" fmla="*/ 761 w 771"/>
                <a:gd name="T1" fmla="*/ 0 h 400"/>
                <a:gd name="T2" fmla="*/ 657 w 771"/>
                <a:gd name="T3" fmla="*/ 9 h 400"/>
                <a:gd name="T4" fmla="*/ 697 w 771"/>
                <a:gd name="T5" fmla="*/ 43 h 400"/>
                <a:gd name="T6" fmla="*/ 557 w 771"/>
                <a:gd name="T7" fmla="*/ 212 h 400"/>
                <a:gd name="T8" fmla="*/ 419 w 771"/>
                <a:gd name="T9" fmla="*/ 105 h 400"/>
                <a:gd name="T10" fmla="*/ 286 w 771"/>
                <a:gd name="T11" fmla="*/ 278 h 400"/>
                <a:gd name="T12" fmla="*/ 152 w 771"/>
                <a:gd name="T13" fmla="*/ 190 h 400"/>
                <a:gd name="T14" fmla="*/ 0 w 771"/>
                <a:gd name="T15" fmla="*/ 369 h 400"/>
                <a:gd name="T16" fmla="*/ 36 w 771"/>
                <a:gd name="T17" fmla="*/ 400 h 400"/>
                <a:gd name="T18" fmla="*/ 162 w 771"/>
                <a:gd name="T19" fmla="*/ 252 h 400"/>
                <a:gd name="T20" fmla="*/ 298 w 771"/>
                <a:gd name="T21" fmla="*/ 343 h 400"/>
                <a:gd name="T22" fmla="*/ 428 w 771"/>
                <a:gd name="T23" fmla="*/ 171 h 400"/>
                <a:gd name="T24" fmla="*/ 564 w 771"/>
                <a:gd name="T25" fmla="*/ 278 h 400"/>
                <a:gd name="T26" fmla="*/ 733 w 771"/>
                <a:gd name="T27" fmla="*/ 71 h 400"/>
                <a:gd name="T28" fmla="*/ 771 w 771"/>
                <a:gd name="T29" fmla="*/ 105 h 400"/>
                <a:gd name="T30" fmla="*/ 761 w 771"/>
                <a:gd name="T3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71" h="400">
                  <a:moveTo>
                    <a:pt x="761" y="0"/>
                  </a:moveTo>
                  <a:lnTo>
                    <a:pt x="657" y="9"/>
                  </a:lnTo>
                  <a:lnTo>
                    <a:pt x="697" y="43"/>
                  </a:lnTo>
                  <a:lnTo>
                    <a:pt x="557" y="212"/>
                  </a:lnTo>
                  <a:lnTo>
                    <a:pt x="419" y="105"/>
                  </a:lnTo>
                  <a:lnTo>
                    <a:pt x="286" y="278"/>
                  </a:lnTo>
                  <a:lnTo>
                    <a:pt x="152" y="190"/>
                  </a:lnTo>
                  <a:lnTo>
                    <a:pt x="0" y="369"/>
                  </a:lnTo>
                  <a:lnTo>
                    <a:pt x="36" y="400"/>
                  </a:lnTo>
                  <a:lnTo>
                    <a:pt x="162" y="252"/>
                  </a:lnTo>
                  <a:lnTo>
                    <a:pt x="298" y="343"/>
                  </a:lnTo>
                  <a:lnTo>
                    <a:pt x="428" y="171"/>
                  </a:lnTo>
                  <a:lnTo>
                    <a:pt x="564" y="278"/>
                  </a:lnTo>
                  <a:lnTo>
                    <a:pt x="733" y="71"/>
                  </a:lnTo>
                  <a:lnTo>
                    <a:pt x="771" y="105"/>
                  </a:lnTo>
                  <a:lnTo>
                    <a:pt x="76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pPr>
                <a:defRPr/>
              </a:pP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61" name="组合 59"/>
          <p:cNvGrpSpPr/>
          <p:nvPr/>
        </p:nvGrpSpPr>
        <p:grpSpPr>
          <a:xfrm flipH="1">
            <a:off x="1722120" y="4511040"/>
            <a:ext cx="3376295" cy="528955"/>
            <a:chOff x="1722120" y="4511040"/>
            <a:chExt cx="3376295" cy="528955"/>
          </a:xfrm>
          <a:effectLst>
            <a:outerShdw blurRad="76200" dist="254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2" name="椭圆 62"/>
            <p:cNvSpPr/>
            <p:nvPr/>
          </p:nvSpPr>
          <p:spPr>
            <a:xfrm>
              <a:off x="1722120" y="4511040"/>
              <a:ext cx="81280" cy="812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65" name="任意多边形 63"/>
            <p:cNvSpPr/>
            <p:nvPr/>
          </p:nvSpPr>
          <p:spPr>
            <a:xfrm>
              <a:off x="1772920" y="4551680"/>
              <a:ext cx="3324860" cy="487680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  <a:gd name="connsiteX0-1" fmla="*/ 0 w 2815771"/>
                <a:gd name="connsiteY0-2" fmla="*/ 0 h 649982"/>
                <a:gd name="connsiteX1-3" fmla="*/ 254183 w 2815771"/>
                <a:gd name="connsiteY1-4" fmla="*/ 649982 h 649982"/>
                <a:gd name="connsiteX2-5" fmla="*/ 2815771 w 2815771"/>
                <a:gd name="connsiteY2-6" fmla="*/ 638628 h 649982"/>
                <a:gd name="connsiteX0-7" fmla="*/ 325514 w 3141285"/>
                <a:gd name="connsiteY0-8" fmla="*/ 0 h 649982"/>
                <a:gd name="connsiteX1-9" fmla="*/ 0 w 3141285"/>
                <a:gd name="connsiteY1-10" fmla="*/ 649982 h 649982"/>
                <a:gd name="connsiteX2-11" fmla="*/ 3141285 w 3141285"/>
                <a:gd name="connsiteY2-12" fmla="*/ 638628 h 649982"/>
                <a:gd name="connsiteX0-13" fmla="*/ 0 w 3572787"/>
                <a:gd name="connsiteY0-14" fmla="*/ 0 h 1149622"/>
                <a:gd name="connsiteX1-15" fmla="*/ 431502 w 3572787"/>
                <a:gd name="connsiteY1-16" fmla="*/ 1149622 h 1149622"/>
                <a:gd name="connsiteX2-17" fmla="*/ 3572787 w 3572787"/>
                <a:gd name="connsiteY2-18" fmla="*/ 1138268 h 1149622"/>
                <a:gd name="connsiteX0-19" fmla="*/ 0 w 3572787"/>
                <a:gd name="connsiteY0-20" fmla="*/ 0 h 1164763"/>
                <a:gd name="connsiteX1-21" fmla="*/ 376942 w 3572787"/>
                <a:gd name="connsiteY1-22" fmla="*/ 1164763 h 1164763"/>
                <a:gd name="connsiteX2-23" fmla="*/ 3572787 w 3572787"/>
                <a:gd name="connsiteY2-24" fmla="*/ 1138268 h 1164763"/>
                <a:gd name="connsiteX0-25" fmla="*/ 0 w 3572787"/>
                <a:gd name="connsiteY0-26" fmla="*/ 0 h 1164763"/>
                <a:gd name="connsiteX1-27" fmla="*/ 561081 w 3572787"/>
                <a:gd name="connsiteY1-28" fmla="*/ 1164763 h 1164763"/>
                <a:gd name="connsiteX2-29" fmla="*/ 3572787 w 3572787"/>
                <a:gd name="connsiteY2-30" fmla="*/ 1138268 h 11647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3572787" h="1164763">
                  <a:moveTo>
                    <a:pt x="0" y="0"/>
                  </a:moveTo>
                  <a:lnTo>
                    <a:pt x="561081" y="1164763"/>
                  </a:lnTo>
                  <a:lnTo>
                    <a:pt x="3572787" y="1138268"/>
                  </a:ln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8" name="Freeform 53"/>
          <p:cNvSpPr>
            <a:spLocks noEditPoints="1"/>
          </p:cNvSpPr>
          <p:nvPr/>
        </p:nvSpPr>
        <p:spPr bwMode="auto">
          <a:xfrm>
            <a:off x="3473450" y="4591685"/>
            <a:ext cx="405765" cy="405765"/>
          </a:xfrm>
          <a:custGeom>
            <a:avLst/>
            <a:gdLst>
              <a:gd name="T0" fmla="*/ 166 w 449"/>
              <a:gd name="T1" fmla="*/ 362 h 449"/>
              <a:gd name="T2" fmla="*/ 211 w 449"/>
              <a:gd name="T3" fmla="*/ 317 h 449"/>
              <a:gd name="T4" fmla="*/ 237 w 449"/>
              <a:gd name="T5" fmla="*/ 407 h 449"/>
              <a:gd name="T6" fmla="*/ 302 w 449"/>
              <a:gd name="T7" fmla="*/ 313 h 449"/>
              <a:gd name="T8" fmla="*/ 294 w 449"/>
              <a:gd name="T9" fmla="*/ 393 h 449"/>
              <a:gd name="T10" fmla="*/ 395 w 449"/>
              <a:gd name="T11" fmla="*/ 289 h 449"/>
              <a:gd name="T12" fmla="*/ 294 w 449"/>
              <a:gd name="T13" fmla="*/ 393 h 449"/>
              <a:gd name="T14" fmla="*/ 95 w 449"/>
              <a:gd name="T15" fmla="*/ 353 h 449"/>
              <a:gd name="T16" fmla="*/ 121 w 449"/>
              <a:gd name="T17" fmla="*/ 309 h 449"/>
              <a:gd name="T18" fmla="*/ 237 w 449"/>
              <a:gd name="T19" fmla="*/ 293 h 449"/>
              <a:gd name="T20" fmla="*/ 311 w 449"/>
              <a:gd name="T21" fmla="*/ 191 h 449"/>
              <a:gd name="T22" fmla="*/ 307 w 449"/>
              <a:gd name="T23" fmla="*/ 287 h 449"/>
              <a:gd name="T24" fmla="*/ 211 w 449"/>
              <a:gd name="T25" fmla="*/ 293 h 449"/>
              <a:gd name="T26" fmla="*/ 137 w 449"/>
              <a:gd name="T27" fmla="*/ 226 h 449"/>
              <a:gd name="T28" fmla="*/ 211 w 449"/>
              <a:gd name="T29" fmla="*/ 196 h 449"/>
              <a:gd name="T30" fmla="*/ 333 w 449"/>
              <a:gd name="T31" fmla="*/ 282 h 449"/>
              <a:gd name="T32" fmla="*/ 335 w 449"/>
              <a:gd name="T33" fmla="*/ 188 h 449"/>
              <a:gd name="T34" fmla="*/ 407 w 449"/>
              <a:gd name="T35" fmla="*/ 224 h 449"/>
              <a:gd name="T36" fmla="*/ 116 w 449"/>
              <a:gd name="T37" fmla="*/ 281 h 449"/>
              <a:gd name="T38" fmla="*/ 41 w 449"/>
              <a:gd name="T39" fmla="*/ 224 h 449"/>
              <a:gd name="T40" fmla="*/ 114 w 449"/>
              <a:gd name="T41" fmla="*/ 188 h 449"/>
              <a:gd name="T42" fmla="*/ 116 w 449"/>
              <a:gd name="T43" fmla="*/ 281 h 449"/>
              <a:gd name="T44" fmla="*/ 59 w 449"/>
              <a:gd name="T45" fmla="*/ 146 h 449"/>
              <a:gd name="T46" fmla="*/ 158 w 449"/>
              <a:gd name="T47" fmla="*/ 55 h 449"/>
              <a:gd name="T48" fmla="*/ 331 w 449"/>
              <a:gd name="T49" fmla="*/ 164 h 449"/>
              <a:gd name="T50" fmla="*/ 390 w 449"/>
              <a:gd name="T51" fmla="*/ 147 h 449"/>
              <a:gd name="T52" fmla="*/ 211 w 449"/>
              <a:gd name="T53" fmla="*/ 171 h 449"/>
              <a:gd name="T54" fmla="*/ 210 w 449"/>
              <a:gd name="T55" fmla="*/ 43 h 449"/>
              <a:gd name="T56" fmla="*/ 211 w 449"/>
              <a:gd name="T57" fmla="*/ 171 h 449"/>
              <a:gd name="T58" fmla="*/ 237 w 449"/>
              <a:gd name="T59" fmla="*/ 43 h 449"/>
              <a:gd name="T60" fmla="*/ 308 w 449"/>
              <a:gd name="T61" fmla="*/ 167 h 449"/>
              <a:gd name="T62" fmla="*/ 225 w 449"/>
              <a:gd name="T63" fmla="*/ 0 h 449"/>
              <a:gd name="T64" fmla="*/ 225 w 449"/>
              <a:gd name="T65" fmla="*/ 449 h 449"/>
              <a:gd name="T66" fmla="*/ 225 w 449"/>
              <a:gd name="T67" fmla="*/ 0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9" h="449">
                <a:moveTo>
                  <a:pt x="211" y="407"/>
                </a:moveTo>
                <a:cubicBezTo>
                  <a:pt x="192" y="407"/>
                  <a:pt x="176" y="387"/>
                  <a:pt x="166" y="362"/>
                </a:cubicBezTo>
                <a:cubicBezTo>
                  <a:pt x="158" y="347"/>
                  <a:pt x="151" y="331"/>
                  <a:pt x="147" y="313"/>
                </a:cubicBezTo>
                <a:cubicBezTo>
                  <a:pt x="168" y="315"/>
                  <a:pt x="189" y="317"/>
                  <a:pt x="211" y="317"/>
                </a:cubicBezTo>
                <a:cubicBezTo>
                  <a:pt x="211" y="407"/>
                  <a:pt x="211" y="407"/>
                  <a:pt x="211" y="407"/>
                </a:cubicBezTo>
                <a:moveTo>
                  <a:pt x="237" y="407"/>
                </a:moveTo>
                <a:cubicBezTo>
                  <a:pt x="237" y="317"/>
                  <a:pt x="237" y="317"/>
                  <a:pt x="237" y="317"/>
                </a:cubicBezTo>
                <a:cubicBezTo>
                  <a:pt x="259" y="317"/>
                  <a:pt x="280" y="315"/>
                  <a:pt x="302" y="313"/>
                </a:cubicBezTo>
                <a:cubicBezTo>
                  <a:pt x="293" y="344"/>
                  <a:pt x="273" y="407"/>
                  <a:pt x="237" y="407"/>
                </a:cubicBezTo>
                <a:moveTo>
                  <a:pt x="294" y="393"/>
                </a:moveTo>
                <a:cubicBezTo>
                  <a:pt x="311" y="370"/>
                  <a:pt x="320" y="343"/>
                  <a:pt x="328" y="310"/>
                </a:cubicBezTo>
                <a:cubicBezTo>
                  <a:pt x="354" y="304"/>
                  <a:pt x="377" y="297"/>
                  <a:pt x="395" y="289"/>
                </a:cubicBezTo>
                <a:cubicBezTo>
                  <a:pt x="386" y="313"/>
                  <a:pt x="373" y="335"/>
                  <a:pt x="354" y="353"/>
                </a:cubicBezTo>
                <a:cubicBezTo>
                  <a:pt x="337" y="371"/>
                  <a:pt x="315" y="384"/>
                  <a:pt x="294" y="393"/>
                </a:cubicBezTo>
                <a:moveTo>
                  <a:pt x="154" y="393"/>
                </a:moveTo>
                <a:cubicBezTo>
                  <a:pt x="133" y="384"/>
                  <a:pt x="112" y="371"/>
                  <a:pt x="95" y="353"/>
                </a:cubicBezTo>
                <a:cubicBezTo>
                  <a:pt x="75" y="335"/>
                  <a:pt x="62" y="312"/>
                  <a:pt x="52" y="286"/>
                </a:cubicBezTo>
                <a:cubicBezTo>
                  <a:pt x="68" y="295"/>
                  <a:pt x="93" y="303"/>
                  <a:pt x="121" y="309"/>
                </a:cubicBezTo>
                <a:cubicBezTo>
                  <a:pt x="128" y="342"/>
                  <a:pt x="138" y="371"/>
                  <a:pt x="154" y="393"/>
                </a:cubicBezTo>
                <a:moveTo>
                  <a:pt x="237" y="293"/>
                </a:moveTo>
                <a:cubicBezTo>
                  <a:pt x="237" y="196"/>
                  <a:pt x="237" y="196"/>
                  <a:pt x="237" y="196"/>
                </a:cubicBezTo>
                <a:cubicBezTo>
                  <a:pt x="263" y="195"/>
                  <a:pt x="287" y="193"/>
                  <a:pt x="311" y="191"/>
                </a:cubicBezTo>
                <a:cubicBezTo>
                  <a:pt x="311" y="203"/>
                  <a:pt x="311" y="214"/>
                  <a:pt x="311" y="226"/>
                </a:cubicBezTo>
                <a:cubicBezTo>
                  <a:pt x="311" y="247"/>
                  <a:pt x="311" y="268"/>
                  <a:pt x="307" y="287"/>
                </a:cubicBezTo>
                <a:cubicBezTo>
                  <a:pt x="284" y="290"/>
                  <a:pt x="261" y="292"/>
                  <a:pt x="237" y="293"/>
                </a:cubicBezTo>
                <a:moveTo>
                  <a:pt x="211" y="293"/>
                </a:moveTo>
                <a:cubicBezTo>
                  <a:pt x="187" y="292"/>
                  <a:pt x="165" y="290"/>
                  <a:pt x="141" y="286"/>
                </a:cubicBezTo>
                <a:cubicBezTo>
                  <a:pt x="138" y="268"/>
                  <a:pt x="137" y="246"/>
                  <a:pt x="137" y="226"/>
                </a:cubicBezTo>
                <a:cubicBezTo>
                  <a:pt x="137" y="214"/>
                  <a:pt x="138" y="203"/>
                  <a:pt x="138" y="191"/>
                </a:cubicBezTo>
                <a:cubicBezTo>
                  <a:pt x="161" y="193"/>
                  <a:pt x="186" y="195"/>
                  <a:pt x="211" y="196"/>
                </a:cubicBezTo>
                <a:cubicBezTo>
                  <a:pt x="211" y="293"/>
                  <a:pt x="211" y="293"/>
                  <a:pt x="211" y="293"/>
                </a:cubicBezTo>
                <a:moveTo>
                  <a:pt x="333" y="282"/>
                </a:moveTo>
                <a:cubicBezTo>
                  <a:pt x="335" y="265"/>
                  <a:pt x="336" y="245"/>
                  <a:pt x="336" y="226"/>
                </a:cubicBezTo>
                <a:cubicBezTo>
                  <a:pt x="336" y="212"/>
                  <a:pt x="336" y="201"/>
                  <a:pt x="335" y="188"/>
                </a:cubicBezTo>
                <a:cubicBezTo>
                  <a:pt x="363" y="185"/>
                  <a:pt x="386" y="177"/>
                  <a:pt x="399" y="171"/>
                </a:cubicBezTo>
                <a:cubicBezTo>
                  <a:pt x="405" y="188"/>
                  <a:pt x="407" y="207"/>
                  <a:pt x="407" y="224"/>
                </a:cubicBezTo>
                <a:cubicBezTo>
                  <a:pt x="407" y="254"/>
                  <a:pt x="405" y="270"/>
                  <a:pt x="333" y="282"/>
                </a:cubicBezTo>
                <a:moveTo>
                  <a:pt x="116" y="281"/>
                </a:moveTo>
                <a:cubicBezTo>
                  <a:pt x="75" y="274"/>
                  <a:pt x="52" y="260"/>
                  <a:pt x="43" y="250"/>
                </a:cubicBezTo>
                <a:cubicBezTo>
                  <a:pt x="41" y="242"/>
                  <a:pt x="41" y="233"/>
                  <a:pt x="41" y="224"/>
                </a:cubicBezTo>
                <a:cubicBezTo>
                  <a:pt x="41" y="206"/>
                  <a:pt x="44" y="187"/>
                  <a:pt x="49" y="171"/>
                </a:cubicBezTo>
                <a:cubicBezTo>
                  <a:pt x="64" y="177"/>
                  <a:pt x="82" y="182"/>
                  <a:pt x="114" y="188"/>
                </a:cubicBezTo>
                <a:cubicBezTo>
                  <a:pt x="113" y="201"/>
                  <a:pt x="112" y="212"/>
                  <a:pt x="112" y="226"/>
                </a:cubicBezTo>
                <a:cubicBezTo>
                  <a:pt x="112" y="245"/>
                  <a:pt x="113" y="264"/>
                  <a:pt x="116" y="281"/>
                </a:cubicBezTo>
                <a:moveTo>
                  <a:pt x="117" y="164"/>
                </a:moveTo>
                <a:cubicBezTo>
                  <a:pt x="76" y="153"/>
                  <a:pt x="65" y="152"/>
                  <a:pt x="59" y="146"/>
                </a:cubicBezTo>
                <a:cubicBezTo>
                  <a:pt x="68" y="128"/>
                  <a:pt x="79" y="110"/>
                  <a:pt x="95" y="96"/>
                </a:cubicBezTo>
                <a:cubicBezTo>
                  <a:pt x="114" y="76"/>
                  <a:pt x="135" y="66"/>
                  <a:pt x="158" y="55"/>
                </a:cubicBezTo>
                <a:cubicBezTo>
                  <a:pt x="138" y="83"/>
                  <a:pt x="124" y="119"/>
                  <a:pt x="117" y="164"/>
                </a:cubicBezTo>
                <a:moveTo>
                  <a:pt x="331" y="164"/>
                </a:moveTo>
                <a:cubicBezTo>
                  <a:pt x="324" y="119"/>
                  <a:pt x="311" y="81"/>
                  <a:pt x="291" y="54"/>
                </a:cubicBezTo>
                <a:cubicBezTo>
                  <a:pt x="333" y="69"/>
                  <a:pt x="370" y="104"/>
                  <a:pt x="390" y="147"/>
                </a:cubicBezTo>
                <a:cubicBezTo>
                  <a:pt x="384" y="151"/>
                  <a:pt x="369" y="157"/>
                  <a:pt x="331" y="164"/>
                </a:cubicBezTo>
                <a:moveTo>
                  <a:pt x="211" y="171"/>
                </a:moveTo>
                <a:cubicBezTo>
                  <a:pt x="187" y="171"/>
                  <a:pt x="164" y="169"/>
                  <a:pt x="141" y="167"/>
                </a:cubicBezTo>
                <a:cubicBezTo>
                  <a:pt x="152" y="104"/>
                  <a:pt x="178" y="55"/>
                  <a:pt x="210" y="43"/>
                </a:cubicBezTo>
                <a:cubicBezTo>
                  <a:pt x="210" y="43"/>
                  <a:pt x="211" y="43"/>
                  <a:pt x="211" y="43"/>
                </a:cubicBezTo>
                <a:cubicBezTo>
                  <a:pt x="211" y="171"/>
                  <a:pt x="211" y="171"/>
                  <a:pt x="211" y="171"/>
                </a:cubicBezTo>
                <a:moveTo>
                  <a:pt x="237" y="171"/>
                </a:moveTo>
                <a:cubicBezTo>
                  <a:pt x="237" y="43"/>
                  <a:pt x="237" y="43"/>
                  <a:pt x="237" y="43"/>
                </a:cubicBezTo>
                <a:cubicBezTo>
                  <a:pt x="242" y="43"/>
                  <a:pt x="249" y="48"/>
                  <a:pt x="255" y="52"/>
                </a:cubicBezTo>
                <a:cubicBezTo>
                  <a:pt x="279" y="74"/>
                  <a:pt x="299" y="117"/>
                  <a:pt x="308" y="167"/>
                </a:cubicBezTo>
                <a:cubicBezTo>
                  <a:pt x="284" y="169"/>
                  <a:pt x="261" y="171"/>
                  <a:pt x="237" y="171"/>
                </a:cubicBezTo>
                <a:moveTo>
                  <a:pt x="225" y="0"/>
                </a:moveTo>
                <a:cubicBezTo>
                  <a:pt x="100" y="0"/>
                  <a:pt x="0" y="100"/>
                  <a:pt x="0" y="224"/>
                </a:cubicBezTo>
                <a:cubicBezTo>
                  <a:pt x="0" y="349"/>
                  <a:pt x="100" y="449"/>
                  <a:pt x="225" y="449"/>
                </a:cubicBezTo>
                <a:cubicBezTo>
                  <a:pt x="350" y="449"/>
                  <a:pt x="449" y="349"/>
                  <a:pt x="449" y="224"/>
                </a:cubicBezTo>
                <a:cubicBezTo>
                  <a:pt x="449" y="100"/>
                  <a:pt x="350" y="0"/>
                  <a:pt x="225" y="0"/>
                </a:cubicBezTo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pPr>
              <a:defRPr/>
            </a:pPr>
            <a:endParaRPr lang="zh-CN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79" name="组合 41"/>
          <p:cNvGrpSpPr/>
          <p:nvPr/>
        </p:nvGrpSpPr>
        <p:grpSpPr>
          <a:xfrm flipV="1">
            <a:off x="7421880" y="3408680"/>
            <a:ext cx="2684145" cy="333375"/>
            <a:chOff x="7421880" y="3408680"/>
            <a:chExt cx="2684145" cy="333375"/>
          </a:xfrm>
          <a:effectLst>
            <a:outerShdw blurRad="76200" dist="254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80" name="椭圆 44"/>
            <p:cNvSpPr/>
            <p:nvPr/>
          </p:nvSpPr>
          <p:spPr>
            <a:xfrm>
              <a:off x="7421880" y="3408680"/>
              <a:ext cx="81280" cy="812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1" name="任意多边形 45"/>
            <p:cNvSpPr/>
            <p:nvPr/>
          </p:nvSpPr>
          <p:spPr>
            <a:xfrm>
              <a:off x="7485380" y="3469640"/>
              <a:ext cx="2621280" cy="271780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  <a:gd name="connsiteX0-1" fmla="*/ 0 w 2815771"/>
                <a:gd name="connsiteY0-2" fmla="*/ 0 h 649982"/>
                <a:gd name="connsiteX1-3" fmla="*/ 254183 w 2815771"/>
                <a:gd name="connsiteY1-4" fmla="*/ 649982 h 649982"/>
                <a:gd name="connsiteX2-5" fmla="*/ 2815771 w 2815771"/>
                <a:gd name="connsiteY2-6" fmla="*/ 638628 h 6499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15771" h="649982">
                  <a:moveTo>
                    <a:pt x="0" y="0"/>
                  </a:moveTo>
                  <a:lnTo>
                    <a:pt x="254183" y="649982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6" name="矩形 26"/>
          <p:cNvSpPr/>
          <p:nvPr/>
        </p:nvSpPr>
        <p:spPr>
          <a:xfrm>
            <a:off x="2366010" y="5408930"/>
            <a:ext cx="5056505" cy="119126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sz="2000">
                <a:solidFill>
                  <a:srgbClr val="0070C0"/>
                </a:solidFill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两点含义：</a:t>
            </a:r>
            <a:endParaRPr lang="ko-KR" altLang="en-US" sz="2000">
              <a:solidFill>
                <a:srgbClr val="0070C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000" spc="1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2000" spc="1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世界是由相互作用的对象组成的</a:t>
            </a:r>
            <a:endParaRPr lang="ko-KR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1100"/>
              </a:spcBef>
              <a:spcAft>
                <a:spcPts val="0"/>
              </a:spcAft>
              <a:buFontTx/>
              <a:buNone/>
            </a:pPr>
            <a:r>
              <a:rPr lang="en-US" sz="2000" spc="1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2000" spc="1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描述与构建由对象组成的系统</a:t>
            </a:r>
            <a:endParaRPr lang="ko-KR" altLang="en-US" sz="2000">
              <a:solidFill>
                <a:srgbClr val="0070C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</p:spPr>
        <p:txBody>
          <a:bodyPr>
            <a:normAutofit/>
          </a:bodyPr>
          <a:lstStyle/>
          <a:p>
            <a:r>
              <a:rPr lang="zh-CN" altLang="en-US" dirty="0"/>
              <a:t>什么是面向对象的思考方式？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552575"/>
            <a:ext cx="3840480" cy="46037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sz="2400" dirty="0">
                <a:solidFill>
                  <a:schemeClr val="accent4"/>
                </a:solidFill>
                <a:effectLst/>
                <a:latin typeface="+mn-ea"/>
                <a:cs typeface="+mn-ea"/>
                <a:sym typeface="+mn-ea"/>
              </a:rPr>
              <a:t>“观察到的一切都是对象”</a:t>
            </a:r>
            <a:endParaRPr lang="zh-CN" altLang="en-US" sz="2400" dirty="0">
              <a:solidFill>
                <a:schemeClr val="accent4"/>
              </a:solidFill>
              <a:effectLst/>
              <a:latin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6030" y="2073275"/>
            <a:ext cx="3049270" cy="399415"/>
          </a:xfrm>
          <a:prstGeom prst="rect">
            <a:avLst/>
          </a:prstGeom>
          <a:noFill/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1800">
                <a:solidFill>
                  <a:srgbClr val="000000"/>
                </a:solidFill>
                <a:latin typeface="Tahoma" panose="020B0604030504040204" charset="0"/>
                <a:ea typeface="Tahoma" panose="020B0604030504040204" charset="0"/>
                <a:cs typeface="Tahoma" panose="020B0604030504040204" charset="0"/>
              </a:rPr>
              <a:t> </a:t>
            </a:r>
            <a:r>
              <a:rPr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这就是面向对象思考方式</a:t>
            </a:r>
            <a:endParaRPr lang="ko-KR" altLang="en-US" sz="2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03160" y="2520950"/>
            <a:ext cx="45332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70C0"/>
                </a:solidFill>
                <a:latin typeface="+mn-ea"/>
                <a:cs typeface="宋体" panose="02010600030101010101" pitchFamily="2" charset="-122"/>
                <a:sym typeface="+mn-ea"/>
              </a:rPr>
              <a:t>软件系统是由多个对象组成，对象间通过消息相互交流、共同协作，以完成整个系统的功能</a:t>
            </a:r>
            <a:endParaRPr lang="zh-CN" altLang="en-US" sz="2000" dirty="0">
              <a:solidFill>
                <a:srgbClr val="0070C0"/>
              </a:solidFill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矩形 26"/>
          <p:cNvSpPr/>
          <p:nvPr/>
        </p:nvSpPr>
        <p:spPr>
          <a:xfrm>
            <a:off x="144780" y="3450590"/>
            <a:ext cx="3880485" cy="1576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ts val="28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spc="12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定义：</a:t>
            </a:r>
            <a:r>
              <a:rPr sz="2000" spc="12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在对世界</a:t>
            </a:r>
            <a:r>
              <a:rPr sz="2000" b="1" dirty="0">
                <a:solidFill>
                  <a:srgbClr val="0070C0"/>
                </a:solidFill>
                <a:latin typeface="Tahoma" panose="020B0604030504040204"/>
                <a:cs typeface="Tahoma" panose="020B0604030504040204"/>
                <a:sym typeface="+mn-ea"/>
              </a:rPr>
              <a:t>/</a:t>
            </a:r>
            <a:r>
              <a:rPr sz="2000" spc="12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系统</a:t>
            </a:r>
            <a:r>
              <a:rPr sz="2000" spc="108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12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进行</a:t>
            </a:r>
            <a:r>
              <a:rPr sz="2000" spc="108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12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观察</a:t>
            </a:r>
            <a:r>
              <a:rPr sz="2000" b="1" dirty="0">
                <a:solidFill>
                  <a:srgbClr val="0070C0"/>
                </a:solidFill>
                <a:latin typeface="Tahoma" panose="020B0604030504040204"/>
                <a:cs typeface="Tahoma" panose="020B0604030504040204"/>
                <a:sym typeface="+mn-ea"/>
              </a:rPr>
              <a:t>/</a:t>
            </a:r>
            <a:r>
              <a:rPr sz="2000" spc="12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建模的时候，把它们看成是由一系列相互交流、互为影响的对象集（</a:t>
            </a:r>
            <a:r>
              <a:rPr sz="2000" b="1" dirty="0">
                <a:solidFill>
                  <a:srgbClr val="0070C0"/>
                </a:solidFill>
                <a:latin typeface="Tahoma" panose="020B0604030504040204"/>
                <a:cs typeface="Tahoma" panose="020B0604030504040204"/>
                <a:sym typeface="+mn-ea"/>
              </a:rPr>
              <a:t>a set</a:t>
            </a:r>
            <a:r>
              <a:rPr sz="2000" b="1" spc="-10" dirty="0">
                <a:solidFill>
                  <a:srgbClr val="0070C0"/>
                </a:solidFill>
                <a:latin typeface="Tahoma" panose="020B0604030504040204"/>
                <a:cs typeface="Tahoma" panose="020B0604030504040204"/>
                <a:sym typeface="+mn-ea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ahoma" panose="020B0604030504040204"/>
                <a:cs typeface="Tahoma" panose="020B0604030504040204"/>
                <a:sym typeface="+mn-ea"/>
              </a:rPr>
              <a:t>of  objects</a:t>
            </a:r>
            <a:r>
              <a:rPr sz="20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sz="20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endParaRPr lang="zh-CN" altLang="en-US" sz="2000" dirty="0">
              <a:solidFill>
                <a:srgbClr val="0070C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166745" y="1744345"/>
            <a:ext cx="2522855" cy="2835275"/>
          </a:xfrm>
          <a:prstGeom prst="ellipse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/>
            <a:endParaRPr lang="en-US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24955" y="1744345"/>
            <a:ext cx="2464435" cy="2835275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/>
            <a:endParaRPr lang="en-US"/>
          </a:p>
        </p:txBody>
      </p:sp>
      <p:sp>
        <p:nvSpPr>
          <p:cNvPr id="11" name="椭圆 10"/>
          <p:cNvSpPr/>
          <p:nvPr/>
        </p:nvSpPr>
        <p:spPr>
          <a:xfrm>
            <a:off x="5401945" y="2347595"/>
            <a:ext cx="1511300" cy="151193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课程定义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548640" y="1021080"/>
            <a:ext cx="2617470" cy="4809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395" tIns="45697" rIns="91395" bIns="45697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</a:pPr>
            <a:r>
              <a:rPr sz="20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《面向对象方法》是一门用面向对象方法来分析和设计软件系统的课程，也是一个</a:t>
            </a:r>
            <a:r>
              <a:rPr sz="2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体现创造力、锻炼思维能力</a:t>
            </a:r>
            <a:r>
              <a:rPr sz="20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的方法体系。一门面向电子信息大类研究生的专业基础课。</a:t>
            </a:r>
            <a:endParaRPr sz="2000" b="1" dirty="0">
              <a:solidFill>
                <a:srgbClr val="0070C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</a:pPr>
            <a:endParaRPr lang="zh-CN" altLang="en-US" sz="2000" b="1" dirty="0">
              <a:solidFill>
                <a:srgbClr val="0070C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9318625" y="935355"/>
            <a:ext cx="2713355" cy="5168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395" tIns="45697" rIns="91395" bIns="45697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《</a:t>
            </a:r>
            <a:r>
              <a:rPr sz="20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面向对象方法</a:t>
            </a:r>
            <a:r>
              <a:rPr lang="zh-CN" sz="20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》</a:t>
            </a:r>
            <a:r>
              <a:rPr sz="20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使得程序设计按照人们通常的思维方式来建立问题域的模型，设计出尽可能自然地表现求解方法的软件。</a:t>
            </a:r>
            <a:r>
              <a:rPr sz="2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通过应用面向对象设计，可以创建出能够灵活适应变化的软件，还能降低开发复杂软件系统所固有的风险。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</p:spPr>
        <p:txBody>
          <a:bodyPr/>
          <a:lstStyle/>
          <a:p>
            <a:r>
              <a:rPr lang="zh-CN" altLang="en-US" dirty="0"/>
              <a:t>课程定义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99795" y="5146675"/>
            <a:ext cx="8599170" cy="1210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Blip>
                <a:blip r:embed="rId3"/>
              </a:buBlip>
            </a:pPr>
            <a:r>
              <a:rPr lang="en-US" altLang="zh-CN" sz="3200" b="1" spc="16" dirty="0">
                <a:solidFill>
                  <a:srgbClr val="0070C0"/>
                </a:solidFill>
                <a:latin typeface="华文行楷" panose="02010800040101010101" charset="-122"/>
                <a:ea typeface="华文行楷" panose="02010800040101010101" charset="-122"/>
                <a:cs typeface="宋体" panose="02010600030101010101" pitchFamily="2" charset="-122"/>
                <a:sym typeface="+mn-ea"/>
              </a:rPr>
              <a:t> </a:t>
            </a:r>
            <a:r>
              <a:rPr sz="2400" b="1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面向对象方法是一种分解复杂系统的方案，面向对象方法论</a:t>
            </a:r>
            <a:endParaRPr sz="2400" b="1" dirty="0">
              <a:solidFill>
                <a:srgbClr val="7030A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indent="0" algn="l">
              <a:lnSpc>
                <a:spcPct val="130000"/>
              </a:lnSpc>
              <a:buNone/>
            </a:pPr>
            <a:r>
              <a:rPr sz="2400" b="1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是现实世界通往计算机世界的桥梁</a:t>
            </a:r>
            <a:endParaRPr lang="zh-CN" sz="2400" b="1" spc="16" dirty="0">
              <a:solidFill>
                <a:srgbClr val="7030A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random/>
      </p:transition>
    </mc:Choice>
    <mc:Fallback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/>
      <p:bldP spid="15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/>
          <p:cNvSpPr txBox="1"/>
          <p:nvPr/>
        </p:nvSpPr>
        <p:spPr>
          <a:xfrm>
            <a:off x="1697355" y="243840"/>
            <a:ext cx="4221480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0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宋体" panose="02010600030101010101" pitchFamily="2" charset="-122"/>
              </a:rPr>
              <a:t>课程目标</a:t>
            </a:r>
            <a:r>
              <a:rPr lang="en-US" sz="3600" dirty="0">
                <a:solidFill>
                  <a:schemeClr val="bg1"/>
                </a:solidFill>
                <a:latin typeface="华文新魏" panose="02010800040101010101" charset="-122"/>
                <a:ea typeface="华文新魏" panose="02010800040101010101" charset="-122"/>
                <a:cs typeface="宋体" panose="02010600030101010101" pitchFamily="2" charset="-122"/>
              </a:rPr>
              <a:t>:</a:t>
            </a:r>
            <a:endParaRPr lang="en-US" sz="3600" dirty="0">
              <a:solidFill>
                <a:schemeClr val="bg1"/>
              </a:solidFill>
              <a:latin typeface="华文新魏" panose="02010800040101010101" charset="-122"/>
              <a:ea typeface="华文新魏" panose="02010800040101010101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425" y="1049655"/>
            <a:ext cx="9201150" cy="4758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17700" y="2992755"/>
            <a:ext cx="8277225" cy="432435"/>
          </a:xfrm>
          <a:prstGeom prst="rect">
            <a:avLst/>
          </a:prstGeom>
        </p:spPr>
        <p:txBody>
          <a:bodyPr vert="horz"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三、</a:t>
            </a:r>
            <a:r>
              <a:rPr sz="4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“面向对象”思想的起源</a:t>
            </a:r>
            <a:endParaRPr sz="4400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3310" y="6659880"/>
            <a:ext cx="2216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0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4400" y="2101850"/>
            <a:ext cx="10686415" cy="20961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  <a:scene3d>
              <a:camera prst="orthographicFront"/>
              <a:lightRig rig="threePt" dir="t"/>
            </a:scene3d>
          </a:bodyPr>
          <a:lstStyle/>
          <a:p>
            <a:pPr marL="0" indent="0" algn="l" defTabSz="914400" eaLnBrk="1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4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4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2745"/>
                    </a:srgbClr>
                  </a:outerShdw>
                </a:effectLst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讨论：</a:t>
            </a:r>
            <a:endParaRPr lang="ko-KR" altLang="en-US" sz="4400" b="1">
              <a:solidFill>
                <a:srgbClr val="FF000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4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400" b="1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2745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“面向对象”思想</a:t>
            </a:r>
            <a:r>
              <a:rPr sz="4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2745"/>
                    </a:srgbClr>
                  </a:outerShdw>
                </a:effectLst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是如何起源的</a:t>
            </a:r>
            <a:r>
              <a:rPr lang="zh-CN" altLang="en-US" sz="4400" b="1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2745"/>
                    </a:srgbClr>
                  </a:outerShdw>
                </a:effectLst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？</a:t>
            </a:r>
            <a:endParaRPr lang="ko-KR" altLang="en-US" sz="4400" b="1">
              <a:solidFill>
                <a:srgbClr val="0070C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44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3310" y="6659880"/>
            <a:ext cx="22161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</a:t>
            </a:r>
            <a:endParaRPr sz="10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76145" y="332740"/>
            <a:ext cx="7829550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65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计算机界的一位天才级人物</a:t>
            </a:r>
            <a:r>
              <a:rPr sz="3200" b="1" spc="162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1" dirty="0">
                <a:solidFill>
                  <a:schemeClr val="bg1"/>
                </a:solidFill>
                <a:latin typeface="Tahoma" panose="020B0604030504040204"/>
                <a:cs typeface="Tahoma" panose="020B0604030504040204"/>
              </a:rPr>
              <a:t>Alan.Kay</a:t>
            </a:r>
            <a:endParaRPr sz="3200" b="1" spc="-11" dirty="0">
              <a:solidFill>
                <a:schemeClr val="bg1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360" y="5757545"/>
            <a:ext cx="856869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LCWCBN+MicrosoftYaHei"/>
                <a:cs typeface="LCWCBN+MicrosoftYaHei"/>
              </a:rPr>
              <a:t>所有对事物的认识都始自于我们不愿</a:t>
            </a:r>
            <a:r>
              <a:rPr sz="2400" b="1" dirty="0">
                <a:solidFill>
                  <a:srgbClr val="FF0000"/>
                </a:solidFill>
                <a:latin typeface="LCWCBN+MicrosoftYaHei"/>
                <a:cs typeface="LCWCBN+MicrosoftYaHei"/>
              </a:rPr>
              <a:t>盲目地接受</a:t>
            </a:r>
            <a:r>
              <a:rPr sz="2400" b="1" dirty="0">
                <a:solidFill>
                  <a:srgbClr val="000000"/>
                </a:solidFill>
                <a:latin typeface="LCWCBN+MicrosoftYaHei"/>
                <a:cs typeface="LCWCBN+MicrosoftYaHei"/>
              </a:rPr>
              <a:t>这个世界</a:t>
            </a:r>
            <a:endParaRPr sz="2400" b="1" dirty="0">
              <a:solidFill>
                <a:srgbClr val="000000"/>
              </a:solidFill>
              <a:latin typeface="LCWCBN+MicrosoftYaHei"/>
              <a:cs typeface="LCWCBN+Microsoft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4380" y="6306185"/>
            <a:ext cx="285940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LCWCBN+MicrosoftYaHei"/>
                <a:cs typeface="LCWCBN+MicrosoftYaHei"/>
              </a:rPr>
              <a:t>一一艾伦</a:t>
            </a:r>
            <a:r>
              <a:rPr sz="2400" b="1" dirty="0">
                <a:solidFill>
                  <a:srgbClr val="000000"/>
                </a:solidFill>
                <a:latin typeface="MLLGGQ+MicrosoftYaHei"/>
                <a:cs typeface="MLLGGQ+MicrosoftYaHei"/>
              </a:rPr>
              <a:t>. C.</a:t>
            </a:r>
            <a:r>
              <a:rPr sz="2400" b="1" dirty="0">
                <a:solidFill>
                  <a:srgbClr val="000000"/>
                </a:solidFill>
                <a:latin typeface="LCWCBN+MicrosoftYaHei"/>
                <a:cs typeface="LCWCBN+MicrosoftYaHei"/>
              </a:rPr>
              <a:t>凯</a:t>
            </a:r>
            <a:endParaRPr sz="2400" b="1" dirty="0">
              <a:solidFill>
                <a:srgbClr val="000000"/>
              </a:solidFill>
              <a:latin typeface="LCWCBN+MicrosoftYaHei"/>
              <a:cs typeface="LCWCBN+MicrosoftYaHe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935" y="852170"/>
            <a:ext cx="3061970" cy="44081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795" y="1288415"/>
            <a:ext cx="3416300" cy="3849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15640" y="283210"/>
            <a:ext cx="2717800" cy="5340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艾伦.凯的成就</a:t>
            </a:r>
            <a:endParaRPr lang="ko-KR" altLang="en-US"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9335" y="1369695"/>
            <a:ext cx="572325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</a:t>
            </a:r>
            <a:r>
              <a:rPr sz="2800" b="1" spc="1006" dirty="0">
                <a:solidFill>
                  <a:schemeClr val="bg2"/>
                </a:solidFill>
                <a:latin typeface="+mn-ea"/>
                <a:cs typeface="+mn-ea"/>
              </a:rPr>
              <a:t> </a:t>
            </a: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Smalltalk语言之父</a:t>
            </a:r>
            <a:endParaRPr sz="2800" b="1" dirty="0">
              <a:solidFill>
                <a:schemeClr val="bg2"/>
              </a:solidFill>
              <a:latin typeface="+mn-ea"/>
              <a:cs typeface="+mn-e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9335" y="2345055"/>
            <a:ext cx="6832600" cy="2446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</a:t>
            </a:r>
            <a:r>
              <a:rPr sz="2800" b="1" spc="1006" dirty="0">
                <a:solidFill>
                  <a:schemeClr val="bg2"/>
                </a:solidFill>
                <a:latin typeface="+mn-ea"/>
                <a:cs typeface="+mn-ea"/>
              </a:rPr>
              <a:t> </a:t>
            </a: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创造性地提出面向对象编程思想</a:t>
            </a:r>
            <a:endParaRPr sz="2800" b="1" dirty="0">
              <a:solidFill>
                <a:schemeClr val="bg2"/>
              </a:solidFill>
              <a:latin typeface="+mn-ea"/>
              <a:cs typeface="+mn-ea"/>
            </a:endParaRPr>
          </a:p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endParaRPr sz="2800" b="1" dirty="0">
              <a:solidFill>
                <a:schemeClr val="bg2"/>
              </a:solidFill>
              <a:latin typeface="+mn-ea"/>
              <a:cs typeface="+mn-ea"/>
            </a:endParaRPr>
          </a:p>
          <a:p>
            <a:pPr marL="0" marR="0">
              <a:lnSpc>
                <a:spcPts val="3570"/>
              </a:lnSpc>
              <a:spcBef>
                <a:spcPts val="410"/>
              </a:spcBef>
              <a:spcAft>
                <a:spcPts val="0"/>
              </a:spcAft>
            </a:pP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</a:t>
            </a:r>
            <a:r>
              <a:rPr sz="2800" b="1" spc="1006" dirty="0">
                <a:solidFill>
                  <a:schemeClr val="bg2"/>
                </a:solidFill>
                <a:latin typeface="+mn-ea"/>
                <a:cs typeface="+mn-ea"/>
              </a:rPr>
              <a:t> </a:t>
            </a: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提出Dynabook的概念</a:t>
            </a:r>
            <a:endParaRPr sz="2800" b="1" dirty="0">
              <a:solidFill>
                <a:schemeClr val="bg2"/>
              </a:solidFill>
              <a:latin typeface="+mn-ea"/>
              <a:cs typeface="+mn-ea"/>
            </a:endParaRPr>
          </a:p>
          <a:p>
            <a:pPr marL="0" marR="0">
              <a:lnSpc>
                <a:spcPts val="3570"/>
              </a:lnSpc>
              <a:spcBef>
                <a:spcPts val="410"/>
              </a:spcBef>
              <a:spcAft>
                <a:spcPts val="0"/>
              </a:spcAft>
            </a:pPr>
            <a:endParaRPr sz="2800" b="1" dirty="0">
              <a:solidFill>
                <a:schemeClr val="bg2"/>
              </a:solidFill>
              <a:latin typeface="+mn-ea"/>
              <a:cs typeface="+mn-ea"/>
            </a:endParaRPr>
          </a:p>
          <a:p>
            <a:pPr marL="0" marR="0">
              <a:lnSpc>
                <a:spcPts val="3570"/>
              </a:lnSpc>
              <a:spcBef>
                <a:spcPts val="410"/>
              </a:spcBef>
              <a:spcAft>
                <a:spcPts val="0"/>
              </a:spcAft>
            </a:pP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</a:t>
            </a:r>
            <a:r>
              <a:rPr sz="2800" b="1" spc="1006" dirty="0">
                <a:solidFill>
                  <a:schemeClr val="bg2"/>
                </a:solidFill>
                <a:latin typeface="+mn-ea"/>
                <a:cs typeface="+mn-ea"/>
              </a:rPr>
              <a:t> </a:t>
            </a:r>
            <a:r>
              <a:rPr sz="2800" b="1" dirty="0">
                <a:solidFill>
                  <a:schemeClr val="bg2"/>
                </a:solidFill>
                <a:latin typeface="+mn-ea"/>
                <a:cs typeface="+mn-ea"/>
              </a:rPr>
              <a:t>2003年获得图灵奖</a:t>
            </a:r>
            <a:endParaRPr sz="2800" b="1" dirty="0">
              <a:solidFill>
                <a:schemeClr val="bg2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43885" y="287655"/>
            <a:ext cx="3408045" cy="5340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>
                <a:solidFill>
                  <a:schemeClr val="bg1"/>
                </a:solidFill>
                <a:latin typeface="LCWCBN+MicrosoftYaHei" charset="0"/>
                <a:ea typeface="LCWCBN+MicrosoftYaHei" charset="0"/>
                <a:cs typeface="宋体" panose="02010600030101010101" pitchFamily="2" charset="-122"/>
              </a:rPr>
              <a:t>生平：家庭的熏陶</a:t>
            </a:r>
            <a:endParaRPr lang="ko-KR" altLang="en-US" sz="3200" b="1">
              <a:solidFill>
                <a:schemeClr val="bg1"/>
              </a:solidFill>
              <a:latin typeface="LCWCBN+MicrosoftYaHei" charset="0"/>
              <a:ea typeface="LCWCBN+MicrosoftYaHei" charset="0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1760" y="1544320"/>
            <a:ext cx="734060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6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+mn-ea"/>
                <a:cs typeface="+mn-ea"/>
              </a:rPr>
              <a:t>1940</a:t>
            </a:r>
            <a:r>
              <a:rPr sz="2400" dirty="0">
                <a:solidFill>
                  <a:srgbClr val="000000"/>
                </a:solidFill>
                <a:latin typeface="+mn-ea"/>
                <a:cs typeface="+mn-ea"/>
              </a:rPr>
              <a:t>年，</a:t>
            </a:r>
            <a:r>
              <a:rPr sz="2400" dirty="0">
                <a:solidFill>
                  <a:srgbClr val="FF0000"/>
                </a:solidFill>
                <a:latin typeface="+mn-ea"/>
                <a:cs typeface="+mn-ea"/>
              </a:rPr>
              <a:t>艾伦·凯</a:t>
            </a:r>
            <a:r>
              <a:rPr sz="2400" dirty="0">
                <a:solidFill>
                  <a:srgbClr val="000000"/>
                </a:solidFill>
                <a:latin typeface="+mn-ea"/>
                <a:cs typeface="+mn-ea"/>
              </a:rPr>
              <a:t>出生在美国的马萨诸塞州</a:t>
            </a:r>
            <a:endParaRPr sz="24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1760" y="2311400"/>
            <a:ext cx="7718425" cy="1976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+mn-ea"/>
                <a:cs typeface="+mn-ea"/>
              </a:rPr>
              <a:t>凯</a:t>
            </a:r>
            <a:r>
              <a:rPr sz="2400" dirty="0">
                <a:solidFill>
                  <a:srgbClr val="FF0000"/>
                </a:solidFill>
                <a:latin typeface="+mn-ea"/>
                <a:cs typeface="+mn-ea"/>
              </a:rPr>
              <a:t>3岁</a:t>
            </a:r>
            <a:r>
              <a:rPr sz="2400" dirty="0">
                <a:solidFill>
                  <a:srgbClr val="000000"/>
                </a:solidFill>
                <a:latin typeface="+mn-ea"/>
                <a:cs typeface="+mn-ea"/>
              </a:rPr>
              <a:t>的时侯学会了阅读，小小的他经常沉醉在书的海</a:t>
            </a:r>
            <a:endParaRPr sz="2400" dirty="0">
              <a:solidFill>
                <a:srgbClr val="000000"/>
              </a:solidFill>
              <a:latin typeface="+mn-ea"/>
              <a:cs typeface="+mn-ea"/>
            </a:endParaRPr>
          </a:p>
          <a:p>
            <a:pPr marL="0" marR="0">
              <a:lnSpc>
                <a:spcPts val="2400"/>
              </a:lnSpc>
              <a:spcBef>
                <a:spcPts val="19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+mn-ea"/>
                <a:cs typeface="+mn-ea"/>
              </a:rPr>
              <a:t>洋里。同时他从母亲那儿接受了音乐的熏陶，不仅是学</a:t>
            </a:r>
            <a:endParaRPr sz="2400" dirty="0">
              <a:solidFill>
                <a:srgbClr val="000000"/>
              </a:solidFill>
              <a:latin typeface="+mn-ea"/>
              <a:cs typeface="+mn-ea"/>
            </a:endParaRPr>
          </a:p>
          <a:p>
            <a:pPr marL="0" marR="0">
              <a:lnSpc>
                <a:spcPts val="2400"/>
              </a:lnSpc>
              <a:spcBef>
                <a:spcPts val="19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+mn-ea"/>
                <a:cs typeface="+mn-ea"/>
              </a:rPr>
              <a:t>校合唱团的男中音独唱，还会演奏吉他。那时的他觉得</a:t>
            </a:r>
            <a:endParaRPr sz="2400" dirty="0">
              <a:solidFill>
                <a:srgbClr val="000000"/>
              </a:solidFill>
              <a:latin typeface="+mn-ea"/>
              <a:cs typeface="+mn-ea"/>
            </a:endParaRPr>
          </a:p>
          <a:p>
            <a:pPr marL="0" marR="0">
              <a:lnSpc>
                <a:spcPts val="2400"/>
              </a:lnSpc>
              <a:spcBef>
                <a:spcPts val="197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+mn-ea"/>
                <a:cs typeface="+mn-ea"/>
              </a:rPr>
              <a:t>自己未来肯定会成为一位音乐家。</a:t>
            </a:r>
            <a:endParaRPr sz="24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15235" y="268605"/>
            <a:ext cx="4222115" cy="5340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>
                <a:solidFill>
                  <a:schemeClr val="bg1"/>
                </a:solidFill>
                <a:latin typeface="LCWCBN+MicrosoftYaHei" charset="0"/>
                <a:ea typeface="LCWCBN+MicrosoftYaHei" charset="0"/>
                <a:cs typeface="宋体" panose="02010600030101010101" pitchFamily="2" charset="-122"/>
              </a:rPr>
              <a:t>生平：善于观察与思考</a:t>
            </a:r>
            <a:endParaRPr lang="ko-KR" altLang="en-US" sz="3200" b="1">
              <a:solidFill>
                <a:schemeClr val="bg1"/>
              </a:solidFill>
              <a:latin typeface="LCWCBN+MicrosoftYaHei" charset="0"/>
              <a:ea typeface="LCWCBN+MicrosoftYaHei" charset="0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00" y="1002030"/>
            <a:ext cx="8237220" cy="1976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后来，他进入美国空军服役，遇到了一个改变命运的契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19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机：通过了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计算机编程能力测试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，成为了一名程序员，为空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19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军解决各个航空训练设备之间数据和过程（procedure）的传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197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输问题。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375" y="3211830"/>
            <a:ext cx="8077200" cy="861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这时他发现有个程序员想出了一个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聪明的办法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，就是把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1920"/>
              </a:spcBef>
              <a:spcAft>
                <a:spcPts val="0"/>
              </a:spcAft>
            </a:pPr>
            <a:r>
              <a:rPr sz="2400" u="sng" spc="12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400" u="sng" spc="12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处理数据的过程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捆绑到一起发送。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6140" y="4903470"/>
            <a:ext cx="457200" cy="66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2400" dirty="0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41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endParaRPr sz="2400" dirty="0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6160" y="4903470"/>
            <a:ext cx="457200" cy="66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过</a:t>
            </a:r>
            <a:endParaRPr sz="2400" dirty="0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41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2400" dirty="0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890" y="1301115"/>
            <a:ext cx="3054985" cy="1910715"/>
          </a:xfrm>
          <a:prstGeom prst="rect">
            <a:avLst/>
          </a:prstGeom>
        </p:spPr>
      </p:pic>
      <p:sp>
        <p:nvSpPr>
          <p:cNvPr id="10" name="object 8"/>
          <p:cNvSpPr txBox="1"/>
          <p:nvPr/>
        </p:nvSpPr>
        <p:spPr>
          <a:xfrm>
            <a:off x="1857375" y="4436110"/>
            <a:ext cx="9363710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6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FF0000"/>
                </a:solidFill>
                <a:latin typeface="DFEJOU+MicrosoftYaHeiLight"/>
                <a:cs typeface="DFEJOU+MicrosoftYaHeiLight"/>
              </a:rPr>
              <a:t>亮点：</a:t>
            </a: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通过这种方式，新设备里的程序就可以直接使用过</a:t>
            </a:r>
            <a:endParaRPr sz="2400" dirty="0">
              <a:solidFill>
                <a:srgbClr val="000000"/>
              </a:solidFill>
              <a:latin typeface="DFEJOU+MicrosoftYaHeiLight"/>
              <a:cs typeface="DFEJOU+MicrosoftYaHeiLight"/>
            </a:endParaRPr>
          </a:p>
          <a:p>
            <a:pPr marL="0" marR="0">
              <a:lnSpc>
                <a:spcPts val="3065"/>
              </a:lnSpc>
              <a:spcBef>
                <a:spcPts val="12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程，而不用去了解数据文件的格式。</a:t>
            </a:r>
            <a:endParaRPr sz="2400" dirty="0">
              <a:solidFill>
                <a:srgbClr val="000000"/>
              </a:solidFill>
              <a:latin typeface="DFEJOU+MicrosoftYaHeiLight"/>
              <a:cs typeface="DFEJOU+MicrosoftYaHeiLight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3759200" y="5571490"/>
            <a:ext cx="7828915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315" marR="0">
              <a:lnSpc>
                <a:spcPts val="306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这种抛开数据、直接操作过程的想法给凯带来了极大的</a:t>
            </a:r>
            <a:endParaRPr sz="2400" dirty="0">
              <a:solidFill>
                <a:srgbClr val="000000"/>
              </a:solidFill>
              <a:latin typeface="DFEJOU+MicrosoftYaHeiLight"/>
              <a:cs typeface="DFEJOU+MicrosoftYaHeiLight"/>
            </a:endParaRPr>
          </a:p>
          <a:p>
            <a:pPr marL="0" marR="0">
              <a:lnSpc>
                <a:spcPts val="3065"/>
              </a:lnSpc>
              <a:spcBef>
                <a:spcPts val="12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触动，为他日后形成</a:t>
            </a:r>
            <a:r>
              <a:rPr sz="2400" b="1" dirty="0">
                <a:solidFill>
                  <a:srgbClr val="FF0000"/>
                </a:solidFill>
                <a:latin typeface="DFEJOU+MicrosoftYaHeiLight"/>
                <a:cs typeface="DFEJOU+MicrosoftYaHeiLight"/>
              </a:rPr>
              <a:t>“对象”</a:t>
            </a: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的概念埋下了伏笔。</a:t>
            </a:r>
            <a:endParaRPr sz="2400" dirty="0">
              <a:solidFill>
                <a:srgbClr val="000000"/>
              </a:solidFill>
              <a:latin typeface="DFEJOU+MicrosoftYaHeiLight"/>
              <a:cs typeface="DFEJOU+MicrosoftYaHei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15235" y="268605"/>
            <a:ext cx="4221480" cy="542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3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chemeClr val="bg1"/>
                </a:solidFill>
                <a:latin typeface="LCWCBN+MicrosoftYaHei"/>
                <a:cs typeface="LCWCBN+MicrosoftYaHei"/>
              </a:rPr>
              <a:t>生平：善于联想、类比</a:t>
            </a:r>
            <a:endParaRPr sz="3200" dirty="0">
              <a:solidFill>
                <a:schemeClr val="bg1"/>
              </a:solidFill>
              <a:latin typeface="LCWCBN+MicrosoftYaHei"/>
              <a:cs typeface="LCWCBN+Microsoft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2715" y="1339850"/>
            <a:ext cx="9899015" cy="2554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服役结束后，凯先从科罗拉多大学取得了数学和分子生物学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19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的双学位。后来因为对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很感兴趣，他最终决定去犹他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3065"/>
              </a:lnSpc>
              <a:spcBef>
                <a:spcPts val="154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州立大学读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计算机科学系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读书期间，他一直在寻找某种基</a:t>
            </a:r>
            <a:endParaRPr sz="2400" dirty="0">
              <a:solidFill>
                <a:srgbClr val="000000"/>
              </a:solidFill>
              <a:latin typeface="DFEJOU+MicrosoftYaHeiLight"/>
              <a:cs typeface="DFEJOU+MicrosoftYaHeiLight"/>
            </a:endParaRPr>
          </a:p>
          <a:p>
            <a:pPr marL="0" marR="0">
              <a:lnSpc>
                <a:spcPts val="3065"/>
              </a:lnSpc>
              <a:spcBef>
                <a:spcPts val="12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础构件，支持一种</a:t>
            </a:r>
            <a:r>
              <a:rPr sz="2400" dirty="0">
                <a:solidFill>
                  <a:srgbClr val="FF0000"/>
                </a:solidFill>
                <a:latin typeface="DFEJOU+MicrosoftYaHeiLight"/>
                <a:cs typeface="DFEJOU+MicrosoftYaHeiLight"/>
              </a:rPr>
              <a:t>简单</a:t>
            </a: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、</a:t>
            </a:r>
            <a:r>
              <a:rPr sz="2400" dirty="0">
                <a:solidFill>
                  <a:srgbClr val="FF0000"/>
                </a:solidFill>
                <a:latin typeface="DFEJOU+MicrosoftYaHeiLight"/>
                <a:cs typeface="DFEJOU+MicrosoftYaHeiLight"/>
              </a:rPr>
              <a:t>有效</a:t>
            </a: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的编程风格。这时他的生物学</a:t>
            </a:r>
            <a:endParaRPr sz="2400" dirty="0">
              <a:solidFill>
                <a:srgbClr val="000000"/>
              </a:solidFill>
              <a:latin typeface="DFEJOU+MicrosoftYaHeiLight"/>
              <a:cs typeface="DFEJOU+MicrosoftYaHeiLight"/>
            </a:endParaRPr>
          </a:p>
          <a:p>
            <a:pPr marL="0" marR="0">
              <a:lnSpc>
                <a:spcPts val="3065"/>
              </a:lnSpc>
              <a:spcBef>
                <a:spcPts val="12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FEJOU+MicrosoftYaHeiLight"/>
                <a:cs typeface="DFEJOU+MicrosoftYaHeiLight"/>
              </a:rPr>
              <a:t>知识给了他至关重要的灵感。</a:t>
            </a:r>
            <a:endParaRPr sz="2400" dirty="0">
              <a:solidFill>
                <a:srgbClr val="000000"/>
              </a:solidFill>
              <a:latin typeface="DFEJOU+MicrosoftYaHeiLight"/>
              <a:cs typeface="DFEJOU+MicrosoftYaHei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1090" y="4297045"/>
            <a:ext cx="7167245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6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DFEJOU+MicrosoftYaHeiLight"/>
                <a:cs typeface="DFEJOU+MicrosoftYaHeiLight"/>
              </a:rPr>
              <a:t>亮点：勤于思考、知识点融合、类比，产生新的思想</a:t>
            </a:r>
            <a:endParaRPr sz="2400" dirty="0">
              <a:solidFill>
                <a:srgbClr val="FF0000"/>
              </a:solidFill>
              <a:latin typeface="DFEJOU+MicrosoftYaHeiLight"/>
              <a:cs typeface="DFEJOU+MicrosoftYaHei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15235" y="268605"/>
            <a:ext cx="4222115" cy="5340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>
                <a:solidFill>
                  <a:schemeClr val="bg1"/>
                </a:solidFill>
                <a:latin typeface="LCWCBN+MicrosoftYaHei" charset="0"/>
                <a:ea typeface="LCWCBN+MicrosoftYaHei" charset="0"/>
                <a:cs typeface="宋体" panose="02010600030101010101" pitchFamily="2" charset="-122"/>
              </a:rPr>
              <a:t>生平：善于联想、类比</a:t>
            </a:r>
            <a:endParaRPr lang="ko-KR" altLang="en-US" sz="3200" b="1">
              <a:solidFill>
                <a:schemeClr val="bg1"/>
              </a:solidFill>
              <a:latin typeface="LCWCBN+MicrosoftYaHei" charset="0"/>
              <a:ea typeface="LCWCBN+MicrosoftYaHei" charset="0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1765" y="1085850"/>
            <a:ext cx="8261350" cy="138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endParaRPr lang="en-US" sz="2400" spc="12" dirty="0" smtClean="0">
              <a:solidFill>
                <a:srgbClr val="3232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 err="1" smtClean="0">
                <a:solidFill>
                  <a:srgbClr val="3232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我的</a:t>
            </a:r>
            <a:r>
              <a:rPr sz="2400" spc="12" dirty="0" err="1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灵感</a:t>
            </a:r>
            <a:r>
              <a:rPr sz="2400" spc="12" dirty="0" err="1" smtClean="0">
                <a:solidFill>
                  <a:srgbClr val="3232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就是把这些</a:t>
            </a:r>
            <a:r>
              <a:rPr sz="2400" spc="12" dirty="0" err="1">
                <a:solidFill>
                  <a:srgbClr val="3232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（指</a:t>
            </a:r>
            <a:r>
              <a:rPr sz="2400" spc="12" dirty="0" err="1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对象</a:t>
            </a:r>
            <a:r>
              <a:rPr sz="2400" spc="12" dirty="0" err="1">
                <a:solidFill>
                  <a:srgbClr val="3232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）看做生物学上的细胞</a:t>
            </a:r>
            <a:r>
              <a:rPr sz="2400" spc="12" dirty="0">
                <a:solidFill>
                  <a:srgbClr val="3232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400" spc="12" dirty="0">
              <a:solidFill>
                <a:srgbClr val="3232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30270" marR="0">
              <a:lnSpc>
                <a:spcPts val="2880"/>
              </a:lnSpc>
              <a:spcBef>
                <a:spcPts val="140"/>
              </a:spcBef>
              <a:spcAft>
                <a:spcPts val="0"/>
              </a:spcAft>
            </a:pPr>
            <a:endParaRPr lang="en-US" sz="2400" b="1" dirty="0" smtClean="0">
              <a:solidFill>
                <a:srgbClr val="323299"/>
              </a:solidFill>
              <a:latin typeface="Tahoma" panose="020B0604030504040204"/>
              <a:cs typeface="Tahoma" panose="020B0604030504040204"/>
            </a:endParaRPr>
          </a:p>
          <a:p>
            <a:pPr marL="3430270" marR="0">
              <a:lnSpc>
                <a:spcPts val="2880"/>
              </a:lnSpc>
              <a:spcBef>
                <a:spcPts val="14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23299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b="1" dirty="0" smtClean="0">
                <a:solidFill>
                  <a:srgbClr val="323299"/>
                </a:solidFill>
                <a:latin typeface="Tahoma" panose="020B0604030504040204"/>
                <a:cs typeface="Tahoma" panose="020B0604030504040204"/>
              </a:rPr>
              <a:t>                           </a:t>
            </a:r>
            <a:r>
              <a:rPr sz="2400" b="1" dirty="0" smtClean="0">
                <a:solidFill>
                  <a:srgbClr val="323299"/>
                </a:solidFill>
                <a:latin typeface="Tahoma" panose="020B0604030504040204"/>
                <a:cs typeface="Tahoma" panose="020B0604030504040204"/>
              </a:rPr>
              <a:t>——</a:t>
            </a:r>
            <a:r>
              <a:rPr sz="2400" spc="12" dirty="0">
                <a:solidFill>
                  <a:srgbClr val="3232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艾伦</a:t>
            </a:r>
            <a:r>
              <a:rPr sz="2400" b="1" dirty="0">
                <a:solidFill>
                  <a:srgbClr val="323299"/>
                </a:solidFill>
                <a:latin typeface="Tahoma" panose="020B0604030504040204"/>
                <a:cs typeface="Tahoma" panose="020B0604030504040204"/>
              </a:rPr>
              <a:t>·</a:t>
            </a:r>
            <a:r>
              <a:rPr sz="2400" dirty="0">
                <a:solidFill>
                  <a:srgbClr val="3232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凯</a:t>
            </a:r>
            <a:endParaRPr sz="2400" dirty="0">
              <a:solidFill>
                <a:srgbClr val="3232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8105" y="2527935"/>
            <a:ext cx="6482080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9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1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）每个“例”细胞都遵从“主”细胞的某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3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些基本行为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8105" y="3472180"/>
            <a:ext cx="5833745" cy="2174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9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）每个细胞都能独立运作，它们之间由能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3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透过细胞膜的化学信号进行通信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320"/>
              </a:spcBef>
              <a:spcAft>
                <a:spcPts val="0"/>
              </a:spcAft>
            </a:pP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880"/>
              </a:lnSpc>
              <a:spcBef>
                <a:spcPts val="14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）细胞会分化</a:t>
            </a: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---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根据环境不同，同一个细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39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胞可以变成鼻子的细胞，也可以变成眼睛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4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或者脚趾甲的细胞。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0410" y="5871210"/>
            <a:ext cx="606107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2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这已经是提出</a:t>
            </a:r>
            <a:r>
              <a:rPr sz="2400" u="sng" spc="12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面向对象思想</a:t>
            </a:r>
            <a:r>
              <a:rPr sz="2400" u="sng" spc="108" dirty="0">
                <a:solidFill>
                  <a:srgbClr val="3232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的黎明时分了！</a:t>
            </a:r>
            <a:endParaRPr sz="2400" spc="12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1730" y="2789555"/>
            <a:ext cx="2706370" cy="3031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15235" y="268605"/>
            <a:ext cx="5036185" cy="5340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 defTabSz="914400" eaLnBrk="1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>
                <a:solidFill>
                  <a:schemeClr val="bg1"/>
                </a:solidFill>
                <a:latin typeface="LCWCBN+MicrosoftYaHei" charset="0"/>
                <a:ea typeface="LCWCBN+MicrosoftYaHei" charset="0"/>
                <a:cs typeface="宋体" panose="02010600030101010101" pitchFamily="2" charset="-122"/>
              </a:rPr>
              <a:t>生平：面向对象思想的推出</a:t>
            </a:r>
            <a:endParaRPr lang="ko-KR" altLang="en-US" sz="3200" b="1">
              <a:solidFill>
                <a:schemeClr val="bg1"/>
              </a:solidFill>
              <a:latin typeface="LCWCBN+MicrosoftYaHei" charset="0"/>
              <a:ea typeface="LCWCBN+MicrosoftYaHei" charset="0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1090" y="996950"/>
            <a:ext cx="106680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F0000"/>
                </a:solidFill>
                <a:latin typeface="LCWCBN+MicrosoftYaHei"/>
                <a:cs typeface="LCWCBN+MicrosoftYaHei"/>
              </a:rPr>
              <a:t>亮点：</a:t>
            </a:r>
            <a:endParaRPr sz="2800" b="1" dirty="0">
              <a:solidFill>
                <a:srgbClr val="FF0000"/>
              </a:solidFill>
              <a:latin typeface="LCWCBN+MicrosoftYaHei"/>
              <a:cs typeface="LCWCBN+Microsoft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5965" y="1282065"/>
            <a:ext cx="715264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LCWCBN+MicrosoftYaHei"/>
                <a:cs typeface="LCWCBN+MicrosoftYaHei"/>
              </a:rPr>
              <a:t>预测未来的最好办法，就是把它创造出来。</a:t>
            </a:r>
            <a:endParaRPr sz="2800" dirty="0">
              <a:solidFill>
                <a:srgbClr val="FF0000"/>
              </a:solidFill>
              <a:latin typeface="LCWCBN+MicrosoftYaHei"/>
              <a:cs typeface="LCWCBN+Microsoft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1360" y="1732915"/>
            <a:ext cx="8666480" cy="2545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8155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LCWCBN+MicrosoftYaHei"/>
                <a:cs typeface="LCWCBN+MicrosoftYaHei"/>
              </a:rPr>
              <a:t>一一艾伦</a:t>
            </a:r>
            <a:r>
              <a:rPr sz="2000" dirty="0">
                <a:solidFill>
                  <a:srgbClr val="FF0000"/>
                </a:solidFill>
                <a:latin typeface="MLLGGQ+MicrosoftYaHei"/>
                <a:cs typeface="MLLGGQ+MicrosoftYaHei"/>
              </a:rPr>
              <a:t>.</a:t>
            </a:r>
            <a:r>
              <a:rPr sz="2000" spc="-15" dirty="0">
                <a:solidFill>
                  <a:srgbClr val="FF0000"/>
                </a:solidFill>
                <a:latin typeface="MLLGGQ+MicrosoftYaHei"/>
                <a:cs typeface="MLLGGQ+MicrosoftYaHei"/>
              </a:rPr>
              <a:t> </a:t>
            </a:r>
            <a:r>
              <a:rPr sz="2000" dirty="0">
                <a:solidFill>
                  <a:srgbClr val="FF0000"/>
                </a:solidFill>
                <a:latin typeface="MLLGGQ+MicrosoftYaHei"/>
                <a:cs typeface="MLLGGQ+MicrosoftYaHei"/>
              </a:rPr>
              <a:t>C.</a:t>
            </a:r>
            <a:r>
              <a:rPr sz="2000" dirty="0">
                <a:solidFill>
                  <a:srgbClr val="FF0000"/>
                </a:solidFill>
                <a:latin typeface="LCWCBN+MicrosoftYaHei"/>
                <a:cs typeface="LCWCBN+MicrosoftYaHei"/>
              </a:rPr>
              <a:t>凯</a:t>
            </a:r>
            <a:endParaRPr sz="2000" dirty="0">
              <a:solidFill>
                <a:srgbClr val="FF0000"/>
              </a:solidFill>
              <a:latin typeface="LCWCBN+MicrosoftYaHei"/>
              <a:cs typeface="LCWCBN+MicrosoftYaHei"/>
            </a:endParaRPr>
          </a:p>
          <a:p>
            <a:pPr marL="0" marR="0">
              <a:lnSpc>
                <a:spcPts val="2895"/>
              </a:lnSpc>
              <a:spcBef>
                <a:spcPts val="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1971</a:t>
            </a:r>
            <a:r>
              <a:rPr sz="2400" spc="18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年夏天，艾伦</a:t>
            </a: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凯负责设计一种新的语言，名字叫做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86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Smalltalk</a:t>
            </a:r>
            <a:endParaRPr sz="24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  <a:p>
            <a:pPr marL="0" marR="0">
              <a:lnSpc>
                <a:spcPts val="28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Smalltalk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的设计确实与生物学上的类比相吻合：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81000" marR="0">
              <a:lnSpc>
                <a:spcPts val="2400"/>
              </a:lnSpc>
              <a:spcBef>
                <a:spcPts val="37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相互独立的个体（细胞）通过发送讯息彼此交流。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82270" marR="0">
              <a:lnSpc>
                <a:spcPts val="2400"/>
              </a:lnSpc>
              <a:spcBef>
                <a:spcPts val="4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每一条讯息都包含了数据、发送者地址、接收者地址，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以及有关接收者如何对数据实施操作的指令。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8710" y="4606290"/>
            <a:ext cx="7467600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凯希望把这种简单的讯息机制贯彻到整个语言中去，这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4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些想法组成了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“面向对象”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的核心内容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9340" y="5561965"/>
            <a:ext cx="8438515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9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面向对象在</a:t>
            </a: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20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世纪</a:t>
            </a:r>
            <a:r>
              <a:rPr sz="24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90</a:t>
            </a: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年代变成了软件设计的基本方法与技术！</a:t>
            </a:r>
            <a:endParaRPr sz="24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2400"/>
              </a:lnSpc>
              <a:spcBef>
                <a:spcPts val="3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它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更贴近人类思维的特点</a:t>
            </a:r>
            <a:endParaRPr sz="24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/>
          <p:cNvSpPr txBox="1"/>
          <p:nvPr>
            <p:custDataLst>
              <p:tags r:id="rId1"/>
            </p:custDataLst>
          </p:nvPr>
        </p:nvSpPr>
        <p:spPr>
          <a:xfrm>
            <a:off x="6368415" y="26606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步骤一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9" name="TextBox 98"/>
          <p:cNvSpPr txBox="1"/>
          <p:nvPr>
            <p:custDataLst>
              <p:tags r:id="rId2"/>
            </p:custDataLst>
          </p:nvPr>
        </p:nvSpPr>
        <p:spPr>
          <a:xfrm>
            <a:off x="5181600" y="38290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步骤二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1" name="TextBox 100"/>
          <p:cNvSpPr txBox="1"/>
          <p:nvPr>
            <p:custDataLst>
              <p:tags r:id="rId3"/>
            </p:custDataLst>
          </p:nvPr>
        </p:nvSpPr>
        <p:spPr>
          <a:xfrm>
            <a:off x="4908550" y="21145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步骤三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6" name="TextBox 105"/>
          <p:cNvSpPr txBox="1"/>
          <p:nvPr>
            <p:custDataLst>
              <p:tags r:id="rId4"/>
            </p:custDataLst>
          </p:nvPr>
        </p:nvSpPr>
        <p:spPr>
          <a:xfrm>
            <a:off x="1251585" y="3118485"/>
            <a:ext cx="9741535" cy="5835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ChatGPT模型对软件</a:t>
            </a:r>
            <a:r>
              <a:rPr 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开发带来哪些挑战？</a:t>
            </a:r>
            <a:endParaRPr lang="zh-CN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4313555" y="1293495"/>
            <a:ext cx="1552575" cy="61023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400" b="1">
                <a:solidFill>
                  <a:srgbClr val="0070C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 </a:t>
            </a:r>
            <a:endParaRPr lang="ko-KR" altLang="en-US" sz="4400" b="1">
              <a:solidFill>
                <a:srgbClr val="0070C0"/>
              </a:solidFill>
              <a:highlight>
                <a:srgbClr val="FFFF00"/>
              </a:highlight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4400" b="1">
                <a:solidFill>
                  <a:srgbClr val="0070C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思</a:t>
            </a:r>
            <a:r>
              <a:rPr lang="en-US" sz="4400" b="1">
                <a:solidFill>
                  <a:srgbClr val="0070C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 </a:t>
            </a:r>
            <a:r>
              <a:rPr sz="4400" b="1">
                <a:solidFill>
                  <a:srgbClr val="0070C0"/>
                </a:solidFill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考</a:t>
            </a:r>
            <a:endParaRPr lang="ko-KR" altLang="en-US" sz="4400" b="1">
              <a:solidFill>
                <a:srgbClr val="0070C0"/>
              </a:solidFill>
              <a:highlight>
                <a:srgbClr val="FFFF00"/>
              </a:highlight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3" name="TextBox 105"/>
          <p:cNvSpPr txBox="1"/>
          <p:nvPr>
            <p:custDataLst>
              <p:tags r:id="rId5"/>
            </p:custDataLst>
          </p:nvPr>
        </p:nvSpPr>
        <p:spPr>
          <a:xfrm>
            <a:off x="1251585" y="2219325"/>
            <a:ext cx="9741535" cy="5835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针对</a:t>
            </a:r>
            <a:r>
              <a:rPr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通常的设计问题有没有现成的处方？</a:t>
            </a:r>
            <a:endParaRPr lang="zh-CN" sz="320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TextBox 105"/>
          <p:cNvSpPr txBox="1"/>
          <p:nvPr>
            <p:custDataLst>
              <p:tags r:id="rId6"/>
            </p:custDataLst>
          </p:nvPr>
        </p:nvSpPr>
        <p:spPr>
          <a:xfrm>
            <a:off x="1287145" y="4048125"/>
            <a:ext cx="9741535" cy="5835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面向对象方法在软件开发中的作用</a:t>
            </a:r>
            <a:r>
              <a:rPr lang="en-US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?</a:t>
            </a:r>
            <a:endParaRPr 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105"/>
          <p:cNvSpPr txBox="1"/>
          <p:nvPr>
            <p:custDataLst>
              <p:tags r:id="rId7"/>
            </p:custDataLst>
          </p:nvPr>
        </p:nvSpPr>
        <p:spPr>
          <a:xfrm>
            <a:off x="1251585" y="4977765"/>
            <a:ext cx="9741535" cy="58356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en-US" altLang="zh-CN" sz="3200" spc="150">
                <a:solidFill>
                  <a:srgbClr val="0070C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DeepSeek</a:t>
            </a:r>
            <a:r>
              <a:rPr sz="3200" spc="150">
                <a:solidFill>
                  <a:srgbClr val="0070C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对软件</a:t>
            </a:r>
            <a:r>
              <a:rPr lang="zh-CN" sz="3200" spc="150">
                <a:solidFill>
                  <a:srgbClr val="0070C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开发带来哪些挑战</a:t>
            </a:r>
            <a:r>
              <a:rPr lang="en-US" altLang="zh-CN" sz="3200" spc="150">
                <a:solidFill>
                  <a:srgbClr val="0070C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?</a:t>
            </a:r>
            <a:endParaRPr lang="en-US" altLang="zh-CN" sz="3200" spc="150">
              <a:solidFill>
                <a:srgbClr val="0070C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等腰三角形 2"/>
          <p:cNvSpPr/>
          <p:nvPr/>
        </p:nvSpPr>
        <p:spPr bwMode="auto">
          <a:xfrm rot="3000000">
            <a:off x="6076315" y="1854835"/>
            <a:ext cx="1790065" cy="2070735"/>
          </a:xfrm>
          <a:custGeom>
            <a:avLst/>
            <a:gdLst>
              <a:gd name="TX0" fmla="*/ 576064 w 1152129"/>
              <a:gd name="TY0" fmla="*/ 0 h 1333074"/>
              <a:gd name="TX1" fmla="*/ 687529 w 1152129"/>
              <a:gd name="TY1" fmla="*/ 192182 h 1333074"/>
              <a:gd name="TX2" fmla="*/ 1152128 w 1152129"/>
              <a:gd name="TY2" fmla="*/ 757009 h 1333074"/>
              <a:gd name="TX3" fmla="*/ 576064 w 1152129"/>
              <a:gd name="TY3" fmla="*/ 1333073 h 1333074"/>
              <a:gd name="TX4" fmla="*/ 0 w 1152129"/>
              <a:gd name="TY4" fmla="*/ 757009 h 1333074"/>
              <a:gd name="TX5" fmla="*/ 464599 w 1152129"/>
              <a:gd name="TY5" fmla="*/ 192182 h 1333074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</a:cxnLst>
            <a:rect l="l" t="t" r="r" b="b"/>
            <a:pathLst>
              <a:path w="1152129" h="1333074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rgbClr val="F8F8F8">
                <a:alpha val="100000"/>
              </a:srgbClr>
            </a:solidFill>
            <a:prstDash val="solid"/>
          </a:ln>
        </p:spPr>
        <p:txBody>
          <a:bodyPr vert="horz" wrap="none" lIns="91440" tIns="45720" rIns="91440" bIns="45720" numCol="1" anchor="ctr">
            <a:noAutofit/>
          </a:bodyPr>
          <a:lstStyle/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68415" y="26606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步骤一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8" name="等腰三角形 2"/>
          <p:cNvSpPr/>
          <p:nvPr/>
        </p:nvSpPr>
        <p:spPr bwMode="auto">
          <a:xfrm rot="8760000">
            <a:off x="4931410" y="3112135"/>
            <a:ext cx="1790065" cy="2071370"/>
          </a:xfrm>
          <a:custGeom>
            <a:avLst/>
            <a:gdLst>
              <a:gd name="TX0" fmla="*/ 576064 w 1152129"/>
              <a:gd name="TY0" fmla="*/ 0 h 1333074"/>
              <a:gd name="TX1" fmla="*/ 687529 w 1152129"/>
              <a:gd name="TY1" fmla="*/ 192182 h 1333074"/>
              <a:gd name="TX2" fmla="*/ 1152128 w 1152129"/>
              <a:gd name="TY2" fmla="*/ 757009 h 1333074"/>
              <a:gd name="TX3" fmla="*/ 576064 w 1152129"/>
              <a:gd name="TY3" fmla="*/ 1333073 h 1333074"/>
              <a:gd name="TX4" fmla="*/ 0 w 1152129"/>
              <a:gd name="TY4" fmla="*/ 757009 h 1333074"/>
              <a:gd name="TX5" fmla="*/ 464599 w 1152129"/>
              <a:gd name="TY5" fmla="*/ 192182 h 1333074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</a:cxnLst>
            <a:rect l="l" t="t" r="r" b="b"/>
            <a:pathLst>
              <a:path w="1152129" h="1333074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4"/>
          </a:solidFill>
          <a:ln w="28575" cap="flat" cmpd="sng">
            <a:solidFill>
              <a:srgbClr val="F8F8F8">
                <a:alpha val="100000"/>
              </a:srgbClr>
            </a:solidFill>
            <a:prstDash val="solid"/>
          </a:ln>
        </p:spPr>
        <p:txBody>
          <a:bodyPr vert="horz" wrap="none" lIns="91440" tIns="45720" rIns="91440" bIns="45720" numCol="1" anchor="ctr">
            <a:noAutofit/>
          </a:bodyPr>
          <a:lstStyle/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181600" y="38290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步骤二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0" name="等腰三角形 2"/>
          <p:cNvSpPr/>
          <p:nvPr/>
        </p:nvSpPr>
        <p:spPr bwMode="auto">
          <a:xfrm rot="16440000">
            <a:off x="4406265" y="1427480"/>
            <a:ext cx="1790065" cy="2070735"/>
          </a:xfrm>
          <a:custGeom>
            <a:avLst/>
            <a:gdLst>
              <a:gd name="TX0" fmla="*/ 576064 w 1152129"/>
              <a:gd name="TY0" fmla="*/ 0 h 1333074"/>
              <a:gd name="TX1" fmla="*/ 687529 w 1152129"/>
              <a:gd name="TY1" fmla="*/ 192182 h 1333074"/>
              <a:gd name="TX2" fmla="*/ 1152128 w 1152129"/>
              <a:gd name="TY2" fmla="*/ 757009 h 1333074"/>
              <a:gd name="TX3" fmla="*/ 576064 w 1152129"/>
              <a:gd name="TY3" fmla="*/ 1333073 h 1333074"/>
              <a:gd name="TX4" fmla="*/ 0 w 1152129"/>
              <a:gd name="TY4" fmla="*/ 757009 h 1333074"/>
              <a:gd name="TX5" fmla="*/ 464599 w 1152129"/>
              <a:gd name="TY5" fmla="*/ 192182 h 1333074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</a:cxnLst>
            <a:rect l="l" t="t" r="r" b="b"/>
            <a:pathLst>
              <a:path w="1152129" h="1333074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2"/>
          </a:solidFill>
          <a:ln w="28575" cap="flat" cmpd="sng">
            <a:solidFill>
              <a:srgbClr val="F8F8F8">
                <a:alpha val="100000"/>
              </a:srgbClr>
            </a:solidFill>
            <a:prstDash val="solid"/>
          </a:ln>
        </p:spPr>
        <p:txBody>
          <a:bodyPr vert="horz" wrap="none" lIns="91440" tIns="45720" rIns="91440" bIns="45720" numCol="1" anchor="ctr">
            <a:noAutofit/>
          </a:bodyPr>
          <a:lstStyle/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908550" y="21145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步骤三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30555" y="1413510"/>
            <a:ext cx="3752214" cy="400685"/>
          </a:xfrm>
          <a:prstGeom prst="rect">
            <a:avLst/>
          </a:prstGeom>
          <a:noFill/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努力实现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可维护可重用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的设计</a:t>
            </a:r>
            <a:endParaRPr lang="ko-KR" altLang="en-US" sz="2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94055" y="1830705"/>
            <a:ext cx="3320415" cy="14001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7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得到该做它做之事的良好面向对象的应用程序，是时候运用设计模式与</a:t>
            </a:r>
            <a:r>
              <a:rPr lang="en-US" altLang="zh-CN" sz="17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OO</a:t>
            </a:r>
            <a:r>
              <a:rPr lang="zh-CN" altLang="en-US" sz="17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原则来确保你的软件准备就绪了，它在今后几年里会平安无事</a:t>
            </a:r>
            <a:endParaRPr lang="ko-KR" altLang="en-US" sz="17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148955" y="1012825"/>
            <a:ext cx="3752214" cy="400685"/>
          </a:xfrm>
          <a:prstGeom prst="rect">
            <a:avLst/>
          </a:prstGeom>
          <a:noFill/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确认你的软件做客服要做的事</a:t>
            </a:r>
            <a:endParaRPr lang="ko-KR" altLang="en-US" sz="2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148955" y="2917825"/>
            <a:ext cx="2767330" cy="11995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该步骤把重点放到客户上，确保应用程序做它该做的事。这里是做需求收集与做分析工作之处。</a:t>
            </a:r>
            <a:endParaRPr lang="ko-KR" altLang="en-US" sz="18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614930" y="5000625"/>
            <a:ext cx="4941570" cy="400685"/>
          </a:xfrm>
          <a:prstGeom prst="rect">
            <a:avLst/>
          </a:prstGeom>
          <a:noFill/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运用基本的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OO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原则来增加软件的灵活性</a:t>
            </a:r>
            <a:endParaRPr lang="ko-KR" altLang="en-US" sz="20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614930" y="5314950"/>
            <a:ext cx="4429760" cy="92265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一旦软件开始运作，你能找出任何可能因疏忽而产生的重复程序代码，并且确认你在使用良好的</a:t>
            </a:r>
            <a:r>
              <a:rPr lang="en-US" altLang="zh-CN" sz="1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OO</a:t>
            </a:r>
            <a:r>
              <a:rPr lang="zh-CN" alt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编程技术。</a:t>
            </a:r>
            <a:endParaRPr lang="ko-KR" altLang="en-US" sz="18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8" name="矩形 107"/>
          <p:cNvSpPr/>
          <p:nvPr/>
        </p:nvSpPr>
        <p:spPr bwMode="auto">
          <a:xfrm>
            <a:off x="8256905" y="1435100"/>
            <a:ext cx="2461895" cy="1505585"/>
          </a:xfrm>
          <a:prstGeom prst="rect">
            <a:avLst/>
          </a:prstGeom>
          <a:blipFill rotWithShape="1">
            <a:blip r:embed="rId1" cstate="hqprint"/>
            <a:srcRect/>
            <a:stretch>
              <a:fillRect/>
            </a:stretch>
          </a:blipFill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" name="矩形 108"/>
          <p:cNvSpPr/>
          <p:nvPr/>
        </p:nvSpPr>
        <p:spPr bwMode="auto">
          <a:xfrm>
            <a:off x="1039495" y="3221990"/>
            <a:ext cx="2461895" cy="1498600"/>
          </a:xfrm>
          <a:prstGeom prst="rect">
            <a:avLst/>
          </a:prstGeom>
          <a:blipFill rotWithShape="1">
            <a:blip r:embed="rId2" cstate="hqprint"/>
            <a:srcRect/>
            <a:stretch>
              <a:fillRect/>
            </a:stretch>
          </a:blipFill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" name="矩形 109"/>
          <p:cNvSpPr/>
          <p:nvPr/>
        </p:nvSpPr>
        <p:spPr bwMode="auto">
          <a:xfrm>
            <a:off x="7987030" y="4969510"/>
            <a:ext cx="2506980" cy="1268095"/>
          </a:xfrm>
          <a:prstGeom prst="rect">
            <a:avLst/>
          </a:prstGeom>
          <a:blipFill rotWithShape="1">
            <a:blip r:embed="rId3" cstate="hqprint"/>
            <a:srcRect/>
            <a:stretch>
              <a:fillRect/>
            </a:stretch>
          </a:blipFill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 txBox="1">
            <a:spLocks noGrp="1"/>
          </p:cNvSpPr>
          <p:nvPr>
            <p:ph type="title"/>
          </p:nvPr>
        </p:nvSpPr>
        <p:spPr>
          <a:xfrm>
            <a:off x="3789680" y="873125"/>
            <a:ext cx="4074160" cy="56197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>
                <a:solidFill>
                  <a:srgbClr val="FF0000"/>
                </a:solidFill>
                <a:latin typeface="Arial Black" panose="020B0A04020102020204" charset="0"/>
                <a:ea typeface="微软雅黑" panose="020B0503020204020204" charset="-122"/>
                <a:cs typeface="+mj-cs"/>
              </a:rPr>
              <a:t>优良软件的简易3步骤</a:t>
            </a:r>
            <a:endParaRPr lang="ko-KR" altLang="en-US" sz="2800" b="1">
              <a:solidFill>
                <a:srgbClr val="FF0000"/>
              </a:solidFill>
              <a:latin typeface="Arial Black" panose="020B0A04020102020204" charset="0"/>
              <a:ea typeface="微软雅黑" panose="020B0503020204020204" charset="-122"/>
              <a:cs typeface="+mj-cs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835660" y="71120"/>
            <a:ext cx="8630920" cy="610235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32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思考：针对通常的设计问题有没有现成的处方？</a:t>
            </a:r>
            <a:endParaRPr lang="ko-KR" altLang="en-US" sz="32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/>
          <p:cNvSpPr txBox="1"/>
          <p:nvPr>
            <p:custDataLst>
              <p:tags r:id="rId1"/>
            </p:custDataLst>
          </p:nvPr>
        </p:nvSpPr>
        <p:spPr>
          <a:xfrm>
            <a:off x="6368415" y="26606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步骤一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9" name="TextBox 98"/>
          <p:cNvSpPr txBox="1"/>
          <p:nvPr>
            <p:custDataLst>
              <p:tags r:id="rId2"/>
            </p:custDataLst>
          </p:nvPr>
        </p:nvSpPr>
        <p:spPr>
          <a:xfrm>
            <a:off x="5181600" y="38290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步骤二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1" name="TextBox 100"/>
          <p:cNvSpPr txBox="1"/>
          <p:nvPr>
            <p:custDataLst>
              <p:tags r:id="rId3"/>
            </p:custDataLst>
          </p:nvPr>
        </p:nvSpPr>
        <p:spPr>
          <a:xfrm>
            <a:off x="4908550" y="21145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步骤三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TextBox 105"/>
          <p:cNvSpPr txBox="1"/>
          <p:nvPr>
            <p:custDataLst>
              <p:tags r:id="rId4"/>
            </p:custDataLst>
          </p:nvPr>
        </p:nvSpPr>
        <p:spPr>
          <a:xfrm>
            <a:off x="680720" y="967105"/>
            <a:ext cx="11267440" cy="165227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no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代码生成与补全</a:t>
            </a:r>
            <a:endParaRPr lang="zh-CN" altLang="en-US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具备强大的代码生成能力，可以根据开发者的需求自动生成高质量的代码片段，并对已有的代码进行补全和优化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。这大大提升了开发效率，使开发者能够更专注于业务逻辑的实现，而不是繁琐的代码编写工作。</a:t>
            </a: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105"/>
          <p:cNvSpPr txBox="1"/>
          <p:nvPr>
            <p:custDataLst>
              <p:tags r:id="rId5"/>
            </p:custDataLst>
          </p:nvPr>
        </p:nvSpPr>
        <p:spPr>
          <a:xfrm>
            <a:off x="614680" y="2736850"/>
            <a:ext cx="11267440" cy="165227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no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代码理解与分析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能够深入理解代码的语法和语义结构，进行静态分析和动态调试，帮助开发者快速定位代码中的错误和潜在问题，并提供修复建议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。这有助于提高代码调试和测试的效率，确保软件的质量和稳定性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20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105"/>
          <p:cNvSpPr txBox="1"/>
          <p:nvPr>
            <p:custDataLst>
              <p:tags r:id="rId6"/>
            </p:custDataLst>
          </p:nvPr>
        </p:nvSpPr>
        <p:spPr>
          <a:xfrm>
            <a:off x="614680" y="4389120"/>
            <a:ext cx="11267440" cy="165227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no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智能化需求分析与设计</a:t>
            </a:r>
            <a:endParaRPr lang="zh-CN" altLang="en-US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在汽车电子软件领域，DeepSeek通过自然语言处理技术快速解析需求文档，自动生成软件架构设计和模块划分方案，从而大幅提升需求分析的效率和准确性</a:t>
            </a: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105"/>
          <p:cNvSpPr txBox="1"/>
          <p:nvPr>
            <p:custDataLst>
              <p:tags r:id="rId7"/>
            </p:custDataLst>
          </p:nvPr>
        </p:nvSpPr>
        <p:spPr>
          <a:xfrm>
            <a:off x="918210" y="166370"/>
            <a:ext cx="7788275" cy="583565"/>
          </a:xfrm>
          <a:prstGeom prst="rect">
            <a:avLst/>
          </a:prstGeom>
          <a:gradFill>
            <a:gsLst>
              <a:gs pos="50000">
                <a:srgbClr val="F6EDE1"/>
              </a:gs>
              <a:gs pos="0">
                <a:srgbClr val="F9F3EB"/>
              </a:gs>
              <a:gs pos="100000">
                <a:srgbClr val="F3E6D7"/>
              </a:gs>
            </a:gsLst>
            <a:lin ang="5400000" scaled="1"/>
          </a:gradFill>
        </p:spPr>
        <p:txBody>
          <a:bodyPr vert="horz" wrap="square" lIns="91440" tIns="45720" rIns="91440" bIns="45720" numCol="1" anchor="t">
            <a:spAutoFit/>
          </a:bodyPr>
          <a:p>
            <a:pPr marL="457200" indent="-45720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DeepSeek</a:t>
            </a:r>
            <a:r>
              <a:rPr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对软件</a:t>
            </a:r>
            <a:r>
              <a:rPr 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开发带来哪些挑战</a:t>
            </a:r>
            <a:endParaRPr lang="zh-CN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/>
          <p:cNvSpPr txBox="1"/>
          <p:nvPr>
            <p:custDataLst>
              <p:tags r:id="rId1"/>
            </p:custDataLst>
          </p:nvPr>
        </p:nvSpPr>
        <p:spPr>
          <a:xfrm>
            <a:off x="6368415" y="26606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步骤一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9" name="TextBox 98"/>
          <p:cNvSpPr txBox="1"/>
          <p:nvPr>
            <p:custDataLst>
              <p:tags r:id="rId2"/>
            </p:custDataLst>
          </p:nvPr>
        </p:nvSpPr>
        <p:spPr>
          <a:xfrm>
            <a:off x="5181600" y="38290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步骤二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1" name="TextBox 100"/>
          <p:cNvSpPr txBox="1"/>
          <p:nvPr>
            <p:custDataLst>
              <p:tags r:id="rId3"/>
            </p:custDataLst>
          </p:nvPr>
        </p:nvSpPr>
        <p:spPr>
          <a:xfrm>
            <a:off x="4908550" y="2114550"/>
            <a:ext cx="1083945" cy="62230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91440" tIns="45720" rIns="91440" bIns="45720" numCol="1" anchor="ctr">
            <a:noAutofit/>
          </a:bodyPr>
          <a:lstStyle>
            <a:lvl1pPr marL="0" indent="0" algn="ctr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步骤三</a:t>
            </a:r>
            <a:endParaRPr lang="ko-KR" altLang="en-US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" name="TextBox 105"/>
          <p:cNvSpPr txBox="1"/>
          <p:nvPr>
            <p:custDataLst>
              <p:tags r:id="rId4"/>
            </p:custDataLst>
          </p:nvPr>
        </p:nvSpPr>
        <p:spPr>
          <a:xfrm>
            <a:off x="918210" y="166370"/>
            <a:ext cx="7426960" cy="583565"/>
          </a:xfrm>
          <a:prstGeom prst="rect">
            <a:avLst/>
          </a:prstGeom>
          <a:gradFill>
            <a:gsLst>
              <a:gs pos="50000">
                <a:srgbClr val="F6EDE1"/>
              </a:gs>
              <a:gs pos="0">
                <a:srgbClr val="F9F3EB"/>
              </a:gs>
              <a:gs pos="100000">
                <a:srgbClr val="F3E6D7"/>
              </a:gs>
            </a:gsLst>
            <a:lin ang="5400000" scaled="1"/>
          </a:gradFill>
        </p:spPr>
        <p:txBody>
          <a:bodyPr vert="horz" wrap="square" lIns="91440" tIns="45720" rIns="91440" bIns="45720" numCol="1" anchor="t">
            <a:spAutoFit/>
          </a:bodyPr>
          <a:p>
            <a:pPr marL="457200" indent="-45720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DeepSeek</a:t>
            </a:r>
            <a:r>
              <a:rPr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对软件</a:t>
            </a:r>
            <a:r>
              <a:rPr 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开发带来哪些挑战</a:t>
            </a:r>
            <a:endParaRPr lang="zh-CN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105"/>
          <p:cNvSpPr txBox="1"/>
          <p:nvPr>
            <p:custDataLst>
              <p:tags r:id="rId5"/>
            </p:custDataLst>
          </p:nvPr>
        </p:nvSpPr>
        <p:spPr>
          <a:xfrm>
            <a:off x="680720" y="967105"/>
            <a:ext cx="11267440" cy="165227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no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市场格局的变化</a:t>
            </a:r>
            <a:endParaRPr lang="zh-CN" altLang="en-US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以极低的成本完成了高性能模型的训练，打破了大型科技公司对先进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技术的垄断局面。这使得即使是资源有限的小型企业或研究机构也能负担得起高质量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模型的研发成本，促进了市场竞争的多元化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105"/>
          <p:cNvSpPr txBox="1"/>
          <p:nvPr>
            <p:custDataLst>
              <p:tags r:id="rId6"/>
            </p:custDataLst>
          </p:nvPr>
        </p:nvSpPr>
        <p:spPr>
          <a:xfrm>
            <a:off x="614680" y="2736850"/>
            <a:ext cx="11267440" cy="13233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no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5.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开源策略的影响</a:t>
            </a:r>
            <a:endParaRPr lang="zh-CN" altLang="en-US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坚持开源策略，向全球开发者社区分享核心技术成果，加速了技术创新的速度，促进了跨地域、跨文化的协作交流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。开源策略降低了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开发的门槛，推动了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技术的普及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20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105"/>
          <p:cNvSpPr txBox="1"/>
          <p:nvPr>
            <p:custDataLst>
              <p:tags r:id="rId7"/>
            </p:custDataLst>
          </p:nvPr>
        </p:nvSpPr>
        <p:spPr>
          <a:xfrm>
            <a:off x="614680" y="4060190"/>
            <a:ext cx="11267440" cy="15208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no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6.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技术层面的革新</a:t>
            </a:r>
            <a:endParaRPr lang="zh-CN" altLang="en-US" sz="24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DeepSeek通过创新的算法和模型架构，成功开发了多款高性能AI模型，在自然语言处理、代码生成、数学运算等多领域展现了卓越能力2。其强大的自然语言处理能力和低成本训练模型，推动了AI软件的发展。</a:t>
            </a: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105"/>
          <p:cNvSpPr txBox="1"/>
          <p:nvPr>
            <p:custDataLst>
              <p:tags r:id="rId8"/>
            </p:custDataLst>
          </p:nvPr>
        </p:nvSpPr>
        <p:spPr>
          <a:xfrm>
            <a:off x="384175" y="5577840"/>
            <a:ext cx="11179810" cy="9588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91440" tIns="45720" rIns="91440" bIns="45720" numCol="1" anchor="t">
            <a:noAutofit/>
          </a:bodyPr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在软件开发领域的应用不仅提升了开发效率和质量，还推动了技术创新、市场格局变化、就业与职业发展的多样化以及应用场景的拓展与行业融合。</a:t>
            </a: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 sz="320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34290" y="4224655"/>
            <a:ext cx="1641475" cy="2679065"/>
            <a:chOff x="-34290" y="4224655"/>
            <a:chExt cx="1641475" cy="2679065"/>
          </a:xfrm>
        </p:grpSpPr>
        <p:sp>
          <p:nvSpPr>
            <p:cNvPr id="10" name="形状 9"/>
            <p:cNvSpPr/>
            <p:nvPr/>
          </p:nvSpPr>
          <p:spPr>
            <a:xfrm>
              <a:off x="-33655" y="6104255"/>
              <a:ext cx="690245" cy="798830"/>
            </a:xfrm>
            <a:prstGeom prst="rect">
              <a:avLst/>
            </a:prstGeom>
            <a:solidFill>
              <a:srgbClr val="13CCDF"/>
            </a:solidFill>
            <a:ln w="508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1" name="形状 10"/>
            <p:cNvSpPr/>
            <p:nvPr/>
          </p:nvSpPr>
          <p:spPr>
            <a:xfrm>
              <a:off x="-34290" y="5756275"/>
              <a:ext cx="688340" cy="344170"/>
            </a:xfrm>
            <a:custGeom>
              <a:avLst/>
              <a:gdLst>
                <a:gd name="TX0" fmla="*/ 480060 w 960121"/>
                <a:gd name="TY0" fmla="*/ 0 h 480061"/>
                <a:gd name="TX1" fmla="*/ 960120 w 960121"/>
                <a:gd name="TY1" fmla="*/ 480060 h 480061"/>
                <a:gd name="TX2" fmla="*/ 0 w 960121"/>
                <a:gd name="TY2" fmla="*/ 480060 h 480061"/>
                <a:gd name="TX3" fmla="*/ 480060 w 960121"/>
                <a:gd name="TY3" fmla="*/ 0 h 480061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</a:cxnLst>
              <a:rect l="l" t="t" r="r" b="b"/>
              <a:pathLst>
                <a:path w="960121" h="480061">
                  <a:moveTo>
                    <a:pt x="480060" y="0"/>
                  </a:moveTo>
                  <a:cubicBezTo>
                    <a:pt x="745190" y="0"/>
                    <a:pt x="960120" y="214930"/>
                    <a:pt x="960120" y="480060"/>
                  </a:cubicBezTo>
                  <a:lnTo>
                    <a:pt x="0" y="480060"/>
                  </a:lnTo>
                  <a:cubicBezTo>
                    <a:pt x="0" y="214930"/>
                    <a:pt x="214930" y="0"/>
                    <a:pt x="480060" y="0"/>
                  </a:cubicBezTo>
                  <a:close/>
                </a:path>
              </a:pathLst>
            </a:custGeom>
            <a:solidFill>
              <a:srgbClr val="13CCDF"/>
            </a:solidFill>
            <a:ln w="508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2" name="形状 11"/>
            <p:cNvSpPr/>
            <p:nvPr/>
          </p:nvSpPr>
          <p:spPr>
            <a:xfrm>
              <a:off x="222250" y="6201410"/>
              <a:ext cx="145415" cy="349250"/>
            </a:xfrm>
            <a:prstGeom prst="roundRect">
              <a:avLst>
                <a:gd name="adj" fmla="val 45513"/>
              </a:avLst>
            </a:prstGeom>
            <a:solidFill>
              <a:schemeClr val="tx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3" name="形状 12"/>
            <p:cNvSpPr/>
            <p:nvPr/>
          </p:nvSpPr>
          <p:spPr>
            <a:xfrm>
              <a:off x="488950" y="5349240"/>
              <a:ext cx="1118235" cy="1553845"/>
            </a:xfrm>
            <a:prstGeom prst="trapezoid">
              <a:avLst>
                <a:gd name="adj" fmla="val 25000"/>
              </a:avLst>
            </a:prstGeom>
            <a:solidFill>
              <a:srgbClr val="13CCDF"/>
            </a:solidFill>
            <a:ln w="508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4" name="形状 13"/>
            <p:cNvSpPr/>
            <p:nvPr/>
          </p:nvSpPr>
          <p:spPr>
            <a:xfrm>
              <a:off x="774065" y="4969510"/>
              <a:ext cx="553720" cy="315595"/>
            </a:xfrm>
            <a:prstGeom prst="rect">
              <a:avLst/>
            </a:prstGeom>
            <a:solidFill>
              <a:srgbClr val="FDDF03"/>
            </a:solidFill>
            <a:ln w="508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形状 14"/>
            <p:cNvSpPr/>
            <p:nvPr/>
          </p:nvSpPr>
          <p:spPr>
            <a:xfrm>
              <a:off x="795655" y="4952365"/>
              <a:ext cx="78105" cy="315595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6" name="形状 15"/>
            <p:cNvSpPr/>
            <p:nvPr/>
          </p:nvSpPr>
          <p:spPr>
            <a:xfrm>
              <a:off x="1105535" y="4979035"/>
              <a:ext cx="210185" cy="315595"/>
            </a:xfrm>
            <a:prstGeom prst="rect">
              <a:avLst/>
            </a:prstGeom>
            <a:solidFill>
              <a:srgbClr val="FFC00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7" name="形状 16"/>
            <p:cNvSpPr/>
            <p:nvPr/>
          </p:nvSpPr>
          <p:spPr>
            <a:xfrm>
              <a:off x="768985" y="4620260"/>
              <a:ext cx="558800" cy="280035"/>
            </a:xfrm>
            <a:custGeom>
              <a:avLst/>
              <a:gdLst>
                <a:gd name="TX0" fmla="*/ 480060 w 960121"/>
                <a:gd name="TY0" fmla="*/ 0 h 480061"/>
                <a:gd name="TX1" fmla="*/ 960120 w 960121"/>
                <a:gd name="TY1" fmla="*/ 480060 h 480061"/>
                <a:gd name="TX2" fmla="*/ 0 w 960121"/>
                <a:gd name="TY2" fmla="*/ 480060 h 480061"/>
                <a:gd name="TX3" fmla="*/ 480060 w 960121"/>
                <a:gd name="TY3" fmla="*/ 0 h 480061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</a:cxnLst>
              <a:rect l="l" t="t" r="r" b="b"/>
              <a:pathLst>
                <a:path w="960121" h="480061">
                  <a:moveTo>
                    <a:pt x="480060" y="0"/>
                  </a:moveTo>
                  <a:cubicBezTo>
                    <a:pt x="745190" y="0"/>
                    <a:pt x="960120" y="214930"/>
                    <a:pt x="960120" y="480060"/>
                  </a:cubicBezTo>
                  <a:lnTo>
                    <a:pt x="0" y="480060"/>
                  </a:lnTo>
                  <a:cubicBezTo>
                    <a:pt x="0" y="214930"/>
                    <a:pt x="214930" y="0"/>
                    <a:pt x="480060" y="0"/>
                  </a:cubicBezTo>
                  <a:close/>
                </a:path>
              </a:pathLst>
            </a:custGeom>
            <a:solidFill>
              <a:srgbClr val="13CCDF"/>
            </a:solidFill>
            <a:ln w="508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形状 17"/>
            <p:cNvSpPr/>
            <p:nvPr/>
          </p:nvSpPr>
          <p:spPr>
            <a:xfrm>
              <a:off x="734060" y="4874895"/>
              <a:ext cx="633730" cy="95250"/>
            </a:xfrm>
            <a:prstGeom prst="roundRect">
              <a:avLst>
                <a:gd name="adj" fmla="val 35186"/>
              </a:avLst>
            </a:prstGeom>
            <a:solidFill>
              <a:srgbClr val="13CCDF"/>
            </a:solidFill>
            <a:ln w="508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9" name="形状 18"/>
            <p:cNvSpPr/>
            <p:nvPr/>
          </p:nvSpPr>
          <p:spPr>
            <a:xfrm>
              <a:off x="730885" y="5264785"/>
              <a:ext cx="633730" cy="95250"/>
            </a:xfrm>
            <a:prstGeom prst="roundRect">
              <a:avLst>
                <a:gd name="adj" fmla="val 35186"/>
              </a:avLst>
            </a:prstGeom>
            <a:solidFill>
              <a:srgbClr val="13CCDF"/>
            </a:solidFill>
            <a:ln w="50800" cap="flat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0" name="形状 19"/>
            <p:cNvSpPr/>
            <p:nvPr/>
          </p:nvSpPr>
          <p:spPr>
            <a:xfrm>
              <a:off x="953135" y="6539865"/>
              <a:ext cx="196850" cy="363855"/>
            </a:xfrm>
            <a:custGeom>
              <a:avLst/>
              <a:gdLst>
                <a:gd name="TX0" fmla="*/ 140458 w 308611"/>
                <a:gd name="TY0" fmla="*/ 0 h 572022"/>
                <a:gd name="TX1" fmla="*/ 168152 w 308611"/>
                <a:gd name="TY1" fmla="*/ 0 h 572022"/>
                <a:gd name="TX2" fmla="*/ 308610 w 308611"/>
                <a:gd name="TY2" fmla="*/ 140458 h 572022"/>
                <a:gd name="TX3" fmla="*/ 308610 w 308611"/>
                <a:gd name="TY3" fmla="*/ 572021 h 572022"/>
                <a:gd name="TX4" fmla="*/ 0 w 308611"/>
                <a:gd name="TY4" fmla="*/ 572021 h 572022"/>
                <a:gd name="TX5" fmla="*/ 0 w 308611"/>
                <a:gd name="TY5" fmla="*/ 140458 h 572022"/>
                <a:gd name="TX6" fmla="*/ 140458 w 308611"/>
                <a:gd name="TY6" fmla="*/ 0 h 572022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308611" h="572022">
                  <a:moveTo>
                    <a:pt x="140458" y="0"/>
                  </a:moveTo>
                  <a:lnTo>
                    <a:pt x="168152" y="0"/>
                  </a:lnTo>
                  <a:cubicBezTo>
                    <a:pt x="245725" y="0"/>
                    <a:pt x="308610" y="62885"/>
                    <a:pt x="308610" y="140458"/>
                  </a:cubicBezTo>
                  <a:lnTo>
                    <a:pt x="308610" y="572021"/>
                  </a:lnTo>
                  <a:lnTo>
                    <a:pt x="0" y="572021"/>
                  </a:lnTo>
                  <a:lnTo>
                    <a:pt x="0" y="140458"/>
                  </a:lnTo>
                  <a:cubicBezTo>
                    <a:pt x="0" y="62885"/>
                    <a:pt x="62885" y="0"/>
                    <a:pt x="140458" y="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1" name="形状 20"/>
            <p:cNvSpPr/>
            <p:nvPr/>
          </p:nvSpPr>
          <p:spPr>
            <a:xfrm>
              <a:off x="972820" y="5462905"/>
              <a:ext cx="145415" cy="349250"/>
            </a:xfrm>
            <a:prstGeom prst="roundRect">
              <a:avLst>
                <a:gd name="adj" fmla="val 45513"/>
              </a:avLst>
            </a:prstGeom>
            <a:solidFill>
              <a:schemeClr val="tx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2" name="形状 21"/>
            <p:cNvCxnSpPr>
              <a:stCxn id="17" idx="0"/>
            </p:cNvCxnSpPr>
            <p:nvPr/>
          </p:nvCxnSpPr>
          <p:spPr>
            <a:xfrm flipH="1" flipV="1">
              <a:off x="1047750" y="4224655"/>
              <a:ext cx="1270" cy="396875"/>
            </a:xfrm>
            <a:prstGeom prst="line">
              <a:avLst/>
            </a:prstGeom>
            <a:ln w="50800" cap="rnd" cmpd="sng">
              <a:solidFill>
                <a:schemeClr val="tx1">
                  <a:alpha val="10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形状 22"/>
            <p:cNvSpPr/>
            <p:nvPr/>
          </p:nvSpPr>
          <p:spPr>
            <a:xfrm>
              <a:off x="502920" y="5371465"/>
              <a:ext cx="341630" cy="1510665"/>
            </a:xfrm>
            <a:prstGeom prst="parallelogram">
              <a:avLst>
                <a:gd name="adj" fmla="val 83333"/>
              </a:avLst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4" name="形状 23"/>
            <p:cNvSpPr/>
            <p:nvPr/>
          </p:nvSpPr>
          <p:spPr>
            <a:xfrm>
              <a:off x="793115" y="4636135"/>
              <a:ext cx="233680" cy="237490"/>
            </a:xfrm>
            <a:custGeom>
              <a:avLst/>
              <a:gdLst>
                <a:gd name="TX0" fmla="*/ 431292 w 431293"/>
                <a:gd name="TY0" fmla="*/ 0 h 438703"/>
                <a:gd name="TX1" fmla="*/ 377333 w 431293"/>
                <a:gd name="TY1" fmla="*/ 16750 h 438703"/>
                <a:gd name="TX2" fmla="*/ 82534 w 431293"/>
                <a:gd name="TY2" fmla="*/ 376178 h 438703"/>
                <a:gd name="TX3" fmla="*/ 76231 w 431293"/>
                <a:gd name="TY3" fmla="*/ 438702 h 438703"/>
                <a:gd name="TX4" fmla="*/ 0 w 431293"/>
                <a:gd name="TY4" fmla="*/ 438702 h 438703"/>
                <a:gd name="TX5" fmla="*/ 350952 w 431293"/>
                <a:gd name="TY5" fmla="*/ 8099 h 438703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</a:cxnLst>
              <a:rect l="l" t="t" r="r" b="b"/>
              <a:pathLst>
                <a:path w="431293" h="438703">
                  <a:moveTo>
                    <a:pt x="431292" y="0"/>
                  </a:moveTo>
                  <a:lnTo>
                    <a:pt x="377333" y="16750"/>
                  </a:lnTo>
                  <a:cubicBezTo>
                    <a:pt x="227998" y="79913"/>
                    <a:pt x="115789" y="213665"/>
                    <a:pt x="82534" y="376178"/>
                  </a:cubicBezTo>
                  <a:lnTo>
                    <a:pt x="76231" y="438702"/>
                  </a:lnTo>
                  <a:lnTo>
                    <a:pt x="0" y="438702"/>
                  </a:lnTo>
                  <a:cubicBezTo>
                    <a:pt x="0" y="226298"/>
                    <a:pt x="150664" y="49084"/>
                    <a:pt x="350952" y="809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5" name="形状 24"/>
            <p:cNvSpPr/>
            <p:nvPr/>
          </p:nvSpPr>
          <p:spPr>
            <a:xfrm>
              <a:off x="-17145" y="6121400"/>
              <a:ext cx="63500" cy="760095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6" name="形状 25"/>
            <p:cNvSpPr/>
            <p:nvPr/>
          </p:nvSpPr>
          <p:spPr>
            <a:xfrm>
              <a:off x="-17780" y="5777865"/>
              <a:ext cx="313055" cy="302895"/>
            </a:xfrm>
            <a:custGeom>
              <a:avLst/>
              <a:gdLst>
                <a:gd name="TX0" fmla="*/ 492191 w 492192"/>
                <a:gd name="TY0" fmla="*/ 0 h 536260"/>
                <a:gd name="TX1" fmla="*/ 414360 w 492192"/>
                <a:gd name="TY1" fmla="*/ 26542 h 536260"/>
                <a:gd name="TX2" fmla="*/ 94815 w 492192"/>
                <a:gd name="TY2" fmla="*/ 454539 h 536260"/>
                <a:gd name="TX3" fmla="*/ 87316 w 492192"/>
                <a:gd name="TY3" fmla="*/ 536259 h 536260"/>
                <a:gd name="TX4" fmla="*/ 0 w 492192"/>
                <a:gd name="TY4" fmla="*/ 536259 h 536260"/>
                <a:gd name="TX5" fmla="*/ 432128 w 492192"/>
                <a:gd name="TY5" fmla="*/ 6055 h 536260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</a:cxnLst>
              <a:rect l="l" t="t" r="r" b="b"/>
              <a:pathLst>
                <a:path w="492192" h="536260">
                  <a:moveTo>
                    <a:pt x="492191" y="0"/>
                  </a:moveTo>
                  <a:lnTo>
                    <a:pt x="414360" y="26542"/>
                  </a:lnTo>
                  <a:cubicBezTo>
                    <a:pt x="252489" y="101755"/>
                    <a:pt x="130862" y="261023"/>
                    <a:pt x="94815" y="454539"/>
                  </a:cubicBezTo>
                  <a:lnTo>
                    <a:pt x="87316" y="536259"/>
                  </a:lnTo>
                  <a:lnTo>
                    <a:pt x="0" y="536259"/>
                  </a:lnTo>
                  <a:cubicBezTo>
                    <a:pt x="0" y="274725"/>
                    <a:pt x="185513" y="56520"/>
                    <a:pt x="432128" y="6055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607185" y="3423285"/>
            <a:ext cx="2999740" cy="9226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  <a:scene3d>
              <a:camera prst="orthographicFront"/>
              <a:lightRig rig="threePt" dir="t">
                <a:rot lat="0" lon="0" rev="6000000"/>
              </a:lightRig>
            </a:scene3d>
            <a:sp3d extrusionH="50800">
              <a:bevelT w="25400" h="38100"/>
              <a:extrusionClr>
                <a:srgbClr val="000000"/>
              </a:extrusionClr>
              <a:contourClr>
                <a:srgbClr val="000000"/>
              </a:contourClr>
            </a:sp3d>
          </a:bodyPr>
          <a:lstStyle/>
          <a:p>
            <a:pPr marL="0" indent="0" algn="l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5400" b="1">
                <a:solidFill>
                  <a:schemeClr val="accent4"/>
                </a:solidFill>
                <a:latin typeface="Calibri" panose="020F0502020204030204" charset="0"/>
                <a:ea typeface="宋体" panose="02010600030101010101" pitchFamily="2" charset="-122"/>
              </a:rPr>
              <a:t>学习内容</a:t>
            </a:r>
            <a:endParaRPr lang="ko-KR" altLang="en-US" sz="40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526655" y="5574665"/>
            <a:ext cx="1960245" cy="64579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</a:rPr>
              <a:t>06  综合案例</a:t>
            </a:r>
            <a:endParaRPr lang="ko-KR" altLang="en-US" sz="24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形状 28"/>
          <p:cNvSpPr/>
          <p:nvPr/>
        </p:nvSpPr>
        <p:spPr>
          <a:xfrm>
            <a:off x="3863975" y="1231900"/>
            <a:ext cx="1350645" cy="645795"/>
          </a:xfrm>
          <a:prstGeom prst="rect">
            <a:avLst/>
          </a:prstGeom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01  前言</a:t>
            </a:r>
            <a:endParaRPr lang="ko-KR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形状 29"/>
          <p:cNvSpPr/>
          <p:nvPr/>
        </p:nvSpPr>
        <p:spPr>
          <a:xfrm>
            <a:off x="4593590" y="1989455"/>
            <a:ext cx="3661410" cy="64579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</a:rPr>
              <a:t>02  面向对象方法概述</a:t>
            </a:r>
            <a:endParaRPr lang="ko-KR" altLang="en-US" sz="24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形状 30"/>
          <p:cNvSpPr/>
          <p:nvPr/>
        </p:nvSpPr>
        <p:spPr>
          <a:xfrm>
            <a:off x="5544820" y="2793365"/>
            <a:ext cx="6035040" cy="64579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</a:rPr>
              <a:t>03  UML系统建模与分析设计</a:t>
            </a:r>
            <a:endParaRPr lang="ko-KR" altLang="en-US" sz="24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形状 31"/>
          <p:cNvSpPr/>
          <p:nvPr/>
        </p:nvSpPr>
        <p:spPr>
          <a:xfrm>
            <a:off x="6266180" y="3799205"/>
            <a:ext cx="2863215" cy="64579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</a:rPr>
              <a:t>04  领域模型</a:t>
            </a:r>
            <a:endParaRPr lang="ko-KR" altLang="en-US" sz="24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275840" y="4320540"/>
            <a:ext cx="1285240" cy="1285240"/>
            <a:chOff x="2275840" y="4320540"/>
            <a:chExt cx="1285240" cy="1285240"/>
          </a:xfrm>
        </p:grpSpPr>
        <p:grpSp>
          <p:nvGrpSpPr>
            <p:cNvPr id="34" name="组合 33"/>
            <p:cNvGrpSpPr/>
            <p:nvPr/>
          </p:nvGrpSpPr>
          <p:grpSpPr>
            <a:xfrm rot="20700000">
              <a:off x="2275840" y="4320540"/>
              <a:ext cx="1285240" cy="1285240"/>
              <a:chOff x="2275840" y="4320540"/>
              <a:chExt cx="1285240" cy="1285240"/>
            </a:xfrm>
          </p:grpSpPr>
          <p:sp>
            <p:nvSpPr>
              <p:cNvPr id="36" name="形状 35"/>
              <p:cNvSpPr/>
              <p:nvPr/>
            </p:nvSpPr>
            <p:spPr>
              <a:xfrm rot="20700000">
                <a:off x="2553970" y="4579620"/>
                <a:ext cx="721360" cy="721360"/>
              </a:xfrm>
              <a:prstGeom prst="ellipse">
                <a:avLst/>
              </a:prstGeom>
              <a:solidFill>
                <a:srgbClr val="FFC000"/>
              </a:solidFill>
              <a:ln w="22225" cap="flat" cmpd="sng">
                <a:solidFill>
                  <a:srgbClr val="FFC000">
                    <a:alpha val="100000"/>
                  </a:srgbClr>
                </a:solidFill>
                <a:prstDash val="solid"/>
              </a:ln>
              <a:effectLst>
                <a:innerShdw blurRad="241300" dist="76200">
                  <a:srgbClr val="FFFF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37" name="组合 36"/>
              <p:cNvGrpSpPr/>
              <p:nvPr/>
            </p:nvGrpSpPr>
            <p:grpSpPr>
              <a:xfrm rot="20700000">
                <a:off x="2893695" y="4320540"/>
                <a:ext cx="49530" cy="1285240"/>
                <a:chOff x="2893695" y="4320540"/>
                <a:chExt cx="49530" cy="1285240"/>
              </a:xfrm>
            </p:grpSpPr>
            <p:cxnSp>
              <p:nvCxnSpPr>
                <p:cNvPr id="47" name="形状 46"/>
                <p:cNvCxnSpPr/>
                <p:nvPr/>
              </p:nvCxnSpPr>
              <p:spPr>
                <a:xfrm rot="20700000">
                  <a:off x="2794635" y="4333240"/>
                  <a:ext cx="1905" cy="149225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形状 47"/>
                <p:cNvCxnSpPr/>
                <p:nvPr/>
              </p:nvCxnSpPr>
              <p:spPr>
                <a:xfrm rot="20700000">
                  <a:off x="3088640" y="5430520"/>
                  <a:ext cx="1270" cy="149225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组合 37"/>
              <p:cNvGrpSpPr/>
              <p:nvPr/>
            </p:nvGrpSpPr>
            <p:grpSpPr>
              <a:xfrm rot="36900000">
                <a:off x="2893695" y="4320540"/>
                <a:ext cx="49530" cy="1285240"/>
                <a:chOff x="2893695" y="4320540"/>
                <a:chExt cx="49530" cy="1285240"/>
              </a:xfrm>
            </p:grpSpPr>
            <p:cxnSp>
              <p:nvCxnSpPr>
                <p:cNvPr id="45" name="形状 44"/>
                <p:cNvCxnSpPr/>
                <p:nvPr/>
              </p:nvCxnSpPr>
              <p:spPr>
                <a:xfrm rot="36900000">
                  <a:off x="2363470" y="5012055"/>
                  <a:ext cx="1905" cy="149225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形状 45"/>
                <p:cNvCxnSpPr/>
                <p:nvPr/>
              </p:nvCxnSpPr>
              <p:spPr>
                <a:xfrm rot="36900000">
                  <a:off x="3460115" y="4717415"/>
                  <a:ext cx="1270" cy="149225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组合 38"/>
              <p:cNvGrpSpPr/>
              <p:nvPr/>
            </p:nvGrpSpPr>
            <p:grpSpPr>
              <a:xfrm rot="23400000">
                <a:off x="2893695" y="4319905"/>
                <a:ext cx="48895" cy="1285875"/>
                <a:chOff x="2893695" y="4319905"/>
                <a:chExt cx="48895" cy="1285875"/>
              </a:xfrm>
            </p:grpSpPr>
            <p:cxnSp>
              <p:nvCxnSpPr>
                <p:cNvPr id="43" name="形状 42"/>
                <p:cNvCxnSpPr/>
                <p:nvPr/>
              </p:nvCxnSpPr>
              <p:spPr>
                <a:xfrm rot="23400000">
                  <a:off x="3225165" y="4409440"/>
                  <a:ext cx="0" cy="147320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形状 43"/>
                <p:cNvCxnSpPr/>
                <p:nvPr/>
              </p:nvCxnSpPr>
              <p:spPr>
                <a:xfrm rot="23400000">
                  <a:off x="2654935" y="5393690"/>
                  <a:ext cx="0" cy="147320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组合 39"/>
              <p:cNvGrpSpPr/>
              <p:nvPr/>
            </p:nvGrpSpPr>
            <p:grpSpPr>
              <a:xfrm rot="39600000" flipH="1">
                <a:off x="2894965" y="4319905"/>
                <a:ext cx="48260" cy="1285875"/>
                <a:chOff x="2894965" y="4319905"/>
                <a:chExt cx="48260" cy="1285875"/>
              </a:xfrm>
            </p:grpSpPr>
            <p:cxnSp>
              <p:nvCxnSpPr>
                <p:cNvPr id="41" name="形状 40"/>
                <p:cNvCxnSpPr/>
                <p:nvPr/>
              </p:nvCxnSpPr>
              <p:spPr>
                <a:xfrm rot="61200000" flipH="1">
                  <a:off x="2413000" y="4627245"/>
                  <a:ext cx="1905" cy="146685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形状 41"/>
                <p:cNvCxnSpPr/>
                <p:nvPr/>
              </p:nvCxnSpPr>
              <p:spPr>
                <a:xfrm rot="61200000" flipH="1">
                  <a:off x="3396615" y="5194300"/>
                  <a:ext cx="1270" cy="148590"/>
                </a:xfrm>
                <a:prstGeom prst="line">
                  <a:avLst/>
                </a:prstGeom>
                <a:ln w="88900" cap="rnd" cmpd="sng">
                  <a:solidFill>
                    <a:srgbClr val="FFC000">
                      <a:alpha val="100000"/>
                    </a:srgb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形状 34"/>
            <p:cNvSpPr/>
            <p:nvPr/>
          </p:nvSpPr>
          <p:spPr>
            <a:xfrm>
              <a:off x="2614295" y="4646295"/>
              <a:ext cx="584835" cy="584835"/>
            </a:xfrm>
            <a:prstGeom prst="arc">
              <a:avLst/>
            </a:prstGeom>
            <a:ln w="50800" cap="rnd" cmpd="sng">
              <a:solidFill>
                <a:schemeClr val="bg1">
                  <a:alpha val="10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441450" y="4906645"/>
            <a:ext cx="1862455" cy="1143635"/>
            <a:chOff x="1441450" y="4906645"/>
            <a:chExt cx="1862455" cy="1143635"/>
          </a:xfrm>
        </p:grpSpPr>
        <p:sp>
          <p:nvSpPr>
            <p:cNvPr id="50" name="形状 49"/>
            <p:cNvSpPr/>
            <p:nvPr/>
          </p:nvSpPr>
          <p:spPr>
            <a:xfrm rot="21360000">
              <a:off x="1451610" y="4906645"/>
              <a:ext cx="1852295" cy="1143000"/>
            </a:xfrm>
            <a:custGeom>
              <a:avLst/>
              <a:gdLst>
                <a:gd name="TX0" fmla="*/ 948690 w 2148841"/>
                <a:gd name="TY0" fmla="*/ 0 h 1325881"/>
                <a:gd name="TX1" fmla="*/ 1264643 w 2148841"/>
                <a:gd name="TY1" fmla="*/ 209428 h 1325881"/>
                <a:gd name="TX2" fmla="*/ 1272463 w 2148841"/>
                <a:gd name="TY2" fmla="*/ 234618 h 1325881"/>
                <a:gd name="TX3" fmla="*/ 1318138 w 2148841"/>
                <a:gd name="TY3" fmla="*/ 209827 h 1325881"/>
                <a:gd name="TX4" fmla="*/ 1451610 w 2148841"/>
                <a:gd name="TY4" fmla="*/ 182880 h 1325881"/>
                <a:gd name="TX5" fmla="*/ 1735948 w 2148841"/>
                <a:gd name="TY5" fmla="*/ 334061 h 1325881"/>
                <a:gd name="TX6" fmla="*/ 1754729 w 2148841"/>
                <a:gd name="TY6" fmla="*/ 368663 h 1325881"/>
                <a:gd name="TX7" fmla="*/ 1811161 w 2148841"/>
                <a:gd name="TY7" fmla="*/ 374352 h 1325881"/>
                <a:gd name="TX8" fmla="*/ 2148840 w 2148841"/>
                <a:gd name="TY8" fmla="*/ 788670 h 1325881"/>
                <a:gd name="TX9" fmla="*/ 1725930 w 2148841"/>
                <a:gd name="TY9" fmla="*/ 1211580 h 1325881"/>
                <a:gd name="TX10" fmla="*/ 1489477 w 2148841"/>
                <a:gd name="TY10" fmla="*/ 1139354 h 1325881"/>
                <a:gd name="TX11" fmla="*/ 1436947 w 2148841"/>
                <a:gd name="TY11" fmla="*/ 1096013 h 1325881"/>
                <a:gd name="TX12" fmla="*/ 1420223 w 2148841"/>
                <a:gd name="TY12" fmla="*/ 1126825 h 1325881"/>
                <a:gd name="TX13" fmla="*/ 1045845 w 2148841"/>
                <a:gd name="TY13" fmla="*/ 1325880 h 1325881"/>
                <a:gd name="TX14" fmla="*/ 726597 w 2148841"/>
                <a:gd name="TY14" fmla="*/ 1193643 h 1325881"/>
                <a:gd name="TX15" fmla="*/ 677235 w 2148841"/>
                <a:gd name="TY15" fmla="*/ 1133816 h 1325881"/>
                <a:gd name="TX16" fmla="*/ 643102 w 2148841"/>
                <a:gd name="TY16" fmla="*/ 1152342 h 1325881"/>
                <a:gd name="TX17" fmla="*/ 462915 w 2148841"/>
                <a:gd name="TY17" fmla="*/ 1188720 h 1325881"/>
                <a:gd name="TX18" fmla="*/ 0 w 2148841"/>
                <a:gd name="TY18" fmla="*/ 725805 h 1325881"/>
                <a:gd name="TX19" fmla="*/ 462915 w 2148841"/>
                <a:gd name="TY19" fmla="*/ 262890 h 1325881"/>
                <a:gd name="TX20" fmla="*/ 556209 w 2148841"/>
                <a:gd name="TY20" fmla="*/ 272295 h 1325881"/>
                <a:gd name="TX21" fmla="*/ 611187 w 2148841"/>
                <a:gd name="TY21" fmla="*/ 289361 h 1325881"/>
                <a:gd name="TX22" fmla="*/ 612757 w 2148841"/>
                <a:gd name="TY22" fmla="*/ 273794 h 1325881"/>
                <a:gd name="TX23" fmla="*/ 948690 w 2148841"/>
                <a:gd name="TY23" fmla="*/ 0 h 1325881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  <a:cxn ang="0">
                  <a:pos x="TX13" y="TY13"/>
                </a:cxn>
                <a:cxn ang="0">
                  <a:pos x="TX14" y="TY14"/>
                </a:cxn>
                <a:cxn ang="0">
                  <a:pos x="TX15" y="TY15"/>
                </a:cxn>
                <a:cxn ang="0">
                  <a:pos x="TX16" y="TY16"/>
                </a:cxn>
                <a:cxn ang="0">
                  <a:pos x="TX17" y="TY17"/>
                </a:cxn>
                <a:cxn ang="0">
                  <a:pos x="TX18" y="TY18"/>
                </a:cxn>
                <a:cxn ang="0">
                  <a:pos x="TX19" y="TY19"/>
                </a:cxn>
                <a:cxn ang="0">
                  <a:pos x="TX20" y="TY20"/>
                </a:cxn>
                <a:cxn ang="0">
                  <a:pos x="TX21" y="TY21"/>
                </a:cxn>
                <a:cxn ang="0">
                  <a:pos x="TX22" y="TY22"/>
                </a:cxn>
                <a:cxn ang="0">
                  <a:pos x="TX23" y="TY23"/>
                </a:cxn>
              </a:cxnLst>
              <a:rect l="l" t="t" r="r" b="b"/>
              <a:pathLst>
                <a:path w="2148841" h="1325881">
                  <a:moveTo>
                    <a:pt x="948690" y="0"/>
                  </a:moveTo>
                  <a:cubicBezTo>
                    <a:pt x="1090723" y="0"/>
                    <a:pt x="1212588" y="86356"/>
                    <a:pt x="1264643" y="209428"/>
                  </a:cubicBezTo>
                  <a:lnTo>
                    <a:pt x="1272463" y="234618"/>
                  </a:lnTo>
                  <a:lnTo>
                    <a:pt x="1318138" y="209827"/>
                  </a:lnTo>
                  <a:cubicBezTo>
                    <a:pt x="1359162" y="192475"/>
                    <a:pt x="1404265" y="182880"/>
                    <a:pt x="1451610" y="182880"/>
                  </a:cubicBezTo>
                  <a:cubicBezTo>
                    <a:pt x="1569971" y="182880"/>
                    <a:pt x="1674326" y="242849"/>
                    <a:pt x="1735948" y="334061"/>
                  </a:cubicBezTo>
                  <a:lnTo>
                    <a:pt x="1754729" y="368663"/>
                  </a:lnTo>
                  <a:lnTo>
                    <a:pt x="1811161" y="374352"/>
                  </a:lnTo>
                  <a:cubicBezTo>
                    <a:pt x="2003874" y="413787"/>
                    <a:pt x="2148840" y="584299"/>
                    <a:pt x="2148840" y="788670"/>
                  </a:cubicBezTo>
                  <a:cubicBezTo>
                    <a:pt x="2148840" y="1022237"/>
                    <a:pt x="1959497" y="1211580"/>
                    <a:pt x="1725930" y="1211580"/>
                  </a:cubicBezTo>
                  <a:cubicBezTo>
                    <a:pt x="1638342" y="1211580"/>
                    <a:pt x="1556974" y="1184954"/>
                    <a:pt x="1489477" y="1139354"/>
                  </a:cubicBezTo>
                  <a:lnTo>
                    <a:pt x="1436947" y="1096013"/>
                  </a:lnTo>
                  <a:lnTo>
                    <a:pt x="1420223" y="1126825"/>
                  </a:lnTo>
                  <a:cubicBezTo>
                    <a:pt x="1339088" y="1246920"/>
                    <a:pt x="1201788" y="1325880"/>
                    <a:pt x="1045845" y="1325880"/>
                  </a:cubicBezTo>
                  <a:cubicBezTo>
                    <a:pt x="921171" y="1325880"/>
                    <a:pt x="808300" y="1275346"/>
                    <a:pt x="726597" y="1193643"/>
                  </a:cubicBezTo>
                  <a:lnTo>
                    <a:pt x="677235" y="1133816"/>
                  </a:lnTo>
                  <a:lnTo>
                    <a:pt x="643102" y="1152342"/>
                  </a:lnTo>
                  <a:cubicBezTo>
                    <a:pt x="587720" y="1175767"/>
                    <a:pt x="526830" y="1188720"/>
                    <a:pt x="462915" y="1188720"/>
                  </a:cubicBezTo>
                  <a:cubicBezTo>
                    <a:pt x="207254" y="1188720"/>
                    <a:pt x="0" y="981466"/>
                    <a:pt x="0" y="725805"/>
                  </a:cubicBezTo>
                  <a:cubicBezTo>
                    <a:pt x="0" y="470144"/>
                    <a:pt x="207254" y="262890"/>
                    <a:pt x="462915" y="262890"/>
                  </a:cubicBezTo>
                  <a:cubicBezTo>
                    <a:pt x="494873" y="262890"/>
                    <a:pt x="526074" y="266128"/>
                    <a:pt x="556209" y="272295"/>
                  </a:cubicBezTo>
                  <a:lnTo>
                    <a:pt x="611187" y="289361"/>
                  </a:lnTo>
                  <a:lnTo>
                    <a:pt x="612757" y="273794"/>
                  </a:lnTo>
                  <a:cubicBezTo>
                    <a:pt x="644731" y="117540"/>
                    <a:pt x="782984" y="0"/>
                    <a:pt x="948690" y="0"/>
                  </a:cubicBezTo>
                  <a:close/>
                </a:path>
              </a:pathLst>
            </a:custGeom>
            <a:solidFill>
              <a:schemeClr val="bg1"/>
            </a:solidFill>
            <a:ln w="19050" cap="flat" cmpd="sng">
              <a:solidFill>
                <a:srgbClr val="91F0FD">
                  <a:alpha val="100000"/>
                </a:srgbClr>
              </a:solidFill>
              <a:prstDash val="solid"/>
            </a:ln>
            <a:effectLst>
              <a:outerShdw blurRad="215900" dist="76200" dir="6600000" algn="t" rotWithShape="0">
                <a:srgbClr val="000000">
                  <a:alpha val="9803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51" name="形状 50"/>
            <p:cNvSpPr/>
            <p:nvPr/>
          </p:nvSpPr>
          <p:spPr>
            <a:xfrm rot="21360000">
              <a:off x="1441450" y="4906645"/>
              <a:ext cx="1852295" cy="1143000"/>
            </a:xfrm>
            <a:custGeom>
              <a:avLst/>
              <a:gdLst>
                <a:gd name="TX0" fmla="*/ 948690 w 2148841"/>
                <a:gd name="TY0" fmla="*/ 0 h 1325881"/>
                <a:gd name="TX1" fmla="*/ 1264643 w 2148841"/>
                <a:gd name="TY1" fmla="*/ 209428 h 1325881"/>
                <a:gd name="TX2" fmla="*/ 1272463 w 2148841"/>
                <a:gd name="TY2" fmla="*/ 234618 h 1325881"/>
                <a:gd name="TX3" fmla="*/ 1318138 w 2148841"/>
                <a:gd name="TY3" fmla="*/ 209827 h 1325881"/>
                <a:gd name="TX4" fmla="*/ 1451610 w 2148841"/>
                <a:gd name="TY4" fmla="*/ 182880 h 1325881"/>
                <a:gd name="TX5" fmla="*/ 1735948 w 2148841"/>
                <a:gd name="TY5" fmla="*/ 334061 h 1325881"/>
                <a:gd name="TX6" fmla="*/ 1754729 w 2148841"/>
                <a:gd name="TY6" fmla="*/ 368663 h 1325881"/>
                <a:gd name="TX7" fmla="*/ 1811161 w 2148841"/>
                <a:gd name="TY7" fmla="*/ 374352 h 1325881"/>
                <a:gd name="TX8" fmla="*/ 2148840 w 2148841"/>
                <a:gd name="TY8" fmla="*/ 788670 h 1325881"/>
                <a:gd name="TX9" fmla="*/ 1725930 w 2148841"/>
                <a:gd name="TY9" fmla="*/ 1211580 h 1325881"/>
                <a:gd name="TX10" fmla="*/ 1489477 w 2148841"/>
                <a:gd name="TY10" fmla="*/ 1139354 h 1325881"/>
                <a:gd name="TX11" fmla="*/ 1436947 w 2148841"/>
                <a:gd name="TY11" fmla="*/ 1096013 h 1325881"/>
                <a:gd name="TX12" fmla="*/ 1420223 w 2148841"/>
                <a:gd name="TY12" fmla="*/ 1126825 h 1325881"/>
                <a:gd name="TX13" fmla="*/ 1045845 w 2148841"/>
                <a:gd name="TY13" fmla="*/ 1325880 h 1325881"/>
                <a:gd name="TX14" fmla="*/ 726597 w 2148841"/>
                <a:gd name="TY14" fmla="*/ 1193643 h 1325881"/>
                <a:gd name="TX15" fmla="*/ 677235 w 2148841"/>
                <a:gd name="TY15" fmla="*/ 1133816 h 1325881"/>
                <a:gd name="TX16" fmla="*/ 643102 w 2148841"/>
                <a:gd name="TY16" fmla="*/ 1152342 h 1325881"/>
                <a:gd name="TX17" fmla="*/ 462915 w 2148841"/>
                <a:gd name="TY17" fmla="*/ 1188720 h 1325881"/>
                <a:gd name="TX18" fmla="*/ 0 w 2148841"/>
                <a:gd name="TY18" fmla="*/ 725805 h 1325881"/>
                <a:gd name="TX19" fmla="*/ 462915 w 2148841"/>
                <a:gd name="TY19" fmla="*/ 262890 h 1325881"/>
                <a:gd name="TX20" fmla="*/ 556209 w 2148841"/>
                <a:gd name="TY20" fmla="*/ 272295 h 1325881"/>
                <a:gd name="TX21" fmla="*/ 611187 w 2148841"/>
                <a:gd name="TY21" fmla="*/ 289361 h 1325881"/>
                <a:gd name="TX22" fmla="*/ 612757 w 2148841"/>
                <a:gd name="TY22" fmla="*/ 273794 h 1325881"/>
                <a:gd name="TX23" fmla="*/ 948690 w 2148841"/>
                <a:gd name="TY23" fmla="*/ 0 h 1325881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  <a:cxn ang="0">
                  <a:pos x="TX13" y="TY13"/>
                </a:cxn>
                <a:cxn ang="0">
                  <a:pos x="TX14" y="TY14"/>
                </a:cxn>
                <a:cxn ang="0">
                  <a:pos x="TX15" y="TY15"/>
                </a:cxn>
                <a:cxn ang="0">
                  <a:pos x="TX16" y="TY16"/>
                </a:cxn>
                <a:cxn ang="0">
                  <a:pos x="TX17" y="TY17"/>
                </a:cxn>
                <a:cxn ang="0">
                  <a:pos x="TX18" y="TY18"/>
                </a:cxn>
                <a:cxn ang="0">
                  <a:pos x="TX19" y="TY19"/>
                </a:cxn>
                <a:cxn ang="0">
                  <a:pos x="TX20" y="TY20"/>
                </a:cxn>
                <a:cxn ang="0">
                  <a:pos x="TX21" y="TY21"/>
                </a:cxn>
                <a:cxn ang="0">
                  <a:pos x="TX22" y="TY22"/>
                </a:cxn>
                <a:cxn ang="0">
                  <a:pos x="TX23" y="TY23"/>
                </a:cxn>
              </a:cxnLst>
              <a:rect l="l" t="t" r="r" b="b"/>
              <a:pathLst>
                <a:path w="2148841" h="1325881">
                  <a:moveTo>
                    <a:pt x="948690" y="0"/>
                  </a:moveTo>
                  <a:cubicBezTo>
                    <a:pt x="1090723" y="0"/>
                    <a:pt x="1212588" y="86356"/>
                    <a:pt x="1264643" y="209428"/>
                  </a:cubicBezTo>
                  <a:lnTo>
                    <a:pt x="1272463" y="234618"/>
                  </a:lnTo>
                  <a:lnTo>
                    <a:pt x="1318138" y="209827"/>
                  </a:lnTo>
                  <a:cubicBezTo>
                    <a:pt x="1359162" y="192475"/>
                    <a:pt x="1404265" y="182880"/>
                    <a:pt x="1451610" y="182880"/>
                  </a:cubicBezTo>
                  <a:cubicBezTo>
                    <a:pt x="1569971" y="182880"/>
                    <a:pt x="1674326" y="242849"/>
                    <a:pt x="1735948" y="334061"/>
                  </a:cubicBezTo>
                  <a:lnTo>
                    <a:pt x="1754729" y="368663"/>
                  </a:lnTo>
                  <a:lnTo>
                    <a:pt x="1811161" y="374352"/>
                  </a:lnTo>
                  <a:cubicBezTo>
                    <a:pt x="2003874" y="413787"/>
                    <a:pt x="2148840" y="584299"/>
                    <a:pt x="2148840" y="788670"/>
                  </a:cubicBezTo>
                  <a:cubicBezTo>
                    <a:pt x="2148840" y="1022237"/>
                    <a:pt x="1959497" y="1211580"/>
                    <a:pt x="1725930" y="1211580"/>
                  </a:cubicBezTo>
                  <a:cubicBezTo>
                    <a:pt x="1638342" y="1211580"/>
                    <a:pt x="1556974" y="1184954"/>
                    <a:pt x="1489477" y="1139354"/>
                  </a:cubicBezTo>
                  <a:lnTo>
                    <a:pt x="1436947" y="1096013"/>
                  </a:lnTo>
                  <a:lnTo>
                    <a:pt x="1420223" y="1126825"/>
                  </a:lnTo>
                  <a:cubicBezTo>
                    <a:pt x="1339088" y="1246920"/>
                    <a:pt x="1201788" y="1325880"/>
                    <a:pt x="1045845" y="1325880"/>
                  </a:cubicBezTo>
                  <a:cubicBezTo>
                    <a:pt x="921171" y="1325880"/>
                    <a:pt x="808300" y="1275346"/>
                    <a:pt x="726597" y="1193643"/>
                  </a:cubicBezTo>
                  <a:lnTo>
                    <a:pt x="677235" y="1133816"/>
                  </a:lnTo>
                  <a:lnTo>
                    <a:pt x="643102" y="1152342"/>
                  </a:lnTo>
                  <a:cubicBezTo>
                    <a:pt x="587720" y="1175767"/>
                    <a:pt x="526830" y="1188720"/>
                    <a:pt x="462915" y="1188720"/>
                  </a:cubicBezTo>
                  <a:cubicBezTo>
                    <a:pt x="207254" y="1188720"/>
                    <a:pt x="0" y="981466"/>
                    <a:pt x="0" y="725805"/>
                  </a:cubicBezTo>
                  <a:cubicBezTo>
                    <a:pt x="0" y="470144"/>
                    <a:pt x="207254" y="262890"/>
                    <a:pt x="462915" y="262890"/>
                  </a:cubicBezTo>
                  <a:cubicBezTo>
                    <a:pt x="494873" y="262890"/>
                    <a:pt x="526074" y="266128"/>
                    <a:pt x="556209" y="272295"/>
                  </a:cubicBezTo>
                  <a:lnTo>
                    <a:pt x="611187" y="289361"/>
                  </a:lnTo>
                  <a:lnTo>
                    <a:pt x="612757" y="273794"/>
                  </a:lnTo>
                  <a:cubicBezTo>
                    <a:pt x="644731" y="117540"/>
                    <a:pt x="782984" y="0"/>
                    <a:pt x="948690" y="0"/>
                  </a:cubicBezTo>
                  <a:close/>
                </a:path>
              </a:pathLst>
            </a:custGeom>
            <a:solidFill>
              <a:schemeClr val="bg1"/>
            </a:solidFill>
            <a:ln w="19050" cap="flat" cmpd="sng">
              <a:solidFill>
                <a:srgbClr val="91F0FD">
                  <a:alpha val="100000"/>
                </a:srgbClr>
              </a:solidFill>
              <a:prstDash val="solid"/>
            </a:ln>
            <a:effectLst>
              <a:innerShdw blurRad="355600" dist="114300" dir="3600000">
                <a:srgbClr val="19B4C9">
                  <a:alpha val="32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 rot="19620000">
            <a:off x="3780155" y="2114550"/>
            <a:ext cx="647700" cy="656590"/>
            <a:chOff x="3780155" y="2114550"/>
            <a:chExt cx="647700" cy="656590"/>
          </a:xfrm>
        </p:grpSpPr>
        <p:grpSp>
          <p:nvGrpSpPr>
            <p:cNvPr id="53" name="组合 52"/>
            <p:cNvGrpSpPr/>
            <p:nvPr/>
          </p:nvGrpSpPr>
          <p:grpSpPr>
            <a:xfrm rot="99780000">
              <a:off x="3780155" y="2113915"/>
              <a:ext cx="647065" cy="657225"/>
              <a:chOff x="3780155" y="2113915"/>
              <a:chExt cx="647065" cy="657225"/>
            </a:xfrm>
          </p:grpSpPr>
          <p:sp>
            <p:nvSpPr>
              <p:cNvPr id="55" name="形状 54"/>
              <p:cNvSpPr/>
              <p:nvPr/>
            </p:nvSpPr>
            <p:spPr>
              <a:xfrm rot="120240000">
                <a:off x="3776980" y="2117090"/>
                <a:ext cx="648335" cy="651510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C4EF39"/>
              </a:solidFill>
              <a:ln w="0">
                <a:noFill/>
              </a:ln>
              <a:effectLst>
                <a:outerShdw blurRad="190500" dist="63500" dir="5400000" algn="t" rotWithShape="0">
                  <a:srgbClr val="00000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56" name="形状 55"/>
              <p:cNvSpPr/>
              <p:nvPr/>
            </p:nvSpPr>
            <p:spPr>
              <a:xfrm rot="120240000">
                <a:off x="3782060" y="2113915"/>
                <a:ext cx="650875" cy="652145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8FA7"/>
              </a:solidFill>
              <a:ln w="25400" cap="flat" cmpd="sng">
                <a:solidFill>
                  <a:schemeClr val="bg1">
                    <a:alpha val="100000"/>
                  </a:schemeClr>
                </a:solidFill>
                <a:prstDash val="solid"/>
              </a:ln>
              <a:effectLst>
                <a:innerShdw blurRad="368300">
                  <a:srgbClr val="FF3B65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54" name="形状 53"/>
            <p:cNvSpPr/>
            <p:nvPr/>
          </p:nvSpPr>
          <p:spPr>
            <a:xfrm rot="94320000">
              <a:off x="4029710" y="2355215"/>
              <a:ext cx="212090" cy="212090"/>
            </a:xfrm>
            <a:prstGeom prst="arc">
              <a:avLst>
                <a:gd name="adj1" fmla="val 16200000"/>
                <a:gd name="adj2" fmla="val 20358260"/>
              </a:avLst>
            </a:prstGeom>
            <a:ln w="41275" cap="flat" cmpd="sng">
              <a:solidFill>
                <a:schemeClr val="bg1">
                  <a:alpha val="62745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 rot="2220000">
            <a:off x="3211195" y="1317625"/>
            <a:ext cx="593090" cy="582295"/>
            <a:chOff x="3211195" y="1317625"/>
            <a:chExt cx="593090" cy="582295"/>
          </a:xfrm>
        </p:grpSpPr>
        <p:sp>
          <p:nvSpPr>
            <p:cNvPr id="58" name="形状 57"/>
            <p:cNvSpPr/>
            <p:nvPr/>
          </p:nvSpPr>
          <p:spPr>
            <a:xfrm rot="29100000" flipH="1">
              <a:off x="3211195" y="1323975"/>
              <a:ext cx="593090" cy="575945"/>
            </a:xfrm>
            <a:custGeom>
              <a:avLst/>
              <a:gdLst>
                <a:gd name="TX0" fmla="*/ 2063 w 918525"/>
                <a:gd name="TY0" fmla="*/ 349269 h 923907"/>
                <a:gd name="TX1" fmla="*/ 264202 w 918525"/>
                <a:gd name="TY1" fmla="*/ 223173 h 923907"/>
                <a:gd name="TX2" fmla="*/ 459262 w 918525"/>
                <a:gd name="TY2" fmla="*/ 0 h 923907"/>
                <a:gd name="TX3" fmla="*/ 654322 w 918525"/>
                <a:gd name="TY3" fmla="*/ 223173 h 923907"/>
                <a:gd name="TX4" fmla="*/ 916461 w 918525"/>
                <a:gd name="TY4" fmla="*/ 349269 h 923907"/>
                <a:gd name="TX5" fmla="*/ 774876 w 918525"/>
                <a:gd name="TY5" fmla="*/ 613293 h 923907"/>
                <a:gd name="TX6" fmla="*/ 741827 w 918525"/>
                <a:gd name="TY6" fmla="*/ 914398 h 923907"/>
                <a:gd name="TX7" fmla="*/ 459262 w 918525"/>
                <a:gd name="TY7" fmla="*/ 854400 h 923907"/>
                <a:gd name="TX8" fmla="*/ 176697 w 918525"/>
                <a:gd name="TY8" fmla="*/ 914398 h 923907"/>
                <a:gd name="TX9" fmla="*/ 143648 w 918525"/>
                <a:gd name="TY9" fmla="*/ 613293 h 923907"/>
                <a:gd name="TX10" fmla="*/ 2063 w 918525"/>
                <a:gd name="TY10" fmla="*/ 349269 h 923907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</a:cxnLst>
              <a:rect l="l" t="t" r="r" b="b"/>
              <a:pathLst>
                <a:path w="918525" h="923907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  <a:effectLst>
              <a:outerShdw blurRad="76200" dist="50800" dir="5400000" algn="t" rotWithShape="0">
                <a:srgbClr val="000000">
                  <a:alpha val="15686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 rot="8880000">
              <a:off x="3209925" y="1316990"/>
              <a:ext cx="592455" cy="575945"/>
              <a:chOff x="3209925" y="1316990"/>
              <a:chExt cx="592455" cy="575945"/>
            </a:xfrm>
          </p:grpSpPr>
          <p:sp>
            <p:nvSpPr>
              <p:cNvPr id="60" name="形状 59"/>
              <p:cNvSpPr/>
              <p:nvPr/>
            </p:nvSpPr>
            <p:spPr>
              <a:xfrm rot="29100000" flipH="1">
                <a:off x="3209290" y="1316990"/>
                <a:ext cx="592455" cy="576580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FF00"/>
              </a:solidFill>
              <a:ln w="15875" cap="flat" cmpd="sng">
                <a:solidFill>
                  <a:srgbClr val="FFFF00">
                    <a:alpha val="100000"/>
                  </a:srgbClr>
                </a:solidFill>
                <a:prstDash val="solid"/>
              </a:ln>
              <a:effectLst>
                <a:innerShdw blurRad="292100">
                  <a:srgbClr val="FFC0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1" name="形状 60"/>
              <p:cNvSpPr/>
              <p:nvPr/>
            </p:nvSpPr>
            <p:spPr>
              <a:xfrm rot="29280000">
                <a:off x="3559810" y="1497330"/>
                <a:ext cx="230505" cy="177800"/>
              </a:xfrm>
              <a:custGeom>
                <a:avLst/>
                <a:gdLst>
                  <a:gd name="TX0" fmla="*/ 0 w 457200"/>
                  <a:gd name="TY0" fmla="*/ 349269 h 349270"/>
                  <a:gd name="TX1" fmla="*/ 262139 w 457200"/>
                  <a:gd name="TY1" fmla="*/ 223173 h 349270"/>
                  <a:gd name="TX2" fmla="*/ 457199 w 457200"/>
                  <a:gd name="TY2" fmla="*/ 0 h 34927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</a:cxnLst>
                <a:rect l="l" t="t" r="r" b="b"/>
                <a:pathLst>
                  <a:path w="457200" h="349270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8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2" name="形状 61"/>
              <p:cNvSpPr/>
              <p:nvPr/>
            </p:nvSpPr>
            <p:spPr>
              <a:xfrm rot="15840000">
                <a:off x="3229610" y="1581150"/>
                <a:ext cx="102235" cy="116840"/>
              </a:xfrm>
              <a:custGeom>
                <a:avLst/>
                <a:gdLst>
                  <a:gd name="TX0" fmla="*/ 0 w 195061"/>
                  <a:gd name="TY0" fmla="*/ 223173 h 223174"/>
                  <a:gd name="TX1" fmla="*/ 195060 w 195061"/>
                  <a:gd name="TY1" fmla="*/ 0 h 223174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</a:cxnLst>
                <a:rect l="l" t="t" r="r" b="b"/>
                <a:pathLst>
                  <a:path w="195061" h="223174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6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 rot="1560000">
            <a:off x="4519930" y="2867660"/>
            <a:ext cx="680720" cy="668020"/>
            <a:chOff x="4519930" y="2867660"/>
            <a:chExt cx="680720" cy="668020"/>
          </a:xfrm>
        </p:grpSpPr>
        <p:sp>
          <p:nvSpPr>
            <p:cNvPr id="64" name="形状 63"/>
            <p:cNvSpPr/>
            <p:nvPr/>
          </p:nvSpPr>
          <p:spPr>
            <a:xfrm rot="26460000" flipH="1">
              <a:off x="4526280" y="2875280"/>
              <a:ext cx="676910" cy="659130"/>
            </a:xfrm>
            <a:custGeom>
              <a:avLst/>
              <a:gdLst>
                <a:gd name="TX0" fmla="*/ 2063 w 918525"/>
                <a:gd name="TY0" fmla="*/ 349269 h 923907"/>
                <a:gd name="TX1" fmla="*/ 264202 w 918525"/>
                <a:gd name="TY1" fmla="*/ 223173 h 923907"/>
                <a:gd name="TX2" fmla="*/ 459262 w 918525"/>
                <a:gd name="TY2" fmla="*/ 0 h 923907"/>
                <a:gd name="TX3" fmla="*/ 654322 w 918525"/>
                <a:gd name="TY3" fmla="*/ 223173 h 923907"/>
                <a:gd name="TX4" fmla="*/ 916461 w 918525"/>
                <a:gd name="TY4" fmla="*/ 349269 h 923907"/>
                <a:gd name="TX5" fmla="*/ 774876 w 918525"/>
                <a:gd name="TY5" fmla="*/ 613293 h 923907"/>
                <a:gd name="TX6" fmla="*/ 741827 w 918525"/>
                <a:gd name="TY6" fmla="*/ 914398 h 923907"/>
                <a:gd name="TX7" fmla="*/ 459262 w 918525"/>
                <a:gd name="TY7" fmla="*/ 854400 h 923907"/>
                <a:gd name="TX8" fmla="*/ 176697 w 918525"/>
                <a:gd name="TY8" fmla="*/ 914398 h 923907"/>
                <a:gd name="TX9" fmla="*/ 143648 w 918525"/>
                <a:gd name="TY9" fmla="*/ 613293 h 923907"/>
                <a:gd name="TX10" fmla="*/ 2063 w 918525"/>
                <a:gd name="TY10" fmla="*/ 349269 h 923907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</a:cxnLst>
              <a:rect l="l" t="t" r="r" b="b"/>
              <a:pathLst>
                <a:path w="918525" h="923907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  <a:effectLst>
              <a:outerShdw blurRad="76200" dist="50800" dir="5400000" algn="t" rotWithShape="0">
                <a:srgbClr val="000000">
                  <a:alpha val="15686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 rot="6240000">
              <a:off x="4518025" y="2868295"/>
              <a:ext cx="678180" cy="660400"/>
              <a:chOff x="4518025" y="2868295"/>
              <a:chExt cx="678180" cy="660400"/>
            </a:xfrm>
          </p:grpSpPr>
          <p:sp>
            <p:nvSpPr>
              <p:cNvPr id="66" name="形状 65"/>
              <p:cNvSpPr/>
              <p:nvPr/>
            </p:nvSpPr>
            <p:spPr>
              <a:xfrm rot="26460000" flipH="1">
                <a:off x="4517390" y="2868930"/>
                <a:ext cx="678815" cy="655320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8AFA4C"/>
              </a:solidFill>
              <a:ln w="15875" cap="flat" cmpd="sng">
                <a:solidFill>
                  <a:schemeClr val="bg1">
                    <a:alpha val="100000"/>
                  </a:schemeClr>
                </a:solidFill>
                <a:prstDash val="solid"/>
              </a:ln>
              <a:effectLst>
                <a:innerShdw blurRad="292100">
                  <a:srgbClr val="76CE0C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7" name="形状 66"/>
              <p:cNvSpPr/>
              <p:nvPr/>
            </p:nvSpPr>
            <p:spPr>
              <a:xfrm rot="26640000">
                <a:off x="4849495" y="2947035"/>
                <a:ext cx="262255" cy="202565"/>
              </a:xfrm>
              <a:custGeom>
                <a:avLst/>
                <a:gdLst>
                  <a:gd name="TX0" fmla="*/ 0 w 457200"/>
                  <a:gd name="TY0" fmla="*/ 349269 h 349270"/>
                  <a:gd name="TX1" fmla="*/ 262139 w 457200"/>
                  <a:gd name="TY1" fmla="*/ 223173 h 349270"/>
                  <a:gd name="TX2" fmla="*/ 457199 w 457200"/>
                  <a:gd name="TY2" fmla="*/ 0 h 34927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</a:cxnLst>
                <a:rect l="l" t="t" r="r" b="b"/>
                <a:pathLst>
                  <a:path w="457200" h="349270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8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8" name="形状 67"/>
              <p:cNvSpPr/>
              <p:nvPr/>
            </p:nvSpPr>
            <p:spPr>
              <a:xfrm rot="13200000">
                <a:off x="4638040" y="3339465"/>
                <a:ext cx="118745" cy="133350"/>
              </a:xfrm>
              <a:custGeom>
                <a:avLst/>
                <a:gdLst>
                  <a:gd name="TX0" fmla="*/ 0 w 195061"/>
                  <a:gd name="TY0" fmla="*/ 223173 h 223174"/>
                  <a:gd name="TX1" fmla="*/ 195060 w 195061"/>
                  <a:gd name="TY1" fmla="*/ 0 h 223174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</a:cxnLst>
                <a:rect l="l" t="t" r="r" b="b"/>
                <a:pathLst>
                  <a:path w="195061" h="223174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6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69" name="组合 68"/>
          <p:cNvGrpSpPr/>
          <p:nvPr/>
        </p:nvGrpSpPr>
        <p:grpSpPr>
          <a:xfrm rot="900000">
            <a:off x="5420995" y="3839210"/>
            <a:ext cx="657225" cy="645160"/>
            <a:chOff x="5420995" y="3839210"/>
            <a:chExt cx="657225" cy="645160"/>
          </a:xfrm>
        </p:grpSpPr>
        <p:sp>
          <p:nvSpPr>
            <p:cNvPr id="70" name="形状 69"/>
            <p:cNvSpPr/>
            <p:nvPr/>
          </p:nvSpPr>
          <p:spPr>
            <a:xfrm rot="23820000" flipH="1">
              <a:off x="5425440" y="3842385"/>
              <a:ext cx="656590" cy="636905"/>
            </a:xfrm>
            <a:custGeom>
              <a:avLst/>
              <a:gdLst>
                <a:gd name="TX0" fmla="*/ 2063 w 918525"/>
                <a:gd name="TY0" fmla="*/ 349269 h 923907"/>
                <a:gd name="TX1" fmla="*/ 264202 w 918525"/>
                <a:gd name="TY1" fmla="*/ 223173 h 923907"/>
                <a:gd name="TX2" fmla="*/ 459262 w 918525"/>
                <a:gd name="TY2" fmla="*/ 0 h 923907"/>
                <a:gd name="TX3" fmla="*/ 654322 w 918525"/>
                <a:gd name="TY3" fmla="*/ 223173 h 923907"/>
                <a:gd name="TX4" fmla="*/ 916461 w 918525"/>
                <a:gd name="TY4" fmla="*/ 349269 h 923907"/>
                <a:gd name="TX5" fmla="*/ 774876 w 918525"/>
                <a:gd name="TY5" fmla="*/ 613293 h 923907"/>
                <a:gd name="TX6" fmla="*/ 741827 w 918525"/>
                <a:gd name="TY6" fmla="*/ 914398 h 923907"/>
                <a:gd name="TX7" fmla="*/ 459262 w 918525"/>
                <a:gd name="TY7" fmla="*/ 854400 h 923907"/>
                <a:gd name="TX8" fmla="*/ 176697 w 918525"/>
                <a:gd name="TY8" fmla="*/ 914398 h 923907"/>
                <a:gd name="TX9" fmla="*/ 143648 w 918525"/>
                <a:gd name="TY9" fmla="*/ 613293 h 923907"/>
                <a:gd name="TX10" fmla="*/ 2063 w 918525"/>
                <a:gd name="TY10" fmla="*/ 349269 h 923907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</a:cxnLst>
              <a:rect l="l" t="t" r="r" b="b"/>
              <a:pathLst>
                <a:path w="918525" h="923907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  <a:effectLst>
              <a:outerShdw blurRad="76200" dist="50800" dir="5400000" algn="t" rotWithShape="0">
                <a:srgbClr val="000000">
                  <a:alpha val="15686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 rot="3600000">
              <a:off x="5417820" y="3845560"/>
              <a:ext cx="655320" cy="635635"/>
              <a:chOff x="5417820" y="3845560"/>
              <a:chExt cx="655320" cy="635635"/>
            </a:xfrm>
          </p:grpSpPr>
          <p:sp>
            <p:nvSpPr>
              <p:cNvPr id="72" name="形状 71"/>
              <p:cNvSpPr/>
              <p:nvPr/>
            </p:nvSpPr>
            <p:spPr>
              <a:xfrm rot="23820000" flipH="1">
                <a:off x="5416550" y="3842385"/>
                <a:ext cx="657225" cy="637540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64E4F2"/>
              </a:solidFill>
              <a:ln w="15875" cap="flat" cmpd="sng">
                <a:solidFill>
                  <a:schemeClr val="bg1">
                    <a:alpha val="100000"/>
                  </a:schemeClr>
                </a:solidFill>
                <a:prstDash val="solid"/>
              </a:ln>
              <a:effectLst>
                <a:innerShdw blurRad="292100">
                  <a:srgbClr val="00B0F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73" name="形状 72"/>
              <p:cNvSpPr/>
              <p:nvPr/>
            </p:nvSpPr>
            <p:spPr>
              <a:xfrm rot="24000000">
                <a:off x="5601970" y="3879850"/>
                <a:ext cx="254635" cy="191135"/>
              </a:xfrm>
              <a:custGeom>
                <a:avLst/>
                <a:gdLst>
                  <a:gd name="TX0" fmla="*/ 0 w 457200"/>
                  <a:gd name="TY0" fmla="*/ 349269 h 349270"/>
                  <a:gd name="TX1" fmla="*/ 262139 w 457200"/>
                  <a:gd name="TY1" fmla="*/ 223173 h 349270"/>
                  <a:gd name="TX2" fmla="*/ 457199 w 457200"/>
                  <a:gd name="TY2" fmla="*/ 0 h 34927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</a:cxnLst>
                <a:rect l="l" t="t" r="r" b="b"/>
                <a:pathLst>
                  <a:path w="457200" h="349270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8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74" name="形状 73"/>
              <p:cNvSpPr/>
              <p:nvPr/>
            </p:nvSpPr>
            <p:spPr>
              <a:xfrm rot="10560000">
                <a:off x="5714365" y="4346575"/>
                <a:ext cx="112395" cy="134620"/>
              </a:xfrm>
              <a:custGeom>
                <a:avLst/>
                <a:gdLst>
                  <a:gd name="TX0" fmla="*/ 0 w 195061"/>
                  <a:gd name="TY0" fmla="*/ 223173 h 223174"/>
                  <a:gd name="TX1" fmla="*/ 195060 w 195061"/>
                  <a:gd name="TY1" fmla="*/ 0 h 223174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</a:cxnLst>
                <a:rect l="l" t="t" r="r" b="b"/>
                <a:pathLst>
                  <a:path w="195061" h="223174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6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 rot="19620000">
            <a:off x="6779895" y="5622925"/>
            <a:ext cx="601980" cy="610235"/>
            <a:chOff x="6779895" y="5622925"/>
            <a:chExt cx="601980" cy="610235"/>
          </a:xfrm>
        </p:grpSpPr>
        <p:grpSp>
          <p:nvGrpSpPr>
            <p:cNvPr id="76" name="组合 75"/>
            <p:cNvGrpSpPr/>
            <p:nvPr/>
          </p:nvGrpSpPr>
          <p:grpSpPr>
            <a:xfrm rot="99780000">
              <a:off x="6779260" y="5623560"/>
              <a:ext cx="602615" cy="609600"/>
              <a:chOff x="6779260" y="5623560"/>
              <a:chExt cx="602615" cy="609600"/>
            </a:xfrm>
          </p:grpSpPr>
          <p:sp>
            <p:nvSpPr>
              <p:cNvPr id="78" name="形状 77"/>
              <p:cNvSpPr/>
              <p:nvPr/>
            </p:nvSpPr>
            <p:spPr>
              <a:xfrm rot="120240000">
                <a:off x="6776720" y="5626735"/>
                <a:ext cx="600710" cy="605790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C4EF39"/>
              </a:solidFill>
              <a:ln w="0">
                <a:noFill/>
              </a:ln>
              <a:effectLst>
                <a:outerShdw blurRad="190500" dist="63500" dir="5400000" algn="t" rotWithShape="0">
                  <a:srgbClr val="00000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79" name="形状 78"/>
              <p:cNvSpPr/>
              <p:nvPr/>
            </p:nvSpPr>
            <p:spPr>
              <a:xfrm rot="120240000">
                <a:off x="6783070" y="5629910"/>
                <a:ext cx="600710" cy="603885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8FA7"/>
              </a:solidFill>
              <a:ln w="25400" cap="flat" cmpd="sng">
                <a:solidFill>
                  <a:schemeClr val="bg1">
                    <a:alpha val="100000"/>
                  </a:schemeClr>
                </a:solidFill>
                <a:prstDash val="solid"/>
              </a:ln>
              <a:effectLst>
                <a:innerShdw blurRad="368300">
                  <a:srgbClr val="FF3B65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77" name="形状 76"/>
            <p:cNvSpPr/>
            <p:nvPr/>
          </p:nvSpPr>
          <p:spPr>
            <a:xfrm rot="94320000">
              <a:off x="7010400" y="5847715"/>
              <a:ext cx="196850" cy="197485"/>
            </a:xfrm>
            <a:prstGeom prst="arc">
              <a:avLst>
                <a:gd name="adj1" fmla="val 16200000"/>
                <a:gd name="adj2" fmla="val 20358260"/>
              </a:avLst>
            </a:prstGeom>
            <a:ln w="41275" cap="flat" cmpd="sng">
              <a:solidFill>
                <a:schemeClr val="bg1">
                  <a:alpha val="62745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80" name="形状 79"/>
          <p:cNvSpPr/>
          <p:nvPr/>
        </p:nvSpPr>
        <p:spPr>
          <a:xfrm>
            <a:off x="6793230" y="4747895"/>
            <a:ext cx="2900680" cy="581660"/>
          </a:xfrm>
          <a:prstGeom prst="rect">
            <a:avLst/>
          </a:prstGeom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400" b="1">
                <a:solidFill>
                  <a:srgbClr val="9B73B1"/>
                </a:solidFill>
                <a:latin typeface="微软雅黑" panose="020B0503020204020204" charset="-122"/>
                <a:ea typeface="微软雅黑" panose="020B0503020204020204" charset="-122"/>
              </a:rPr>
              <a:t>05  成为好的架构师</a:t>
            </a:r>
            <a:endParaRPr lang="ko-KR" altLang="en-US" sz="2400" b="1">
              <a:solidFill>
                <a:srgbClr val="9B73B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 rot="2220000">
            <a:off x="6089015" y="4723765"/>
            <a:ext cx="593090" cy="582295"/>
            <a:chOff x="6089015" y="4723765"/>
            <a:chExt cx="593090" cy="582295"/>
          </a:xfrm>
        </p:grpSpPr>
        <p:sp>
          <p:nvSpPr>
            <p:cNvPr id="82" name="形状 81"/>
            <p:cNvSpPr/>
            <p:nvPr/>
          </p:nvSpPr>
          <p:spPr>
            <a:xfrm rot="29100000" flipH="1">
              <a:off x="6089015" y="4730115"/>
              <a:ext cx="593090" cy="575945"/>
            </a:xfrm>
            <a:custGeom>
              <a:avLst/>
              <a:gdLst>
                <a:gd name="TX0" fmla="*/ 2063 w 918525"/>
                <a:gd name="TY0" fmla="*/ 349269 h 923907"/>
                <a:gd name="TX1" fmla="*/ 264202 w 918525"/>
                <a:gd name="TY1" fmla="*/ 223173 h 923907"/>
                <a:gd name="TX2" fmla="*/ 459262 w 918525"/>
                <a:gd name="TY2" fmla="*/ 0 h 923907"/>
                <a:gd name="TX3" fmla="*/ 654322 w 918525"/>
                <a:gd name="TY3" fmla="*/ 223173 h 923907"/>
                <a:gd name="TX4" fmla="*/ 916461 w 918525"/>
                <a:gd name="TY4" fmla="*/ 349269 h 923907"/>
                <a:gd name="TX5" fmla="*/ 774876 w 918525"/>
                <a:gd name="TY5" fmla="*/ 613293 h 923907"/>
                <a:gd name="TX6" fmla="*/ 741827 w 918525"/>
                <a:gd name="TY6" fmla="*/ 914398 h 923907"/>
                <a:gd name="TX7" fmla="*/ 459262 w 918525"/>
                <a:gd name="TY7" fmla="*/ 854400 h 923907"/>
                <a:gd name="TX8" fmla="*/ 176697 w 918525"/>
                <a:gd name="TY8" fmla="*/ 914398 h 923907"/>
                <a:gd name="TX9" fmla="*/ 143648 w 918525"/>
                <a:gd name="TY9" fmla="*/ 613293 h 923907"/>
                <a:gd name="TX10" fmla="*/ 2063 w 918525"/>
                <a:gd name="TY10" fmla="*/ 349269 h 923907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</a:cxnLst>
              <a:rect l="l" t="t" r="r" b="b"/>
              <a:pathLst>
                <a:path w="918525" h="923907">
                  <a:moveTo>
                    <a:pt x="2063" y="349269"/>
                  </a:moveTo>
                  <a:cubicBezTo>
                    <a:pt x="22155" y="284249"/>
                    <a:pt x="188002" y="281384"/>
                    <a:pt x="264202" y="223173"/>
                  </a:cubicBezTo>
                  <a:cubicBezTo>
                    <a:pt x="340402" y="164962"/>
                    <a:pt x="394242" y="0"/>
                    <a:pt x="459262" y="0"/>
                  </a:cubicBezTo>
                  <a:cubicBezTo>
                    <a:pt x="524282" y="0"/>
                    <a:pt x="578122" y="164962"/>
                    <a:pt x="654322" y="223173"/>
                  </a:cubicBezTo>
                  <a:cubicBezTo>
                    <a:pt x="730522" y="281384"/>
                    <a:pt x="896369" y="284249"/>
                    <a:pt x="916461" y="349269"/>
                  </a:cubicBezTo>
                  <a:cubicBezTo>
                    <a:pt x="936553" y="414289"/>
                    <a:pt x="803982" y="519105"/>
                    <a:pt x="774876" y="613293"/>
                  </a:cubicBezTo>
                  <a:cubicBezTo>
                    <a:pt x="745770" y="707481"/>
                    <a:pt x="794429" y="874213"/>
                    <a:pt x="741827" y="914398"/>
                  </a:cubicBezTo>
                  <a:cubicBezTo>
                    <a:pt x="689225" y="954583"/>
                    <a:pt x="553450" y="854400"/>
                    <a:pt x="459262" y="854400"/>
                  </a:cubicBezTo>
                  <a:cubicBezTo>
                    <a:pt x="365074" y="874399"/>
                    <a:pt x="257367" y="928196"/>
                    <a:pt x="176697" y="914398"/>
                  </a:cubicBezTo>
                  <a:cubicBezTo>
                    <a:pt x="96027" y="900600"/>
                    <a:pt x="172754" y="707481"/>
                    <a:pt x="143648" y="613293"/>
                  </a:cubicBezTo>
                  <a:cubicBezTo>
                    <a:pt x="114542" y="519105"/>
                    <a:pt x="-18029" y="414289"/>
                    <a:pt x="2063" y="34926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  <a:effectLst>
              <a:outerShdw blurRad="76200" dist="50800" dir="5400000" algn="t" rotWithShape="0">
                <a:srgbClr val="000000">
                  <a:alpha val="15686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91440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1">
                <a:solidFill>
                  <a:srgbClr val="9B73B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 rot="8880000">
              <a:off x="6088380" y="4725035"/>
              <a:ext cx="591185" cy="574675"/>
              <a:chOff x="6088380" y="4725035"/>
              <a:chExt cx="591185" cy="574675"/>
            </a:xfrm>
          </p:grpSpPr>
          <p:sp>
            <p:nvSpPr>
              <p:cNvPr id="84" name="形状 83"/>
              <p:cNvSpPr/>
              <p:nvPr/>
            </p:nvSpPr>
            <p:spPr>
              <a:xfrm rot="29100000" flipH="1">
                <a:off x="6088380" y="4729480"/>
                <a:ext cx="591820" cy="575945"/>
              </a:xfrm>
              <a:custGeom>
                <a:avLst/>
                <a:gdLst>
                  <a:gd name="TX0" fmla="*/ 2063 w 918525"/>
                  <a:gd name="TY0" fmla="*/ 349269 h 923907"/>
                  <a:gd name="TX1" fmla="*/ 264202 w 918525"/>
                  <a:gd name="TY1" fmla="*/ 223173 h 923907"/>
                  <a:gd name="TX2" fmla="*/ 459262 w 918525"/>
                  <a:gd name="TY2" fmla="*/ 0 h 923907"/>
                  <a:gd name="TX3" fmla="*/ 654322 w 918525"/>
                  <a:gd name="TY3" fmla="*/ 223173 h 923907"/>
                  <a:gd name="TX4" fmla="*/ 916461 w 918525"/>
                  <a:gd name="TY4" fmla="*/ 349269 h 923907"/>
                  <a:gd name="TX5" fmla="*/ 774876 w 918525"/>
                  <a:gd name="TY5" fmla="*/ 613293 h 923907"/>
                  <a:gd name="TX6" fmla="*/ 741827 w 918525"/>
                  <a:gd name="TY6" fmla="*/ 914398 h 923907"/>
                  <a:gd name="TX7" fmla="*/ 459262 w 918525"/>
                  <a:gd name="TY7" fmla="*/ 854400 h 923907"/>
                  <a:gd name="TX8" fmla="*/ 176697 w 918525"/>
                  <a:gd name="TY8" fmla="*/ 914398 h 923907"/>
                  <a:gd name="TX9" fmla="*/ 143648 w 918525"/>
                  <a:gd name="TY9" fmla="*/ 613293 h 923907"/>
                  <a:gd name="TX10" fmla="*/ 2063 w 918525"/>
                  <a:gd name="TY10" fmla="*/ 349269 h 923907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</a:cxnLst>
                <a:rect l="l" t="t" r="r" b="b"/>
                <a:pathLst>
                  <a:path w="918525" h="923907">
                    <a:moveTo>
                      <a:pt x="2063" y="349269"/>
                    </a:moveTo>
                    <a:cubicBezTo>
                      <a:pt x="22155" y="284249"/>
                      <a:pt x="188002" y="281384"/>
                      <a:pt x="264202" y="223173"/>
                    </a:cubicBezTo>
                    <a:cubicBezTo>
                      <a:pt x="340402" y="164962"/>
                      <a:pt x="394242" y="0"/>
                      <a:pt x="459262" y="0"/>
                    </a:cubicBezTo>
                    <a:cubicBezTo>
                      <a:pt x="524282" y="0"/>
                      <a:pt x="578122" y="164962"/>
                      <a:pt x="654322" y="223173"/>
                    </a:cubicBezTo>
                    <a:cubicBezTo>
                      <a:pt x="730522" y="281384"/>
                      <a:pt x="896369" y="284249"/>
                      <a:pt x="916461" y="349269"/>
                    </a:cubicBezTo>
                    <a:cubicBezTo>
                      <a:pt x="936553" y="414289"/>
                      <a:pt x="803982" y="519105"/>
                      <a:pt x="774876" y="613293"/>
                    </a:cubicBezTo>
                    <a:cubicBezTo>
                      <a:pt x="745770" y="707481"/>
                      <a:pt x="794429" y="874213"/>
                      <a:pt x="741827" y="914398"/>
                    </a:cubicBezTo>
                    <a:cubicBezTo>
                      <a:pt x="689225" y="954583"/>
                      <a:pt x="553450" y="854400"/>
                      <a:pt x="459262" y="854400"/>
                    </a:cubicBezTo>
                    <a:cubicBezTo>
                      <a:pt x="365074" y="874399"/>
                      <a:pt x="257367" y="928196"/>
                      <a:pt x="176697" y="914398"/>
                    </a:cubicBezTo>
                    <a:cubicBezTo>
                      <a:pt x="96027" y="900600"/>
                      <a:pt x="172754" y="707481"/>
                      <a:pt x="143648" y="613293"/>
                    </a:cubicBezTo>
                    <a:cubicBezTo>
                      <a:pt x="114542" y="519105"/>
                      <a:pt x="-18029" y="414289"/>
                      <a:pt x="2063" y="349269"/>
                    </a:cubicBezTo>
                    <a:close/>
                  </a:path>
                </a:pathLst>
              </a:custGeom>
              <a:solidFill>
                <a:srgbClr val="FFFF00"/>
              </a:solidFill>
              <a:ln w="15875" cap="flat" cmpd="sng">
                <a:solidFill>
                  <a:srgbClr val="FFFF00">
                    <a:alpha val="100000"/>
                  </a:srgbClr>
                </a:solidFill>
                <a:prstDash val="solid"/>
              </a:ln>
              <a:effectLst>
                <a:innerShdw blurRad="292100">
                  <a:srgbClr val="FFC000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5" name="形状 84"/>
              <p:cNvSpPr/>
              <p:nvPr/>
            </p:nvSpPr>
            <p:spPr>
              <a:xfrm rot="29280000">
                <a:off x="6438265" y="4904740"/>
                <a:ext cx="233044" cy="175895"/>
              </a:xfrm>
              <a:custGeom>
                <a:avLst/>
                <a:gdLst>
                  <a:gd name="TX0" fmla="*/ 0 w 457200"/>
                  <a:gd name="TY0" fmla="*/ 349269 h 349270"/>
                  <a:gd name="TX1" fmla="*/ 262139 w 457200"/>
                  <a:gd name="TY1" fmla="*/ 223173 h 349270"/>
                  <a:gd name="TX2" fmla="*/ 457199 w 457200"/>
                  <a:gd name="TY2" fmla="*/ 0 h 349270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</a:cxnLst>
                <a:rect l="l" t="t" r="r" b="b"/>
                <a:pathLst>
                  <a:path w="457200" h="349270">
                    <a:moveTo>
                      <a:pt x="0" y="349269"/>
                    </a:moveTo>
                    <a:cubicBezTo>
                      <a:pt x="20092" y="284249"/>
                      <a:pt x="185939" y="281384"/>
                      <a:pt x="262139" y="223173"/>
                    </a:cubicBezTo>
                    <a:cubicBezTo>
                      <a:pt x="338339" y="164962"/>
                      <a:pt x="392179" y="0"/>
                      <a:pt x="457199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8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6" name="形状 85"/>
              <p:cNvSpPr/>
              <p:nvPr/>
            </p:nvSpPr>
            <p:spPr>
              <a:xfrm rot="15840000">
                <a:off x="6105525" y="4985385"/>
                <a:ext cx="102870" cy="116840"/>
              </a:xfrm>
              <a:custGeom>
                <a:avLst/>
                <a:gdLst>
                  <a:gd name="TX0" fmla="*/ 0 w 195061"/>
                  <a:gd name="TY0" fmla="*/ 223173 h 223174"/>
                  <a:gd name="TX1" fmla="*/ 195060 w 195061"/>
                  <a:gd name="TY1" fmla="*/ 0 h 223174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</a:cxnLst>
                <a:rect l="l" t="t" r="r" b="b"/>
                <a:pathLst>
                  <a:path w="195061" h="223174">
                    <a:moveTo>
                      <a:pt x="0" y="223173"/>
                    </a:moveTo>
                    <a:cubicBezTo>
                      <a:pt x="76200" y="164962"/>
                      <a:pt x="130040" y="0"/>
                      <a:pt x="195060" y="0"/>
                    </a:cubicBezTo>
                  </a:path>
                </a:pathLst>
              </a:custGeom>
              <a:noFill/>
              <a:ln w="28575" cap="rnd" cmpd="sng">
                <a:solidFill>
                  <a:schemeClr val="bg1">
                    <a:alpha val="68627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anchor="ctr">
                <a:noAutofit/>
              </a:bodyPr>
              <a:lstStyle/>
              <a:p>
                <a:pPr marL="0" indent="0" algn="ctr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b="1">
                  <a:solidFill>
                    <a:srgbClr val="9B73B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89" name="文本框 88"/>
          <p:cNvSpPr txBox="1"/>
          <p:nvPr/>
        </p:nvSpPr>
        <p:spPr>
          <a:xfrm>
            <a:off x="4497705" y="3235325"/>
            <a:ext cx="306705" cy="923925"/>
          </a:xfrm>
          <a:prstGeom prst="rect">
            <a:avLst/>
          </a:prstGeom>
          <a:noFill/>
          <a:ln w="0" cap="flat" cmpd="sng">
            <a:noFill/>
          </a:ln>
        </p:spPr>
        <p:txBody>
          <a:bodyPr vert="horz" wrap="none" lIns="89535" tIns="46355" rIns="89535" bIns="46355" anchor="t">
            <a:noAutofit/>
            <a:scene3d>
              <a:camera prst="orthographicFront"/>
              <a:lightRig rig="threePt" dir="t">
                <a:rot lat="0" lon="0" rev="6000000"/>
              </a:lightRig>
            </a:scene3d>
            <a:sp3d extrusionH="50800">
              <a:bevelT w="25400" h="38100"/>
              <a:extrusionClr>
                <a:srgbClr val="000000"/>
              </a:extrusionClr>
              <a:contourClr>
                <a:srgbClr val="000000"/>
              </a:contourClr>
            </a:sp3d>
          </a:bodyPr>
          <a:lstStyle/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5400" b="1">
              <a:solidFill>
                <a:schemeClr val="accent4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/Users/lenovo01/AppData/Roaming/JisuOffice/ETemp/18172_8113152/image52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740000">
            <a:off x="3660140" y="1847215"/>
            <a:ext cx="3867785" cy="4323715"/>
          </a:xfrm>
          <a:prstGeom prst="rect">
            <a:avLst/>
          </a:prstGeom>
          <a:noFill/>
        </p:spPr>
      </p:pic>
      <p:sp>
        <p:nvSpPr>
          <p:cNvPr id="6" name="内容占位符 2"/>
          <p:cNvSpPr txBox="1"/>
          <p:nvPr/>
        </p:nvSpPr>
        <p:spPr bwMode="auto">
          <a:xfrm>
            <a:off x="1318895" y="1261745"/>
            <a:ext cx="10488930" cy="11576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91440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Blip>
                <a:blip r:embed="rId2"/>
              </a:buBlip>
              <a:defRPr sz="1800"/>
            </a:pPr>
            <a:r>
              <a:rPr lang="en-US" altLang="zh-CN" sz="2800" b="0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lang="en-US" altLang="zh-CN" sz="2400" b="0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UML</a:t>
            </a:r>
            <a:r>
              <a:rPr lang="en-US" altLang="zh-CN" sz="2400" b="1" i="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b="1" i="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面向对象分析与设计</a:t>
            </a:r>
            <a:r>
              <a:rPr lang="zh-CN" altLang="en-US" sz="2400" b="0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清华大学出版社，</a:t>
            </a:r>
            <a:r>
              <a:rPr lang="en-US" altLang="zh-CN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D Jeya Mala S Geetha 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著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lang="ko-KR" altLang="en-US" sz="2400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0" indent="0" algn="l" defTabSz="91440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defRPr sz="1800"/>
            </a:pP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              马恬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译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r>
              <a:rPr lang="en-US" altLang="zh-CN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2018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年</a:t>
            </a:r>
            <a:r>
              <a:rPr lang="en-US" altLang="zh-CN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6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月</a:t>
            </a:r>
            <a:endParaRPr lang="ko-KR" altLang="en-US" sz="2400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8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 </a:t>
            </a:r>
            <a:endParaRPr lang="ko-KR" altLang="en-US" sz="2800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2800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2800" b="0" i="0" strike="noStrike" cap="none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563C1"/>
              </a:buClr>
              <a:buFont typeface="Wingdings" panose="05000000000000000000"/>
              <a:buChar char="v"/>
              <a:defRPr sz="1800"/>
            </a:pPr>
            <a:endParaRPr lang="ko-KR" altLang="en-US" sz="3200" b="0" i="0" strike="noStrike" cap="none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159635" y="344170"/>
            <a:ext cx="6522085" cy="564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 fontScale="90000" lnSpcReduction="10000"/>
          </a:bodyPr>
          <a:lstStyle>
            <a:lvl1pPr marL="0" indent="0" algn="l" defTabSz="9144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600" b="1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</a:rPr>
              <a:t>教材及参考书</a:t>
            </a:r>
            <a:endParaRPr lang="ko-KR" altLang="en-US" sz="3600" b="1">
              <a:solidFill>
                <a:srgbClr val="7030A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/>
          </p:cNvSpPr>
          <p:nvPr>
            <p:ph type="title"/>
          </p:nvPr>
        </p:nvSpPr>
        <p:spPr>
          <a:xfrm>
            <a:off x="2969260" y="508635"/>
            <a:ext cx="6521450" cy="563880"/>
          </a:xfrm>
        </p:spPr>
        <p:txBody>
          <a:bodyPr vert="horz" wrap="square" lIns="91440" tIns="45720" rIns="91440" bIns="45720" anchor="ctr">
            <a:normAutofit fontScale="90000"/>
          </a:bodyPr>
          <a:lstStyle/>
          <a:p>
            <a:pPr lvl="0" algn="ctr" eaLnBrk="1" hangingPunct="1"/>
            <a:r>
              <a:rPr lang="zh-CN" altLang="en-US" sz="3600" b="1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</a:rPr>
              <a:t>教材及参考书</a:t>
            </a:r>
            <a:endParaRPr lang="zh-CN" altLang="en-US" sz="3600" b="1" dirty="0">
              <a:solidFill>
                <a:srgbClr val="7030A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1038225" y="1299210"/>
            <a:ext cx="10187305" cy="11576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Blip>
                <a:blip r:embed="rId1"/>
              </a:buBlip>
              <a:defRPr sz="1800"/>
            </a:pPr>
            <a:r>
              <a:rPr lang="en-US" altLang="zh-CN" sz="2400" b="0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     </a:t>
            </a: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深入浅出面向对象分析与设计</a:t>
            </a:r>
            <a:r>
              <a:rPr lang="zh-CN" altLang="en-US" sz="2400" b="0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，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东南大学出版社，</a:t>
            </a:r>
            <a:r>
              <a:rPr lang="en-US" altLang="zh-CN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Brett D.McLanghlin,Gray Pollice &amp; David West 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著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 </a:t>
            </a:r>
            <a:r>
              <a:rPr lang="en-US" altLang="zh-CN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O'Reilly Taiwan 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公司编译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 </a:t>
            </a:r>
            <a:r>
              <a:rPr lang="en-US" altLang="zh-CN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2009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年</a:t>
            </a:r>
            <a:r>
              <a:rPr lang="en-US" altLang="zh-CN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1</a:t>
            </a: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月</a:t>
            </a:r>
            <a:endParaRPr lang="ko-KR" altLang="en-US" sz="2400">
              <a:ln w="9525" cap="flat" cmpd="sng"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r>
              <a:rPr lang="zh-CN" altLang="en-US" sz="2400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  </a:t>
            </a:r>
            <a:endParaRPr lang="ko-KR" altLang="en-US" sz="2400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2400">
              <a:ln w="9525" cap="flat" cmpd="sng"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2400" b="0" i="0" strike="noStrike" cap="none">
              <a:ln w="9525" cap="flat" cmpd="sng"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563C1"/>
              </a:buClr>
              <a:buFont typeface="Wingdings" panose="05000000000000000000"/>
              <a:buChar char="v"/>
              <a:defRPr sz="1800"/>
            </a:pPr>
            <a:endParaRPr lang="ko-KR" altLang="en-US" sz="2400" b="0" i="0" strike="noStrike" cap="none">
              <a:ln w="9525" cap="flat" cmpd="sng"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280" y="2456180"/>
            <a:ext cx="3540125" cy="418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"/>
          <p:cNvSpPr txBox="1"/>
          <p:nvPr/>
        </p:nvSpPr>
        <p:spPr bwMode="auto">
          <a:xfrm>
            <a:off x="1228090" y="2153285"/>
            <a:ext cx="10275570" cy="316928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Blip>
                <a:blip r:embed="rId1"/>
              </a:buBlip>
              <a:defRPr sz="1800"/>
            </a:pP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    面向对像分析与设计（第</a:t>
            </a:r>
            <a:r>
              <a:rPr lang="en-US" altLang="zh-CN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2</a:t>
            </a: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版），麻志毅</a:t>
            </a: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 </a:t>
            </a: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编著，机械工业出版社，</a:t>
            </a:r>
            <a:r>
              <a:rPr lang="en-US" altLang="zh-CN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2013.3</a:t>
            </a:r>
            <a:endParaRPr lang="ko-KR" altLang="en-US" sz="2400" b="1" i="0" strike="noStrike" cap="none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2400" b="1" i="0" strike="noStrike" cap="none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Blip>
                <a:blip r:embed="rId1"/>
              </a:buBlip>
              <a:defRPr sz="1800"/>
            </a:pP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      面向对象分析与设计（第</a:t>
            </a:r>
            <a:r>
              <a:rPr lang="en-US" altLang="zh-CN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3</a:t>
            </a: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版），电子工业出版社，</a:t>
            </a:r>
            <a:r>
              <a:rPr lang="en-US" altLang="zh-CN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2012.7</a:t>
            </a:r>
            <a:endParaRPr lang="ko-KR" altLang="en-US" sz="2400" b="1" i="0" strike="noStrike" cap="none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2400" b="1" i="0" strike="noStrike" cap="none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marL="457200" indent="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Blip>
                <a:blip r:embed="rId1"/>
              </a:buBlip>
              <a:defRPr sz="1800"/>
            </a:pPr>
            <a:r>
              <a:rPr lang="en-US" altLang="zh-CN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      UML </a:t>
            </a:r>
            <a:r>
              <a:rPr lang="zh-CN" altLang="en-US" sz="2400" b="1" i="0" strike="noStrike" cap="none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系统建模与分析设计，</a:t>
            </a:r>
            <a:r>
              <a:rPr lang="zh-CN" altLang="en-US" sz="2400" b="1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刁成嘉</a:t>
            </a:r>
            <a:r>
              <a:rPr lang="zh-CN" altLang="en-US" sz="2400" b="1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 </a:t>
            </a:r>
            <a:r>
              <a:rPr lang="zh-CN" altLang="en-US" sz="2400" b="1">
                <a:ln w="9525" cap="flat" cmpd="sng">
                  <a:noFill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主编，机械工业出版社，</a:t>
            </a:r>
            <a:r>
              <a:rPr lang="en-US" altLang="zh-CN" sz="2400" b="1">
                <a:ln w="9525" cap="flat" cmpd="sng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2007.6</a:t>
            </a:r>
            <a:endParaRPr lang="ko-KR" altLang="en-US" sz="2400" b="1">
              <a:ln w="9525" cap="flat" cmpd="sng">
                <a:noFill/>
              </a:ln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marL="342900" indent="-342900" algn="l" defTabSz="91440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563C1"/>
              </a:buClr>
              <a:buFont typeface="Wingdings" panose="05000000000000000000"/>
              <a:buChar char="v"/>
              <a:defRPr sz="1800"/>
            </a:pPr>
            <a:endParaRPr lang="ko-KR" altLang="en-US" sz="2400" b="1" i="0" strike="noStrike" cap="none">
              <a:ln w="9525" cap="flat" cmpd="sng">
                <a:noFill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979170" y="1052195"/>
            <a:ext cx="9144000" cy="563880"/>
          </a:xfrm>
        </p:spPr>
        <p:txBody>
          <a:bodyPr vert="horz" wrap="square" lIns="91440" tIns="45720" rIns="91440" bIns="4572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zh-CN" altLang="en-US" sz="3600" kern="0" dirty="0" smtClean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</a:rPr>
              <a:t>教材及参考书</a:t>
            </a:r>
            <a:endParaRPr lang="en-US" altLang="zh-CN" sz="3600" kern="0" dirty="0">
              <a:solidFill>
                <a:srgbClr val="7030A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H_SubTitle_4"/>
          <p:cNvSpPr/>
          <p:nvPr/>
        </p:nvSpPr>
        <p:spPr>
          <a:xfrm>
            <a:off x="4456430" y="3448050"/>
            <a:ext cx="5085715" cy="10674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什么是好的设计、如何区分好的设计与坏的设计、好的设计有哪些重要的特点</a:t>
            </a:r>
            <a:r>
              <a:rPr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ko-KR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MH_SubTitle_4"/>
          <p:cNvSpPr/>
          <p:nvPr/>
        </p:nvSpPr>
        <p:spPr>
          <a:xfrm>
            <a:off x="2937510" y="4759325"/>
            <a:ext cx="6427470" cy="10674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000">
                <a:solidFill>
                  <a:srgbClr val="0070C0"/>
                </a:solidFill>
                <a:latin typeface="宋体" panose="02010600030101010101" pitchFamily="2" charset="-122"/>
                <a:ea typeface="微软雅黑" panose="020B0503020204020204" charset="-122"/>
                <a:cs typeface="宋体" panose="02010600030101010101" pitchFamily="2" charset="-122"/>
              </a:rPr>
              <a:t>面向对象开发的好处和风险分别是什么？</a:t>
            </a:r>
            <a:endParaRPr lang="ko-KR" altLang="en-US" sz="2000">
              <a:solidFill>
                <a:srgbClr val="0070C0"/>
              </a:solidFill>
              <a:latin typeface="宋体" panose="02010600030101010101" pitchFamily="2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0" indent="0" algn="r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MH_SubTitle_4"/>
          <p:cNvSpPr/>
          <p:nvPr/>
        </p:nvSpPr>
        <p:spPr>
          <a:xfrm>
            <a:off x="5988685" y="1482090"/>
            <a:ext cx="3503930" cy="131127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如何去设计、针对通常的设计问题，有没有现成的处方？</a:t>
            </a:r>
            <a:endParaRPr lang="ko-KR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MH_Other_3"/>
          <p:cNvSpPr/>
          <p:nvPr/>
        </p:nvSpPr>
        <p:spPr bwMode="auto">
          <a:xfrm>
            <a:off x="5166995" y="1687830"/>
            <a:ext cx="909320" cy="1760855"/>
          </a:xfrm>
          <a:custGeom>
            <a:avLst/>
            <a:gdLst>
              <a:gd name="TX0" fmla="*/ 0 w 880534"/>
              <a:gd name="TY0" fmla="*/ 0 h 1761069"/>
              <a:gd name="TX1" fmla="*/ 177457 w 880534"/>
              <a:gd name="TY1" fmla="*/ 17890 h 1761069"/>
              <a:gd name="TX2" fmla="*/ 880533 w 880534"/>
              <a:gd name="TY2" fmla="*/ 880534 h 1761069"/>
              <a:gd name="TX3" fmla="*/ 177457 w 880534"/>
              <a:gd name="TY3" fmla="*/ 1743179 h 1761069"/>
              <a:gd name="TX4" fmla="*/ 0 w 880534"/>
              <a:gd name="TY4" fmla="*/ 1761068 h 1761069"/>
              <a:gd name="TX5" fmla="*/ 0 w 880534"/>
              <a:gd name="TY5" fmla="*/ 1409700 h 1761069"/>
              <a:gd name="TX6" fmla="*/ 106644 w 880534"/>
              <a:gd name="TY6" fmla="*/ 1398950 h 1761069"/>
              <a:gd name="TX7" fmla="*/ 529165 w 880534"/>
              <a:gd name="TY7" fmla="*/ 880533 h 1761069"/>
              <a:gd name="TX8" fmla="*/ 106644 w 880534"/>
              <a:gd name="TY8" fmla="*/ 362117 h 1761069"/>
              <a:gd name="TX9" fmla="*/ 0 w 880534"/>
              <a:gd name="TY9" fmla="*/ 351366 h 1761069"/>
              <a:gd name="TX10" fmla="*/ 0 w 880534"/>
              <a:gd name="TY10" fmla="*/ 0 h 1761069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  <a:cxn ang="0">
                <a:pos x="TX9" y="TY9"/>
              </a:cxn>
              <a:cxn ang="0">
                <a:pos x="TX10" y="TY10"/>
              </a:cxn>
            </a:cxnLst>
            <a:rect l="l" t="t" r="r" b="b"/>
            <a:pathLst>
              <a:path w="880534" h="1761069">
                <a:moveTo>
                  <a:pt x="0" y="0"/>
                </a:moveTo>
                <a:lnTo>
                  <a:pt x="177457" y="17890"/>
                </a:lnTo>
                <a:cubicBezTo>
                  <a:pt x="578702" y="99996"/>
                  <a:pt x="880533" y="455017"/>
                  <a:pt x="880533" y="880534"/>
                </a:cubicBezTo>
                <a:cubicBezTo>
                  <a:pt x="880533" y="1306051"/>
                  <a:pt x="578702" y="1661072"/>
                  <a:pt x="177457" y="1743179"/>
                </a:cubicBezTo>
                <a:lnTo>
                  <a:pt x="0" y="1761068"/>
                </a:lnTo>
                <a:lnTo>
                  <a:pt x="0" y="1409700"/>
                </a:lnTo>
                <a:lnTo>
                  <a:pt x="106644" y="1398950"/>
                </a:lnTo>
                <a:cubicBezTo>
                  <a:pt x="347776" y="1349607"/>
                  <a:pt x="529165" y="1136253"/>
                  <a:pt x="529165" y="880533"/>
                </a:cubicBezTo>
                <a:cubicBezTo>
                  <a:pt x="529165" y="624814"/>
                  <a:pt x="347776" y="411460"/>
                  <a:pt x="106644" y="362117"/>
                </a:cubicBezTo>
                <a:lnTo>
                  <a:pt x="0" y="35136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txBody>
          <a:bodyPr vert="horz" wrap="square" lIns="91440" tIns="45720" rIns="91440" bIns="45720" numCol="1" anchor="ctr">
            <a:noAutofit/>
          </a:bodyPr>
          <a:lstStyle>
            <a:lvl1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indent="0" algn="just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4800" b="1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4" name="MH_Other_4" descr="C:/Users/lenovo01/AppData/Roaming/JisuOffice/ETemp/18172_8113152/image55.png"/>
          <p:cNvPicPr/>
          <p:nvPr/>
        </p:nvPicPr>
        <p:blipFill rotWithShape="1">
          <a:blip r:embed="rId1" cstate="hqprint"/>
          <a:srcRect l="50887"/>
          <a:stretch>
            <a:fillRect/>
          </a:stretch>
        </p:blipFill>
        <p:spPr bwMode="auto">
          <a:xfrm>
            <a:off x="5166995" y="1408430"/>
            <a:ext cx="61595" cy="9004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MH_Other_5"/>
          <p:cNvSpPr/>
          <p:nvPr/>
        </p:nvSpPr>
        <p:spPr bwMode="auto">
          <a:xfrm>
            <a:off x="3547745" y="2867025"/>
            <a:ext cx="909320" cy="1760855"/>
          </a:xfrm>
          <a:custGeom>
            <a:avLst/>
            <a:gdLst>
              <a:gd name="TX0" fmla="*/ 0 w 880534"/>
              <a:gd name="TY0" fmla="*/ 0 h 1761069"/>
              <a:gd name="TX1" fmla="*/ 177457 w 880534"/>
              <a:gd name="TY1" fmla="*/ 17890 h 1761069"/>
              <a:gd name="TX2" fmla="*/ 880533 w 880534"/>
              <a:gd name="TY2" fmla="*/ 880534 h 1761069"/>
              <a:gd name="TX3" fmla="*/ 177457 w 880534"/>
              <a:gd name="TY3" fmla="*/ 1743179 h 1761069"/>
              <a:gd name="TX4" fmla="*/ 0 w 880534"/>
              <a:gd name="TY4" fmla="*/ 1761068 h 1761069"/>
              <a:gd name="TX5" fmla="*/ 0 w 880534"/>
              <a:gd name="TY5" fmla="*/ 1409700 h 1761069"/>
              <a:gd name="TX6" fmla="*/ 106644 w 880534"/>
              <a:gd name="TY6" fmla="*/ 1398950 h 1761069"/>
              <a:gd name="TX7" fmla="*/ 529165 w 880534"/>
              <a:gd name="TY7" fmla="*/ 880533 h 1761069"/>
              <a:gd name="TX8" fmla="*/ 106644 w 880534"/>
              <a:gd name="TY8" fmla="*/ 362117 h 1761069"/>
              <a:gd name="TX9" fmla="*/ 0 w 880534"/>
              <a:gd name="TY9" fmla="*/ 351366 h 1761069"/>
              <a:gd name="TX10" fmla="*/ 0 w 880534"/>
              <a:gd name="TY10" fmla="*/ 0 h 1761069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  <a:cxn ang="0">
                <a:pos x="TX9" y="TY9"/>
              </a:cxn>
              <a:cxn ang="0">
                <a:pos x="TX10" y="TY10"/>
              </a:cxn>
            </a:cxnLst>
            <a:rect l="l" t="t" r="r" b="b"/>
            <a:pathLst>
              <a:path w="880534" h="1761069">
                <a:moveTo>
                  <a:pt x="0" y="0"/>
                </a:moveTo>
                <a:lnTo>
                  <a:pt x="177457" y="17890"/>
                </a:lnTo>
                <a:cubicBezTo>
                  <a:pt x="578702" y="99996"/>
                  <a:pt x="880533" y="455017"/>
                  <a:pt x="880533" y="880534"/>
                </a:cubicBezTo>
                <a:cubicBezTo>
                  <a:pt x="880533" y="1306051"/>
                  <a:pt x="578702" y="1661072"/>
                  <a:pt x="177457" y="1743179"/>
                </a:cubicBezTo>
                <a:lnTo>
                  <a:pt x="0" y="1761068"/>
                </a:lnTo>
                <a:lnTo>
                  <a:pt x="0" y="1409700"/>
                </a:lnTo>
                <a:lnTo>
                  <a:pt x="106644" y="1398950"/>
                </a:lnTo>
                <a:cubicBezTo>
                  <a:pt x="347776" y="1349607"/>
                  <a:pt x="529165" y="1136253"/>
                  <a:pt x="529165" y="880533"/>
                </a:cubicBezTo>
                <a:cubicBezTo>
                  <a:pt x="529165" y="624814"/>
                  <a:pt x="347776" y="411460"/>
                  <a:pt x="106644" y="362117"/>
                </a:cubicBezTo>
                <a:lnTo>
                  <a:pt x="0" y="35136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txBody>
          <a:bodyPr vert="horz" wrap="square" lIns="91440" tIns="45720" rIns="91440" bIns="45720" numCol="1" anchor="ctr">
            <a:noAutofit/>
          </a:bodyPr>
          <a:lstStyle>
            <a:lvl1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indent="0" algn="just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4800" b="1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6" name="MH_Other_6" descr="C:/Users/lenovo01/AppData/Roaming/JisuOffice/ETemp/18172_8113152/image55.png"/>
          <p:cNvPicPr/>
          <p:nvPr/>
        </p:nvPicPr>
        <p:blipFill rotWithShape="1">
          <a:blip r:embed="rId1" cstate="hqprint"/>
          <a:srcRect l="50887"/>
          <a:stretch>
            <a:fillRect/>
          </a:stretch>
        </p:blipFill>
        <p:spPr bwMode="auto">
          <a:xfrm>
            <a:off x="3471545" y="2655570"/>
            <a:ext cx="76835" cy="9004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MH_Other_7"/>
          <p:cNvSpPr/>
          <p:nvPr/>
        </p:nvSpPr>
        <p:spPr bwMode="auto">
          <a:xfrm>
            <a:off x="2030095" y="4207510"/>
            <a:ext cx="908050" cy="1760855"/>
          </a:xfrm>
          <a:custGeom>
            <a:avLst/>
            <a:gdLst>
              <a:gd name="TX0" fmla="*/ 0 w 880534"/>
              <a:gd name="TY0" fmla="*/ 0 h 1761069"/>
              <a:gd name="TX1" fmla="*/ 177457 w 880534"/>
              <a:gd name="TY1" fmla="*/ 17890 h 1761069"/>
              <a:gd name="TX2" fmla="*/ 880533 w 880534"/>
              <a:gd name="TY2" fmla="*/ 880534 h 1761069"/>
              <a:gd name="TX3" fmla="*/ 177457 w 880534"/>
              <a:gd name="TY3" fmla="*/ 1743179 h 1761069"/>
              <a:gd name="TX4" fmla="*/ 0 w 880534"/>
              <a:gd name="TY4" fmla="*/ 1761068 h 1761069"/>
              <a:gd name="TX5" fmla="*/ 0 w 880534"/>
              <a:gd name="TY5" fmla="*/ 1409700 h 1761069"/>
              <a:gd name="TX6" fmla="*/ 106644 w 880534"/>
              <a:gd name="TY6" fmla="*/ 1398950 h 1761069"/>
              <a:gd name="TX7" fmla="*/ 529165 w 880534"/>
              <a:gd name="TY7" fmla="*/ 880533 h 1761069"/>
              <a:gd name="TX8" fmla="*/ 106644 w 880534"/>
              <a:gd name="TY8" fmla="*/ 362117 h 1761069"/>
              <a:gd name="TX9" fmla="*/ 0 w 880534"/>
              <a:gd name="TY9" fmla="*/ 351366 h 1761069"/>
              <a:gd name="TX10" fmla="*/ 0 w 880534"/>
              <a:gd name="TY10" fmla="*/ 0 h 1761069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  <a:cxn ang="0">
                <a:pos x="TX9" y="TY9"/>
              </a:cxn>
              <a:cxn ang="0">
                <a:pos x="TX10" y="TY10"/>
              </a:cxn>
            </a:cxnLst>
            <a:rect l="l" t="t" r="r" b="b"/>
            <a:pathLst>
              <a:path w="880534" h="1761069">
                <a:moveTo>
                  <a:pt x="0" y="0"/>
                </a:moveTo>
                <a:lnTo>
                  <a:pt x="177457" y="17890"/>
                </a:lnTo>
                <a:cubicBezTo>
                  <a:pt x="578702" y="99996"/>
                  <a:pt x="880533" y="455017"/>
                  <a:pt x="880533" y="880534"/>
                </a:cubicBezTo>
                <a:cubicBezTo>
                  <a:pt x="880533" y="1306051"/>
                  <a:pt x="578702" y="1661072"/>
                  <a:pt x="177457" y="1743179"/>
                </a:cubicBezTo>
                <a:lnTo>
                  <a:pt x="0" y="1761068"/>
                </a:lnTo>
                <a:lnTo>
                  <a:pt x="0" y="1409700"/>
                </a:lnTo>
                <a:lnTo>
                  <a:pt x="106644" y="1398950"/>
                </a:lnTo>
                <a:cubicBezTo>
                  <a:pt x="347776" y="1349607"/>
                  <a:pt x="529165" y="1136253"/>
                  <a:pt x="529165" y="880533"/>
                </a:cubicBezTo>
                <a:cubicBezTo>
                  <a:pt x="529165" y="624814"/>
                  <a:pt x="347776" y="411460"/>
                  <a:pt x="106644" y="362117"/>
                </a:cubicBezTo>
                <a:lnTo>
                  <a:pt x="0" y="351366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txBody>
          <a:bodyPr vert="horz" wrap="square" lIns="91440" tIns="45720" rIns="91440" bIns="45720" numCol="1" anchor="ctr">
            <a:noAutofit/>
          </a:bodyPr>
          <a:lstStyle>
            <a:lvl1pPr marL="0" indent="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 defTabSz="50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defTabSz="5080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indent="0" algn="just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endParaRPr lang="ko-KR" altLang="en-US" sz="4800" b="1">
              <a:solidFill>
                <a:schemeClr val="tx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8" name="MH_Other_8" descr="C:/Users/lenovo01/AppData/Roaming/JisuOffice/ETemp/18172_8113152/image56.png"/>
          <p:cNvPicPr/>
          <p:nvPr/>
        </p:nvPicPr>
        <p:blipFill rotWithShape="1">
          <a:blip r:embed="rId2" cstate="hqprint"/>
          <a:srcRect l="50887"/>
          <a:stretch>
            <a:fillRect/>
          </a:stretch>
        </p:blipFill>
        <p:spPr bwMode="auto">
          <a:xfrm>
            <a:off x="1993265" y="3669030"/>
            <a:ext cx="61595" cy="9004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矩形 19"/>
          <p:cNvSpPr/>
          <p:nvPr/>
        </p:nvSpPr>
        <p:spPr>
          <a:xfrm>
            <a:off x="4936490" y="2153285"/>
            <a:ext cx="522604" cy="830580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just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lang="en-US" altLang="zh-CN" sz="4800" b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3</a:t>
            </a:r>
            <a:endParaRPr lang="ko-KR" altLang="en-US" sz="4800" b="1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91535" y="3438525"/>
            <a:ext cx="522604" cy="830580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just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lang="en-US" altLang="zh-CN" sz="48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2</a:t>
            </a:r>
            <a:endParaRPr lang="ko-KR" altLang="en-US" sz="4800" b="1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61515" y="4627245"/>
            <a:ext cx="522604" cy="830580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0" indent="0" algn="just" defTabSz="9144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/>
            </a:pPr>
            <a:r>
              <a:rPr lang="en-US" altLang="zh-CN" sz="48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1</a:t>
            </a:r>
            <a:endParaRPr lang="ko-KR" altLang="en-US" sz="4800" b="1">
              <a:solidFill>
                <a:schemeClr val="tx2"/>
              </a:solidFill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4" name="标题 23"/>
          <p:cNvSpPr>
            <a:spLocks noGrp="1"/>
          </p:cNvSpPr>
          <p:nvPr>
            <p:ph type="title"/>
          </p:nvPr>
        </p:nvSpPr>
        <p:spPr>
          <a:xfrm>
            <a:off x="899795" y="241300"/>
            <a:ext cx="10516235" cy="561975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600" b="1">
                <a:solidFill>
                  <a:schemeClr val="bg1"/>
                </a:solidFill>
                <a:latin typeface="Arial Black" panose="020B0A04020102020204" charset="0"/>
                <a:ea typeface="微软雅黑" panose="020B0503020204020204" charset="-122"/>
                <a:cs typeface="+mj-cs"/>
              </a:rPr>
              <a:t>思考与讨论：</a:t>
            </a:r>
            <a:endParaRPr lang="ko-KR" altLang="en-US" sz="3600" b="1">
              <a:solidFill>
                <a:schemeClr val="bg1"/>
              </a:solidFill>
              <a:latin typeface="Arial Black" panose="020B0A04020102020204" charset="0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 animBg="1"/>
      <p:bldP spid="15" grpId="0" animBg="1"/>
      <p:bldP spid="17" grpId="0" animBg="1"/>
      <p:bldP spid="20" grpId="0"/>
      <p:bldP spid="22" grpId="0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390140" y="2847340"/>
            <a:ext cx="7068820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zh-CN" altLang="en-US" sz="7200" b="1" dirty="0" smtClean="0">
                <a:solidFill>
                  <a:srgbClr val="02438C"/>
                </a:solidFill>
                <a:latin typeface="+mn-ea"/>
                <a:ea typeface="+mn-ea"/>
              </a:rPr>
              <a:t>谢 谢</a:t>
            </a:r>
            <a:endParaRPr lang="zh-CN" altLang="en-US" sz="7200" b="1" dirty="0">
              <a:solidFill>
                <a:srgbClr val="02438C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ags/tag1.xml><?xml version="1.0" encoding="utf-8"?>
<p:tagLst xmlns:p="http://schemas.openxmlformats.org/presentationml/2006/main">
  <p:tag name="REFSHAPE" val="900005684"/>
  <p:tag name="KSO_WM_UNIT_PLACING_PICTURE_USER_VIEWPORT" val="{&quot;height&quot;:8288,&quot;width&quot;:15270}"/>
</p:tagLst>
</file>

<file path=ppt/tags/tag2.xml><?xml version="1.0" encoding="utf-8"?>
<p:tagLst xmlns:p="http://schemas.openxmlformats.org/presentationml/2006/main">
  <p:tag name="REFSHAPE" val="1403621188"/>
  <p:tag name="KSO_WM_UNIT_PLACING_PICTURE_USER_VIEWPORT" val="{&quot;height&quot;:4868,&quot;width&quot;:12525}"/>
</p:tagLst>
</file>

<file path=ppt/tags/tag3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4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5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6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7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8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9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0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1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2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3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4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5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6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7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8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19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20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21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22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23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24.xml><?xml version="1.0" encoding="utf-8"?>
<p:tagLst xmlns:p="http://schemas.openxmlformats.org/presentationml/2006/main">
  <p:tag name="KSO_WM_DIAGRAM_VIRTUALLY_FRAME" val="{&quot;height&quot;:198.2,&quot;left&quot;:98.55,&quot;top&quot;:166.5,&quot;width&quot;:769.85}"/>
</p:tagLst>
</file>

<file path=ppt/tags/tag25.xml><?xml version="1.0" encoding="utf-8"?>
<p:tagLst xmlns:p="http://schemas.openxmlformats.org/presentationml/2006/main">
  <p:tag name="commondata" val="eyJoZGlkIjoiZjhiYzBlYTI4MzZiM2ZkNzE5N2VlY2FkNmE3MGM3MzIifQ=="/>
  <p:tag name="resource_record_key" val="{&quot;13&quot;:[20419701]}"/>
</p:tagLst>
</file>

<file path=ppt/theme/theme1.xml><?xml version="1.0" encoding="utf-8"?>
<a:theme xmlns:a="http://schemas.openxmlformats.org/drawingml/2006/main" name="Office 主题">
  <a:themeElements>
    <a:clrScheme name="自定义 1168">
      <a:dk1>
        <a:sysClr val="windowText" lastClr="000000"/>
      </a:dk1>
      <a:lt1>
        <a:sysClr val="window" lastClr="FFFFFF"/>
      </a:lt1>
      <a:dk2>
        <a:srgbClr val="9B73B1"/>
      </a:dk2>
      <a:lt2>
        <a:srgbClr val="4F79B0"/>
      </a:lt2>
      <a:accent1>
        <a:srgbClr val="4F79B0"/>
      </a:accent1>
      <a:accent2>
        <a:srgbClr val="9B73B1"/>
      </a:accent2>
      <a:accent3>
        <a:srgbClr val="4F79B0"/>
      </a:accent3>
      <a:accent4>
        <a:srgbClr val="9B73B1"/>
      </a:accent4>
      <a:accent5>
        <a:srgbClr val="4F79B0"/>
      </a:accent5>
      <a:accent6>
        <a:srgbClr val="9B73B1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1168">
      <a:dk1>
        <a:sysClr val="windowText" lastClr="000000"/>
      </a:dk1>
      <a:lt1>
        <a:sysClr val="window" lastClr="FFFFFF"/>
      </a:lt1>
      <a:dk2>
        <a:srgbClr val="9B73B1"/>
      </a:dk2>
      <a:lt2>
        <a:srgbClr val="4F79B0"/>
      </a:lt2>
      <a:accent1>
        <a:srgbClr val="4F79B0"/>
      </a:accent1>
      <a:accent2>
        <a:srgbClr val="9B73B1"/>
      </a:accent2>
      <a:accent3>
        <a:srgbClr val="4F79B0"/>
      </a:accent3>
      <a:accent4>
        <a:srgbClr val="9B73B1"/>
      </a:accent4>
      <a:accent5>
        <a:srgbClr val="4F79B0"/>
      </a:accent5>
      <a:accent6>
        <a:srgbClr val="9B73B1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自定义 1168">
      <a:dk1>
        <a:sysClr val="windowText" lastClr="000000"/>
      </a:dk1>
      <a:lt1>
        <a:sysClr val="window" lastClr="FFFFFF"/>
      </a:lt1>
      <a:dk2>
        <a:srgbClr val="9B73B1"/>
      </a:dk2>
      <a:lt2>
        <a:srgbClr val="4F79B0"/>
      </a:lt2>
      <a:accent1>
        <a:srgbClr val="4F79B0"/>
      </a:accent1>
      <a:accent2>
        <a:srgbClr val="9B73B1"/>
      </a:accent2>
      <a:accent3>
        <a:srgbClr val="4F79B0"/>
      </a:accent3>
      <a:accent4>
        <a:srgbClr val="9B73B1"/>
      </a:accent4>
      <a:accent5>
        <a:srgbClr val="4F79B0"/>
      </a:accent5>
      <a:accent6>
        <a:srgbClr val="9B73B1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</Words>
  <Application>WPS 演示</Application>
  <PresentationFormat>宽屏</PresentationFormat>
  <Paragraphs>432</Paragraphs>
  <Slides>50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50</vt:i4>
      </vt:variant>
    </vt:vector>
  </HeadingPairs>
  <TitlesOfParts>
    <vt:vector size="87" baseType="lpstr">
      <vt:lpstr>Arial</vt:lpstr>
      <vt:lpstr>宋体</vt:lpstr>
      <vt:lpstr>Wingdings</vt:lpstr>
      <vt:lpstr>Arial</vt:lpstr>
      <vt:lpstr>华文新魏</vt:lpstr>
      <vt:lpstr>微软雅黑</vt:lpstr>
      <vt:lpstr>仿宋_GB2312</vt:lpstr>
      <vt:lpstr>仿宋</vt:lpstr>
      <vt:lpstr>Arial Narrow</vt:lpstr>
      <vt:lpstr>Arial Black</vt:lpstr>
      <vt:lpstr>黑体</vt:lpstr>
      <vt:lpstr>华文行楷</vt:lpstr>
      <vt:lpstr>Arial Unicode MS</vt:lpstr>
      <vt:lpstr>Calibri</vt:lpstr>
      <vt:lpstr>Times New Roman</vt:lpstr>
      <vt:lpstr>Tahoma</vt:lpstr>
      <vt:lpstr>Times New Roman</vt:lpstr>
      <vt:lpstr>Tahoma</vt:lpstr>
      <vt:lpstr>Calibri</vt:lpstr>
      <vt:lpstr>Impact</vt:lpstr>
      <vt:lpstr>LCWCBN+MicrosoftYaHei</vt:lpstr>
      <vt:lpstr>ksdb</vt:lpstr>
      <vt:lpstr>MLLGGQ+MicrosoftYaHei</vt:lpstr>
      <vt:lpstr>LCWCBN+MicrosoftYaHei</vt:lpstr>
      <vt:lpstr>DFEJOU+MicrosoftYaHeiLight</vt:lpstr>
      <vt:lpstr>Wingdings</vt:lpstr>
      <vt:lpstr>Wingdings</vt:lpstr>
      <vt:lpstr>Verdana</vt:lpstr>
      <vt:lpstr>等线</vt:lpstr>
      <vt:lpstr>Malgun Gothic</vt:lpstr>
      <vt:lpstr>华文琥珀</vt:lpstr>
      <vt:lpstr>华文细黑</vt:lpstr>
      <vt:lpstr>幼圆</vt:lpstr>
      <vt:lpstr>Office 主题</vt:lpstr>
      <vt:lpstr>1_Office 主题</vt:lpstr>
      <vt:lpstr>2_Office 主题</vt:lpstr>
      <vt:lpstr>Office theme</vt:lpstr>
      <vt:lpstr>PowerPoint 演示文稿</vt:lpstr>
      <vt:lpstr>PowerPoint 演示文稿</vt:lpstr>
      <vt:lpstr>前言：</vt:lpstr>
      <vt:lpstr>为什么学习《面向对象方法》</vt:lpstr>
      <vt:lpstr>1.国家对软件人才的呼唤</vt:lpstr>
      <vt:lpstr>2.产业背景</vt:lpstr>
      <vt:lpstr>3.系统的复杂性与软件的复杂性</vt:lpstr>
      <vt:lpstr>3.系统的复杂性与软件的复杂性</vt:lpstr>
      <vt:lpstr>为什么软件在本质上是复杂的？</vt:lpstr>
      <vt:lpstr>为什么软件在本质上是复杂的？</vt:lpstr>
      <vt:lpstr>为什么软件在本质上是复杂的？</vt:lpstr>
      <vt:lpstr>为什么软件在本质上是复杂的？</vt:lpstr>
      <vt:lpstr>为什么软件在本质上是复杂的？</vt:lpstr>
      <vt:lpstr>为什么软件在本质上是复杂的？</vt:lpstr>
      <vt:lpstr>为什么软件在本质上是复杂的？</vt:lpstr>
      <vt:lpstr>为什么软件在本质上是复杂的？</vt:lpstr>
      <vt:lpstr>为什么软件在本质上是复杂的？</vt:lpstr>
      <vt:lpstr>软件人如何认识复杂系统？</vt:lpstr>
      <vt:lpstr>软件人如何认识复杂系统？</vt:lpstr>
      <vt:lpstr>软件人如何认识复杂系统？</vt:lpstr>
      <vt:lpstr>软件人如何认识复杂系统？</vt:lpstr>
      <vt:lpstr>软件人如何认识复杂系统？</vt:lpstr>
      <vt:lpstr>软件人如何认识复杂系统？</vt:lpstr>
      <vt:lpstr>PowerPoint 演示文稿</vt:lpstr>
      <vt:lpstr>二、学什么？</vt:lpstr>
      <vt:lpstr>关于思维</vt:lpstr>
      <vt:lpstr>什么是面向对象的思考方式？</vt:lpstr>
      <vt:lpstr>什么是面向对象的思考方式？</vt:lpstr>
      <vt:lpstr>什么是面向对象的思考方式？</vt:lpstr>
      <vt:lpstr>课程定义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优良软件的简易3步骤</vt:lpstr>
      <vt:lpstr>PowerPoint 演示文稿</vt:lpstr>
      <vt:lpstr>PowerPoint 演示文稿</vt:lpstr>
      <vt:lpstr>PowerPoint 演示文稿</vt:lpstr>
      <vt:lpstr>PowerPoint 演示文稿</vt:lpstr>
      <vt:lpstr>教材及参考书</vt:lpstr>
      <vt:lpstr>PowerPoint 演示文稿</vt:lpstr>
      <vt:lpstr>思考与讨论：</vt:lpstr>
      <vt:lpstr>PowerPoint 演示文稿</vt:lpstr>
    </vt:vector>
  </TitlesOfParts>
  <LinksUpToDate>false</LinksUpToDate>
  <SharedDoc>false</SharedDoc>
  <HyperlinksChanged>false</HyperlinksChanged>
  <AppVersion>14.0000</AppVersion>
  <Pages>46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熊猫办公ppt</dc:title>
  <dc:creator>熊猫办公</dc:creator>
  <cp:lastModifiedBy>怡然</cp:lastModifiedBy>
  <cp:revision>11</cp:revision>
  <dcterms:created xsi:type="dcterms:W3CDTF">2024-03-04T13:56:00Z</dcterms:created>
  <dcterms:modified xsi:type="dcterms:W3CDTF">2025-03-03T14:47:20Z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AF01CF90923749E38C3ED419679466A9_13</vt:lpwstr>
  </property>
</Properties>
</file>