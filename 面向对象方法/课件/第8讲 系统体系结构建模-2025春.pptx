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328" r:id="rId29"/>
    <p:sldId id="329" r:id="rId30"/>
    <p:sldId id="330" r:id="rId31"/>
    <p:sldId id="331" r:id="rId32"/>
    <p:sldId id="332" r:id="rId33"/>
    <p:sldId id="333" r:id="rId34"/>
    <p:sldId id="334" r:id="rId35"/>
    <p:sldId id="335" r:id="rId36"/>
  </p:sldIdLst>
  <p:sldSz cx="9144000" cy="6858000"/>
  <p:notesSz cx="6858000" cy="9144000"/>
  <p:custDataLst>
    <p:tags r:id="rId42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B5FD1"/>
    <a:srgbClr val="A8C9EA"/>
    <a:srgbClr val="CCFF66"/>
    <a:srgbClr val="FFFFCC"/>
    <a:srgbClr val="F9DF9F"/>
    <a:srgbClr val="FFFF66"/>
    <a:srgbClr val="CCECFF"/>
    <a:srgbClr val="0A06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75"/>
    <p:restoredTop sz="93689"/>
  </p:normalViewPr>
  <p:slideViewPr>
    <p:cSldViewPr snapToObjects="1" showGuides="1">
      <p:cViewPr varScale="1">
        <p:scale>
          <a:sx n="156" d="100"/>
          <a:sy n="156" d="100"/>
        </p:scale>
        <p:origin x="1856" y="92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gs" Target="tags/tag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6EFA0AF-31F4-4C67-9249-1BF92C1E624B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7E55B8-FA57-4A6D-A348-A9BCF47B11D3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803343" y="0"/>
              </a:cxn>
              <a:cxn ang="0">
                <a:pos x="4803343" y="109538"/>
              </a:cxn>
              <a:cxn ang="0">
                <a:pos x="0" y="109538"/>
              </a:cxn>
              <a:cxn ang="0">
                <a:pos x="0" y="0"/>
              </a:cxn>
              <a:cxn ang="0">
                <a:pos x="7772400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17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717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A89394-BAE0-44FC-9951-D41B2CE093C2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高级语言C++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E9A3A8-60EB-4772-9EB3-775B61307C7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773238"/>
            <a:ext cx="4208463" cy="4751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1773238"/>
            <a:ext cx="4208462" cy="4751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51638" y="304800"/>
            <a:ext cx="2141537" cy="62198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304800"/>
            <a:ext cx="6275388" cy="62198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323850" y="1773238"/>
            <a:ext cx="8569325" cy="47513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AutoShape 4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655511" y="0"/>
              </a:cxn>
              <a:cxn ang="0">
                <a:pos x="4655511" y="109537"/>
              </a:cxn>
              <a:cxn ang="0">
                <a:pos x="0" y="109537"/>
              </a:cxn>
              <a:cxn ang="0">
                <a:pos x="0" y="0"/>
              </a:cxn>
              <a:cxn ang="0">
                <a:pos x="7958138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 txBox="1">
            <a:spLocks noGrp="1"/>
          </p:cNvSpPr>
          <p:nvPr>
            <p:ph type="dt" sz="half"/>
          </p:nvPr>
        </p:nvSpPr>
        <p:spPr>
          <a:xfrm>
            <a:off x="7131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BB962C8B-B14F-4D97-AF65-F5344CB8AC3E}" type="datetime1">
              <a:rPr lang="zh-CN" altLang="en-US" sz="1800" dirty="0"/>
            </a:fld>
            <a:endParaRPr lang="zh-CN" altLang="en-US" sz="1800" dirty="0"/>
          </a:p>
        </p:txBody>
      </p:sp>
      <p:sp>
        <p:nvSpPr>
          <p:cNvPr id="5123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3151505" y="6313805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/>
              <a:t>UML系统建模与分析设计 </a:t>
            </a:r>
            <a:endParaRPr lang="zh-CN" altLang="zh-CN" sz="1800" dirty="0"/>
          </a:p>
        </p:txBody>
      </p:sp>
      <p:sp>
        <p:nvSpPr>
          <p:cNvPr id="5124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800" dirty="0"/>
            </a:fld>
            <a:endParaRPr lang="zh-CN" altLang="en-US" sz="1800" dirty="0"/>
          </a:p>
        </p:txBody>
      </p:sp>
      <p:sp>
        <p:nvSpPr>
          <p:cNvPr id="5125" name="Rectangle 5"/>
          <p:cNvSpPr/>
          <p:nvPr/>
        </p:nvSpPr>
        <p:spPr>
          <a:xfrm>
            <a:off x="0" y="206375"/>
            <a:ext cx="8763635" cy="9912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>
            <a:no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4000" b="1" i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第八讲</a:t>
            </a:r>
            <a:r>
              <a:rPr lang="zh-CN" altLang="en-US" sz="4000" b="1" i="0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4000" b="1" i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系统体系结构建模</a:t>
            </a:r>
            <a:r>
              <a:rPr lang="zh-CN" altLang="en-US" sz="4000" b="1" i="0">
                <a:solidFill>
                  <a:srgbClr val="FFFF00"/>
                </a:solidFill>
                <a:latin typeface="楷体_GB2312" charset="0"/>
                <a:ea typeface="楷体_GB2312" charset="0"/>
              </a:rPr>
              <a:t> </a:t>
            </a:r>
            <a:endParaRPr lang="ko-KR" altLang="en-US" sz="4000" b="1" i="0">
              <a:solidFill>
                <a:srgbClr val="FFFF00"/>
              </a:solidFill>
              <a:latin typeface="楷体_GB2312" charset="0"/>
              <a:ea typeface="楷体_GB2312" charset="0"/>
            </a:endParaRPr>
          </a:p>
        </p:txBody>
      </p:sp>
      <p:sp>
        <p:nvSpPr>
          <p:cNvPr id="291848" name="Rectangle 8"/>
          <p:cNvSpPr/>
          <p:nvPr/>
        </p:nvSpPr>
        <p:spPr>
          <a:xfrm>
            <a:off x="357505" y="1610678"/>
            <a:ext cx="2411095" cy="720090"/>
          </a:xfrm>
          <a:prstGeom prst="rect">
            <a:avLst/>
          </a:prstGeom>
          <a:noFill/>
          <a:ln w="9525">
            <a:noFill/>
          </a:ln>
        </p:spPr>
        <p:txBody>
          <a:bodyPr tIns="228528" bIns="0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本讲目的：</a:t>
            </a:r>
            <a:endParaRPr lang="zh-CN" altLang="en-US" sz="3200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91849" name="Rectangle 9"/>
          <p:cNvSpPr/>
          <p:nvPr/>
        </p:nvSpPr>
        <p:spPr>
          <a:xfrm>
            <a:off x="253365" y="2506663"/>
            <a:ext cx="8807450" cy="312293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269875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1700"/>
              </a:spcAft>
              <a:buFont typeface="Wingdings" panose="05000000000000000000"/>
              <a:buChar char="l"/>
              <a:tabLst>
                <a:tab pos="532130" algn="l"/>
                <a:tab pos="558800" algn="l"/>
              </a:tabLst>
            </a:pP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了解软、硬件系统</a:t>
            </a:r>
            <a:r>
              <a:rPr lang="zh-CN" altLang="en-US" sz="28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体系结构模型的建模方法与步骤</a:t>
            </a:r>
            <a:endParaRPr lang="ko-KR" altLang="en-US" sz="28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269875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1700"/>
              </a:spcAft>
              <a:buFont typeface="Wingdings" panose="05000000000000000000"/>
              <a:buChar char="l"/>
              <a:tabLst>
                <a:tab pos="532130" algn="l"/>
                <a:tab pos="558800" algn="l"/>
              </a:tabLst>
            </a:pP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</a:t>
            </a:r>
            <a:r>
              <a:rPr lang="en-US" altLang="zh-CN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UML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zh-CN" altLang="en-US" sz="28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构件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28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构件接口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altLang="en-US" sz="28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构件模型图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的描述方法</a:t>
            </a:r>
            <a:endParaRPr lang="ko-KR" altLang="en-US" sz="28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269875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1700"/>
              </a:spcAft>
              <a:buFont typeface="Wingdings" panose="05000000000000000000"/>
              <a:buChar char="l"/>
              <a:tabLst>
                <a:tab pos="532130" algn="l"/>
                <a:tab pos="558800" algn="l"/>
              </a:tabLst>
            </a:pP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</a:t>
            </a:r>
            <a:r>
              <a:rPr lang="en-US" altLang="zh-CN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UML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zh-CN" altLang="en-US" sz="28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配置图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的描述方法</a:t>
            </a:r>
            <a:endParaRPr lang="ko-KR" altLang="en-US" sz="28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269875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1700"/>
              </a:spcAft>
              <a:buFont typeface="Wingdings" panose="05000000000000000000"/>
              <a:buChar char="l"/>
              <a:tabLst>
                <a:tab pos="532130" algn="l"/>
                <a:tab pos="558800" algn="l"/>
              </a:tabLst>
            </a:pP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</a:t>
            </a:r>
            <a:r>
              <a:rPr lang="zh-CN" altLang="en-US" sz="28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配置图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zh-CN" altLang="en-US" sz="28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结点</a:t>
            </a:r>
            <a:r>
              <a:rPr lang="zh-CN" altLang="en-US" sz="28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、构件和对象之间的关系</a:t>
            </a:r>
            <a:r>
              <a:rPr lang="zh-CN" altLang="en-US" sz="2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lang="ko-KR" altLang="en-US" sz="2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autoRev="1" fill="hold"/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autoRev="1" fill="hold"/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autoRev="1" fill="hold"/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9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8" grpId="0"/>
      <p:bldP spid="29184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/>
          <p:cNvSpPr txBox="1">
            <a:spLocks noGrp="1"/>
          </p:cNvSpPr>
          <p:nvPr>
            <p:ph type="dt" sz="half"/>
          </p:nvPr>
        </p:nvSpPr>
        <p:spPr>
          <a:xfrm>
            <a:off x="7131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BB962C8B-B14F-4D97-AF65-F5344CB8AC3E}" type="datetime1">
              <a:rPr lang="zh-CN" altLang="en-US" sz="1800" dirty="0"/>
            </a:fld>
            <a:endParaRPr lang="zh-CN" altLang="en-US" sz="1800" dirty="0"/>
          </a:p>
        </p:txBody>
      </p:sp>
      <p:sp>
        <p:nvSpPr>
          <p:cNvPr id="6148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800" dirty="0"/>
            </a:fld>
            <a:endParaRPr lang="zh-CN" altLang="en-US" sz="1800" dirty="0"/>
          </a:p>
        </p:txBody>
      </p:sp>
      <p:sp>
        <p:nvSpPr>
          <p:cNvPr id="292868" name="Rectangle 4"/>
          <p:cNvSpPr/>
          <p:nvPr/>
        </p:nvSpPr>
        <p:spPr>
          <a:xfrm>
            <a:off x="1763395" y="1710690"/>
            <a:ext cx="6211570" cy="428752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spcAft>
                <a:spcPct val="50000"/>
              </a:spcAft>
              <a:buClrTx/>
              <a:buFontTx/>
              <a:buNone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8.1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系统体系结构模型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0" eaLnBrk="1" hangingPunct="1">
              <a:spcBef>
                <a:spcPct val="50000"/>
              </a:spcBef>
              <a:spcAft>
                <a:spcPct val="50000"/>
              </a:spcAft>
              <a:buClrTx/>
              <a:buFontTx/>
              <a:buNone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8.2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软件系统体系结构建模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0" eaLnBrk="1" hangingPunct="1">
              <a:spcBef>
                <a:spcPct val="50000"/>
              </a:spcBef>
              <a:spcAft>
                <a:spcPct val="50000"/>
              </a:spcAft>
              <a:buClrTx/>
              <a:buFontTx/>
              <a:buNone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8.3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硬件系统体系结构模型 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0" eaLnBrk="1" hangingPunct="1">
              <a:spcBef>
                <a:spcPct val="50000"/>
              </a:spcBef>
              <a:spcAft>
                <a:spcPct val="50000"/>
              </a:spcAft>
              <a:buClrTx/>
              <a:buFontTx/>
              <a:buNone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8.4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系统体系结构模型建模案例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0" eaLnBrk="1" hangingPunct="1">
              <a:spcBef>
                <a:spcPct val="50000"/>
              </a:spcBef>
              <a:spcAft>
                <a:spcPct val="50000"/>
              </a:spcAft>
              <a:buClrTx/>
              <a:buFontTx/>
              <a:buNone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8.5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本章小结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2873" name="Rectangle 9"/>
          <p:cNvSpPr/>
          <p:nvPr/>
        </p:nvSpPr>
        <p:spPr>
          <a:xfrm>
            <a:off x="2987675" y="581978"/>
            <a:ext cx="2503170" cy="84391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228600" rIns="91440" bIns="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40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本讲</a:t>
            </a:r>
            <a:r>
              <a:rPr lang="zh-CN" altLang="en-GB" sz="40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提纲</a:t>
            </a:r>
            <a:r>
              <a:rPr sz="40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：</a:t>
            </a:r>
            <a:endParaRPr lang="ko-KR" altLang="en-US" sz="40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2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2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9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73" grpId="0" animBg="1"/>
      <p:bldP spid="29286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 txBox="1">
            <a:spLocks noGrp="1"/>
          </p:cNvSpPr>
          <p:nvPr>
            <p:ph type="dt" sz="half"/>
          </p:nvPr>
        </p:nvSpPr>
        <p:spPr>
          <a:xfrm>
            <a:off x="7131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BB962C8B-B14F-4D97-AF65-F5344CB8AC3E}" type="datetime1">
              <a:rPr lang="zh-CN" altLang="en-US" sz="1800" dirty="0"/>
            </a:fld>
            <a:endParaRPr lang="zh-CN" altLang="en-US" sz="1800" dirty="0"/>
          </a:p>
        </p:txBody>
      </p:sp>
      <p:sp>
        <p:nvSpPr>
          <p:cNvPr id="7172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800" dirty="0"/>
            </a:fld>
            <a:endParaRPr lang="zh-CN" altLang="en-US" sz="1800" dirty="0"/>
          </a:p>
        </p:txBody>
      </p:sp>
      <p:sp>
        <p:nvSpPr>
          <p:cNvPr id="293892" name="Rectangle 4"/>
          <p:cNvSpPr/>
          <p:nvPr/>
        </p:nvSpPr>
        <p:spPr>
          <a:xfrm>
            <a:off x="1619250" y="41910"/>
            <a:ext cx="6121400" cy="843280"/>
          </a:xfrm>
          <a:prstGeom prst="rect">
            <a:avLst/>
          </a:prstGeom>
          <a:noFill/>
          <a:ln w="9525">
            <a:noFill/>
          </a:ln>
        </p:spPr>
        <p:txBody>
          <a:bodyPr tIns="228528" bIns="0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8.1 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系统体系结构模型</a:t>
            </a:r>
            <a:endParaRPr lang="zh-CN" altLang="en-US" sz="4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3893" name="Rectangle 5"/>
          <p:cNvSpPr/>
          <p:nvPr/>
        </p:nvSpPr>
        <p:spPr>
          <a:xfrm>
            <a:off x="466725" y="1053148"/>
            <a:ext cx="6769735" cy="5835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8.1.1 软件系统体系结构模型</a:t>
            </a:r>
            <a:r>
              <a:rPr lang="zh-CN" altLang="en-US" sz="3200" b="0" i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3200" b="0" i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3894" name="Rectangle 6"/>
          <p:cNvSpPr/>
          <p:nvPr/>
        </p:nvSpPr>
        <p:spPr>
          <a:xfrm>
            <a:off x="735330" y="3054350"/>
            <a:ext cx="7840980" cy="310578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54330" indent="-35433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Ø"/>
              <a:tabLst>
                <a:tab pos="546100" algn="l"/>
              </a:tabLst>
            </a:pPr>
            <a:r>
              <a:rPr sz="2800" b="0" i="0">
                <a:latin typeface="华文中宋" panose="02010600040101010101" charset="-122"/>
                <a:ea typeface="华文中宋" panose="02010600040101010101" charset="-122"/>
              </a:rPr>
              <a:t>指出系统应该具有的功能；</a:t>
            </a:r>
            <a:endParaRPr lang="ko-KR" altLang="en-US" sz="2800" b="0" i="0">
              <a:latin typeface="华文中宋" panose="02010600040101010101" charset="-122"/>
              <a:ea typeface="华文中宋" panose="02010600040101010101" charset="-122"/>
            </a:endParaRPr>
          </a:p>
          <a:p>
            <a:pPr marL="354330" indent="-35433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Ø"/>
              <a:tabLst>
                <a:tab pos="546100" algn="l"/>
              </a:tabLst>
            </a:pPr>
            <a:r>
              <a:rPr sz="2800" b="0" i="0">
                <a:latin typeface="华文中宋" panose="02010600040101010101" charset="-122"/>
                <a:ea typeface="华文中宋" panose="02010600040101010101" charset="-122"/>
              </a:rPr>
              <a:t>为完成这些功能，涉及到哪些类，这些类之间如何相互联系；</a:t>
            </a:r>
            <a:endParaRPr lang="ko-KR" altLang="en-US" sz="2800" b="0" i="0">
              <a:latin typeface="华文中宋" panose="02010600040101010101" charset="-122"/>
              <a:ea typeface="华文中宋" panose="02010600040101010101" charset="-122"/>
            </a:endParaRPr>
          </a:p>
          <a:p>
            <a:pPr marL="354330" indent="-35433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Ø"/>
              <a:tabLst>
                <a:tab pos="546100" algn="l"/>
              </a:tabLst>
            </a:pPr>
            <a:r>
              <a:rPr sz="2800" b="0" i="0">
                <a:latin typeface="华文中宋" panose="02010600040101010101" charset="-122"/>
                <a:ea typeface="华文中宋" panose="02010600040101010101" charset="-122"/>
              </a:rPr>
              <a:t>类和它们的对象如何协作才能实现这些功能；</a:t>
            </a:r>
            <a:endParaRPr lang="ko-KR" altLang="en-US" sz="2800" b="0" i="0">
              <a:latin typeface="华文中宋" panose="02010600040101010101" charset="-122"/>
              <a:ea typeface="华文中宋" panose="02010600040101010101" charset="-122"/>
            </a:endParaRPr>
          </a:p>
          <a:p>
            <a:pPr marL="354330" indent="-35433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Ø"/>
              <a:tabLst>
                <a:tab pos="546100" algn="l"/>
              </a:tabLst>
            </a:pPr>
            <a:r>
              <a:rPr sz="2800" b="0" i="0">
                <a:latin typeface="华文中宋" panose="02010600040101010101" charset="-122"/>
                <a:ea typeface="华文中宋" panose="02010600040101010101" charset="-122"/>
              </a:rPr>
              <a:t>指明系统中各功能实现的先后时间顺序；</a:t>
            </a:r>
            <a:endParaRPr lang="ko-KR" altLang="en-US" sz="2800" b="0" i="0">
              <a:latin typeface="华文中宋" panose="02010600040101010101" charset="-122"/>
              <a:ea typeface="华文中宋" panose="02010600040101010101" charset="-122"/>
            </a:endParaRPr>
          </a:p>
          <a:p>
            <a:pPr marL="354330" indent="-35433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Ø"/>
              <a:tabLst>
                <a:tab pos="546100" algn="l"/>
              </a:tabLst>
            </a:pPr>
            <a:r>
              <a:rPr sz="2800" b="0" i="0">
                <a:latin typeface="华文中宋" panose="02010600040101010101" charset="-122"/>
                <a:ea typeface="华文中宋" panose="02010600040101010101" charset="-122"/>
              </a:rPr>
              <a:t>根据软件系统体系结构模型，制定出相应的开发进度计划。 </a:t>
            </a:r>
            <a:endParaRPr lang="ko-KR" altLang="en-US" sz="2800" b="0" i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93895" name="Rectangle 7"/>
          <p:cNvSpPr/>
          <p:nvPr/>
        </p:nvSpPr>
        <p:spPr>
          <a:xfrm>
            <a:off x="827405" y="1680845"/>
            <a:ext cx="7889875" cy="88455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>
            <a:no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en-GB" sz="2800" b="0" i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sz="2800" b="0" i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软件系统体系结构模型是系统的逻辑体系结构模型。</a:t>
            </a:r>
            <a:endParaRPr lang="ko-KR" altLang="en-US" sz="2800" b="0" i="0">
              <a:solidFill>
                <a:schemeClr val="tx2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7177" name="Line 9"/>
          <p:cNvSpPr/>
          <p:nvPr/>
        </p:nvSpPr>
        <p:spPr>
          <a:xfrm>
            <a:off x="3275330" y="908050"/>
            <a:ext cx="4176395" cy="0"/>
          </a:xfrm>
          <a:prstGeom prst="line">
            <a:avLst/>
          </a:prstGeom>
          <a:ln w="12700" cap="flat" cmpd="sng">
            <a:pattFill prst="pct10">
              <a:fgClr>
                <a:srgbClr val="000000"/>
              </a:fgClr>
              <a:bgClr>
                <a:srgbClr val="FFFFFF"/>
              </a:bgClr>
            </a:pattFill>
            <a:prstDash val="solid"/>
            <a:headEnd type="none" w="med" len="med"/>
            <a:tailEnd type="none" w="med" len="med"/>
          </a:ln>
        </p:spPr>
      </p:sp>
      <p:sp>
        <p:nvSpPr>
          <p:cNvPr id="2" name="Rectangle 7"/>
          <p:cNvSpPr/>
          <p:nvPr/>
        </p:nvSpPr>
        <p:spPr>
          <a:xfrm>
            <a:off x="539750" y="2532380"/>
            <a:ext cx="7889875" cy="5219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en-GB" sz="2800" b="0" i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sz="2800" b="0" i="0">
                <a:solidFill>
                  <a:srgbClr val="0B5FD1"/>
                </a:solidFill>
                <a:latin typeface="微软雅黑" panose="020B0503020204020204" charset="-122"/>
                <a:ea typeface="微软雅黑" panose="020B0503020204020204" charset="-122"/>
              </a:rPr>
              <a:t>软件系统体系结构模型的作用是</a:t>
            </a:r>
            <a:r>
              <a:rPr lang="zh-CN" altLang="en-US" sz="2800" b="0" i="0">
                <a:solidFill>
                  <a:srgbClr val="0B5FD1"/>
                </a:solidFill>
                <a:latin typeface="华文新魏" panose="02010800040101010101" charset="-122"/>
                <a:ea typeface="华文新魏" panose="02010800040101010101" charset="-122"/>
              </a:rPr>
              <a:t>：</a:t>
            </a:r>
            <a:endParaRPr lang="zh-CN" altLang="en-US" sz="2800" b="0" i="0">
              <a:solidFill>
                <a:srgbClr val="0B5FD1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9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93894" grpId="0"/>
      <p:bldP spid="29389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灯片编号占位符 5"/>
          <p:cNvSpPr txBox="1"/>
          <p:nvPr>
            <p:ph type="sldNum" sz="quarter"/>
          </p:nvPr>
        </p:nvSpPr>
        <p:spPr>
          <a:xfrm>
            <a:off x="8225790" y="6301105"/>
            <a:ext cx="594995" cy="45783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197" name="Group 4"/>
          <p:cNvGrpSpPr/>
          <p:nvPr/>
        </p:nvGrpSpPr>
        <p:grpSpPr>
          <a:xfrm>
            <a:off x="179705" y="116840"/>
            <a:ext cx="8856345" cy="5337175"/>
            <a:chOff x="0" y="202565"/>
            <a:chExt cx="9144000" cy="5734050"/>
          </a:xfrm>
        </p:grpSpPr>
        <p:pic>
          <p:nvPicPr>
            <p:cNvPr id="8199" name="Picture 5" descr="C:/Users/lenovo01/AppData/Roaming/JisuOffice/ETemp/82404_22928072/image1.png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872" t="23299" r="19701" b="40459"/>
            <a:stretch>
              <a:fillRect/>
            </a:stretch>
          </p:blipFill>
          <p:spPr>
            <a:xfrm>
              <a:off x="0" y="202565"/>
              <a:ext cx="9139555" cy="20345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200" name="Group 6"/>
            <p:cNvGrpSpPr/>
            <p:nvPr/>
          </p:nvGrpSpPr>
          <p:grpSpPr>
            <a:xfrm>
              <a:off x="0" y="2236470"/>
              <a:ext cx="9144000" cy="3700145"/>
              <a:chOff x="0" y="2236470"/>
              <a:chExt cx="9144000" cy="3700145"/>
            </a:xfrm>
          </p:grpSpPr>
          <p:pic>
            <p:nvPicPr>
              <p:cNvPr id="8201" name="Picture 7" descr="C:/Users/lenovo01/AppData/Roaming/JisuOffice/ETemp/82404_22928072/image2.png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872" t="23299" r="19701" b="32692"/>
              <a:stretch>
                <a:fillRect/>
              </a:stretch>
            </p:blipFill>
            <p:spPr>
              <a:xfrm>
                <a:off x="5080" y="2236470"/>
                <a:ext cx="9139555" cy="239395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8202" name="Picture 8" descr="C:/Users/lenovo01/AppData/Roaming/JisuOffice/ETemp/82404_22928072/image3.png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872" t="20711" r="19701" b="55991"/>
              <a:stretch>
                <a:fillRect/>
              </a:stretch>
            </p:blipFill>
            <p:spPr>
              <a:xfrm>
                <a:off x="0" y="4620260"/>
                <a:ext cx="9139555" cy="131699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8198" name="Rectangle 9"/>
          <p:cNvSpPr/>
          <p:nvPr/>
        </p:nvSpPr>
        <p:spPr>
          <a:xfrm>
            <a:off x="1331595" y="5589270"/>
            <a:ext cx="5660390" cy="46101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0" i="0">
                <a:latin typeface="华文仿宋" panose="02010600040101010101" charset="-122"/>
                <a:ea typeface="华文仿宋" panose="02010600040101010101" charset="-122"/>
              </a:rPr>
              <a:t>图</a:t>
            </a:r>
            <a:r>
              <a:rPr lang="en-US" altLang="zh-CN" sz="2400" b="0" i="0">
                <a:latin typeface="华文仿宋" panose="02010600040101010101" charset="-122"/>
                <a:ea typeface="华文仿宋" panose="02010600040101010101" charset="-122"/>
              </a:rPr>
              <a:t>1  </a:t>
            </a:r>
            <a:r>
              <a:rPr lang="zh-CN" altLang="en-US" sz="2400" b="0" i="0">
                <a:latin typeface="华文仿宋" panose="02010600040101010101" charset="-122"/>
                <a:ea typeface="华文仿宋" panose="02010600040101010101" charset="-122"/>
              </a:rPr>
              <a:t>通用三层软件（逻辑）系统体系结构</a:t>
            </a:r>
            <a:endParaRPr lang="ko-KR" altLang="en-US" sz="2400" b="0" i="0"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灯片编号占位符 5"/>
          <p:cNvSpPr txBox="1"/>
          <p:nvPr>
            <p:ph type="sldNum" sz="quarter"/>
          </p:nvPr>
        </p:nvSpPr>
        <p:spPr>
          <a:xfrm>
            <a:off x="8061325" y="6402070"/>
            <a:ext cx="1038225" cy="45783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1" name="Rectangle 5"/>
          <p:cNvSpPr/>
          <p:nvPr/>
        </p:nvSpPr>
        <p:spPr>
          <a:xfrm>
            <a:off x="539750" y="547370"/>
            <a:ext cx="8099425" cy="58356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200" b="1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8.1.2  软件系统体系结构模型的描述方法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5942" name="Rectangle 6"/>
          <p:cNvSpPr/>
          <p:nvPr/>
        </p:nvSpPr>
        <p:spPr>
          <a:xfrm>
            <a:off x="541020" y="1975485"/>
            <a:ext cx="8153400" cy="401510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just" defTabSz="914400" eaLnBrk="1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8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通用接口界面层</a:t>
            </a:r>
            <a:r>
              <a:rPr lang="en-US" altLang="zh-CN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sz="2800" b="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系统接口界面类包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800" b="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用户窗口包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2800" b="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备用构件库包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组成。</a:t>
            </a:r>
            <a:endParaRPr lang="ko-KR" altLang="en-US" sz="28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just" defTabSz="914400" eaLnBrk="1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sz="2800" b="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</a:t>
            </a:r>
            <a:r>
              <a:rPr sz="28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系统业务对象层</a:t>
            </a:r>
            <a:r>
              <a:rPr sz="2800" b="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：由系统服务接口界面包、业务对象管理包、外部业务对象（遗留系统的包装）包和实际业务对象包组成。</a:t>
            </a:r>
            <a:endParaRPr lang="ko-KR" altLang="en-US" sz="2800" b="0" i="0">
              <a:solidFill>
                <a:srgbClr val="0611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just" defTabSz="914400" eaLnBrk="1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8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系统数据库（持久对象和数据）层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：由</a:t>
            </a:r>
            <a:r>
              <a:rPr sz="2800" b="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持久对象及数据包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2800" b="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SQL查询语言包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组成。 </a:t>
            </a:r>
            <a:endParaRPr lang="ko-KR" altLang="en-US" sz="28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)">
                                      <p:cBhvr>
                                        <p:cTn id="7" dur="500"/>
                                        <p:tgtEl>
                                          <p:spTgt spid="29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800" dirty="0"/>
            </a:fld>
            <a:endParaRPr lang="zh-CN" altLang="en-US" sz="1800" dirty="0"/>
          </a:p>
        </p:txBody>
      </p:sp>
      <p:sp>
        <p:nvSpPr>
          <p:cNvPr id="10245" name="Rectangle 4"/>
          <p:cNvSpPr/>
          <p:nvPr/>
        </p:nvSpPr>
        <p:spPr>
          <a:xfrm>
            <a:off x="179705" y="116840"/>
            <a:ext cx="7632700" cy="643890"/>
          </a:xfrm>
          <a:prstGeom prst="rect">
            <a:avLst/>
          </a:prstGeom>
          <a:noFill/>
          <a:ln w="9525">
            <a:noFill/>
          </a:ln>
        </p:spPr>
        <p:txBody>
          <a:bodyPr tIns="152352" bIns="0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200" b="1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8.1.3  硬件系统体系结构模型</a:t>
            </a:r>
            <a:endParaRPr lang="en-GB" altLang="en-US" sz="3200" b="1">
              <a:solidFill>
                <a:srgbClr val="0611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6965" name="Rectangle 5"/>
          <p:cNvSpPr/>
          <p:nvPr/>
        </p:nvSpPr>
        <p:spPr>
          <a:xfrm>
            <a:off x="179705" y="836930"/>
            <a:ext cx="8876030" cy="11455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91440" tIns="45720" rIns="91440" bIns="45720" numCol="1" anchor="ctr">
            <a:no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447675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i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硬件系统体系结构模型涉及到系统的详细描述（根据系统所包含的硬件和软件）：</a:t>
            </a:r>
            <a:r>
              <a:rPr lang="zh-CN" altLang="en-US" sz="280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构件图</a:t>
            </a:r>
            <a:r>
              <a:rPr lang="zh-CN" altLang="en-US" sz="2800" i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zh-CN" altLang="en-US" sz="280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配置图</a:t>
            </a:r>
            <a:r>
              <a:rPr lang="zh-CN" altLang="en-US" sz="2800" i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800" i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966" name="Rectangle 6"/>
          <p:cNvSpPr/>
          <p:nvPr/>
        </p:nvSpPr>
        <p:spPr>
          <a:xfrm>
            <a:off x="179705" y="1988503"/>
            <a:ext cx="8569960" cy="62992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62255" indent="-262255" algn="just" defTabSz="91440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536575" algn="l"/>
              </a:tabLst>
            </a:pPr>
            <a:r>
              <a:rPr lang="zh-CN" altLang="en-US" sz="2400" b="0" i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sz="28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硬件系统体系结构模型的作用</a:t>
            </a:r>
            <a:r>
              <a:rPr sz="2800" b="0" i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ko-KR" altLang="en-US" sz="2600" b="0" i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Rectangle 6"/>
          <p:cNvSpPr/>
          <p:nvPr>
            <p:custDataLst>
              <p:tags r:id="rId1"/>
            </p:custDataLst>
          </p:nvPr>
        </p:nvSpPr>
        <p:spPr>
          <a:xfrm>
            <a:off x="251460" y="2564765"/>
            <a:ext cx="8772525" cy="37820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ctr">
            <a:no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indent="-457200" algn="just" defTabSz="91440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  <a:tabLst>
                <a:tab pos="536575" algn="l"/>
              </a:tabLst>
            </a:pPr>
            <a:r>
              <a:rPr sz="2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指出系统中的类和对象涉及的具体程序或进程；</a:t>
            </a:r>
            <a:endParaRPr lang="ko-KR" altLang="en-US" sz="2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2255" indent="-262255" algn="just" defTabSz="91440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l"/>
              <a:tabLst>
                <a:tab pos="536575" algn="l"/>
              </a:tabLst>
            </a:pPr>
            <a:r>
              <a:rPr lang="en-US" altLang="en-GB" sz="2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这些程序和进程的执行依赖具体计算机；</a:t>
            </a:r>
            <a:endParaRPr lang="ko-KR" altLang="en-US" sz="2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2255" indent="-262255" algn="just" defTabSz="91440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l"/>
              <a:tabLst>
                <a:tab pos="536575" algn="l"/>
              </a:tabLst>
            </a:pPr>
            <a:r>
              <a:rPr lang="en-US" altLang="en-GB" sz="2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标明系统中配置的计算机和其他硬件设备；</a:t>
            </a:r>
            <a:endParaRPr lang="ko-KR" altLang="en-US" sz="2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2255" indent="-262255" algn="just" defTabSz="91440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l"/>
              <a:tabLst>
                <a:tab pos="536575" algn="l"/>
              </a:tabLst>
            </a:pPr>
            <a:r>
              <a:rPr lang="en-US" altLang="en-GB" sz="2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并指明系统中各种计算机和硬件设备如何进行相互连接；</a:t>
            </a:r>
            <a:endParaRPr lang="ko-KR" altLang="en-US" sz="2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2255" indent="-262255" algn="just" defTabSz="91440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l"/>
              <a:tabLst>
                <a:tab pos="536575" algn="l"/>
              </a:tabLst>
            </a:pPr>
            <a:r>
              <a:rPr lang="en-US" altLang="en-GB" sz="2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明确不同的代码文件之间相互的依赖关系；</a:t>
            </a:r>
            <a:endParaRPr lang="ko-KR" altLang="en-US" sz="2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2255" indent="-262255" algn="just" defTabSz="91440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l"/>
              <a:tabLst>
                <a:tab pos="536575" algn="l"/>
              </a:tabLst>
            </a:pPr>
            <a:r>
              <a:rPr lang="en-US" altLang="en-GB" sz="2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6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如果修改某个代码文件，标明哪些相关（与之有依赖关系）的代码文件需要重新进行编译。</a:t>
            </a:r>
            <a:endParaRPr lang="ko-KR" altLang="en-US" sz="26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296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6" grpId="1" animBg="1"/>
      <p:bldP spid="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灯片编号占位符 5"/>
          <p:cNvSpPr txBox="1"/>
          <p:nvPr>
            <p:ph type="sldNum" sz="quarter"/>
          </p:nvPr>
        </p:nvSpPr>
        <p:spPr>
          <a:xfrm>
            <a:off x="8010525" y="6326505"/>
            <a:ext cx="1012825" cy="45783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9010" name="Rectangle 2"/>
          <p:cNvSpPr/>
          <p:nvPr/>
        </p:nvSpPr>
        <p:spPr>
          <a:xfrm>
            <a:off x="1168400" y="41910"/>
            <a:ext cx="6840855" cy="843280"/>
          </a:xfrm>
          <a:prstGeom prst="rect">
            <a:avLst/>
          </a:prstGeom>
          <a:noFill/>
          <a:ln w="9525">
            <a:noFill/>
          </a:ln>
        </p:spPr>
        <p:txBody>
          <a:bodyPr tIns="228528" bIns="0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8.2  </a:t>
            </a:r>
            <a:r>
              <a:rPr lang="zh-CN" altLang="en-US" sz="4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软件系统体系结构模型</a:t>
            </a:r>
            <a:endParaRPr lang="zh-CN" altLang="en-US" sz="4000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9011" name="Rectangle 3"/>
          <p:cNvSpPr/>
          <p:nvPr/>
        </p:nvSpPr>
        <p:spPr>
          <a:xfrm>
            <a:off x="466725" y="1062673"/>
            <a:ext cx="6769735" cy="58356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8.2.1 软件构件的图符表示和特点</a:t>
            </a:r>
            <a:r>
              <a:rPr lang="zh-CN" altLang="en-US" sz="24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lang="ko-KR" altLang="en-US" sz="24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9013" name="Rectangle 5"/>
          <p:cNvSpPr/>
          <p:nvPr/>
        </p:nvSpPr>
        <p:spPr>
          <a:xfrm>
            <a:off x="468630" y="1769745"/>
            <a:ext cx="7919720" cy="607060"/>
          </a:xfrm>
          <a:prstGeom prst="rect">
            <a:avLst/>
          </a:prstGeom>
          <a:noFill/>
          <a:ln w="9525">
            <a:noFill/>
          </a:ln>
        </p:spPr>
        <p:txBody>
          <a:bodyPr anchor="b">
            <a:no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．软件构件的图符表示：</a:t>
            </a:r>
            <a:endParaRPr lang="zh-CN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72" name="Line 6"/>
          <p:cNvSpPr/>
          <p:nvPr/>
        </p:nvSpPr>
        <p:spPr>
          <a:xfrm>
            <a:off x="4716780" y="908050"/>
            <a:ext cx="4176395" cy="0"/>
          </a:xfrm>
          <a:prstGeom prst="line">
            <a:avLst/>
          </a:prstGeom>
          <a:ln w="12700" cap="flat" cmpd="sng">
            <a:pattFill prst="pct10">
              <a:fgClr>
                <a:srgbClr val="000000"/>
              </a:fgClr>
              <a:bgClr>
                <a:srgbClr val="FFFFFF"/>
              </a:bgClr>
            </a:pattFill>
            <a:prstDash val="solid"/>
            <a:headEnd type="none" w="med" len="med"/>
            <a:tailEnd type="none" w="med" len="med"/>
          </a:ln>
        </p:spPr>
      </p:sp>
      <p:pic>
        <p:nvPicPr>
          <p:cNvPr id="299062" name="Picture 54" descr="C:/Users/lenovo01/AppData/Roaming/JisuOffice/ETemp/82404_22928072/image4.png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0385" y="2420620"/>
            <a:ext cx="8352790" cy="32423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063" name="Rectangle 55"/>
          <p:cNvSpPr/>
          <p:nvPr/>
        </p:nvSpPr>
        <p:spPr>
          <a:xfrm>
            <a:off x="2803525" y="5707063"/>
            <a:ext cx="338899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8-2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构件的图符表示</a:t>
            </a:r>
            <a:r>
              <a:rPr lang="zh-CN" altLang="en-US" sz="2400" b="1" dirty="0">
                <a:latin typeface="华文仿宋" panose="02010600040101010101" charset="-122"/>
                <a:ea typeface="华文仿宋" panose="02010600040101010101" charset="-122"/>
              </a:rPr>
              <a:t> </a:t>
            </a:r>
            <a:endParaRPr lang="zh-CN" altLang="en-US" sz="2400" b="1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99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99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1" grpId="3" animBg="1"/>
      <p:bldP spid="299013" grpId="4" animBg="1"/>
      <p:bldP spid="299062" grpId="5" bldLvl="0" animBg="1"/>
      <p:bldP spid="299063" grpId="6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800" dirty="0"/>
            </a:fld>
            <a:endParaRPr lang="zh-CN" altLang="en-US" sz="1800" dirty="0"/>
          </a:p>
        </p:txBody>
      </p:sp>
      <p:sp>
        <p:nvSpPr>
          <p:cNvPr id="12293" name="Rectangle 4"/>
          <p:cNvSpPr/>
          <p:nvPr/>
        </p:nvSpPr>
        <p:spPr>
          <a:xfrm>
            <a:off x="468630" y="389255"/>
            <a:ext cx="3662680" cy="5219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sz="2800" b="1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2．构件与类的比较</a:t>
            </a:r>
            <a:r>
              <a:rPr lang="zh-CN" altLang="en-US" sz="24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lang="ko-KR" altLang="en-US" sz="24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0037" name="Picture 5" descr="C:/Users/lenovo01/AppData/Roaming/JisuOffice/ETemp/82404_22928072/image5.png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630" y="1052830"/>
            <a:ext cx="8352155" cy="446468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95" name="Rectangle 10"/>
          <p:cNvSpPr/>
          <p:nvPr/>
        </p:nvSpPr>
        <p:spPr>
          <a:xfrm>
            <a:off x="0" y="2933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/>
          </a:p>
        </p:txBody>
      </p:sp>
      <p:sp>
        <p:nvSpPr>
          <p:cNvPr id="12296" name="Rectangle 11"/>
          <p:cNvSpPr/>
          <p:nvPr/>
        </p:nvSpPr>
        <p:spPr>
          <a:xfrm>
            <a:off x="2156460" y="5572443"/>
            <a:ext cx="5867400" cy="46037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图7-3  </a:t>
            </a:r>
            <a:r>
              <a:rPr lang="zh-CN" altLang="en-US" sz="2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构件与包含的类有依赖关系</a:t>
            </a:r>
            <a:endParaRPr lang="ko-KR" altLang="en-US" sz="24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0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7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灯片编号占位符 5"/>
          <p:cNvSpPr txBox="1"/>
          <p:nvPr>
            <p:ph type="sldNum" sz="quarter"/>
          </p:nvPr>
        </p:nvSpPr>
        <p:spPr>
          <a:xfrm>
            <a:off x="8251190" y="6402070"/>
            <a:ext cx="620395" cy="45783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35560" y="476250"/>
            <a:ext cx="4528185" cy="5474335"/>
            <a:chOff x="35560" y="476250"/>
            <a:chExt cx="4528185" cy="5474335"/>
          </a:xfrm>
        </p:grpSpPr>
        <p:sp>
          <p:nvSpPr>
            <p:cNvPr id="13323" name="Text Box 5"/>
            <p:cNvSpPr txBox="1"/>
            <p:nvPr/>
          </p:nvSpPr>
          <p:spPr>
            <a:xfrm>
              <a:off x="35560" y="1700530"/>
              <a:ext cx="582930" cy="3688080"/>
            </a:xfrm>
            <a:prstGeom prst="rect">
              <a:avLst/>
            </a:prstGeom>
            <a:noFill/>
            <a:ln w="0">
              <a:noFill/>
            </a:ln>
          </p:spPr>
          <p:txBody>
            <a:bodyPr vert="eaVert" wrap="square" lIns="91440" tIns="45720" rIns="91440" bIns="45720" numCol="1" anchor="b">
              <a:spAutoFit/>
            </a:bodyPr>
            <a:lstStyle/>
            <a:p>
              <a:pPr mar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2600" b="0" i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</a:rPr>
                <a:t>（1）构件与类的相同点</a:t>
              </a:r>
              <a:endParaRPr lang="ko-KR" altLang="en-US" sz="2600" b="0" i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3324" name="Rectangle 6"/>
            <p:cNvSpPr/>
            <p:nvPr/>
          </p:nvSpPr>
          <p:spPr>
            <a:xfrm>
              <a:off x="891540" y="741998"/>
              <a:ext cx="3672205" cy="4523105"/>
            </a:xfrm>
            <a:prstGeom prst="rect">
              <a:avLst/>
            </a:prstGeom>
            <a:noFill/>
            <a:ln w="0">
              <a:noFill/>
            </a:ln>
          </p:spPr>
          <p:txBody>
            <a:bodyPr vert="horz" wrap="square" lIns="91440" tIns="45720" rIns="91440" bIns="45720" numCol="1" anchor="ctr">
              <a:spAutoFit/>
            </a:bodyPr>
            <a:lstStyle/>
            <a:p>
              <a:pPr marL="0" indent="0" algn="l" defTabSz="914400" eaLnBrk="1" fontAlgn="base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/>
                <a:buChar char="Ø"/>
                <a:tabLst>
                  <a:tab pos="539750" algn="l"/>
                </a:tabLst>
              </a:pPr>
              <a:r>
                <a:rPr lang="zh-CN" altLang="en-US" sz="2400" b="0" i="0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二者都有名称；</a:t>
              </a:r>
              <a:endParaRPr lang="ko-KR" altLang="en-US" sz="2400" b="0" i="0"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indent="0" algn="l" defTabSz="914400" eaLnBrk="1" fontAlgn="base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/>
                <a:buChar char="Ø"/>
                <a:tabLst>
                  <a:tab pos="539750" algn="l"/>
                </a:tabLst>
              </a:pPr>
              <a:r>
                <a:rPr lang="zh-CN" altLang="en-US" sz="2400" b="0" i="0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都可以实现一组接口；</a:t>
              </a:r>
              <a:endParaRPr lang="ko-KR" altLang="en-US" sz="2400" b="0" i="0"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indent="0" algn="l" defTabSz="914400" eaLnBrk="1" fontAlgn="base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/>
                <a:buChar char="Ø"/>
                <a:tabLst>
                  <a:tab pos="539750" algn="l"/>
                </a:tabLst>
              </a:pPr>
              <a:r>
                <a:rPr lang="zh-CN" altLang="en-US" sz="2400" b="0" i="0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都可以参与依赖、继承、关联等关系和交互；</a:t>
              </a:r>
              <a:endParaRPr lang="ko-KR" altLang="en-US" sz="2400" b="0" i="0"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indent="0" algn="l" defTabSz="914400" eaLnBrk="1" fontAlgn="base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/>
                <a:buChar char="Ø"/>
                <a:tabLst>
                  <a:tab pos="539750" algn="l"/>
                </a:tabLst>
              </a:pPr>
              <a:r>
                <a:rPr lang="zh-CN" altLang="en-US" sz="2400" b="0" i="0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都可以被嵌套；</a:t>
              </a:r>
              <a:endParaRPr lang="ko-KR" altLang="en-US" sz="2400" b="0" i="0"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indent="0" algn="l" defTabSz="914400" eaLnBrk="1" fontAlgn="base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/>
                <a:buChar char="Ø"/>
                <a:tabLst>
                  <a:tab pos="539750" algn="l"/>
                </a:tabLst>
              </a:pPr>
              <a:r>
                <a:rPr lang="zh-CN" altLang="en-US" sz="2400" b="0" i="0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都可以有实例。</a:t>
              </a:r>
              <a:endParaRPr lang="ko-KR" altLang="en-US" sz="2400" b="0" i="0"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325" name="Rectangle 9"/>
            <p:cNvSpPr/>
            <p:nvPr/>
          </p:nvSpPr>
          <p:spPr>
            <a:xfrm>
              <a:off x="602615" y="476250"/>
              <a:ext cx="3672205" cy="5474335"/>
            </a:xfrm>
            <a:prstGeom prst="rect">
              <a:avLst/>
            </a:pr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ctr">
              <a:spAutoFit/>
            </a:bodyPr>
            <a:lstStyle/>
            <a:p>
              <a:pPr mar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5003800" y="476250"/>
            <a:ext cx="3759835" cy="5474335"/>
            <a:chOff x="5003800" y="476250"/>
            <a:chExt cx="3759835" cy="5474335"/>
          </a:xfrm>
        </p:grpSpPr>
        <p:sp>
          <p:nvSpPr>
            <p:cNvPr id="13320" name="Text Box 7"/>
            <p:cNvSpPr txBox="1"/>
            <p:nvPr/>
          </p:nvSpPr>
          <p:spPr>
            <a:xfrm>
              <a:off x="5003800" y="1557020"/>
              <a:ext cx="582930" cy="4297045"/>
            </a:xfrm>
            <a:prstGeom prst="rect">
              <a:avLst/>
            </a:prstGeom>
            <a:noFill/>
            <a:ln w="0">
              <a:noFill/>
            </a:ln>
          </p:spPr>
          <p:txBody>
            <a:bodyPr vert="eaVert" wrap="square" lIns="91440" tIns="45720" rIns="91440" bIns="45720" numCol="1" anchor="b">
              <a:spAutoFit/>
            </a:bodyPr>
            <a:lstStyle/>
            <a:p>
              <a:pPr marL="0" indent="0" algn="l" defTabSz="914400" eaLnBrk="0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sz="2600" b="0" i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</a:rPr>
                <a:t>（2）构件与类的显著不同点</a:t>
              </a:r>
              <a:endParaRPr lang="ko-KR" altLang="en-US" sz="2400" b="0" i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3321" name="Rectangle 8"/>
            <p:cNvSpPr/>
            <p:nvPr/>
          </p:nvSpPr>
          <p:spPr>
            <a:xfrm>
              <a:off x="5900420" y="1490028"/>
              <a:ext cx="2863215" cy="3046095"/>
            </a:xfrm>
            <a:prstGeom prst="rect">
              <a:avLst/>
            </a:prstGeom>
            <a:noFill/>
            <a:ln w="0">
              <a:noFill/>
            </a:ln>
          </p:spPr>
          <p:txBody>
            <a:bodyPr vert="horz" wrap="none" lIns="91440" tIns="45720" rIns="91440" bIns="45720" numCol="1" anchor="ctr">
              <a:spAutoFit/>
            </a:bodyPr>
            <a:lstStyle/>
            <a:p>
              <a:pPr marL="0" indent="0" algn="l" defTabSz="914400" eaLnBrk="1" fontAlgn="base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/>
                <a:buChar char="Ø"/>
              </a:pPr>
              <a:r>
                <a:rPr lang="zh-CN" altLang="en-US" sz="2400" b="0" i="0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抽象的方式不同；</a:t>
              </a:r>
              <a:endParaRPr lang="ko-KR" altLang="en-US" sz="2400" b="0" i="0"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indent="0" algn="l" defTabSz="914400" eaLnBrk="1" fontAlgn="base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/>
                <a:buChar char="Ø"/>
              </a:pPr>
              <a:r>
                <a:rPr lang="zh-CN" altLang="en-US" sz="2400" b="0" i="0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抽象的级别不同；</a:t>
              </a:r>
              <a:endParaRPr lang="ko-KR" altLang="en-US" sz="2400" b="0" i="0"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indent="0" algn="l" defTabSz="914400" eaLnBrk="1" fontAlgn="base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/>
                <a:buChar char="Ø"/>
              </a:pPr>
              <a:r>
                <a:rPr lang="zh-CN" altLang="en-US" sz="2400" b="0" i="0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访问方式不同；</a:t>
              </a:r>
              <a:endParaRPr lang="ko-KR" altLang="en-US" sz="2400" b="0" i="0"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indent="0" algn="l" defTabSz="914400" eaLnBrk="1" fontAlgn="base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/>
                <a:buChar char="Ø"/>
              </a:pPr>
              <a:r>
                <a:rPr lang="zh-CN" altLang="en-US" sz="2400" b="0" i="0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与包的关系。</a:t>
              </a:r>
              <a:endParaRPr lang="ko-KR" altLang="en-US" sz="2400" b="0" i="0"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322" name="Rectangle 10"/>
            <p:cNvSpPr/>
            <p:nvPr/>
          </p:nvSpPr>
          <p:spPr>
            <a:xfrm>
              <a:off x="5626100" y="476250"/>
              <a:ext cx="3097530" cy="5474335"/>
            </a:xfrm>
            <a:prstGeom prst="rect">
              <a:avLst/>
            </a:pr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ctr">
              <a:spAutoFit/>
            </a:bodyPr>
            <a:lstStyle/>
            <a:p>
              <a:pPr marL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1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800" dirty="0"/>
            </a:fld>
            <a:endParaRPr lang="zh-CN" altLang="en-US" sz="1800" dirty="0"/>
          </a:p>
        </p:txBody>
      </p:sp>
      <p:sp>
        <p:nvSpPr>
          <p:cNvPr id="14341" name="Rectangle 4"/>
          <p:cNvSpPr/>
          <p:nvPr/>
        </p:nvSpPr>
        <p:spPr>
          <a:xfrm>
            <a:off x="34925" y="228918"/>
            <a:ext cx="3601085" cy="52895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98425" rIns="91440" bIns="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800" b="1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3．软件构件的特点</a:t>
            </a:r>
            <a:endParaRPr lang="en-US" altLang="zh-CN" sz="2800" b="1" i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2085" name="Rectangle 5"/>
          <p:cNvSpPr/>
          <p:nvPr/>
        </p:nvSpPr>
        <p:spPr>
          <a:xfrm>
            <a:off x="755650" y="843280"/>
            <a:ext cx="8248015" cy="346202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no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）接口。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）操作。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）实例化。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）与配置环境的亲合性。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）能与同环境下其它构件进行交互。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）构件可以是可执行代码、二进制代码和源代码形式。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）可替换的物理实体。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）系统的组成部分。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）构件是软件复用的基本单元。 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2086" name="Rectangle 6"/>
          <p:cNvSpPr/>
          <p:nvPr/>
        </p:nvSpPr>
        <p:spPr>
          <a:xfrm>
            <a:off x="179705" y="4393248"/>
            <a:ext cx="3246755" cy="528955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40" tIns="98425" rIns="91440" bIns="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800" b="1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4．构件的组织形式</a:t>
            </a:r>
            <a:endParaRPr lang="en-US" altLang="zh-CN" sz="2800" b="1" i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2087" name="Rectangle 7"/>
          <p:cNvSpPr/>
          <p:nvPr/>
        </p:nvSpPr>
        <p:spPr>
          <a:xfrm>
            <a:off x="765175" y="5044758"/>
            <a:ext cx="6114415" cy="902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）用包来组织构件。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）用构件之间的交互关系来组织构件。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5" grpId="0" animBg="1"/>
      <p:bldP spid="302086" grpId="0"/>
      <p:bldP spid="302086" grpId="1"/>
      <p:bldP spid="302087" grpId="0"/>
      <p:bldP spid="30208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800" dirty="0"/>
            </a:fld>
            <a:endParaRPr lang="zh-CN" altLang="en-US" sz="1800" dirty="0"/>
          </a:p>
        </p:txBody>
      </p:sp>
      <p:sp>
        <p:nvSpPr>
          <p:cNvPr id="15365" name="Rectangle 4"/>
          <p:cNvSpPr/>
          <p:nvPr/>
        </p:nvSpPr>
        <p:spPr>
          <a:xfrm>
            <a:off x="395605" y="608648"/>
            <a:ext cx="5508625" cy="58356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200" b="1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8.2.2  构件的分类 </a:t>
            </a:r>
            <a:endParaRPr lang="zh-CN" altLang="en-US" sz="3600" b="1" dirty="0"/>
          </a:p>
        </p:txBody>
      </p:sp>
      <p:sp>
        <p:nvSpPr>
          <p:cNvPr id="303109" name="Rectangle 5"/>
          <p:cNvSpPr/>
          <p:nvPr/>
        </p:nvSpPr>
        <p:spPr>
          <a:xfrm>
            <a:off x="1003935" y="1504315"/>
            <a:ext cx="5330190" cy="203009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）源代码构件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）二进制构件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）可执行构件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3110" name="Rectangle 6"/>
          <p:cNvSpPr>
            <a:spLocks noGrp="1"/>
          </p:cNvSpPr>
          <p:nvPr>
            <p:ph type="title"/>
          </p:nvPr>
        </p:nvSpPr>
        <p:spPr>
          <a:xfrm>
            <a:off x="395605" y="3724275"/>
            <a:ext cx="6804025" cy="641350"/>
          </a:xfrm>
        </p:spPr>
        <p:txBody>
          <a:bodyPr vert="horz" wrap="square" lIns="91440" tIns="45720" rIns="91440" bIns="45720" anchor="b"/>
          <a:lstStyle/>
          <a:p>
            <a:r>
              <a:rPr lang="en-GB" altLang="en-US" sz="3200" b="1" kern="120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8.2.3  构件的接口</a:t>
            </a:r>
            <a:endParaRPr lang="zh-CN" altLang="en-US" sz="36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03111" name="Rectangle 7"/>
          <p:cNvSpPr/>
          <p:nvPr/>
        </p:nvSpPr>
        <p:spPr>
          <a:xfrm>
            <a:off x="960755" y="4497705"/>
            <a:ext cx="749935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接口描述一个构件能提供服务的操作，是一个有操作而无实现的类。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3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0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9" grpId="0" animBg="1"/>
      <p:bldP spid="303110" grpId="1" animBg="1"/>
      <p:bldP spid="303111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 txBox="1">
            <a:spLocks noGrp="1"/>
          </p:cNvSpPr>
          <p:nvPr>
            <p:ph type="dt" sz="half"/>
          </p:nvPr>
        </p:nvSpPr>
        <p:spPr>
          <a:xfrm>
            <a:off x="7131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BB962C8B-B14F-4D97-AF65-F5344CB8AC3E}" type="datetime1">
              <a:rPr lang="zh-CN" altLang="en-US" sz="1800" dirty="0"/>
            </a:fld>
            <a:endParaRPr lang="zh-CN" altLang="en-US" sz="1800" dirty="0"/>
          </a:p>
        </p:txBody>
      </p:sp>
      <p:sp>
        <p:nvSpPr>
          <p:cNvPr id="16388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800" dirty="0"/>
            </a:fld>
            <a:endParaRPr lang="zh-CN" altLang="en-US" sz="1800" dirty="0"/>
          </a:p>
        </p:txBody>
      </p:sp>
      <p:pic>
        <p:nvPicPr>
          <p:cNvPr id="16389" name="Picture 5" descr="C:/Users/lenovo01/AppData/Roaming/JisuOffice/ETemp/122920_18151920/image6.png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69" t="22862" r="20012" b="33937"/>
          <a:stretch>
            <a:fillRect/>
          </a:stretch>
        </p:blipFill>
        <p:spPr>
          <a:xfrm>
            <a:off x="116205" y="0"/>
            <a:ext cx="8964930" cy="6858635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灯片编号占位符 5"/>
          <p:cNvSpPr txBox="1"/>
          <p:nvPr>
            <p:ph type="sldNum" sz="quarter"/>
          </p:nvPr>
        </p:nvSpPr>
        <p:spPr>
          <a:xfrm>
            <a:off x="8060690" y="6402070"/>
            <a:ext cx="969645" cy="45783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3" name="Rectangle 4"/>
          <p:cNvSpPr/>
          <p:nvPr/>
        </p:nvSpPr>
        <p:spPr>
          <a:xfrm>
            <a:off x="34925" y="217170"/>
            <a:ext cx="6985000" cy="58356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200" b="1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8.2.4  构件模型图建模步骤</a:t>
            </a:r>
            <a:endParaRPr lang="zh-CN" altLang="en-US" sz="3200" b="1" dirty="0"/>
          </a:p>
        </p:txBody>
      </p:sp>
      <p:sp>
        <p:nvSpPr>
          <p:cNvPr id="305157" name="Rectangle 5"/>
          <p:cNvSpPr/>
          <p:nvPr/>
        </p:nvSpPr>
        <p:spPr>
          <a:xfrm>
            <a:off x="971550" y="742950"/>
            <a:ext cx="4559935" cy="529590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40" tIns="98425" rIns="91440" bIns="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</a:rPr>
              <a:t>1．用构件图建立系统模型</a:t>
            </a:r>
            <a:endParaRPr lang="ko-KR" altLang="en-US" sz="2800" b="1" i="0">
              <a:solidFill>
                <a:srgbClr val="061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159" name="Rectangle 7"/>
          <p:cNvSpPr/>
          <p:nvPr/>
        </p:nvSpPr>
        <p:spPr>
          <a:xfrm>
            <a:off x="1508125" y="5805805"/>
            <a:ext cx="6127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华文仿宋" panose="02010600040101010101" charset="-122"/>
                <a:ea typeface="华文仿宋" panose="02010600040101010101" charset="-122"/>
              </a:rPr>
              <a:t>图</a:t>
            </a:r>
            <a:r>
              <a:rPr lang="en-US" altLang="zh-CN" sz="2400" b="1" dirty="0">
                <a:latin typeface="华文仿宋" panose="02010600040101010101" charset="-122"/>
                <a:ea typeface="华文仿宋" panose="02010600040101010101" charset="-122"/>
              </a:rPr>
              <a:t>7-5  </a:t>
            </a:r>
            <a:r>
              <a:rPr lang="zh-CN" altLang="en-US" sz="2400" b="1" dirty="0">
                <a:latin typeface="华文仿宋" panose="02010600040101010101" charset="-122"/>
                <a:ea typeface="华文仿宋" panose="02010600040101010101" charset="-122"/>
              </a:rPr>
              <a:t>源代码成为可执行代码过程的构件图</a:t>
            </a:r>
            <a:endParaRPr lang="zh-CN" altLang="en-US" sz="2400" b="1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  <p:pic>
        <p:nvPicPr>
          <p:cNvPr id="305160" name="Picture 8"/>
          <p:cNvPicPr>
            <a:picLocks noChangeAspect="1"/>
          </p:cNvPicPr>
          <p:nvPr/>
        </p:nvPicPr>
        <p:blipFill>
          <a:blip r:embed="rId1"/>
          <a:srcRect l="4341" t="15625" r="6679" b="12233"/>
          <a:stretch>
            <a:fillRect/>
          </a:stretch>
        </p:blipFill>
        <p:spPr>
          <a:xfrm>
            <a:off x="395605" y="1341755"/>
            <a:ext cx="8424545" cy="44176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 -0.00018 L 0 -0.07222 " pathEditMode="relative" rAng="0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0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5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7" grpId="0" animBg="1"/>
      <p:bldP spid="305160" grpId="1" animBg="1"/>
      <p:bldP spid="305159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灯片编号占位符 5"/>
          <p:cNvSpPr txBox="1"/>
          <p:nvPr>
            <p:ph type="sldNum" sz="quarter"/>
          </p:nvPr>
        </p:nvSpPr>
        <p:spPr>
          <a:xfrm>
            <a:off x="7947025" y="6301105"/>
            <a:ext cx="974725" cy="45783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7" name="Rectangle 5"/>
          <p:cNvSpPr/>
          <p:nvPr/>
        </p:nvSpPr>
        <p:spPr>
          <a:xfrm>
            <a:off x="539750" y="333375"/>
            <a:ext cx="4088765" cy="522604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</a:rPr>
              <a:t>2．构件之间的依赖关系</a:t>
            </a:r>
            <a:r>
              <a:rPr lang="zh-CN" altLang="en-US" sz="24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lang="ko-KR" altLang="en-US" sz="24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6182" name="Rectangle 6"/>
          <p:cNvSpPr/>
          <p:nvPr/>
        </p:nvSpPr>
        <p:spPr>
          <a:xfrm>
            <a:off x="900430" y="981393"/>
            <a:ext cx="371411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）开发期构件依赖关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</a:t>
            </a:r>
            <a:endParaRPr lang="zh-CN" altLang="en-US" sz="2400" dirty="0"/>
          </a:p>
        </p:txBody>
      </p:sp>
      <p:sp>
        <p:nvSpPr>
          <p:cNvPr id="306183" name="Rectangle 7"/>
          <p:cNvSpPr/>
          <p:nvPr/>
        </p:nvSpPr>
        <p:spPr>
          <a:xfrm>
            <a:off x="1116330" y="1482090"/>
            <a:ext cx="2520950" cy="82994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）编译阶段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）连接阶段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6184" name="Rectangle 8"/>
          <p:cNvSpPr/>
          <p:nvPr/>
        </p:nvSpPr>
        <p:spPr>
          <a:xfrm>
            <a:off x="875030" y="2347913"/>
            <a:ext cx="382143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）构件调用依赖关系。</a:t>
            </a:r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306185" name="Rectangle 9"/>
          <p:cNvSpPr/>
          <p:nvPr/>
        </p:nvSpPr>
        <p:spPr>
          <a:xfrm>
            <a:off x="1619250" y="2759710"/>
            <a:ext cx="6553200" cy="130873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38150" lvl="0" indent="-43815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）编译前的调用依赖（供应者用构件表示）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38150" lvl="0" indent="-43815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）连接后的可执行构件的调用依赖（供应者用对象表示） 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6186" name="Rectangle 10"/>
          <p:cNvSpPr/>
          <p:nvPr/>
        </p:nvSpPr>
        <p:spPr>
          <a:xfrm>
            <a:off x="506730" y="4005580"/>
            <a:ext cx="6945630" cy="522604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</a:rPr>
              <a:t>3．一个可执行软件系统的构件图建模步骤</a:t>
            </a:r>
            <a:r>
              <a:rPr lang="zh-CN" altLang="en-US" sz="24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lang="ko-KR" altLang="en-US" sz="24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6187" name="Rectangle 11"/>
          <p:cNvSpPr/>
          <p:nvPr/>
        </p:nvSpPr>
        <p:spPr>
          <a:xfrm>
            <a:off x="684530" y="4532313"/>
            <a:ext cx="4122420" cy="17145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）确定构件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）说明构件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）标识构件之间的联系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）组织构件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30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6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6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9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6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6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30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6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6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6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6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6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2" grpId="0" animBg="1"/>
      <p:bldP spid="306183" grpId="1" animBg="1"/>
      <p:bldP spid="306184" grpId="2" animBg="1"/>
      <p:bldP spid="306185" grpId="3" animBg="1"/>
      <p:bldP spid="306186" grpId="4" animBg="1"/>
      <p:bldP spid="306187" grpId="5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灯片编号占位符 5"/>
          <p:cNvSpPr txBox="1"/>
          <p:nvPr>
            <p:ph type="sldNum" sz="quarter"/>
          </p:nvPr>
        </p:nvSpPr>
        <p:spPr>
          <a:xfrm>
            <a:off x="7731760" y="6390005"/>
            <a:ext cx="1089025" cy="45783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1" name="Rectangle 5"/>
          <p:cNvSpPr/>
          <p:nvPr/>
        </p:nvSpPr>
        <p:spPr>
          <a:xfrm>
            <a:off x="0" y="21748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/>
          </a:p>
        </p:txBody>
      </p:sp>
      <p:pic>
        <p:nvPicPr>
          <p:cNvPr id="307204" name="Picture 4"/>
          <p:cNvPicPr>
            <a:picLocks noChangeAspect="1"/>
          </p:cNvPicPr>
          <p:nvPr/>
        </p:nvPicPr>
        <p:blipFill>
          <a:blip r:embed="rId1"/>
          <a:srcRect l="13022" t="12538" r="15361" b="9724"/>
          <a:stretch>
            <a:fillRect/>
          </a:stretch>
        </p:blipFill>
        <p:spPr>
          <a:xfrm>
            <a:off x="469265" y="1052830"/>
            <a:ext cx="8351520" cy="4660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06" name="Rectangle 6"/>
          <p:cNvSpPr/>
          <p:nvPr/>
        </p:nvSpPr>
        <p:spPr>
          <a:xfrm>
            <a:off x="684530" y="179705"/>
            <a:ext cx="7776210" cy="953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</a:rPr>
              <a:t>对于复杂的大系统，采用</a:t>
            </a:r>
            <a:r>
              <a:rPr sz="28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包</a:t>
            </a:r>
            <a:r>
              <a:rPr sz="2800" b="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</a:rPr>
              <a:t>的形式组织构件，形成清晰的结构层次图</a:t>
            </a:r>
            <a:r>
              <a:rPr lang="zh-CN" altLang="en-US" sz="2800" b="0" i="0">
                <a:latin typeface="Times New Roman" panose="02020603050405020304" pitchFamily="18" charset="0"/>
                <a:ea typeface="楷体_GB2312" charset="0"/>
              </a:rPr>
              <a:t>。</a:t>
            </a:r>
            <a:endParaRPr lang="ko-KR" altLang="en-US" sz="2800" b="0" i="0">
              <a:latin typeface="Times New Roman" panose="02020603050405020304" pitchFamily="18" charset="0"/>
              <a:ea typeface="楷体_GB2312" charset="0"/>
            </a:endParaRPr>
          </a:p>
        </p:txBody>
      </p:sp>
      <p:sp>
        <p:nvSpPr>
          <p:cNvPr id="307207" name="Rectangle 7"/>
          <p:cNvSpPr/>
          <p:nvPr/>
        </p:nvSpPr>
        <p:spPr>
          <a:xfrm>
            <a:off x="598170" y="5704840"/>
            <a:ext cx="7862570" cy="460375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2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7-6  </a:t>
            </a:r>
            <a:r>
              <a:rPr lang="zh-CN" altLang="en-US" sz="2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医院诊疗管理系统软件的一个系统构成构件模型图</a:t>
            </a:r>
            <a:endParaRPr lang="ko-KR" altLang="en-US" sz="24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" dur="250" autoRev="1" fill="hold"/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250" autoRev="1" fill="hold"/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250" autoRev="1" fill="hold"/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0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0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6" grpId="0" animBg="1"/>
      <p:bldP spid="307204" grpId="1" bldLvl="0" animBg="1"/>
      <p:bldP spid="307207" grpId="2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800" dirty="0"/>
            </a:fld>
            <a:endParaRPr lang="zh-CN" altLang="en-US" sz="1800" dirty="0"/>
          </a:p>
        </p:txBody>
      </p:sp>
      <p:sp>
        <p:nvSpPr>
          <p:cNvPr id="20485" name="Rectangle 4"/>
          <p:cNvSpPr/>
          <p:nvPr/>
        </p:nvSpPr>
        <p:spPr>
          <a:xfrm>
            <a:off x="34925" y="217170"/>
            <a:ext cx="6985000" cy="58356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200" b="1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8.2.5 构件图建模的方法和技巧</a:t>
            </a:r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308229" name="Rectangle 5"/>
          <p:cNvSpPr/>
          <p:nvPr/>
        </p:nvSpPr>
        <p:spPr>
          <a:xfrm>
            <a:off x="730250" y="923925"/>
            <a:ext cx="4531360" cy="522604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</a:rPr>
              <a:t>1．</a:t>
            </a:r>
            <a:r>
              <a:rPr sz="28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构件</a:t>
            </a:r>
            <a:r>
              <a:rPr sz="28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</a:rPr>
              <a:t>描述的方法与技巧 </a:t>
            </a:r>
            <a:endParaRPr lang="ko-KR" altLang="en-US" sz="2800" b="1" i="0">
              <a:solidFill>
                <a:srgbClr val="061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230" name="Rectangle 6"/>
          <p:cNvSpPr/>
          <p:nvPr/>
        </p:nvSpPr>
        <p:spPr>
          <a:xfrm>
            <a:off x="904240" y="1623695"/>
            <a:ext cx="5671185" cy="46101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400" b="0" i="0">
                <a:solidFill>
                  <a:srgbClr val="003A9A"/>
                </a:solidFill>
                <a:latin typeface="微软雅黑" panose="020B0503020204020204" charset="-122"/>
                <a:ea typeface="微软雅黑" panose="020B0503020204020204" charset="-122"/>
              </a:rPr>
              <a:t>（1）一个结构良好的构件应具备的特点</a:t>
            </a:r>
            <a:r>
              <a:rPr lang="zh-CN" altLang="en-US" sz="24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lang="ko-KR" altLang="en-US" sz="24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231" name="Rectangle 7"/>
          <p:cNvSpPr/>
          <p:nvPr/>
        </p:nvSpPr>
        <p:spPr>
          <a:xfrm>
            <a:off x="1438275" y="2025650"/>
            <a:ext cx="7514589" cy="178435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74955" indent="-274955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u"/>
              <a:tabLst>
                <a:tab pos="536575" algn="l"/>
              </a:tabLst>
            </a:pPr>
            <a:r>
              <a:rPr sz="2200" b="0" i="0">
                <a:latin typeface="华文中宋" panose="02010600040101010101" charset="-122"/>
                <a:ea typeface="华文中宋" panose="02010600040101010101" charset="-122"/>
              </a:rPr>
              <a:t>从物理结构上对软件系统进行抽象；</a:t>
            </a:r>
            <a:endParaRPr lang="ko-KR" altLang="en-US" sz="2200" b="0" i="0">
              <a:latin typeface="华文中宋" panose="02010600040101010101" charset="-122"/>
              <a:ea typeface="华文中宋" panose="02010600040101010101" charset="-122"/>
            </a:endParaRPr>
          </a:p>
          <a:p>
            <a:pPr marL="274955" indent="-274955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u"/>
              <a:tabLst>
                <a:tab pos="536575" algn="l"/>
              </a:tabLst>
            </a:pPr>
            <a:r>
              <a:rPr sz="2200" b="0" i="0">
                <a:latin typeface="华文中宋" panose="02010600040101010101" charset="-122"/>
                <a:ea typeface="华文中宋" panose="02010600040101010101" charset="-122"/>
              </a:rPr>
              <a:t>提供一组小的、定义完整的接口实现；</a:t>
            </a:r>
            <a:endParaRPr lang="ko-KR" altLang="en-US" sz="2200" b="0" i="0">
              <a:latin typeface="华文中宋" panose="02010600040101010101" charset="-122"/>
              <a:ea typeface="华文中宋" panose="02010600040101010101" charset="-122"/>
            </a:endParaRPr>
          </a:p>
          <a:p>
            <a:pPr marL="274955" indent="-274955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u"/>
              <a:tabLst>
                <a:tab pos="536575" algn="l"/>
              </a:tabLst>
            </a:pPr>
            <a:r>
              <a:rPr sz="2200" b="0" i="0">
                <a:latin typeface="华文中宋" panose="02010600040101010101" charset="-122"/>
                <a:ea typeface="华文中宋" panose="02010600040101010101" charset="-122"/>
              </a:rPr>
              <a:t>构件应包含与其功能有关的一组类，以便满足接口要求；</a:t>
            </a:r>
            <a:endParaRPr lang="ko-KR" altLang="en-US" sz="2200" b="0" i="0">
              <a:latin typeface="华文中宋" panose="02010600040101010101" charset="-122"/>
              <a:ea typeface="华文中宋" panose="02010600040101010101" charset="-122"/>
            </a:endParaRPr>
          </a:p>
          <a:p>
            <a:pPr marL="274955" indent="-274955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u"/>
              <a:tabLst>
                <a:tab pos="536575" algn="l"/>
              </a:tabLst>
            </a:pPr>
            <a:r>
              <a:rPr sz="2200" b="0" i="0">
                <a:latin typeface="华文中宋" panose="02010600040101010101" charset="-122"/>
                <a:ea typeface="华文中宋" panose="02010600040101010101" charset="-122"/>
              </a:rPr>
              <a:t>与其它构件相对独立，构件之间一般只有依赖和实现的关系。</a:t>
            </a:r>
            <a:endParaRPr lang="ko-KR" altLang="en-US" sz="2200" b="0" i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08232" name="Rectangle 8"/>
          <p:cNvSpPr/>
          <p:nvPr/>
        </p:nvSpPr>
        <p:spPr>
          <a:xfrm>
            <a:off x="1036955" y="3692525"/>
            <a:ext cx="6128385" cy="461010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400" b="0" i="0">
                <a:solidFill>
                  <a:srgbClr val="003A9A"/>
                </a:solidFill>
                <a:latin typeface="微软雅黑" panose="020B0503020204020204" charset="-122"/>
                <a:ea typeface="微软雅黑" panose="020B0503020204020204" charset="-122"/>
              </a:rPr>
              <a:t>（2）在UML中绘制一个构件时应掌握的技巧</a:t>
            </a:r>
            <a:r>
              <a:rPr lang="zh-CN" altLang="en-US" sz="24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lang="ko-KR" altLang="en-US" sz="24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233" name="Rectangle 9"/>
          <p:cNvSpPr/>
          <p:nvPr/>
        </p:nvSpPr>
        <p:spPr>
          <a:xfrm>
            <a:off x="1440180" y="4149725"/>
            <a:ext cx="7596505" cy="21228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74955" indent="-274955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l"/>
              <a:tabLst>
                <a:tab pos="536575" algn="l"/>
              </a:tabLst>
            </a:pPr>
            <a:r>
              <a:rPr sz="2200" b="0" i="0">
                <a:latin typeface="华文中宋" panose="02010600040101010101" charset="-122"/>
                <a:ea typeface="华文中宋" panose="02010600040101010101" charset="-122"/>
              </a:rPr>
              <a:t>为构件标识一个能准确表达其意义的名字；</a:t>
            </a:r>
            <a:endParaRPr lang="ko-KR" altLang="en-US" sz="2200" b="0" i="0">
              <a:latin typeface="华文中宋" panose="02010600040101010101" charset="-122"/>
              <a:ea typeface="华文中宋" panose="02010600040101010101" charset="-122"/>
            </a:endParaRPr>
          </a:p>
          <a:p>
            <a:pPr marL="274955" indent="-274955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l"/>
              <a:tabLst>
                <a:tab pos="536575" algn="l"/>
              </a:tabLst>
            </a:pPr>
            <a:r>
              <a:rPr sz="2200" b="0" i="0">
                <a:latin typeface="华文中宋" panose="02010600040101010101" charset="-122"/>
                <a:ea typeface="华文中宋" panose="02010600040101010101" charset="-122"/>
              </a:rPr>
              <a:t>接口一般采用短式图符表示；</a:t>
            </a:r>
            <a:endParaRPr lang="ko-KR" altLang="en-US" sz="2200" b="0" i="0">
              <a:latin typeface="华文中宋" panose="02010600040101010101" charset="-122"/>
              <a:ea typeface="华文中宋" panose="02010600040101010101" charset="-122"/>
            </a:endParaRPr>
          </a:p>
          <a:p>
            <a:pPr marL="274955" indent="-274955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l"/>
              <a:tabLst>
                <a:tab pos="536575" algn="l"/>
              </a:tabLst>
            </a:pPr>
            <a:r>
              <a:rPr sz="2200" b="0" i="0">
                <a:latin typeface="华文中宋" panose="02010600040101010101" charset="-122"/>
                <a:ea typeface="华文中宋" panose="02010600040101010101" charset="-122"/>
              </a:rPr>
              <a:t>只在必须显示接口的操作（不展示不能清楚描述构件的功能）时才用长式表示；</a:t>
            </a:r>
            <a:endParaRPr lang="ko-KR" altLang="en-US" sz="2200" b="0" i="0">
              <a:latin typeface="华文中宋" panose="02010600040101010101" charset="-122"/>
              <a:ea typeface="华文中宋" panose="02010600040101010101" charset="-122"/>
            </a:endParaRPr>
          </a:p>
          <a:p>
            <a:pPr marL="274955" indent="-274955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l"/>
              <a:tabLst>
                <a:tab pos="536575" algn="l"/>
              </a:tabLst>
            </a:pPr>
            <a:r>
              <a:rPr sz="2200" b="0" i="0">
                <a:latin typeface="华文中宋" panose="02010600040101010101" charset="-122"/>
                <a:ea typeface="华文中宋" panose="02010600040101010101" charset="-122"/>
              </a:rPr>
              <a:t>只显示那些对理解构件功能有重要影响的接口；</a:t>
            </a:r>
            <a:endParaRPr lang="ko-KR" altLang="en-US" sz="2200" b="0" i="0">
              <a:latin typeface="华文中宋" panose="02010600040101010101" charset="-122"/>
              <a:ea typeface="华文中宋" panose="02010600040101010101" charset="-122"/>
            </a:endParaRPr>
          </a:p>
          <a:p>
            <a:pPr marL="274955" indent="-274955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l"/>
              <a:tabLst>
                <a:tab pos="536575" algn="l"/>
              </a:tabLst>
            </a:pPr>
            <a:r>
              <a:rPr sz="2200" b="0" i="0">
                <a:latin typeface="华文中宋" panose="02010600040101010101" charset="-122"/>
                <a:ea typeface="华文中宋" panose="02010600040101010101" charset="-122"/>
              </a:rPr>
              <a:t>构件为源代码或库时，注意显示有关版本标记。</a:t>
            </a:r>
            <a:endParaRPr lang="ko-KR" altLang="en-US" sz="2200" b="0" i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" dur="250" autoRev="1" fill="hold"/>
                                        <p:tgtEl>
                                          <p:spTgt spid="3082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250" autoRev="1" fill="hold"/>
                                        <p:tgtEl>
                                          <p:spTgt spid="3082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250" autoRev="1" fill="hold"/>
                                        <p:tgtEl>
                                          <p:spTgt spid="3082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8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8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0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8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8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0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29" grpId="0" animBg="1"/>
      <p:bldP spid="308230" grpId="1" animBg="1"/>
      <p:bldP spid="308231" grpId="2" animBg="1"/>
      <p:bldP spid="308232" grpId="3" animBg="1"/>
      <p:bldP spid="308233" grpId="4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灯片编号占位符 5"/>
          <p:cNvSpPr txBox="1"/>
          <p:nvPr>
            <p:ph type="sldNum" sz="quarter"/>
          </p:nvPr>
        </p:nvSpPr>
        <p:spPr>
          <a:xfrm>
            <a:off x="8023225" y="6427470"/>
            <a:ext cx="1045209" cy="45783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0276" name="Rectangle 4"/>
          <p:cNvSpPr/>
          <p:nvPr/>
        </p:nvSpPr>
        <p:spPr>
          <a:xfrm>
            <a:off x="1132205" y="113665"/>
            <a:ext cx="6903720" cy="84391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228600" rIns="91440" bIns="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4000" b="1" i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8.3  </a:t>
            </a:r>
            <a:r>
              <a:rPr lang="zh-CN" altLang="en-US" sz="4000" b="1" i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硬件系统体系结构模型</a:t>
            </a:r>
            <a:endParaRPr lang="zh-CN" altLang="en-US" sz="4000" b="1" i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10277" name="Picture 5" descr="C:/Users/lenovo01/AppData/Roaming/JisuOffice/ETemp/82404_22928072/image9.png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61" t="33655" r="21872" b="43047"/>
          <a:stretch>
            <a:fillRect/>
          </a:stretch>
        </p:blipFill>
        <p:spPr>
          <a:xfrm>
            <a:off x="1259205" y="1674495"/>
            <a:ext cx="7017385" cy="35090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279" name="Rectangle 7"/>
          <p:cNvSpPr/>
          <p:nvPr/>
        </p:nvSpPr>
        <p:spPr>
          <a:xfrm>
            <a:off x="1979295" y="5443855"/>
            <a:ext cx="4455160" cy="460375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22860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2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7-7  </a:t>
            </a:r>
            <a:r>
              <a:rPr lang="zh-CN" altLang="en-US" sz="2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结点</a:t>
            </a:r>
            <a:r>
              <a:rPr lang="zh-CN" altLang="en-US" sz="2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的短式与长式图符</a:t>
            </a:r>
            <a:endParaRPr lang="ko-KR" altLang="en-US" sz="24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0281" name="Rectangle 9"/>
          <p:cNvSpPr/>
          <p:nvPr/>
        </p:nvSpPr>
        <p:spPr>
          <a:xfrm>
            <a:off x="1082675" y="828358"/>
            <a:ext cx="5474335" cy="720725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228600" rIns="91440" bIns="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8.3.1  </a:t>
            </a:r>
            <a:r>
              <a:rPr altLang="en-US" sz="32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硬件系统体系结构模型</a:t>
            </a:r>
            <a:endParaRPr lang="ko-KR" altLang="en-US" sz="3600" b="1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1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6" presetClass="emph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" dur="500" fill="hold"/>
                                        <p:tgtEl>
                                          <p:spTgt spid="3102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3102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3102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6" grpId="0" animBg="1"/>
      <p:bldP spid="310277" grpId="1" bldLvl="0" animBg="1"/>
      <p:bldP spid="310279" grpId="2" animBg="1"/>
      <p:bldP spid="310281" grpId="3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635" cy="457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7" name="Rectangle 4"/>
          <p:cNvSpPr/>
          <p:nvPr/>
        </p:nvSpPr>
        <p:spPr>
          <a:xfrm>
            <a:off x="250825" y="289243"/>
            <a:ext cx="5508625" cy="58356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200" b="1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8.3.2 配置图中的构件</a:t>
            </a:r>
            <a:endParaRPr lang="zh-CN" altLang="en-US" sz="3600" b="1" dirty="0"/>
          </a:p>
        </p:txBody>
      </p:sp>
      <p:sp>
        <p:nvSpPr>
          <p:cNvPr id="23558" name="Rectangle 6"/>
          <p:cNvSpPr/>
          <p:nvPr/>
        </p:nvSpPr>
        <p:spPr>
          <a:xfrm>
            <a:off x="0" y="22593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/>
          </a:p>
        </p:txBody>
      </p:sp>
      <p:pic>
        <p:nvPicPr>
          <p:cNvPr id="311301" name="Picture 5"/>
          <p:cNvPicPr>
            <a:picLocks noChangeAspect="1"/>
          </p:cNvPicPr>
          <p:nvPr/>
        </p:nvPicPr>
        <p:blipFill>
          <a:blip r:embed="rId1"/>
          <a:srcRect l="17361" t="27083" r="19701" b="26320"/>
          <a:stretch>
            <a:fillRect/>
          </a:stretch>
        </p:blipFill>
        <p:spPr>
          <a:xfrm>
            <a:off x="467995" y="1052830"/>
            <a:ext cx="8284845" cy="43160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60" name="Rectangle 7"/>
          <p:cNvSpPr/>
          <p:nvPr/>
        </p:nvSpPr>
        <p:spPr>
          <a:xfrm>
            <a:off x="2124075" y="5588953"/>
            <a:ext cx="460819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7-8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配置图的结点中包含构件</a:t>
            </a:r>
            <a:r>
              <a:rPr lang="zh-CN" altLang="en-US" sz="2400" b="1" dirty="0">
                <a:latin typeface="华文仿宋" panose="02010600040101010101" charset="-122"/>
                <a:ea typeface="华文仿宋" panose="02010600040101010101" charset="-122"/>
              </a:rPr>
              <a:t> </a:t>
            </a:r>
            <a:endParaRPr lang="zh-CN" altLang="en-US" sz="2400" b="1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3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1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635" cy="457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1" name="Rectangle 5"/>
          <p:cNvSpPr/>
          <p:nvPr/>
        </p:nvSpPr>
        <p:spPr>
          <a:xfrm>
            <a:off x="377825" y="95568"/>
            <a:ext cx="4255135" cy="643890"/>
          </a:xfrm>
          <a:prstGeom prst="rect">
            <a:avLst/>
          </a:prstGeom>
          <a:noFill/>
          <a:ln w="9525">
            <a:noFill/>
          </a:ln>
        </p:spPr>
        <p:txBody>
          <a:bodyPr wrap="none" tIns="152352" bIns="0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200" b="1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8.3.3  配置图中的对象</a:t>
            </a:r>
            <a:endParaRPr lang="zh-CN" altLang="en-US" sz="3600" b="1" dirty="0">
              <a:ea typeface="Times New Roman" panose="02020603050405020304" pitchFamily="18" charset="0"/>
            </a:endParaRPr>
          </a:p>
        </p:txBody>
      </p:sp>
      <p:pic>
        <p:nvPicPr>
          <p:cNvPr id="312324" name="Picture 4"/>
          <p:cNvPicPr>
            <a:picLocks noChangeAspect="1"/>
          </p:cNvPicPr>
          <p:nvPr/>
        </p:nvPicPr>
        <p:blipFill>
          <a:blip r:embed="rId1"/>
          <a:srcRect l="17361" t="18121" r="19701" b="17159"/>
          <a:stretch>
            <a:fillRect/>
          </a:stretch>
        </p:blipFill>
        <p:spPr>
          <a:xfrm>
            <a:off x="755650" y="980440"/>
            <a:ext cx="7309485" cy="43694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3" name="Rectangle 6"/>
          <p:cNvSpPr/>
          <p:nvPr/>
        </p:nvSpPr>
        <p:spPr>
          <a:xfrm>
            <a:off x="1764030" y="5601653"/>
            <a:ext cx="5799455" cy="460375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2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7-9  </a:t>
            </a:r>
            <a:r>
              <a:rPr lang="zh-CN" altLang="en-US" sz="2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结点</a:t>
            </a:r>
            <a:r>
              <a:rPr lang="zh-CN" altLang="en-US" sz="2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的构件中包含对象和对象嵌套</a:t>
            </a:r>
            <a:r>
              <a:rPr lang="zh-CN" altLang="en-US" sz="11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lang="ko-KR" altLang="en-US" sz="11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4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800" dirty="0"/>
            </a:fld>
            <a:endParaRPr lang="zh-CN" altLang="en-US" sz="1800" dirty="0"/>
          </a:p>
        </p:txBody>
      </p:sp>
      <p:sp>
        <p:nvSpPr>
          <p:cNvPr id="25605" name="Rectangle 5"/>
          <p:cNvSpPr/>
          <p:nvPr/>
        </p:nvSpPr>
        <p:spPr>
          <a:xfrm>
            <a:off x="830580" y="894715"/>
            <a:ext cx="6311900" cy="589915"/>
          </a:xfrm>
          <a:prstGeom prst="rect">
            <a:avLst/>
          </a:prstGeom>
          <a:noFill/>
          <a:ln w="9525">
            <a:noFill/>
          </a:ln>
        </p:spPr>
        <p:txBody>
          <a:bodyPr tIns="98394" bIns="0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200" b="1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8.3.4  </a:t>
            </a:r>
            <a:r>
              <a:rPr lang="zh-CN" altLang="en-GB" sz="3200" b="1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</a:t>
            </a:r>
            <a:r>
              <a:rPr lang="en-GB" altLang="en-US" sz="3200" b="1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点之间的关联</a:t>
            </a:r>
            <a:endParaRPr lang="zh-CN" altLang="en-US" sz="4000" b="1" dirty="0">
              <a:ea typeface="Times New Roman" panose="02020603050405020304" pitchFamily="18" charset="0"/>
            </a:endParaRPr>
          </a:p>
        </p:txBody>
      </p:sp>
      <p:sp>
        <p:nvSpPr>
          <p:cNvPr id="25606" name="Rectangle 7"/>
          <p:cNvSpPr/>
          <p:nvPr/>
        </p:nvSpPr>
        <p:spPr>
          <a:xfrm>
            <a:off x="1332230" y="2526665"/>
            <a:ext cx="4968875" cy="583565"/>
          </a:xfrm>
          <a:prstGeom prst="rect">
            <a:avLst/>
          </a:prstGeom>
          <a:noFill/>
          <a:ln w="9525">
            <a:noFill/>
          </a:ln>
        </p:spPr>
        <p:txBody>
          <a:bodyPr anchor="b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．结点之间的通信关联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607" name="Rectangle 8"/>
          <p:cNvSpPr/>
          <p:nvPr/>
        </p:nvSpPr>
        <p:spPr>
          <a:xfrm>
            <a:off x="1403350" y="3920808"/>
            <a:ext cx="6453505" cy="589915"/>
          </a:xfrm>
          <a:prstGeom prst="rect">
            <a:avLst/>
          </a:prstGeom>
          <a:noFill/>
          <a:ln w="9525">
            <a:noFill/>
          </a:ln>
        </p:spPr>
        <p:txBody>
          <a:bodyPr tIns="98394" bIns="0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．结点和构件之间的依赖联系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635" cy="457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14372" name="Picture 4"/>
          <p:cNvPicPr>
            <a:picLocks noChangeAspect="1"/>
          </p:cNvPicPr>
          <p:nvPr/>
        </p:nvPicPr>
        <p:blipFill>
          <a:blip r:embed="rId1"/>
          <a:srcRect l="17361" t="28476" r="21872" b="24925"/>
          <a:stretch>
            <a:fillRect/>
          </a:stretch>
        </p:blipFill>
        <p:spPr>
          <a:xfrm>
            <a:off x="611505" y="404495"/>
            <a:ext cx="7899400" cy="48348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30" name="Rectangle 5"/>
          <p:cNvSpPr/>
          <p:nvPr/>
        </p:nvSpPr>
        <p:spPr>
          <a:xfrm>
            <a:off x="2123440" y="5444808"/>
            <a:ext cx="476821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7-10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结点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之间的通信关联联系</a:t>
            </a:r>
            <a:r>
              <a:rPr lang="zh-CN" altLang="en-US" sz="1100" dirty="0">
                <a:ea typeface="华文仿宋" panose="02010600040101010101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2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 txBox="1">
            <a:spLocks noGrp="1"/>
          </p:cNvSpPr>
          <p:nvPr>
            <p:ph type="dt" sz="half"/>
          </p:nvPr>
        </p:nvSpPr>
        <p:spPr>
          <a:xfrm>
            <a:off x="7131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BB962C8B-B14F-4D97-AF65-F5344CB8AC3E}" type="datetime1">
              <a:rPr lang="zh-CN" altLang="en-US" sz="1800" dirty="0"/>
            </a:fld>
            <a:endParaRPr lang="zh-CN" altLang="en-US" sz="1800" dirty="0"/>
          </a:p>
        </p:txBody>
      </p:sp>
      <p:sp>
        <p:nvSpPr>
          <p:cNvPr id="27652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800" dirty="0"/>
            </a:fld>
            <a:endParaRPr lang="zh-CN" altLang="en-US" sz="1800" dirty="0"/>
          </a:p>
        </p:txBody>
      </p:sp>
      <p:sp>
        <p:nvSpPr>
          <p:cNvPr id="27653" name="Rectangle 4"/>
          <p:cNvSpPr/>
          <p:nvPr/>
        </p:nvSpPr>
        <p:spPr>
          <a:xfrm>
            <a:off x="395605" y="625475"/>
            <a:ext cx="7884795" cy="64516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200" b="1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8.3.5  配置模型图建模步骤</a:t>
            </a:r>
            <a:r>
              <a:rPr lang="zh-CN" altLang="en-US" sz="3600" b="1" dirty="0">
                <a:cs typeface="Times New Roman" panose="02020603050405020304" pitchFamily="18" charset="0"/>
              </a:rPr>
              <a:t> </a:t>
            </a:r>
            <a:endParaRPr lang="zh-CN" altLang="en-US" sz="3600" b="1" dirty="0">
              <a:ea typeface="Times New Roman" panose="02020603050405020304" pitchFamily="18" charset="0"/>
            </a:endParaRPr>
          </a:p>
        </p:txBody>
      </p:sp>
      <p:sp>
        <p:nvSpPr>
          <p:cNvPr id="315397" name="Rectangle 5"/>
          <p:cNvSpPr/>
          <p:nvPr/>
        </p:nvSpPr>
        <p:spPr>
          <a:xfrm>
            <a:off x="930275" y="1691005"/>
            <a:ext cx="8179435" cy="37077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895350" indent="-803275" algn="l" defTabSz="914400" eaLnBrk="1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800" b="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确定结点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；根据硬件设备和软件体系结构的功能要求统一考虑系统的结点。</a:t>
            </a:r>
            <a:endParaRPr lang="ko-KR" altLang="en-US" sz="28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95350" indent="-803275" algn="l" defTabSz="914400" eaLnBrk="1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800" b="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确定驻留构件</a:t>
            </a:r>
            <a:endParaRPr lang="ko-KR" altLang="en-US" sz="28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95350" indent="-803275" algn="l" defTabSz="914400" eaLnBrk="1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800" b="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注明结点性质</a:t>
            </a:r>
            <a:endParaRPr lang="ko-KR" altLang="en-US" sz="28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95350" indent="-803275" algn="l" defTabSz="914400" eaLnBrk="1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800" b="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确定结点之间的联系</a:t>
            </a:r>
            <a:endParaRPr lang="ko-KR" altLang="en-US" sz="28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95350" indent="-803275" algn="l" defTabSz="914400" eaLnBrk="1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800" b="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绘制配置图</a:t>
            </a:r>
            <a:r>
              <a:rPr lang="zh-CN" altLang="en-US" sz="28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ko-KR" altLang="en-US" sz="28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 txBox="1">
            <a:spLocks noGrp="1"/>
          </p:cNvSpPr>
          <p:nvPr>
            <p:ph type="dt" sz="half"/>
          </p:nvPr>
        </p:nvSpPr>
        <p:spPr>
          <a:xfrm>
            <a:off x="7131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BB962C8B-B14F-4D97-AF65-F5344CB8AC3E}" type="datetime1">
              <a:rPr lang="zh-CN" altLang="en-US" sz="1800" dirty="0"/>
            </a:fld>
            <a:endParaRPr lang="zh-CN" altLang="en-US" sz="1800" dirty="0"/>
          </a:p>
        </p:txBody>
      </p:sp>
      <p:sp>
        <p:nvSpPr>
          <p:cNvPr id="28676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800" dirty="0"/>
            </a:fld>
            <a:endParaRPr lang="zh-CN" altLang="en-US" sz="1800" dirty="0"/>
          </a:p>
        </p:txBody>
      </p:sp>
      <p:sp>
        <p:nvSpPr>
          <p:cNvPr id="28677" name="Rectangle 4"/>
          <p:cNvSpPr/>
          <p:nvPr/>
        </p:nvSpPr>
        <p:spPr>
          <a:xfrm>
            <a:off x="250825" y="628968"/>
            <a:ext cx="5474335" cy="643890"/>
          </a:xfrm>
          <a:prstGeom prst="rect">
            <a:avLst/>
          </a:prstGeom>
          <a:noFill/>
          <a:ln w="9525">
            <a:noFill/>
          </a:ln>
        </p:spPr>
        <p:txBody>
          <a:bodyPr wrap="none" tIns="152352" bIns="0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200" b="1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8.3.6  硬件系统体系结构模型</a:t>
            </a:r>
            <a:endParaRPr lang="zh-CN" altLang="en-US" sz="3600" b="1" dirty="0">
              <a:ea typeface="Times New Roman" panose="02020603050405020304" pitchFamily="18" charset="0"/>
            </a:endParaRPr>
          </a:p>
        </p:txBody>
      </p:sp>
      <p:sp>
        <p:nvSpPr>
          <p:cNvPr id="316421" name="Rectangle 5"/>
          <p:cNvSpPr/>
          <p:nvPr/>
        </p:nvSpPr>
        <p:spPr>
          <a:xfrm>
            <a:off x="990600" y="1847215"/>
            <a:ext cx="7829550" cy="332295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895350" lvl="0" indent="-89535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）确定结点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95350" lvl="0" indent="-89535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）描述结点的属性：描述系统各结点计算机的性能指标：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95350" lvl="0" indent="-89535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）确定各结点驻留的构件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95350" lvl="0" indent="-89535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）确定各结点之间的联系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635" cy="457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1" name="Rectangle 5"/>
          <p:cNvSpPr/>
          <p:nvPr/>
        </p:nvSpPr>
        <p:spPr>
          <a:xfrm>
            <a:off x="0" y="22161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2860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317444" name="Picture 4"/>
          <p:cNvPicPr>
            <a:picLocks noChangeAspect="1"/>
          </p:cNvPicPr>
          <p:nvPr/>
        </p:nvPicPr>
        <p:blipFill>
          <a:blip r:embed="rId1"/>
          <a:srcRect l="17361" t="18121" r="19701" b="14571"/>
          <a:stretch>
            <a:fillRect/>
          </a:stretch>
        </p:blipFill>
        <p:spPr>
          <a:xfrm>
            <a:off x="395605" y="260350"/>
            <a:ext cx="8262620" cy="5227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3" name="Rectangle 6"/>
          <p:cNvSpPr/>
          <p:nvPr/>
        </p:nvSpPr>
        <p:spPr>
          <a:xfrm>
            <a:off x="1856105" y="5496560"/>
            <a:ext cx="5938520" cy="59880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br>
              <a:rPr lang="zh-CN" altLang="en-US" sz="900" dirty="0">
                <a:latin typeface="Arial" panose="020B0604020202020204" pitchFamily="34" charset="0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7-11  “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销售管理子系统”的配置图模型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3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4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灯片编号占位符 5"/>
          <p:cNvSpPr txBox="1"/>
          <p:nvPr>
            <p:ph type="sldNum" sz="quarter"/>
          </p:nvPr>
        </p:nvSpPr>
        <p:spPr>
          <a:xfrm>
            <a:off x="6605905" y="6301105"/>
            <a:ext cx="1905635" cy="45783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9490" name="Rectangle 2"/>
          <p:cNvSpPr/>
          <p:nvPr/>
        </p:nvSpPr>
        <p:spPr>
          <a:xfrm>
            <a:off x="395605" y="-32385"/>
            <a:ext cx="7487920" cy="843280"/>
          </a:xfrm>
          <a:prstGeom prst="rect">
            <a:avLst/>
          </a:prstGeom>
          <a:noFill/>
          <a:ln w="9525">
            <a:noFill/>
          </a:ln>
        </p:spPr>
        <p:txBody>
          <a:bodyPr tIns="228528" bIns="0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8.4 </a:t>
            </a:r>
            <a:r>
              <a:rPr lang="zh-CN" altLang="en-US" sz="4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系统体系结构模型建模案例</a:t>
            </a:r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319491" name="Rectangle 3"/>
          <p:cNvSpPr/>
          <p:nvPr/>
        </p:nvSpPr>
        <p:spPr>
          <a:xfrm>
            <a:off x="395605" y="1053148"/>
            <a:ext cx="7920355" cy="5835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8.4.1  “诊疗管理”子系统的功能分析</a:t>
            </a:r>
            <a:r>
              <a:rPr altLang="en-US" sz="32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altLang="en-US" sz="3200" b="1" i="0">
              <a:solidFill>
                <a:srgbClr val="0611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727" name="Line 5"/>
          <p:cNvSpPr/>
          <p:nvPr/>
        </p:nvSpPr>
        <p:spPr>
          <a:xfrm>
            <a:off x="4787900" y="1052830"/>
            <a:ext cx="4177030" cy="0"/>
          </a:xfrm>
          <a:prstGeom prst="line">
            <a:avLst/>
          </a:prstGeom>
          <a:ln w="12700" cap="flat" cmpd="sng">
            <a:pattFill prst="pct10">
              <a:fgClr>
                <a:srgbClr val="000000"/>
              </a:fgClr>
              <a:bgClr>
                <a:srgbClr val="FFFFFF"/>
              </a:bgClr>
            </a:pattFill>
            <a:prstDash val="solid"/>
            <a:headEnd type="none" w="med" len="med"/>
            <a:tailEnd type="none" w="med" len="med"/>
          </a:ln>
        </p:spPr>
      </p:sp>
      <p:sp>
        <p:nvSpPr>
          <p:cNvPr id="319496" name="Rectangle 8"/>
          <p:cNvSpPr/>
          <p:nvPr/>
        </p:nvSpPr>
        <p:spPr>
          <a:xfrm>
            <a:off x="2565400" y="2163128"/>
            <a:ext cx="4383405" cy="30460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eaLnBrk="1" hangingPunct="1">
              <a:lnSpc>
                <a:spcPct val="2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）用例图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2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）构件图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266700" eaLnBrk="1" hangingPunct="1">
              <a:lnSpc>
                <a:spcPct val="2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）配置图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979 -0.0295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000" y="-15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to="0.6" calcmode="lin" valueType="num">
                                      <p:cBhvr override="childStyle">
                                        <p:cTn id="8" dur="500" fill="hold"/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" dur="500"/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Ã¦Â¥Â·Ã¤Â½Â_GB2312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/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0" grpId="0" animBg="1"/>
      <p:bldP spid="319490" grpId="1" animBg="1"/>
      <p:bldP spid="319490" grpId="2" animBg="1"/>
      <p:bldP spid="319491" grpId="3" animBg="1"/>
      <p:bldP spid="319496" grpId="4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635" cy="457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18470" name="Picture 6"/>
          <p:cNvPicPr>
            <a:picLocks noChangeAspect="1"/>
          </p:cNvPicPr>
          <p:nvPr/>
        </p:nvPicPr>
        <p:blipFill>
          <a:blip r:embed="rId1"/>
          <a:srcRect l="21703" t="28476" r="26212" b="24925"/>
          <a:stretch>
            <a:fillRect/>
          </a:stretch>
        </p:blipFill>
        <p:spPr>
          <a:xfrm>
            <a:off x="539750" y="403225"/>
            <a:ext cx="8064500" cy="5041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0" name="Rectangle 7"/>
          <p:cNvSpPr/>
          <p:nvPr/>
        </p:nvSpPr>
        <p:spPr>
          <a:xfrm>
            <a:off x="0" y="18732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1751" name="Rectangle 8"/>
          <p:cNvSpPr/>
          <p:nvPr/>
        </p:nvSpPr>
        <p:spPr>
          <a:xfrm>
            <a:off x="0" y="1873250"/>
            <a:ext cx="450850" cy="777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28600" eaLnBrk="1" hangingPunct="1">
              <a:spcBef>
                <a:spcPct val="0"/>
              </a:spcBef>
              <a:buClrTx/>
              <a:buFontTx/>
              <a:buNone/>
            </a:pPr>
            <a:br>
              <a:rPr lang="zh-CN" altLang="en-US" sz="1000" dirty="0">
                <a:latin typeface="Arial" panose="020B0604020202020204" pitchFamily="34" charset="0"/>
              </a:rPr>
            </a:br>
            <a:endParaRPr lang="zh-CN" altLang="en-US" sz="1100" dirty="0">
              <a:latin typeface="Arial" panose="020B0604020202020204" pitchFamily="34" charset="0"/>
            </a:endParaRPr>
          </a:p>
          <a:p>
            <a:pPr marL="0" lvl="0" indent="228600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1752" name="Rectangle 10"/>
          <p:cNvSpPr/>
          <p:nvPr/>
        </p:nvSpPr>
        <p:spPr>
          <a:xfrm>
            <a:off x="1835150" y="5632450"/>
            <a:ext cx="59709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b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7-12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医院诊疗综合管理系统的用例图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7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635" cy="457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3" name="Rectangle 5"/>
          <p:cNvSpPr/>
          <p:nvPr/>
        </p:nvSpPr>
        <p:spPr>
          <a:xfrm>
            <a:off x="2195830" y="5634038"/>
            <a:ext cx="433832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2860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7-13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诊疗子系统的用例图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0518" name="Picture 6"/>
          <p:cNvPicPr>
            <a:picLocks noChangeAspect="1"/>
          </p:cNvPicPr>
          <p:nvPr/>
        </p:nvPicPr>
        <p:blipFill>
          <a:blip r:embed="rId1"/>
          <a:srcRect l="21703" t="28476" r="26212" b="24925"/>
          <a:stretch>
            <a:fillRect/>
          </a:stretch>
        </p:blipFill>
        <p:spPr>
          <a:xfrm>
            <a:off x="539750" y="405130"/>
            <a:ext cx="8064500" cy="5111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3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800" dirty="0"/>
            </a:fld>
            <a:endParaRPr lang="zh-CN" altLang="en-US" sz="1800" dirty="0"/>
          </a:p>
        </p:txBody>
      </p:sp>
      <p:sp>
        <p:nvSpPr>
          <p:cNvPr id="33797" name="Rectangle 4"/>
          <p:cNvSpPr/>
          <p:nvPr/>
        </p:nvSpPr>
        <p:spPr>
          <a:xfrm>
            <a:off x="323850" y="699770"/>
            <a:ext cx="5474335" cy="643890"/>
          </a:xfrm>
          <a:prstGeom prst="rect">
            <a:avLst/>
          </a:prstGeom>
          <a:noFill/>
          <a:ln w="9525">
            <a:noFill/>
          </a:ln>
        </p:spPr>
        <p:txBody>
          <a:bodyPr wrap="none" tIns="152352" bIns="0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200" b="1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8.4.2  软件系统体系结构建模</a:t>
            </a:r>
            <a:endParaRPr lang="zh-CN" altLang="en-US" sz="3200" b="1" dirty="0"/>
          </a:p>
        </p:txBody>
      </p:sp>
      <p:sp>
        <p:nvSpPr>
          <p:cNvPr id="321541" name="Rectangle 5"/>
          <p:cNvSpPr/>
          <p:nvPr/>
        </p:nvSpPr>
        <p:spPr>
          <a:xfrm>
            <a:off x="1119505" y="1748155"/>
            <a:ext cx="2604135" cy="529590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40" tIns="98425" rIns="91440" bIns="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1" i="0">
                <a:solidFill>
                  <a:srgbClr val="0611F2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1．建模的步骤</a:t>
            </a:r>
            <a:endParaRPr lang="ko-KR" altLang="en-US" sz="2800" b="1" i="0">
              <a:solidFill>
                <a:srgbClr val="0611F2"/>
              </a:solidFill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1542" name="Rectangle 6"/>
          <p:cNvSpPr/>
          <p:nvPr/>
        </p:nvSpPr>
        <p:spPr>
          <a:xfrm>
            <a:off x="1535430" y="2486660"/>
            <a:ext cx="7140575" cy="322961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713105" lvl="0" indent="-713105" eaLnBrk="1" hangingPunct="1">
              <a:lnSpc>
                <a:spcPct val="17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）确定构件。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3105" lvl="0" indent="-713105" eaLnBrk="1" hangingPunct="1">
              <a:lnSpc>
                <a:spcPct val="17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）说明构件。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3105" lvl="0" indent="-713105" eaLnBrk="1" hangingPunct="1">
              <a:lnSpc>
                <a:spcPct val="17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）确定构件之间通过接口依赖产生的联系。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3105" lvl="0" indent="-713105" eaLnBrk="1" hangingPunct="1">
              <a:lnSpc>
                <a:spcPct val="17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）对于复杂的大系统，采用包的形式组织构件，形成清晰的结构层次图。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autoRev="1" fill="hold"/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autoRev="1" fill="hold"/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autoRev="1" fill="hold"/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1" grpId="0" animBg="1"/>
      <p:bldP spid="321542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635" cy="457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4821" name="Picture 5"/>
          <p:cNvPicPr>
            <a:picLocks noChangeAspect="1"/>
          </p:cNvPicPr>
          <p:nvPr/>
        </p:nvPicPr>
        <p:blipFill>
          <a:blip r:embed="rId1"/>
          <a:srcRect l="8681" t="3665" r="6679" b="3554"/>
          <a:stretch>
            <a:fillRect/>
          </a:stretch>
        </p:blipFill>
        <p:spPr>
          <a:xfrm>
            <a:off x="323850" y="260350"/>
            <a:ext cx="8569325" cy="53295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22" name="Rectangle 6"/>
          <p:cNvSpPr/>
          <p:nvPr/>
        </p:nvSpPr>
        <p:spPr>
          <a:xfrm>
            <a:off x="0" y="141795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4823" name="Rectangle 7"/>
          <p:cNvSpPr/>
          <p:nvPr/>
        </p:nvSpPr>
        <p:spPr>
          <a:xfrm>
            <a:off x="0" y="1417955"/>
            <a:ext cx="450850" cy="777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28600" eaLnBrk="1" hangingPunct="1">
              <a:spcBef>
                <a:spcPct val="0"/>
              </a:spcBef>
              <a:buClrTx/>
              <a:buFontTx/>
              <a:buNone/>
            </a:pPr>
            <a:br>
              <a:rPr lang="zh-CN" altLang="en-US" sz="1000" dirty="0">
                <a:latin typeface="Arial" panose="020B0604020202020204" pitchFamily="34" charset="0"/>
              </a:rPr>
            </a:br>
            <a:endParaRPr lang="zh-CN" altLang="en-US" sz="1100" dirty="0">
              <a:latin typeface="Arial" panose="020B0604020202020204" pitchFamily="34" charset="0"/>
            </a:endParaRPr>
          </a:p>
          <a:p>
            <a:pPr marL="0" lvl="0" indent="228600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4824" name="Rectangle 8"/>
          <p:cNvSpPr/>
          <p:nvPr/>
        </p:nvSpPr>
        <p:spPr>
          <a:xfrm>
            <a:off x="344805" y="5659438"/>
            <a:ext cx="828611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7-14 “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诊疗管理”子系统源代码到执行代码过程的构件图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635" cy="457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3588" name="Picture 4"/>
          <p:cNvPicPr>
            <a:picLocks noChangeAspect="1"/>
          </p:cNvPicPr>
          <p:nvPr/>
        </p:nvPicPr>
        <p:blipFill>
          <a:blip r:embed="rId1"/>
          <a:srcRect l="13022" t="7523" r="13190" b="14740"/>
          <a:stretch>
            <a:fillRect/>
          </a:stretch>
        </p:blipFill>
        <p:spPr>
          <a:xfrm>
            <a:off x="323850" y="765175"/>
            <a:ext cx="8569325" cy="489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6" name="Rectangle 6"/>
          <p:cNvSpPr/>
          <p:nvPr/>
        </p:nvSpPr>
        <p:spPr>
          <a:xfrm>
            <a:off x="0" y="141795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5847" name="Rectangle 7"/>
          <p:cNvSpPr/>
          <p:nvPr/>
        </p:nvSpPr>
        <p:spPr>
          <a:xfrm>
            <a:off x="0" y="1417955"/>
            <a:ext cx="450850" cy="777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28600" eaLnBrk="1" hangingPunct="1">
              <a:spcBef>
                <a:spcPct val="0"/>
              </a:spcBef>
              <a:buClrTx/>
              <a:buFontTx/>
              <a:buNone/>
            </a:pPr>
            <a:br>
              <a:rPr lang="zh-CN" altLang="en-US" sz="1000" dirty="0">
                <a:latin typeface="Arial" panose="020B0604020202020204" pitchFamily="34" charset="0"/>
              </a:rPr>
            </a:br>
            <a:endParaRPr lang="zh-CN" altLang="en-US" sz="1100" dirty="0">
              <a:latin typeface="Arial" panose="020B0604020202020204" pitchFamily="34" charset="0"/>
            </a:endParaRPr>
          </a:p>
          <a:p>
            <a:pPr marL="0" lvl="0" indent="228600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5848" name="Rectangle 9"/>
          <p:cNvSpPr/>
          <p:nvPr/>
        </p:nvSpPr>
        <p:spPr>
          <a:xfrm>
            <a:off x="158750" y="133350"/>
            <a:ext cx="3318510" cy="529590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40" tIns="98425" rIns="91440" bIns="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</a:rPr>
              <a:t>2．详细的构件图</a:t>
            </a:r>
            <a:endParaRPr lang="ko-KR" altLang="en-US" sz="2800" b="0" i="0">
              <a:solidFill>
                <a:srgbClr val="061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49" name="Rectangle 10"/>
          <p:cNvSpPr/>
          <p:nvPr/>
        </p:nvSpPr>
        <p:spPr>
          <a:xfrm>
            <a:off x="1722755" y="5707063"/>
            <a:ext cx="563372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7-15  “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影像诊断”用例的详细构件图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635" cy="457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9" name="Rectangle 4"/>
          <p:cNvSpPr/>
          <p:nvPr/>
        </p:nvSpPr>
        <p:spPr>
          <a:xfrm>
            <a:off x="468630" y="687070"/>
            <a:ext cx="7740650" cy="58356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200" b="1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8.4.3  硬件系统体系结构建模</a:t>
            </a:r>
            <a:r>
              <a:rPr lang="zh-CN" altLang="en-US" sz="3200" b="1" dirty="0"/>
              <a:t> </a:t>
            </a:r>
            <a:endParaRPr lang="zh-CN" altLang="en-US" sz="3200" b="1" dirty="0"/>
          </a:p>
        </p:txBody>
      </p:sp>
      <p:sp>
        <p:nvSpPr>
          <p:cNvPr id="324613" name="Rectangle 5"/>
          <p:cNvSpPr/>
          <p:nvPr/>
        </p:nvSpPr>
        <p:spPr>
          <a:xfrm>
            <a:off x="853440" y="1571625"/>
            <a:ext cx="7633335" cy="332295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895350" indent="-895350" algn="l" defTabSz="91440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sz="2800" b="0" i="0">
                <a:latin typeface="华文中宋" panose="02010600040101010101" charset="-122"/>
                <a:ea typeface="华文中宋" panose="02010600040101010101" charset="-122"/>
              </a:rPr>
              <a:t>1）确定结点。</a:t>
            </a:r>
            <a:endParaRPr lang="ko-KR" altLang="en-US" sz="2800" b="0" i="0">
              <a:latin typeface="华文中宋" panose="02010600040101010101" charset="-122"/>
              <a:ea typeface="华文中宋" panose="02010600040101010101" charset="-122"/>
            </a:endParaRPr>
          </a:p>
          <a:p>
            <a:pPr marL="895350" indent="-895350" algn="l" defTabSz="91440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0" i="0">
                <a:latin typeface="华文中宋" panose="02010600040101010101" charset="-122"/>
                <a:ea typeface="华文中宋" panose="02010600040101010101" charset="-122"/>
              </a:rPr>
              <a:t>（2）确定驻留构件。</a:t>
            </a:r>
            <a:endParaRPr lang="ko-KR" altLang="en-US" sz="2800" b="0" i="0">
              <a:latin typeface="华文中宋" panose="02010600040101010101" charset="-122"/>
              <a:ea typeface="华文中宋" panose="02010600040101010101" charset="-122"/>
            </a:endParaRPr>
          </a:p>
          <a:p>
            <a:pPr marL="895350" indent="-895350" algn="l" defTabSz="91440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0" i="0">
                <a:latin typeface="华文中宋" panose="02010600040101010101" charset="-122"/>
                <a:ea typeface="华文中宋" panose="02010600040101010101" charset="-122"/>
              </a:rPr>
              <a:t>（3）注明结点性质。</a:t>
            </a:r>
            <a:endParaRPr lang="ko-KR" altLang="en-US" sz="2800" b="0" i="0">
              <a:latin typeface="华文中宋" panose="02010600040101010101" charset="-122"/>
              <a:ea typeface="华文中宋" panose="02010600040101010101" charset="-122"/>
            </a:endParaRPr>
          </a:p>
          <a:p>
            <a:pPr marL="895350" indent="-895350" algn="l" defTabSz="91440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0" i="0">
                <a:latin typeface="华文中宋" panose="02010600040101010101" charset="-122"/>
                <a:ea typeface="华文中宋" panose="02010600040101010101" charset="-122"/>
              </a:rPr>
              <a:t>（4）用关联或依赖描述结点之间的联系。</a:t>
            </a:r>
            <a:endParaRPr lang="ko-KR" altLang="en-US" sz="2800" b="0" i="0">
              <a:latin typeface="华文中宋" panose="02010600040101010101" charset="-122"/>
              <a:ea typeface="华文中宋" panose="02010600040101010101" charset="-122"/>
            </a:endParaRPr>
          </a:p>
          <a:p>
            <a:pPr marL="895350" indent="-895350" algn="l" defTabSz="91440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0" i="0">
                <a:latin typeface="华文中宋" panose="02010600040101010101" charset="-122"/>
                <a:ea typeface="华文中宋" panose="02010600040101010101" charset="-122"/>
              </a:rPr>
              <a:t>（5）绘制配置图时，用打包方式形成结构清晰的具有层次的配置图。 </a:t>
            </a:r>
            <a:endParaRPr lang="ko-KR" altLang="en-US" sz="2800" b="0" i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24614" name="Rectangle 6"/>
          <p:cNvSpPr/>
          <p:nvPr/>
        </p:nvSpPr>
        <p:spPr>
          <a:xfrm>
            <a:off x="590550" y="5078730"/>
            <a:ext cx="8173085" cy="95313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713105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1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对于每个结点，根据需要还可以进一步绘制详细配置图。联系发送到门诊或住院部相关科室</a:t>
            </a:r>
            <a:r>
              <a:rPr sz="2800" b="0" i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ko-KR" altLang="en-US" sz="2800" b="0" i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3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3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6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3" grpId="0" animBg="1"/>
      <p:bldP spid="324614" grpId="1" animBg="1"/>
      <p:bldP spid="324614" grpId="2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635" cy="457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3" name="Rectangle 5"/>
          <p:cNvSpPr/>
          <p:nvPr/>
        </p:nvSpPr>
        <p:spPr>
          <a:xfrm>
            <a:off x="0" y="224028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2860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37894" name="Picture 4"/>
          <p:cNvPicPr>
            <a:picLocks noChangeAspect="1"/>
          </p:cNvPicPr>
          <p:nvPr/>
        </p:nvPicPr>
        <p:blipFill>
          <a:blip r:embed="rId1"/>
          <a:srcRect l="4341" t="5016" r="4509" b="4710"/>
          <a:stretch>
            <a:fillRect/>
          </a:stretch>
        </p:blipFill>
        <p:spPr>
          <a:xfrm>
            <a:off x="468630" y="476250"/>
            <a:ext cx="8351520" cy="50406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5" name="Rectangle 6"/>
          <p:cNvSpPr/>
          <p:nvPr/>
        </p:nvSpPr>
        <p:spPr>
          <a:xfrm>
            <a:off x="219075" y="5647055"/>
            <a:ext cx="8225155" cy="51879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</a:rPr>
              <a:t>图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</a:rPr>
              <a:t>7-16 “</a:t>
            </a: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</a:rPr>
              <a:t>诊疗管理”子系统客户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</a:rPr>
              <a:t>/</a:t>
            </a: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</a:rPr>
              <a:t>服务器式配置图  </a:t>
            </a:r>
            <a:endParaRPr lang="zh-CN" altLang="en-US" sz="2800" b="1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635" cy="457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8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7" name="Rectangle 5"/>
          <p:cNvSpPr/>
          <p:nvPr/>
        </p:nvSpPr>
        <p:spPr>
          <a:xfrm>
            <a:off x="0" y="21069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38918" name="Picture 4"/>
          <p:cNvPicPr>
            <a:picLocks noChangeAspect="1"/>
          </p:cNvPicPr>
          <p:nvPr/>
        </p:nvPicPr>
        <p:blipFill>
          <a:blip r:embed="rId1"/>
          <a:srcRect l="2170" t="5016" r="4509" b="9724"/>
          <a:stretch>
            <a:fillRect/>
          </a:stretch>
        </p:blipFill>
        <p:spPr>
          <a:xfrm>
            <a:off x="468630" y="333375"/>
            <a:ext cx="8351520" cy="52565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9" name="Rectangle 6"/>
          <p:cNvSpPr/>
          <p:nvPr/>
        </p:nvSpPr>
        <p:spPr>
          <a:xfrm>
            <a:off x="1403350" y="5589905"/>
            <a:ext cx="5755005" cy="51879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</a:rPr>
              <a:t>图</a:t>
            </a:r>
            <a:r>
              <a:rPr lang="en-US" altLang="zh-CN" sz="2800" b="1" dirty="0">
                <a:latin typeface="华文仿宋" panose="02010600040101010101" charset="-122"/>
                <a:ea typeface="华文仿宋" panose="02010600040101010101" charset="-122"/>
              </a:rPr>
              <a:t>7-17   “</a:t>
            </a:r>
            <a:r>
              <a:rPr lang="zh-CN" altLang="en-US" sz="2800" b="1" dirty="0">
                <a:latin typeface="华文仿宋" panose="02010600040101010101" charset="-122"/>
                <a:ea typeface="华文仿宋" panose="02010600040101010101" charset="-122"/>
              </a:rPr>
              <a:t>影像诊断”用例的配置图</a:t>
            </a:r>
            <a:r>
              <a:rPr lang="zh-CN" altLang="en-US" sz="1100" dirty="0">
                <a:ea typeface="华文仿宋" panose="02010600040101010101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3"/>
          <p:cNvSpPr txBox="1">
            <a:spLocks noGrp="1"/>
          </p:cNvSpPr>
          <p:nvPr>
            <p:ph type="dt" sz="half"/>
          </p:nvPr>
        </p:nvSpPr>
        <p:spPr>
          <a:xfrm>
            <a:off x="7131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BB962C8B-B14F-4D97-AF65-F5344CB8AC3E}" type="datetime1">
              <a:rPr lang="zh-CN" altLang="en-US" sz="1800" dirty="0"/>
            </a:fld>
            <a:endParaRPr lang="zh-CN" altLang="en-US" sz="1800" dirty="0"/>
          </a:p>
        </p:txBody>
      </p:sp>
      <p:sp>
        <p:nvSpPr>
          <p:cNvPr id="39940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6580505" y="6313805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zh-CN" altLang="en-US" sz="1800" dirty="0"/>
            </a:fld>
            <a:endParaRPr lang="zh-CN" altLang="en-US" sz="1800" dirty="0"/>
          </a:p>
        </p:txBody>
      </p:sp>
      <p:sp>
        <p:nvSpPr>
          <p:cNvPr id="39941" name="Rectangle 4"/>
          <p:cNvSpPr/>
          <p:nvPr/>
        </p:nvSpPr>
        <p:spPr>
          <a:xfrm>
            <a:off x="755650" y="549593"/>
            <a:ext cx="4788535" cy="7683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GB" sz="4400" b="0" i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作业：</a:t>
            </a:r>
            <a:endParaRPr lang="zh-CN" altLang="en-GB" sz="4400" b="0" i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899795" y="2132013"/>
            <a:ext cx="2442210" cy="316928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ctr">
            <a:spAutoFit/>
          </a:bodyPr>
          <a:lstStyle>
            <a:lvl1pPr marL="469900" indent="-46990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defTabSz="508000" eaLnBrk="0" fontAlgn="base" hangingPunct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sz="40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绘制出自己所选题目的</a:t>
            </a:r>
            <a:r>
              <a:rPr sz="4000" b="0" i="0">
                <a:solidFill>
                  <a:srgbClr val="0611F2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构件图</a:t>
            </a:r>
            <a:r>
              <a:rPr lang="zh-CN" sz="4000" b="0" i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sz="4000" b="0" i="0">
                <a:solidFill>
                  <a:srgbClr val="0611F2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配置图</a:t>
            </a:r>
            <a:endParaRPr lang="ko-KR" altLang="en-US" sz="4000" b="0" i="0">
              <a:solidFill>
                <a:srgbClr val="0611F2"/>
              </a:solidFill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1990" y="404495"/>
            <a:ext cx="4324350" cy="5849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8470c77a-9388-4672-91bd-6eeba434cd63"/>
  <p:tag name="COMMONDATA" val="eyJoZGlkIjoiYzcxMjI5Yzk3MjY4MDc5ZmZhOTMzNDE2MGI3MzU0NTcifQ=="/>
  <p:tag name="commondata" val="eyJoZGlkIjoiZTMxYmY1NjA5NjhkNmFiOTUxMjU1MzlhYWVlMzA0YWYifQ==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2595</Words>
  <Application>WPS 演示</Application>
  <PresentationFormat/>
  <Paragraphs>331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0" baseType="lpstr">
      <vt:lpstr>Arial</vt:lpstr>
      <vt:lpstr>宋体</vt:lpstr>
      <vt:lpstr>Wingdings</vt:lpstr>
      <vt:lpstr>Verdana</vt:lpstr>
      <vt:lpstr>Times New Roman</vt:lpstr>
      <vt:lpstr>黑体</vt:lpstr>
      <vt:lpstr>楷体_GB2312</vt:lpstr>
      <vt:lpstr>新宋体</vt:lpstr>
      <vt:lpstr>Wingdings</vt:lpstr>
      <vt:lpstr>微软雅黑</vt:lpstr>
      <vt:lpstr>华文中宋</vt:lpstr>
      <vt:lpstr>华文新魏</vt:lpstr>
      <vt:lpstr>华文仿宋</vt:lpstr>
      <vt:lpstr>Wingdings</vt:lpstr>
      <vt:lpstr>Arial Unicode MS</vt:lpstr>
      <vt:lpstr>Profile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8.2.3  构件的接口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elite</Company>
  <LinksUpToDate>false</LinksUpToDate>
  <SharedDoc>false</SharedDoc>
  <HyperlinksChanged>false</HyperlinksChanged>
  <AppVersion>14.0000</AppVersion>
  <Pages>34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绪论 1.1  程序设计与程序设计语言</dc:title>
  <dc:creator>shasha</dc:creator>
  <cp:lastModifiedBy>怡然</cp:lastModifiedBy>
  <cp:revision>10</cp:revision>
  <dcterms:created xsi:type="dcterms:W3CDTF">2023-03-28T11:45:00Z</dcterms:created>
  <dcterms:modified xsi:type="dcterms:W3CDTF">2025-04-03T08:12:15Z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0A1CC408CF844676B28B1AA37DC07FDD</vt:lpwstr>
  </property>
</Properties>
</file>