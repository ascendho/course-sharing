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68"/>
  </p:notesMasterIdLst>
  <p:sldIdLst>
    <p:sldId id="627" r:id="rId4"/>
    <p:sldId id="628" r:id="rId5"/>
    <p:sldId id="565" r:id="rId6"/>
    <p:sldId id="502" r:id="rId7"/>
    <p:sldId id="501" r:id="rId8"/>
    <p:sldId id="566" r:id="rId9"/>
    <p:sldId id="503" r:id="rId10"/>
    <p:sldId id="504" r:id="rId11"/>
    <p:sldId id="505" r:id="rId12"/>
    <p:sldId id="506" r:id="rId13"/>
    <p:sldId id="507" r:id="rId14"/>
    <p:sldId id="508" r:id="rId15"/>
    <p:sldId id="696" r:id="rId16"/>
    <p:sldId id="541" r:id="rId17"/>
    <p:sldId id="542" r:id="rId18"/>
    <p:sldId id="543" r:id="rId19"/>
    <p:sldId id="544" r:id="rId20"/>
    <p:sldId id="545" r:id="rId21"/>
    <p:sldId id="546" r:id="rId22"/>
    <p:sldId id="547" r:id="rId23"/>
    <p:sldId id="548" r:id="rId24"/>
    <p:sldId id="549" r:id="rId25"/>
    <p:sldId id="550" r:id="rId26"/>
    <p:sldId id="551" r:id="rId27"/>
    <p:sldId id="552" r:id="rId28"/>
    <p:sldId id="695" r:id="rId29"/>
    <p:sldId id="630" r:id="rId30"/>
    <p:sldId id="590" r:id="rId31"/>
    <p:sldId id="591" r:id="rId32"/>
    <p:sldId id="592" r:id="rId33"/>
    <p:sldId id="593" r:id="rId34"/>
    <p:sldId id="594" r:id="rId35"/>
    <p:sldId id="595" r:id="rId36"/>
    <p:sldId id="596" r:id="rId37"/>
    <p:sldId id="597" r:id="rId38"/>
    <p:sldId id="598" r:id="rId39"/>
    <p:sldId id="599" r:id="rId40"/>
    <p:sldId id="600" r:id="rId41"/>
    <p:sldId id="631" r:id="rId42"/>
    <p:sldId id="602" r:id="rId43"/>
    <p:sldId id="603" r:id="rId44"/>
    <p:sldId id="604" r:id="rId45"/>
    <p:sldId id="605" r:id="rId46"/>
    <p:sldId id="606" r:id="rId47"/>
    <p:sldId id="607" r:id="rId48"/>
    <p:sldId id="608" r:id="rId49"/>
    <p:sldId id="609" r:id="rId50"/>
    <p:sldId id="610" r:id="rId51"/>
    <p:sldId id="611" r:id="rId52"/>
    <p:sldId id="612" r:id="rId53"/>
    <p:sldId id="613" r:id="rId54"/>
    <p:sldId id="614" r:id="rId55"/>
    <p:sldId id="615" r:id="rId56"/>
    <p:sldId id="616" r:id="rId57"/>
    <p:sldId id="617" r:id="rId58"/>
    <p:sldId id="618" r:id="rId59"/>
    <p:sldId id="619" r:id="rId60"/>
    <p:sldId id="620" r:id="rId61"/>
    <p:sldId id="621" r:id="rId62"/>
    <p:sldId id="622" r:id="rId63"/>
    <p:sldId id="623" r:id="rId64"/>
    <p:sldId id="624" r:id="rId65"/>
    <p:sldId id="625" r:id="rId66"/>
    <p:sldId id="276" r:id="rId67"/>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026" userDrawn="1">
          <p15:clr>
            <a:srgbClr val="A4A3A4"/>
          </p15:clr>
        </p15:guide>
        <p15:guide id="2" pos="29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000000"/>
    <a:srgbClr val="2A684C"/>
    <a:srgbClr val="FFFF99"/>
    <a:srgbClr val="CCFF66"/>
    <a:srgbClr val="447EC4"/>
    <a:srgbClr val="C0C0C0"/>
    <a:srgbClr val="CFDB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64"/>
    <p:restoredTop sz="94660"/>
  </p:normalViewPr>
  <p:slideViewPr>
    <p:cSldViewPr snapToObjects="1" showGuides="1">
      <p:cViewPr varScale="1">
        <p:scale>
          <a:sx n="75" d="100"/>
          <a:sy n="75" d="100"/>
        </p:scale>
        <p:origin x="1017" y="-72"/>
      </p:cViewPr>
      <p:guideLst>
        <p:guide orient="horz" pos="2026"/>
        <p:guide pos="2924"/>
      </p:guideLst>
    </p:cSldViewPr>
  </p:slideViewPr>
  <p:notesTextViewPr>
    <p:cViewPr>
      <p:scale>
        <a:sx n="100" d="100"/>
        <a:sy n="100" d="100"/>
      </p:scale>
      <p:origin x="0" y="0"/>
    </p:cViewPr>
  </p:notesTextViewPr>
  <p:sorterViewPr showFormatting="0">
    <p:cViewPr>
      <p:scale>
        <a:sx n="66" d="100"/>
        <a:sy n="66" d="100"/>
      </p:scale>
      <p:origin x="0" y="93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11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8"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11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mn-ea"/>
              <a:cs typeface="+mn-cs"/>
            </a:endParaRPr>
          </a:p>
        </p:txBody>
      </p:sp>
      <p:sp>
        <p:nvSpPr>
          <p:cNvPr id="911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11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Ref idx="1001">
        <a:schemeClr val="bg2"/>
      </p:bgRef>
    </p:bg>
    <p:spTree>
      <p:nvGrpSpPr>
        <p:cNvPr id="1" name=""/>
        <p:cNvGrpSpPr/>
        <p:nvPr/>
      </p:nvGrpSpPr>
      <p:grpSpPr>
        <a:xfrm>
          <a:off x="0" y="0"/>
          <a:ext cx="0" cy="0"/>
          <a:chOff x="0" y="0"/>
          <a:chExt cx="0" cy="0"/>
        </a:xfrm>
      </p:grpSpPr>
      <p:pic>
        <p:nvPicPr>
          <p:cNvPr id="2050" name="Picture 25"/>
          <p:cNvPicPr>
            <a:picLocks noChangeAspect="1"/>
          </p:cNvPicPr>
          <p:nvPr userDrawn="1"/>
        </p:nvPicPr>
        <p:blipFill>
          <a:blip r:embed="rId2"/>
          <a:stretch>
            <a:fillRect/>
          </a:stretch>
        </p:blipFill>
        <p:spPr>
          <a:xfrm>
            <a:off x="0" y="2714625"/>
            <a:ext cx="9144000" cy="4357688"/>
          </a:xfrm>
          <a:prstGeom prst="rect">
            <a:avLst/>
          </a:prstGeom>
          <a:noFill/>
          <a:ln w="9525">
            <a:noFill/>
          </a:ln>
        </p:spPr>
      </p:pic>
      <p:pic>
        <p:nvPicPr>
          <p:cNvPr id="2051" name="Picture 25"/>
          <p:cNvPicPr>
            <a:picLocks noChangeAspect="1"/>
          </p:cNvPicPr>
          <p:nvPr userDrawn="1"/>
        </p:nvPicPr>
        <p:blipFill>
          <a:blip r:embed="rId2"/>
          <a:stretch>
            <a:fillRect/>
          </a:stretch>
        </p:blipFill>
        <p:spPr>
          <a:xfrm>
            <a:off x="0" y="1000125"/>
            <a:ext cx="9144000" cy="447675"/>
          </a:xfrm>
          <a:prstGeom prst="rect">
            <a:avLst/>
          </a:prstGeom>
          <a:noFill/>
          <a:ln w="9525">
            <a:noFill/>
          </a:ln>
        </p:spPr>
      </p:pic>
      <p:pic>
        <p:nvPicPr>
          <p:cNvPr id="2052" name="Picture 26"/>
          <p:cNvPicPr>
            <a:picLocks noChangeAspect="1"/>
          </p:cNvPicPr>
          <p:nvPr userDrawn="1"/>
        </p:nvPicPr>
        <p:blipFill>
          <a:blip r:embed="rId3"/>
          <a:stretch>
            <a:fillRect/>
          </a:stretch>
        </p:blipFill>
        <p:spPr>
          <a:xfrm>
            <a:off x="0" y="357188"/>
            <a:ext cx="9144000" cy="784225"/>
          </a:xfrm>
          <a:prstGeom prst="rect">
            <a:avLst/>
          </a:prstGeom>
          <a:noFill/>
          <a:ln w="9525">
            <a:noFill/>
          </a:ln>
        </p:spPr>
      </p:pic>
      <p:pic>
        <p:nvPicPr>
          <p:cNvPr id="2053" name="Picture 25"/>
          <p:cNvPicPr>
            <a:picLocks noChangeAspect="1"/>
          </p:cNvPicPr>
          <p:nvPr userDrawn="1"/>
        </p:nvPicPr>
        <p:blipFill>
          <a:blip r:embed="rId2"/>
          <a:stretch>
            <a:fillRect/>
          </a:stretch>
        </p:blipFill>
        <p:spPr>
          <a:xfrm>
            <a:off x="0" y="1071563"/>
            <a:ext cx="9144000" cy="447675"/>
          </a:xfrm>
          <a:prstGeom prst="rect">
            <a:avLst/>
          </a:prstGeom>
          <a:noFill/>
          <a:ln w="9525">
            <a:noFill/>
          </a:ln>
        </p:spPr>
      </p:pic>
      <p:pic>
        <p:nvPicPr>
          <p:cNvPr id="2054" name="Picture 25"/>
          <p:cNvPicPr>
            <a:picLocks noChangeAspect="1"/>
          </p:cNvPicPr>
          <p:nvPr userDrawn="1"/>
        </p:nvPicPr>
        <p:blipFill>
          <a:blip r:embed="rId2"/>
          <a:stretch>
            <a:fillRect/>
          </a:stretch>
        </p:blipFill>
        <p:spPr>
          <a:xfrm>
            <a:off x="0" y="1000125"/>
            <a:ext cx="9144000" cy="214313"/>
          </a:xfrm>
          <a:prstGeom prst="rect">
            <a:avLst/>
          </a:prstGeom>
          <a:noFill/>
          <a:ln w="9525">
            <a:noFill/>
          </a:ln>
        </p:spPr>
      </p:pic>
      <p:pic>
        <p:nvPicPr>
          <p:cNvPr id="2055" name="Picture 25"/>
          <p:cNvPicPr>
            <a:picLocks noChangeAspect="1"/>
          </p:cNvPicPr>
          <p:nvPr userDrawn="1"/>
        </p:nvPicPr>
        <p:blipFill>
          <a:blip r:embed="rId2"/>
          <a:stretch>
            <a:fillRect/>
          </a:stretch>
        </p:blipFill>
        <p:spPr>
          <a:xfrm>
            <a:off x="0" y="2571750"/>
            <a:ext cx="9144000" cy="214313"/>
          </a:xfrm>
          <a:prstGeom prst="rect">
            <a:avLst/>
          </a:prstGeom>
          <a:noFill/>
          <a:ln w="9525">
            <a:noFill/>
          </a:ln>
        </p:spPr>
      </p:pic>
      <p:pic>
        <p:nvPicPr>
          <p:cNvPr id="2056" name="Picture 24"/>
          <p:cNvPicPr>
            <a:picLocks noChangeAspect="1"/>
          </p:cNvPicPr>
          <p:nvPr userDrawn="1"/>
        </p:nvPicPr>
        <p:blipFill>
          <a:blip r:embed="rId4"/>
          <a:stretch>
            <a:fillRect/>
          </a:stretch>
        </p:blipFill>
        <p:spPr>
          <a:xfrm>
            <a:off x="0" y="1000125"/>
            <a:ext cx="9144000" cy="1571625"/>
          </a:xfrm>
          <a:prstGeom prst="rect">
            <a:avLst/>
          </a:prstGeom>
          <a:noFill/>
          <a:ln w="9525">
            <a:noFill/>
          </a:ln>
        </p:spPr>
      </p:pic>
      <p:pic>
        <p:nvPicPr>
          <p:cNvPr id="2057" name="Picture 25"/>
          <p:cNvPicPr>
            <a:picLocks noChangeAspect="1"/>
          </p:cNvPicPr>
          <p:nvPr userDrawn="1"/>
        </p:nvPicPr>
        <p:blipFill>
          <a:blip r:embed="rId2"/>
          <a:stretch>
            <a:fillRect/>
          </a:stretch>
        </p:blipFill>
        <p:spPr>
          <a:xfrm>
            <a:off x="0" y="2143125"/>
            <a:ext cx="9144000" cy="285750"/>
          </a:xfrm>
          <a:prstGeom prst="rect">
            <a:avLst/>
          </a:prstGeom>
          <a:noFill/>
          <a:ln w="9525">
            <a:noFill/>
          </a:ln>
        </p:spPr>
      </p:pic>
      <p:pic>
        <p:nvPicPr>
          <p:cNvPr id="2058" name="Picture 25"/>
          <p:cNvPicPr>
            <a:picLocks noChangeAspect="1"/>
          </p:cNvPicPr>
          <p:nvPr userDrawn="1"/>
        </p:nvPicPr>
        <p:blipFill>
          <a:blip r:embed="rId2"/>
          <a:stretch>
            <a:fillRect/>
          </a:stretch>
        </p:blipFill>
        <p:spPr>
          <a:xfrm>
            <a:off x="0" y="2857500"/>
            <a:ext cx="9144000" cy="214313"/>
          </a:xfrm>
          <a:prstGeom prst="rect">
            <a:avLst/>
          </a:prstGeom>
          <a:noFill/>
          <a:ln w="9525">
            <a:noFill/>
          </a:ln>
        </p:spPr>
      </p:pic>
      <p:pic>
        <p:nvPicPr>
          <p:cNvPr id="2059" name="Picture 25"/>
          <p:cNvPicPr>
            <a:picLocks noChangeAspect="1"/>
          </p:cNvPicPr>
          <p:nvPr userDrawn="1"/>
        </p:nvPicPr>
        <p:blipFill>
          <a:blip r:embed="rId2"/>
          <a:stretch>
            <a:fillRect/>
          </a:stretch>
        </p:blipFill>
        <p:spPr>
          <a:xfrm>
            <a:off x="0" y="3143250"/>
            <a:ext cx="9144000" cy="214313"/>
          </a:xfrm>
          <a:prstGeom prst="rect">
            <a:avLst/>
          </a:prstGeom>
          <a:noFill/>
          <a:ln w="9525">
            <a:noFill/>
          </a:ln>
        </p:spPr>
      </p:pic>
      <p:pic>
        <p:nvPicPr>
          <p:cNvPr id="2060" name="Picture 25"/>
          <p:cNvPicPr>
            <a:picLocks noChangeAspect="1"/>
          </p:cNvPicPr>
          <p:nvPr userDrawn="1"/>
        </p:nvPicPr>
        <p:blipFill>
          <a:blip r:embed="rId5"/>
          <a:stretch>
            <a:fillRect/>
          </a:stretch>
        </p:blipFill>
        <p:spPr>
          <a:xfrm>
            <a:off x="0" y="0"/>
            <a:ext cx="9144000" cy="500063"/>
          </a:xfrm>
          <a:prstGeom prst="rect">
            <a:avLst/>
          </a:prstGeom>
          <a:noFill/>
          <a:ln w="9525">
            <a:noFill/>
          </a:ln>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aseline="0"/>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19225"/>
            <a:ext cx="4038600" cy="487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419225"/>
            <a:ext cx="4038600" cy="487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731838"/>
            <a:ext cx="2057400" cy="55673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731838"/>
            <a:ext cx="6019800" cy="556736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33425" y="731838"/>
            <a:ext cx="7800975" cy="563562"/>
          </a:xfrm>
        </p:spPr>
        <p:txBody>
          <a:bodyPr/>
          <a:lstStyle/>
          <a:p>
            <a:r>
              <a:rPr lang="zh-CN" altLang="en-US" smtClean="0"/>
              <a:t>单击此处编辑母版标题样式</a:t>
            </a:r>
            <a:endParaRPr lang="zh-CN" altLang="en-US"/>
          </a:p>
        </p:txBody>
      </p:sp>
      <p:sp>
        <p:nvSpPr>
          <p:cNvPr id="3" name="表格占位符 2"/>
          <p:cNvSpPr>
            <a:spLocks noGrp="1"/>
          </p:cNvSpPr>
          <p:nvPr>
            <p:ph type="tbl" idx="1" hasCustomPrompt="1"/>
          </p:nvPr>
        </p:nvSpPr>
        <p:spPr>
          <a:xfrm>
            <a:off x="457200" y="1419225"/>
            <a:ext cx="8229600" cy="48799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单击图标添加表格</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Rect 0"/>
          <p:cNvSpPr txBox="1">
            <a:spLocks noGrp="1"/>
          </p:cNvSpPr>
          <p:nvPr>
            <p:ph type="ctrTitle"/>
          </p:nvPr>
        </p:nvSpPr>
        <p:spPr>
          <a:xfrm>
            <a:off x="1143000" y="1122680"/>
            <a:ext cx="6858635" cy="2388235"/>
          </a:xfrm>
          <a:prstGeom prst="rect">
            <a:avLst/>
          </a:prstGeom>
        </p:spPr>
        <p:txBody>
          <a:bodyPr vert="horz" wrap="square" lIns="91440" tIns="45720" rIns="91440" bIns="45720" anchor="b">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subTitle"/>
          </p:nvPr>
        </p:nvSpPr>
        <p:spPr>
          <a:xfrm>
            <a:off x="1143000" y="3602355"/>
            <a:ext cx="6858635" cy="1655445"/>
          </a:xfrm>
          <a:prstGeom prst="rect">
            <a:avLst/>
          </a:prstGeom>
        </p:spPr>
        <p:txBody>
          <a:bodyPr vert="horz" wrap="square" lIns="91440" tIns="45720" rIns="91440" bIns="45720" anchor="t">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单击此处编辑母版副标题样式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  </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Rect 0"/>
          <p:cNvSpPr txBox="1">
            <a:spLocks noGrp="1"/>
          </p:cNvSpPr>
          <p:nvPr>
            <p:ph type="title"/>
          </p:nvPr>
        </p:nvSpPr>
        <p:spPr>
          <a:xfrm>
            <a:off x="628650" y="365125"/>
            <a:ext cx="7887335" cy="132651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hasCustomPrompt="1"/>
          </p:nvPr>
        </p:nvSpPr>
        <p:spPr>
          <a:xfrm>
            <a:off x="628650" y="1825625"/>
            <a:ext cx="7887335" cy="4351655"/>
          </a:xfrm>
          <a:prstGeom prst="rect">
            <a:avLst/>
          </a:prstGeom>
        </p:spPr>
        <p:txBody>
          <a:bodyPr vert="horz" wrap="square" lIns="91440" tIns="45720" rIns="91440" bIns="45720" anchor="t">
            <a:normAutofit/>
          </a:bodyPr>
          <a:lstStyle>
            <a:lvl1pPr/>
            <a:lvl2pPr/>
          </a:lstStyle>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50000"/>
              </a:lnSpc>
              <a:spcBef>
                <a:spcPts val="12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50000"/>
              </a:lnSpc>
              <a:spcBef>
                <a:spcPts val="12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50000"/>
              </a:lnSpc>
              <a:spcBef>
                <a:spcPts val="12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Rect 0"/>
          <p:cNvSpPr txBox="1">
            <a:spLocks noGrp="1"/>
          </p:cNvSpPr>
          <p:nvPr>
            <p:ph type="title"/>
          </p:nvPr>
        </p:nvSpPr>
        <p:spPr>
          <a:xfrm>
            <a:off x="623570" y="1710055"/>
            <a:ext cx="7887335" cy="2853055"/>
          </a:xfrm>
          <a:prstGeom prst="rect">
            <a:avLst/>
          </a:prstGeom>
        </p:spPr>
        <p:txBody>
          <a:bodyPr vert="horz" wrap="square" lIns="91440" tIns="45720" rIns="91440" bIns="45720" anchor="b">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p:nvPr>
        </p:nvSpPr>
        <p:spPr>
          <a:xfrm>
            <a:off x="623570" y="4589780"/>
            <a:ext cx="7887335" cy="1500505"/>
          </a:xfrm>
          <a:prstGeom prst="rect">
            <a:avLst/>
          </a:prstGeom>
        </p:spPr>
        <p:txBody>
          <a:bodyPr vert="horz" wrap="square" lIns="91440" tIns="45720" rIns="91440" bIns="45720" anchor="t">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Rect 0"/>
          <p:cNvSpPr txBox="1">
            <a:spLocks noGrp="1"/>
          </p:cNvSpPr>
          <p:nvPr>
            <p:ph type="title"/>
          </p:nvPr>
        </p:nvSpPr>
        <p:spPr>
          <a:xfrm>
            <a:off x="628650" y="365125"/>
            <a:ext cx="7887335" cy="132651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hasCustomPrompt="1"/>
          </p:nvPr>
        </p:nvSpPr>
        <p:spPr>
          <a:xfrm>
            <a:off x="628650" y="1825625"/>
            <a:ext cx="3886835" cy="4351655"/>
          </a:xfrm>
          <a:prstGeom prst="rect">
            <a:avLst/>
          </a:prstGeom>
        </p:spPr>
        <p:txBody>
          <a:bodyPr vert="horz" wrap="square" lIns="91440" tIns="45720" rIns="91440" bIns="45720" anchor="t">
            <a:normAutofit/>
          </a:bodyPr>
          <a:lstStyle>
            <a:lvl1pPr/>
            <a:lvl2pPr/>
          </a:lstStyle>
          <a:p>
            <a:pPr marL="342900" indent="-342900" algn="l" defTabSz="914400" eaLnBrk="1" fontAlgn="base" latinLnBrk="0" hangingPunct="1">
              <a:lnSpc>
                <a:spcPct val="100000"/>
              </a:lnSpc>
              <a:spcBef>
                <a:spcPts val="7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100000"/>
              </a:lnSpc>
              <a:spcBef>
                <a:spcPts val="6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0" indent="0" algn="l" defTabSz="914400" eaLnBrk="1" fontAlgn="base" latinLnBrk="0" hangingPunct="1">
              <a:lnSpc>
                <a:spcPct val="100000"/>
              </a:lnSpc>
              <a:spcBef>
                <a:spcPts val="0"/>
              </a:spcBef>
              <a:spcAft>
                <a:spcPts val="0"/>
              </a:spcAft>
              <a:buFontTx/>
              <a:buNone/>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0" indent="0" algn="l" defTabSz="914400" eaLnBrk="1" fontAlgn="base" latinLnBrk="0" hangingPunct="1">
              <a:lnSpc>
                <a:spcPct val="100000"/>
              </a:lnSpc>
              <a:spcBef>
                <a:spcPts val="0"/>
              </a:spcBef>
              <a:spcAft>
                <a:spcPts val="0"/>
              </a:spcAft>
              <a:buFontTx/>
              <a:buNone/>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00000"/>
              </a:lnSpc>
              <a:spcBef>
                <a:spcPts val="1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hasCustomPrompt="1"/>
          </p:nvPr>
        </p:nvSpPr>
        <p:spPr>
          <a:xfrm>
            <a:off x="4629150" y="1825625"/>
            <a:ext cx="3886835" cy="4351655"/>
          </a:xfrm>
          <a:prstGeom prst="rect">
            <a:avLst/>
          </a:prstGeom>
        </p:spPr>
        <p:txBody>
          <a:bodyPr vert="horz" wrap="square" lIns="91440" tIns="45720" rIns="91440" bIns="45720" anchor="t">
            <a:norm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00000"/>
              </a:lnSpc>
              <a:spcBef>
                <a:spcPts val="1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00000"/>
              </a:lnSpc>
              <a:spcBef>
                <a:spcPts val="1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6" name="Rect 0"/>
          <p:cNvSpPr txBox="1">
            <a:spLocks noGrp="1"/>
          </p:cNvSpPr>
          <p:nvPr>
            <p:ph type="ftr"/>
          </p:nvPr>
        </p:nvSpPr>
        <p:spPr>
          <a:xfrm>
            <a:off x="3028950" y="6356350"/>
            <a:ext cx="3086735" cy="365125"/>
          </a:xfrm>
          <a:prstGeom prst="rect">
            <a:avLst/>
          </a:prstGeom>
        </p:spPr>
      </p:sp>
      <p:sp>
        <p:nvSpPr>
          <p:cNvPr id="7"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&amp;&amp;</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Rect 0"/>
          <p:cNvSpPr txBox="1">
            <a:spLocks noGrp="1"/>
          </p:cNvSpPr>
          <p:nvPr>
            <p:ph type="title"/>
          </p:nvPr>
        </p:nvSpPr>
        <p:spPr>
          <a:xfrm>
            <a:off x="629920" y="365125"/>
            <a:ext cx="7887335" cy="132651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p:nvPr>
        </p:nvSpPr>
        <p:spPr>
          <a:xfrm>
            <a:off x="630555" y="1681480"/>
            <a:ext cx="3867785" cy="823595"/>
          </a:xfrm>
          <a:prstGeom prst="rect">
            <a:avLst/>
          </a:prstGeom>
        </p:spPr>
        <p:txBody>
          <a:bodyPr vert="horz" wrap="square" lIns="91440" tIns="45720" rIns="91440" bIns="45720" anchor="b">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hasCustomPrompt="1"/>
          </p:nvPr>
        </p:nvSpPr>
        <p:spPr>
          <a:xfrm>
            <a:off x="630555" y="2505075"/>
            <a:ext cx="3867785" cy="3684905"/>
          </a:xfrm>
          <a:prstGeom prst="rect">
            <a:avLst/>
          </a:prstGeom>
        </p:spPr>
        <p:txBody>
          <a:bodyPr vert="horz" wrap="square" lIns="91440" tIns="45720" rIns="91440" bIns="45720" anchor="t">
            <a:normAutofit/>
          </a:bodyPr>
          <a:lstStyle>
            <a:lvl1pPr/>
            <a:lvl2pPr/>
          </a:lstStyle>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0" indent="0" algn="l" defTabSz="914400" eaLnBrk="0" fontAlgn="base" latinLnBrk="0" hangingPunct="0">
              <a:lnSpc>
                <a:spcPct val="100000"/>
              </a:lnSpc>
              <a:spcBef>
                <a:spcPts val="700"/>
              </a:spcBef>
              <a:spcAft>
                <a:spcPts val="0"/>
              </a:spcAft>
              <a:buFontTx/>
              <a:buNone/>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0" indent="0" algn="l" defTabSz="914400" eaLnBrk="0" fontAlgn="base" latinLnBrk="0" hangingPunct="0">
              <a:lnSpc>
                <a:spcPct val="100000"/>
              </a:lnSpc>
              <a:spcBef>
                <a:spcPts val="700"/>
              </a:spcBef>
              <a:spcAft>
                <a:spcPts val="0"/>
              </a:spcAft>
              <a:buFontTx/>
              <a:buNone/>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body"/>
          </p:nvPr>
        </p:nvSpPr>
        <p:spPr>
          <a:xfrm>
            <a:off x="4628515" y="1681480"/>
            <a:ext cx="3888105" cy="823595"/>
          </a:xfrm>
          <a:prstGeom prst="rect">
            <a:avLst/>
          </a:prstGeom>
        </p:spPr>
        <p:txBody>
          <a:bodyPr vert="horz" wrap="square" lIns="91440" tIns="45720" rIns="91440" bIns="45720" anchor="b">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6" name="Rect 0"/>
          <p:cNvSpPr txBox="1">
            <a:spLocks noGrp="1"/>
          </p:cNvSpPr>
          <p:nvPr>
            <p:ph hasCustomPrompt="1"/>
          </p:nvPr>
        </p:nvSpPr>
        <p:spPr>
          <a:xfrm>
            <a:off x="4628515" y="2505075"/>
            <a:ext cx="3888105" cy="3684905"/>
          </a:xfrm>
          <a:prstGeom prst="rect">
            <a:avLst/>
          </a:prstGeom>
        </p:spPr>
        <p:txBody>
          <a:bodyPr vert="horz" wrap="square" lIns="91440" tIns="45720" rIns="91440" bIns="45720" anchor="t">
            <a:normAutofit/>
          </a:bodyPr>
          <a:lstStyle>
            <a:lvl1pPr/>
          </a:lstStyle>
          <a:p>
            <a:pPr marL="742950" indent="-285750" algn="l" defTabSz="914400" eaLnBrk="0" fontAlgn="base" latinLnBrk="0" hangingPunct="0">
              <a:lnSpc>
                <a:spcPct val="100000"/>
              </a:lnSpc>
              <a:spcBef>
                <a:spcPts val="6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12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1200"/>
              </a:spcBef>
              <a:spcAft>
                <a:spcPts val="0"/>
              </a:spcAft>
              <a:buFontTx/>
              <a:buNone/>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0" fontAlgn="base" latinLnBrk="0" hangingPunct="0">
              <a:lnSpc>
                <a:spcPct val="100000"/>
              </a:lnSpc>
              <a:spcBef>
                <a:spcPts val="6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7"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8" name="Rect 0"/>
          <p:cNvSpPr txBox="1">
            <a:spLocks noGrp="1"/>
          </p:cNvSpPr>
          <p:nvPr>
            <p:ph type="ftr"/>
          </p:nvPr>
        </p:nvSpPr>
        <p:spPr>
          <a:xfrm>
            <a:off x="3028950" y="6356350"/>
            <a:ext cx="3086735" cy="365125"/>
          </a:xfrm>
          <a:prstGeom prst="rect">
            <a:avLst/>
          </a:prstGeom>
        </p:spPr>
      </p:sp>
      <p:sp>
        <p:nvSpPr>
          <p:cNvPr id="9"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Rect 0"/>
          <p:cNvSpPr txBox="1">
            <a:spLocks noGrp="1"/>
          </p:cNvSpPr>
          <p:nvPr>
            <p:ph type="title"/>
          </p:nvPr>
        </p:nvSpPr>
        <p:spPr>
          <a:xfrm>
            <a:off x="674370" y="241300"/>
            <a:ext cx="7887335" cy="56197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p:txBody>
      </p:sp>
      <p:sp>
        <p:nvSpPr>
          <p:cNvPr id="4" name="Rect 0"/>
          <p:cNvSpPr txBox="1">
            <a:spLocks noGrp="1"/>
          </p:cNvSpPr>
          <p:nvPr>
            <p:ph type="ftr"/>
          </p:nvPr>
        </p:nvSpPr>
        <p:spPr>
          <a:xfrm>
            <a:off x="3028950" y="6356350"/>
            <a:ext cx="3086735" cy="365125"/>
          </a:xfrm>
          <a:prstGeom prst="rect">
            <a:avLst/>
          </a:prstGeom>
        </p:spPr>
      </p:sp>
      <p:sp>
        <p:nvSpPr>
          <p:cNvPr id="5"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空白">
    <p:bg>
      <p:bgPr>
        <a:blipFill rotWithShape="1">
          <a:blip r:embed="rId2" cstate="print">
            <a:extLst>
              <a:ext uri="{28A0092B-C50C-407E-A947-70E740481C1C}">
                <a14:useLocalDpi xmlns:a14="http://schemas.microsoft.com/office/drawing/2010/main" val="0"/>
              </a:ext>
            </a:extLst>
          </a:blip>
          <a:srcRect/>
          <a:stretch>
            <a:fillRect l="-17000" r="-17000"/>
          </a:stretch>
        </a:blipFill>
        <a:effectLst/>
      </p:bgPr>
    </p:bg>
    <p:spTree>
      <p:nvGrpSpPr>
        <p:cNvPr id="1" name=""/>
        <p:cNvGrpSpPr/>
        <p:nvPr/>
      </p:nvGrpSpPr>
      <p:grpSpPr>
        <a:xfrm>
          <a:off x="0" y="0"/>
          <a:ext cx="0" cy="0"/>
          <a:chOff x="0" y="0"/>
          <a:chExt cx="0" cy="0"/>
        </a:xfrm>
      </p:grpSpPr>
      <p:sp>
        <p:nvSpPr>
          <p:cNvPr id="2"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p/>
        </p:txBody>
      </p:sp>
      <p:sp>
        <p:nvSpPr>
          <p:cNvPr id="3" name="Rect 0"/>
          <p:cNvSpPr txBox="1">
            <a:spLocks noGrp="1"/>
          </p:cNvSpPr>
          <p:nvPr>
            <p:ph type="ftr"/>
          </p:nvPr>
        </p:nvSpPr>
        <p:spPr>
          <a:xfrm>
            <a:off x="3028950" y="6356350"/>
            <a:ext cx="3086735" cy="365125"/>
          </a:xfrm>
          <a:prstGeom prst="rect">
            <a:avLst/>
          </a:prstGeom>
        </p:spPr>
      </p:sp>
      <p:sp>
        <p:nvSpPr>
          <p:cNvPr id="4"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2" name="Rect 0"/>
          <p:cNvSpPr txBox="1">
            <a:spLocks noGrp="1"/>
          </p:cNvSpPr>
          <p:nvPr>
            <p:ph type="title"/>
          </p:nvPr>
        </p:nvSpPr>
        <p:spPr>
          <a:xfrm>
            <a:off x="629920" y="457200"/>
            <a:ext cx="2949575" cy="1600835"/>
          </a:xfrm>
          <a:prstGeom prst="rect">
            <a:avLst/>
          </a:prstGeom>
        </p:spPr>
        <p:txBody>
          <a:bodyPr vert="horz" wrap="square" lIns="91440" tIns="45720" rIns="91440" bIns="45720" anchor="b">
            <a:norm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hasCustomPrompt="1"/>
          </p:nvPr>
        </p:nvSpPr>
        <p:spPr>
          <a:xfrm>
            <a:off x="3887470" y="987425"/>
            <a:ext cx="4629785" cy="4873625"/>
          </a:xfrm>
          <a:prstGeom prst="rect">
            <a:avLst/>
          </a:prstGeom>
        </p:spPr>
        <p:txBody>
          <a:bodyPr vert="horz" wrap="square" lIns="91440" tIns="45720" rIns="91440" bIns="45720" anchor="t">
            <a:normAutofit/>
          </a:bodyPr>
          <a:lstStyle>
            <a:lvl1pPr/>
            <a:lvl2pPr/>
          </a:lstStyle>
          <a:p>
            <a:pPr marL="342900" indent="-342900" algn="l" defTabSz="914400" eaLnBrk="0" fontAlgn="base" latinLnBrk="0" hangingPunct="0">
              <a:lnSpc>
                <a:spcPct val="100000"/>
              </a:lnSpc>
              <a:spcBef>
                <a:spcPts val="1200"/>
              </a:spcBef>
              <a:spcAft>
                <a:spcPts val="0"/>
              </a:spcAft>
              <a:defRPr sz="1800"/>
            </a:pPr>
            <a:r>
              <a:rPr sz="1000" b="0" i="0">
                <a:solidFill>
                  <a:schemeClr val="tx1"/>
                </a:solidFill>
                <a:latin typeface="Arial" panose="020B0604020202020204" pitchFamily="34" charset="0"/>
                <a:ea typeface="宋体" panose="02010600030101010101" pitchFamily="2" charset="-122"/>
              </a:rPr>
              <a:t>•	</a:t>
            </a:r>
            <a:r>
              <a:rPr lang="zh-CN" altLang="en-US"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1200"/>
              </a:spcBef>
              <a:spcAft>
                <a:spcPts val="0"/>
              </a:spcAft>
              <a:buFontTx/>
              <a:buNone/>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0" indent="0" algn="l" defTabSz="914400" eaLnBrk="1" fontAlgn="base" latinLnBrk="0" hangingPunct="1">
              <a:lnSpc>
                <a:spcPct val="100000"/>
              </a:lnSpc>
              <a:spcBef>
                <a:spcPts val="0"/>
              </a:spcBef>
              <a:spcAft>
                <a:spcPts val="0"/>
              </a:spcAft>
              <a:buFontTx/>
              <a:buNone/>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0" fontAlgn="base" latinLnBrk="0" hangingPunct="0">
              <a:lnSpc>
                <a:spcPct val="100000"/>
              </a:lnSpc>
              <a:spcBef>
                <a:spcPts val="6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body"/>
          </p:nvPr>
        </p:nvSpPr>
        <p:spPr>
          <a:xfrm>
            <a:off x="629920" y="2057400"/>
            <a:ext cx="2949575" cy="3811905"/>
          </a:xfrm>
          <a:prstGeom prst="rect">
            <a:avLst/>
          </a:prstGeom>
        </p:spPr>
        <p:txBody>
          <a:bodyPr vert="horz" wrap="square" lIns="91440" tIns="45720" rIns="91440" bIns="45720" anchor="t">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6" name="Rect 0"/>
          <p:cNvSpPr txBox="1">
            <a:spLocks noGrp="1"/>
          </p:cNvSpPr>
          <p:nvPr>
            <p:ph type="ftr"/>
          </p:nvPr>
        </p:nvSpPr>
        <p:spPr>
          <a:xfrm>
            <a:off x="3028950" y="6356350"/>
            <a:ext cx="3086735" cy="365125"/>
          </a:xfrm>
          <a:prstGeom prst="rect">
            <a:avLst/>
          </a:prstGeom>
        </p:spPr>
      </p:sp>
      <p:sp>
        <p:nvSpPr>
          <p:cNvPr id="7"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2" name="Rect 0"/>
          <p:cNvSpPr txBox="1">
            <a:spLocks noGrp="1"/>
          </p:cNvSpPr>
          <p:nvPr>
            <p:ph type="title"/>
          </p:nvPr>
        </p:nvSpPr>
        <p:spPr>
          <a:xfrm>
            <a:off x="629920" y="457200"/>
            <a:ext cx="2949575" cy="1600835"/>
          </a:xfrm>
          <a:prstGeom prst="rect">
            <a:avLst/>
          </a:prstGeom>
        </p:spPr>
        <p:txBody>
          <a:bodyPr vert="horz" wrap="square" lIns="91440" tIns="45720" rIns="91440" bIns="45720" anchor="b">
            <a:norm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pic"/>
          </p:nvPr>
        </p:nvSpPr>
        <p:spPr>
          <a:xfrm>
            <a:off x="3887470" y="987425"/>
            <a:ext cx="4629785" cy="4873625"/>
          </a:xfrm>
          <a:prstGeom prst="rect">
            <a:avLst/>
          </a:prstGeom>
        </p:spPr>
      </p:sp>
      <p:sp>
        <p:nvSpPr>
          <p:cNvPr id="4" name="Rect 0"/>
          <p:cNvSpPr txBox="1">
            <a:spLocks noGrp="1"/>
          </p:cNvSpPr>
          <p:nvPr>
            <p:ph type="body"/>
          </p:nvPr>
        </p:nvSpPr>
        <p:spPr>
          <a:xfrm>
            <a:off x="629920" y="2057400"/>
            <a:ext cx="2949575" cy="3811905"/>
          </a:xfrm>
          <a:prstGeom prst="rect">
            <a:avLst/>
          </a:prstGeom>
        </p:spPr>
        <p:txBody>
          <a:bodyPr vert="horz" wrap="square" lIns="91440" tIns="45720" rIns="91440" bIns="45720" anchor="t">
            <a:normAutofit/>
          </a:bodyPr>
          <a:lstStyle>
            <a:lvl1pPr/>
          </a:lstStyle>
          <a:p>
            <a:pPr marL="342900" indent="-342900" algn="l" defTabSz="914400" eaLnBrk="0" fontAlgn="base" latinLnBrk="0" hangingPunct="0">
              <a:lnSpc>
                <a:spcPct val="100000"/>
              </a:lnSpc>
              <a:spcBef>
                <a:spcPts val="700"/>
              </a:spcBef>
              <a:spcAft>
                <a:spcPts val="0"/>
              </a:spcAft>
              <a:defRPr sz="1800"/>
            </a:pP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6" name="Rect 0"/>
          <p:cNvSpPr txBox="1">
            <a:spLocks noGrp="1"/>
          </p:cNvSpPr>
          <p:nvPr>
            <p:ph type="ftr"/>
          </p:nvPr>
        </p:nvSpPr>
        <p:spPr>
          <a:xfrm>
            <a:off x="3028950" y="6356350"/>
            <a:ext cx="3086735" cy="365125"/>
          </a:xfrm>
          <a:prstGeom prst="rect">
            <a:avLst/>
          </a:prstGeom>
        </p:spPr>
      </p:sp>
      <p:sp>
        <p:nvSpPr>
          <p:cNvPr id="7"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2" name="Rect 0"/>
          <p:cNvSpPr txBox="1">
            <a:spLocks noGrp="1"/>
          </p:cNvSpPr>
          <p:nvPr>
            <p:ph type="title"/>
          </p:nvPr>
        </p:nvSpPr>
        <p:spPr>
          <a:xfrm>
            <a:off x="628650" y="365125"/>
            <a:ext cx="7887335" cy="132651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orient="vert" hasCustomPrompt="1"/>
          </p:nvPr>
        </p:nvSpPr>
        <p:spPr>
          <a:xfrm>
            <a:off x="628650" y="1825625"/>
            <a:ext cx="7887335" cy="4351655"/>
          </a:xfrm>
          <a:prstGeom prst="rect">
            <a:avLst/>
          </a:prstGeom>
        </p:spPr>
        <p:txBody>
          <a:bodyPr vert="eaVert" wrap="square" lIns="91440" tIns="45720" rIns="91440" bIns="45720" anchor="t">
            <a:normAutofit/>
          </a:bodyPr>
          <a:lstStyle>
            <a:lvl1pPr/>
          </a:lstStyle>
          <a:p>
            <a:pPr marL="342900" indent="-342900" algn="l" defTabSz="914400" eaLnBrk="0" fontAlgn="base" latinLnBrk="0" hangingPunct="0">
              <a:lnSpc>
                <a:spcPct val="100000"/>
              </a:lnSpc>
              <a:spcBef>
                <a:spcPts val="12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cSld name="垂直排列标题与 文本">
    <p:spTree>
      <p:nvGrpSpPr>
        <p:cNvPr id="1" name=""/>
        <p:cNvGrpSpPr/>
        <p:nvPr/>
      </p:nvGrpSpPr>
      <p:grpSpPr>
        <a:xfrm>
          <a:off x="0" y="0"/>
          <a:ext cx="0" cy="0"/>
          <a:chOff x="0" y="0"/>
          <a:chExt cx="0" cy="0"/>
        </a:xfrm>
      </p:grpSpPr>
      <p:sp>
        <p:nvSpPr>
          <p:cNvPr id="2" name="Rect 0"/>
          <p:cNvSpPr txBox="1">
            <a:spLocks noGrp="1"/>
          </p:cNvSpPr>
          <p:nvPr>
            <p:ph type="title" orient="vert"/>
          </p:nvPr>
        </p:nvSpPr>
        <p:spPr>
          <a:xfrm>
            <a:off x="6543675" y="365125"/>
            <a:ext cx="1971675" cy="5812155"/>
          </a:xfrm>
          <a:prstGeom prst="rect">
            <a:avLst/>
          </a:prstGeom>
        </p:spPr>
        <p:txBody>
          <a:bodyPr vert="eaVert"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sz="1000" b="0" i="0">
                <a:solidFill>
                  <a:schemeClr val="tx1"/>
                </a:solidFill>
                <a:latin typeface="Arial" panose="020B0604020202020204" pitchFamily="34" charset="0"/>
                <a:ea typeface="宋体" panose="02010600030101010101" pitchFamily="2" charset="-122"/>
              </a:rPr>
              <a:t>单击此处编辑母版标题样式</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orient="vert" hasCustomPrompt="1"/>
          </p:nvPr>
        </p:nvSpPr>
        <p:spPr>
          <a:xfrm>
            <a:off x="628650" y="365125"/>
            <a:ext cx="5800725" cy="5812155"/>
          </a:xfrm>
          <a:prstGeom prst="rect">
            <a:avLst/>
          </a:prstGeom>
        </p:spPr>
        <p:txBody>
          <a:bodyPr vert="eaVert" wrap="square" lIns="91440" tIns="45720" rIns="91440" bIns="45720" anchor="t">
            <a:normAutofit/>
          </a:bodyPr>
          <a:lstStyle>
            <a:lvl1pPr/>
          </a:lstStyle>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单击此处编辑母版文本样式</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0" fontAlgn="base" latinLnBrk="0" hangingPunct="0">
              <a:lnSpc>
                <a:spcPct val="100000"/>
              </a:lnSpc>
              <a:spcBef>
                <a:spcPts val="12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第二级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第三级</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0" fontAlgn="base" latinLnBrk="0" hangingPunct="0">
              <a:lnSpc>
                <a:spcPct val="100000"/>
              </a:lnSpc>
              <a:spcBef>
                <a:spcPts val="12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第四级</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0" fontAlgn="base" latinLnBrk="0" hangingPunct="0">
              <a:lnSpc>
                <a:spcPct val="100000"/>
              </a:lnSpc>
              <a:spcBef>
                <a:spcPts val="700"/>
              </a:spcBef>
              <a:spcAft>
                <a:spcPts val="0"/>
              </a:spcAft>
              <a:defRPr sz="1800"/>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第五级</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a:t>
            </a:r>
            <a:endParaRPr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lvl1pPr/>
          </a:lstStyle>
          <a:p>
            <a:r>
              <a:rPr sz="1000" b="0" i="0">
                <a:solidFill>
                  <a:schemeClr val="tx1"/>
                </a:solidFill>
                <a:latin typeface="Arial" panose="020B0604020202020204" pitchFamily="34" charset="0"/>
                <a:ea typeface="宋体" panose="02010600030101010101" pitchFamily="2" charset="-122"/>
              </a:rPr>
              <a:t>00</a:t>
            </a:r>
            <a:endParaRPr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Rect 0"/>
          <p:cNvSpPr txBox="1">
            <a:spLocks noGrp="1"/>
          </p:cNvSpPr>
          <p:nvPr>
            <p:ph type="title" hasCustomPrompt="1"/>
          </p:nvPr>
        </p:nvSpPr>
        <p:spPr>
          <a:xfrm>
            <a:off x="628650" y="365125"/>
            <a:ext cx="7887335" cy="1326515"/>
          </a:xfrm>
          <a:prstGeom prst="rect">
            <a:avLst/>
          </a:prstGeom>
        </p:spPr>
        <p:txBody>
          <a:bodyPr vert="horz" wrap="square" lIns="91440" tIns="45720" rIns="91440" bIns="45720" anchor="ctr">
            <a:norm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Title</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hasCustomPrompt="1"/>
          </p:nvPr>
        </p:nvSpPr>
        <p:spPr>
          <a:xfrm>
            <a:off x="628650" y="1825625"/>
            <a:ext cx="7887335" cy="4351655"/>
          </a:xfrm>
          <a:prstGeom prst="rect">
            <a:avLst/>
          </a:prstGeom>
        </p:spPr>
        <p:txBody>
          <a:bodyPr vert="horz" wrap="square" lIns="91440" tIns="45720" rIns="91440" bIns="45720" anchor="t">
            <a:normAutofit/>
          </a:bodyPr>
          <a:lstStyle>
            <a:lvl1pPr/>
            <a:lvl2pPr/>
          </a:lstStyle>
          <a:p>
            <a:pPr marL="742950" indent="-285750" algn="l" defTabSz="914400" eaLnBrk="1" fontAlgn="base" latinLnBrk="0" hangingPunct="1">
              <a:lnSpc>
                <a:spcPct val="100000"/>
              </a:lnSpc>
              <a:spcBef>
                <a:spcPts val="700"/>
              </a:spcBef>
              <a:spcAft>
                <a:spcPts val="0"/>
              </a:spcAft>
            </a:pPr>
            <a:r>
              <a:rPr lang="zh-CN" altLang="en-US" sz="1000" b="0" i="0">
                <a:solidFill>
                  <a:schemeClr val="tx1"/>
                </a:solidFill>
                <a:latin typeface="Arial" panose="020B0604020202020204" pitchFamily="34" charset="0"/>
                <a:ea typeface="宋体" panose="02010600030101010101" pitchFamily="2" charset="-122"/>
              </a:rPr>
              <a:t>•	Text</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9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	Second level</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90000"/>
              </a:lnSpc>
              <a:spcBef>
                <a:spcPts val="700"/>
              </a:spcBef>
              <a:spcAft>
                <a:spcPts val="0"/>
              </a:spcAft>
            </a:pPr>
            <a:r>
              <a:rPr lang="zh-CN" altLang="en-US" sz="1000" b="0" i="0">
                <a:solidFill>
                  <a:schemeClr val="tx1"/>
                </a:solidFill>
                <a:latin typeface="Arial" panose="020B0604020202020204" pitchFamily="34" charset="0"/>
                <a:ea typeface="宋体" panose="02010600030101010101" pitchFamily="2" charset="-122"/>
              </a:rPr>
              <a:t>•	Third level</a:t>
            </a:r>
            <a:endParaRPr lang="ko-KR" altLang="en-US" sz="1000" b="0" i="0">
              <a:solidFill>
                <a:schemeClr val="tx1"/>
              </a:solidFill>
              <a:latin typeface="Arial" panose="020B0604020202020204" pitchFamily="34" charset="0"/>
              <a:ea typeface="宋体" panose="02010600030101010101" pitchFamily="2" charset="-122"/>
            </a:endParaRPr>
          </a:p>
          <a:p>
            <a:pPr marL="342900" indent="-342900" algn="l" defTabSz="914400" eaLnBrk="1" fontAlgn="base" latinLnBrk="0" hangingPunct="1">
              <a:lnSpc>
                <a:spcPct val="9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Fourth level</a:t>
            </a:r>
            <a:endParaRPr lang="ko-KR" altLang="en-US" sz="10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90000"/>
              </a:lnSpc>
              <a:spcBef>
                <a:spcPts val="700"/>
              </a:spcBef>
              <a:spcAft>
                <a:spcPts val="0"/>
              </a:spcAft>
            </a:pPr>
            <a:r>
              <a:rPr lang="zh-CN" altLang="en-US" sz="1000" b="0" i="0">
                <a:solidFill>
                  <a:schemeClr val="tx1"/>
                </a:solidFill>
                <a:latin typeface="Arial" panose="020B0604020202020204" pitchFamily="34" charset="0"/>
                <a:ea typeface="宋体" panose="02010600030101010101" pitchFamily="2" charset="-122"/>
              </a:rPr>
              <a:t>•	</a:t>
            </a:r>
            <a:r>
              <a:rPr sz="1000" b="0" i="0">
                <a:solidFill>
                  <a:schemeClr val="tx1"/>
                </a:solidFill>
                <a:latin typeface="Arial" panose="020B0604020202020204" pitchFamily="34" charset="0"/>
                <a:ea typeface="宋体" panose="02010600030101010101" pitchFamily="2" charset="-122"/>
              </a:rPr>
              <a:t>Fifth level</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377190" y="9944735"/>
            <a:ext cx="1737995" cy="535305"/>
          </a:xfrm>
          <a:prstGeom prst="rect">
            <a:avLst/>
          </a:prstGeom>
        </p:spPr>
        <p:txBody>
          <a:bodyPr vert="horz" wrap="square" lIns="91440" tIns="45720" rIns="91440" bIns="45720" anchor="ctr">
            <a:no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3/4/2021</a:t>
            </a:r>
            <a:endParaRPr lang="ko-KR" altLang="en-US" sz="1000" b="0" i="0">
              <a:solidFill>
                <a:schemeClr val="tx1"/>
              </a:solidFill>
              <a:latin typeface="Arial" panose="020B0604020202020204" pitchFamily="34" charset="0"/>
              <a:ea typeface="宋体" panose="02010600030101010101" pitchFamily="2" charset="-122"/>
            </a:endParaRPr>
          </a:p>
        </p:txBody>
      </p:sp>
      <p:sp>
        <p:nvSpPr>
          <p:cNvPr id="5" name="Rect 0"/>
          <p:cNvSpPr txBox="1">
            <a:spLocks noGrp="1"/>
          </p:cNvSpPr>
          <p:nvPr>
            <p:ph type="ftr"/>
          </p:nvPr>
        </p:nvSpPr>
        <p:spPr>
          <a:xfrm>
            <a:off x="2567305" y="9944735"/>
            <a:ext cx="2417445" cy="535305"/>
          </a:xfrm>
          <a:prstGeom prst="rect">
            <a:avLst/>
          </a:prstGeom>
        </p:spPr>
        <p:txBody>
          <a:bodyPr vert="horz" wrap="square" lIns="91440" tIns="45720" rIns="91440" bIns="45720" anchor="ctr">
            <a:noAutofit/>
          </a:bodyPr>
          <a:lstStyle>
            <a:lvl1pPr/>
          </a:lstStyle>
          <a:p>
            <a:pPr marL="342900" indent="-342900" algn="l" defTabSz="914400" eaLnBrk="1" fontAlgn="base" latinLnBrk="0" hangingPunct="1">
              <a:lnSpc>
                <a:spcPct val="100000"/>
              </a:lnSpc>
              <a:spcBef>
                <a:spcPts val="800"/>
              </a:spcBef>
              <a:spcAft>
                <a:spcPts val="0"/>
              </a:spcAft>
            </a:pPr>
            <a:endParaRPr lang="ko-KR" altLang="en-US" sz="1000" b="0" i="0">
              <a:solidFill>
                <a:schemeClr val="tx1"/>
              </a:solidFill>
              <a:latin typeface="Arial" panose="020B0604020202020204" pitchFamily="34" charset="0"/>
              <a:ea typeface="宋体" panose="02010600030101010101" pitchFamily="2" charset="-122"/>
            </a:endParaRPr>
          </a:p>
        </p:txBody>
      </p:sp>
      <p:sp>
        <p:nvSpPr>
          <p:cNvPr id="6" name="Rect 0"/>
          <p:cNvSpPr txBox="1">
            <a:spLocks noGrp="1"/>
          </p:cNvSpPr>
          <p:nvPr>
            <p:ph type="sldNum"/>
          </p:nvPr>
        </p:nvSpPr>
        <p:spPr>
          <a:xfrm>
            <a:off x="5438140" y="9944735"/>
            <a:ext cx="1737995" cy="535305"/>
          </a:xfrm>
          <a:prstGeom prst="rect">
            <a:avLst/>
          </a:prstGeom>
        </p:spPr>
        <p:txBody>
          <a:bodyPr vert="horz" wrap="square" lIns="91440" tIns="45720" rIns="91440" bIns="45720" anchor="ctr">
            <a:noAutofit/>
          </a:bodyPr>
          <a:lstStyle>
            <a:lvl1pPr/>
          </a:lstStyle>
          <a:p>
            <a:pPr marL="342900" indent="-342900" algn="l" defTabSz="914400" eaLnBrk="1" fontAlgn="base" latinLnBrk="0" hangingPunct="1">
              <a:lnSpc>
                <a:spcPct val="100000"/>
              </a:lnSpc>
              <a:spcBef>
                <a:spcPts val="800"/>
              </a:spcBef>
              <a:spcAft>
                <a:spcPts val="0"/>
              </a:spcAft>
            </a:pPr>
            <a:r>
              <a:rPr lang="zh-CN" altLang="en-US" sz="1000" b="0" i="0">
                <a:solidFill>
                  <a:schemeClr val="tx1"/>
                </a:solidFill>
                <a:latin typeface="Arial" panose="020B0604020202020204" pitchFamily="34" charset="0"/>
                <a:ea typeface="宋体" panose="02010600030101010101" pitchFamily="2" charset="-122"/>
              </a:rPr>
              <a:t>‹#›</a:t>
            </a:r>
            <a:endParaRPr lang="ko-KR" altLang="en-US" sz="1000" b="0" i="0">
              <a:solidFill>
                <a:schemeClr val="tx1"/>
              </a:solidFill>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6.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idx="1"/>
          </p:nvPr>
        </p:nvSpPr>
        <p:spPr>
          <a:xfrm>
            <a:off x="571500" y="1357313"/>
            <a:ext cx="8229600" cy="487997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pic>
        <p:nvPicPr>
          <p:cNvPr id="1027" name="Picture 33"/>
          <p:cNvPicPr>
            <a:picLocks noChangeAspect="1"/>
          </p:cNvPicPr>
          <p:nvPr userDrawn="1"/>
        </p:nvPicPr>
        <p:blipFill>
          <a:blip r:embed="rId14"/>
          <a:stretch>
            <a:fillRect/>
          </a:stretch>
        </p:blipFill>
        <p:spPr>
          <a:xfrm>
            <a:off x="0" y="0"/>
            <a:ext cx="9144000" cy="1335088"/>
          </a:xfrm>
          <a:prstGeom prst="rect">
            <a:avLst/>
          </a:prstGeom>
          <a:noFill/>
          <a:ln w="9525">
            <a:noFill/>
          </a:ln>
        </p:spPr>
      </p:pic>
      <p:sp>
        <p:nvSpPr>
          <p:cNvPr id="1028" name="Rectangle 2"/>
          <p:cNvSpPr>
            <a:spLocks noGrp="1"/>
          </p:cNvSpPr>
          <p:nvPr>
            <p:ph type="title"/>
          </p:nvPr>
        </p:nvSpPr>
        <p:spPr>
          <a:xfrm>
            <a:off x="0" y="222250"/>
            <a:ext cx="9144000" cy="563563"/>
          </a:xfrm>
          <a:prstGeom prst="rect">
            <a:avLst/>
          </a:prstGeom>
          <a:noFill/>
          <a:ln w="9525">
            <a:noFill/>
          </a:ln>
        </p:spPr>
        <p:txBody>
          <a:bodyPr anchor="ctr"/>
          <a:lstStyle/>
          <a:p>
            <a:pPr lvl="0"/>
            <a:r>
              <a:rPr lang="zh-CN" altLang="en-US" dirty="0"/>
              <a:t>单击此处编辑母版标题样式</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cstate="print">
            <a:extLst>
              <a:ext uri="{28A0092B-C50C-407E-A947-70E740481C1C}">
                <a14:useLocalDpi xmlns:a14="http://schemas.microsoft.com/office/drawing/2010/main" val="0"/>
              </a:ext>
            </a:extLst>
          </a:blip>
          <a:srcRect/>
          <a:stretch>
            <a:fillRect l="-3000" r="-3000"/>
          </a:stretch>
        </a:blipFill>
        <a:effectLst/>
      </p:bgPr>
    </p:bg>
    <p:spTree>
      <p:nvGrpSpPr>
        <p:cNvPr id="1" name=""/>
        <p:cNvGrpSpPr/>
        <p:nvPr/>
      </p:nvGrpSpPr>
      <p:grpSpPr>
        <a:xfrm>
          <a:off x="0" y="0"/>
          <a:ext cx="0" cy="0"/>
          <a:chOff x="0" y="0"/>
          <a:chExt cx="0" cy="0"/>
        </a:xfrm>
      </p:grpSpPr>
      <p:sp>
        <p:nvSpPr>
          <p:cNvPr id="2" name="Rect 0"/>
          <p:cNvSpPr txBox="1">
            <a:spLocks noGrp="1"/>
          </p:cNvSpPr>
          <p:nvPr>
            <p:ph type="title"/>
          </p:nvPr>
        </p:nvSpPr>
        <p:spPr>
          <a:xfrm>
            <a:off x="628650" y="365125"/>
            <a:ext cx="7887335" cy="1326515"/>
          </a:xfrm>
          <a:prstGeom prst="rect">
            <a:avLst/>
          </a:prstGeom>
        </p:spPr>
        <p:txBody>
          <a:bodyPr vert="horz" wrap="square" lIns="91440" tIns="45720" rIns="91440" bIns="45720" anchor="ctr">
            <a:normAutofit/>
          </a:bodyPr>
          <a:lstStyle/>
          <a:p>
            <a:pPr marL="342900" indent="-342900" algn="l" defTabSz="914400" eaLnBrk="1" fontAlgn="base" latinLnBrk="0" hangingPunct="1">
              <a:lnSpc>
                <a:spcPct val="100000"/>
              </a:lnSpc>
              <a:spcBef>
                <a:spcPts val="800"/>
              </a:spcBef>
              <a:spcAft>
                <a:spcPts val="0"/>
              </a:spcAft>
            </a:pPr>
            <a:r>
              <a:rPr sz="1800" b="0" i="0">
                <a:solidFill>
                  <a:schemeClr val="tx1"/>
                </a:solidFill>
                <a:latin typeface="Arial" panose="020B0604020202020204" pitchFamily="34" charset="0"/>
                <a:ea typeface="宋体" panose="02010600030101010101" pitchFamily="2" charset="-122"/>
              </a:rPr>
              <a:t>单击此处编辑母版标题样式</a:t>
            </a:r>
            <a:endParaRPr lang="ko-KR" altLang="en-US" sz="1800" b="0" i="0">
              <a:solidFill>
                <a:schemeClr val="tx1"/>
              </a:solidFill>
              <a:latin typeface="Arial" panose="020B0604020202020204" pitchFamily="34" charset="0"/>
              <a:ea typeface="宋体" panose="02010600030101010101" pitchFamily="2" charset="-122"/>
            </a:endParaRPr>
          </a:p>
        </p:txBody>
      </p:sp>
      <p:sp>
        <p:nvSpPr>
          <p:cNvPr id="3" name="Rect 0"/>
          <p:cNvSpPr txBox="1">
            <a:spLocks noGrp="1"/>
          </p:cNvSpPr>
          <p:nvPr>
            <p:ph type="body"/>
          </p:nvPr>
        </p:nvSpPr>
        <p:spPr>
          <a:xfrm>
            <a:off x="628650" y="1825625"/>
            <a:ext cx="7887335" cy="4351655"/>
          </a:xfrm>
          <a:prstGeom prst="rect">
            <a:avLst/>
          </a:prstGeom>
        </p:spPr>
        <p:txBody>
          <a:bodyPr vert="horz" wrap="square" lIns="91440" tIns="45720" rIns="91440" bIns="45720" anchor="t">
            <a:normAutofit/>
          </a:bodyPr>
          <a:lstStyle/>
          <a:p>
            <a:pPr marL="742950" indent="-285750" algn="l" defTabSz="914400" eaLnBrk="1" fontAlgn="base" latinLnBrk="0" hangingPunct="1">
              <a:lnSpc>
                <a:spcPct val="100000"/>
              </a:lnSpc>
              <a:spcBef>
                <a:spcPts val="700"/>
              </a:spcBef>
              <a:spcAft>
                <a:spcPts val="0"/>
              </a:spcAft>
            </a:pPr>
            <a:r>
              <a:rPr lang="zh-CN" altLang="en-US" sz="1800" b="0" i="0">
                <a:solidFill>
                  <a:schemeClr val="tx1"/>
                </a:solidFill>
                <a:latin typeface="Arial" panose="020B0604020202020204" pitchFamily="34" charset="0"/>
                <a:ea typeface="宋体" panose="02010600030101010101" pitchFamily="2" charset="-122"/>
              </a:rPr>
              <a:t>•	</a:t>
            </a:r>
            <a:r>
              <a:rPr sz="1800" b="0" i="0">
                <a:solidFill>
                  <a:schemeClr val="tx1"/>
                </a:solidFill>
                <a:latin typeface="Arial" panose="020B0604020202020204" pitchFamily="34" charset="0"/>
                <a:ea typeface="宋体" panose="02010600030101010101" pitchFamily="2" charset="-122"/>
              </a:rPr>
              <a:t>单击此处编辑母版文本样式</a:t>
            </a:r>
            <a:endParaRPr lang="ko-KR" altLang="en-US" sz="18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100000"/>
              </a:lnSpc>
              <a:spcBef>
                <a:spcPts val="700"/>
              </a:spcBef>
              <a:spcAft>
                <a:spcPts val="0"/>
              </a:spcAft>
            </a:pPr>
            <a:r>
              <a:rPr lang="zh-CN" altLang="en-US" sz="1800" b="0" i="0">
                <a:solidFill>
                  <a:schemeClr val="tx1"/>
                </a:solidFill>
                <a:latin typeface="Arial" panose="020B0604020202020204" pitchFamily="34" charset="0"/>
                <a:ea typeface="宋体" panose="02010600030101010101" pitchFamily="2" charset="-122"/>
              </a:rPr>
              <a:t>•	</a:t>
            </a:r>
            <a:r>
              <a:rPr sz="1800" b="0" i="0">
                <a:solidFill>
                  <a:schemeClr val="tx1"/>
                </a:solidFill>
                <a:latin typeface="Arial" panose="020B0604020202020204" pitchFamily="34" charset="0"/>
                <a:ea typeface="宋体" panose="02010600030101010101" pitchFamily="2" charset="-122"/>
              </a:rPr>
              <a:t>第二级</a:t>
            </a:r>
            <a:endParaRPr lang="ko-KR" altLang="en-US" sz="18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100000"/>
              </a:lnSpc>
              <a:spcBef>
                <a:spcPts val="700"/>
              </a:spcBef>
              <a:spcAft>
                <a:spcPts val="0"/>
              </a:spcAft>
            </a:pPr>
            <a:r>
              <a:rPr lang="zh-CN" altLang="en-US" sz="1800" b="0" i="0">
                <a:solidFill>
                  <a:schemeClr val="tx1"/>
                </a:solidFill>
                <a:latin typeface="Arial" panose="020B0604020202020204" pitchFamily="34" charset="0"/>
                <a:ea typeface="宋体" panose="02010600030101010101" pitchFamily="2" charset="-122"/>
              </a:rPr>
              <a:t>•	</a:t>
            </a:r>
            <a:r>
              <a:rPr sz="1800" b="0" i="0">
                <a:solidFill>
                  <a:schemeClr val="tx1"/>
                </a:solidFill>
                <a:latin typeface="Arial" panose="020B0604020202020204" pitchFamily="34" charset="0"/>
                <a:ea typeface="宋体" panose="02010600030101010101" pitchFamily="2" charset="-122"/>
              </a:rPr>
              <a:t>第三级</a:t>
            </a:r>
            <a:endParaRPr lang="ko-KR" altLang="en-US" sz="18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100000"/>
              </a:lnSpc>
              <a:spcBef>
                <a:spcPts val="700"/>
              </a:spcBef>
              <a:spcAft>
                <a:spcPts val="0"/>
              </a:spcAft>
            </a:pPr>
            <a:r>
              <a:rPr lang="zh-CN" altLang="en-US" sz="1800" b="0" i="0">
                <a:solidFill>
                  <a:schemeClr val="tx1"/>
                </a:solidFill>
                <a:latin typeface="Arial" panose="020B0604020202020204" pitchFamily="34" charset="0"/>
                <a:ea typeface="宋体" panose="02010600030101010101" pitchFamily="2" charset="-122"/>
              </a:rPr>
              <a:t>•	</a:t>
            </a:r>
            <a:r>
              <a:rPr sz="1800" b="0" i="0">
                <a:solidFill>
                  <a:schemeClr val="tx1"/>
                </a:solidFill>
                <a:latin typeface="Arial" panose="020B0604020202020204" pitchFamily="34" charset="0"/>
                <a:ea typeface="宋体" panose="02010600030101010101" pitchFamily="2" charset="-122"/>
              </a:rPr>
              <a:t>第四级</a:t>
            </a:r>
            <a:endParaRPr lang="ko-KR" altLang="en-US" sz="1800" b="0" i="0">
              <a:solidFill>
                <a:schemeClr val="tx1"/>
              </a:solidFill>
              <a:latin typeface="Arial" panose="020B0604020202020204" pitchFamily="34" charset="0"/>
              <a:ea typeface="宋体" panose="02010600030101010101" pitchFamily="2" charset="-122"/>
            </a:endParaRPr>
          </a:p>
          <a:p>
            <a:pPr marL="742950" indent="-285750" algn="l" defTabSz="914400" eaLnBrk="1" fontAlgn="base" latinLnBrk="0" hangingPunct="1">
              <a:lnSpc>
                <a:spcPct val="100000"/>
              </a:lnSpc>
              <a:spcBef>
                <a:spcPts val="700"/>
              </a:spcBef>
              <a:spcAft>
                <a:spcPts val="0"/>
              </a:spcAft>
            </a:pPr>
            <a:r>
              <a:rPr lang="zh-CN" altLang="en-US" sz="1800" b="0" i="0">
                <a:solidFill>
                  <a:schemeClr val="tx1"/>
                </a:solidFill>
                <a:latin typeface="Arial" panose="020B0604020202020204" pitchFamily="34" charset="0"/>
                <a:ea typeface="宋体" panose="02010600030101010101" pitchFamily="2" charset="-122"/>
              </a:rPr>
              <a:t>•	</a:t>
            </a:r>
            <a:r>
              <a:rPr sz="1800" b="0" i="0">
                <a:solidFill>
                  <a:schemeClr val="tx1"/>
                </a:solidFill>
                <a:latin typeface="Arial" panose="020B0604020202020204" pitchFamily="34" charset="0"/>
                <a:ea typeface="宋体" panose="02010600030101010101" pitchFamily="2" charset="-122"/>
              </a:rPr>
              <a:t>第五级</a:t>
            </a:r>
            <a:endParaRPr lang="ko-KR" altLang="en-US" sz="1800" b="0" i="0">
              <a:solidFill>
                <a:schemeClr val="tx1"/>
              </a:solidFill>
              <a:latin typeface="Arial" panose="020B0604020202020204" pitchFamily="34" charset="0"/>
              <a:ea typeface="宋体" panose="02010600030101010101" pitchFamily="2" charset="-122"/>
            </a:endParaRPr>
          </a:p>
        </p:txBody>
      </p:sp>
      <p:sp>
        <p:nvSpPr>
          <p:cNvPr id="4" name="Rect 0"/>
          <p:cNvSpPr txBox="1">
            <a:spLocks noGrp="1"/>
          </p:cNvSpPr>
          <p:nvPr>
            <p:ph type="dt"/>
          </p:nvPr>
        </p:nvSpPr>
        <p:spPr>
          <a:xfrm>
            <a:off x="628650" y="6356350"/>
            <a:ext cx="2058035" cy="365125"/>
          </a:xfrm>
          <a:prstGeom prst="rect">
            <a:avLst/>
          </a:prstGeom>
        </p:spPr>
        <p:txBody>
          <a:bodyPr vert="horz" wrap="square" lIns="91440" tIns="45720" rIns="91440" bIns="45720" anchor="ctr">
            <a:noAutofit/>
          </a:bodyPr>
          <a:lstStyle/>
          <a:p/>
        </p:txBody>
      </p:sp>
      <p:sp>
        <p:nvSpPr>
          <p:cNvPr id="5" name="Rect 0"/>
          <p:cNvSpPr txBox="1">
            <a:spLocks noGrp="1"/>
          </p:cNvSpPr>
          <p:nvPr>
            <p:ph type="ftr"/>
          </p:nvPr>
        </p:nvSpPr>
        <p:spPr>
          <a:xfrm>
            <a:off x="3028950" y="6356350"/>
            <a:ext cx="3086735" cy="365125"/>
          </a:xfrm>
          <a:prstGeom prst="rect">
            <a:avLst/>
          </a:prstGeom>
        </p:spPr>
      </p:sp>
      <p:sp>
        <p:nvSpPr>
          <p:cNvPr id="6" name="Rect 0"/>
          <p:cNvSpPr txBox="1">
            <a:spLocks noGrp="1"/>
          </p:cNvSpPr>
          <p:nvPr>
            <p:ph type="sldNum"/>
          </p:nvPr>
        </p:nvSpPr>
        <p:spPr>
          <a:xfrm>
            <a:off x="6457950" y="6356350"/>
            <a:ext cx="2058035" cy="365125"/>
          </a:xfrm>
          <a:prstGeom prst="rect">
            <a:avLst/>
          </a:prstGeom>
        </p:spPr>
        <p:txBody>
          <a:bodyPr vert="horz" wrap="square" lIns="91440" tIns="45720" rIns="91440" bIns="45720" anchor="ctr">
            <a:noAutofit/>
          </a:bodyPr>
          <a:lstStyle/>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a:lvl1pPr marL="0" indent="0" algn="ctr" defTabSz="914400" latinLnBrk="1">
        <a:buNone/>
        <a:defRPr lang="ko-KR" sz="4400" baseline="0" smtClean="0">
          <a:solidFill>
            <a:schemeClr val="tx1"/>
          </a:solidFill>
          <a:latin typeface="+mn-lt"/>
          <a:ea typeface="+mn-ea"/>
          <a:cs typeface="+mn-cs"/>
        </a:defRPr>
      </a:lvl1pPr>
    </p:titleStyle>
    <p:bodyStyle>
      <a:lvl1pPr marL="342900" indent="-342900" algn="l" defTabSz="914400" latinLnBrk="1">
        <a:spcBef>
          <a:spcPct val="20000"/>
        </a:spcBef>
        <a:buFont typeface="Arial" panose="020B0604020202020204"/>
        <a:buChar char="•"/>
        <a:defRPr lang="ko-KR" sz="2800" baseline="0" smtClean="0">
          <a:solidFill>
            <a:schemeClr val="tx1"/>
          </a:solidFill>
          <a:latin typeface="+mn-lt"/>
          <a:ea typeface="+mn-ea"/>
          <a:cs typeface="+mn-cs"/>
        </a:defRPr>
      </a:lvl1pPr>
      <a:lvl2pPr marL="742950" lvl="1" indent="-285750" defTabSz="914400" latinLnBrk="1">
        <a:buChar char="-"/>
        <a:defRPr lang="ko-KR" sz="2400" smtClean="0"/>
      </a:lvl2pPr>
      <a:lvl3pPr marL="1143000" lvl="2" indent="-228600" defTabSz="914400" latinLnBrk="1">
        <a:buChar char="●"/>
        <a:defRPr lang="ko-KR" sz="2000" smtClean="0"/>
      </a:lvl3pPr>
      <a:lvl4pPr marL="1600200" lvl="3" indent="-228600" defTabSz="914400" latinLnBrk="1">
        <a:buChar char="-"/>
        <a:defRPr lang="ko-KR" sz="1800" smtClean="0"/>
      </a:lvl4pPr>
      <a:lvl5pPr marL="2057400" lvl="4" indent="-228600" defTabSz="914400" latinLnBrk="1">
        <a:buChar char="»"/>
        <a:defRPr lang="ko-KR" sz="1800" smtClean="0"/>
      </a:lvl5pPr>
    </p:bodyStyle>
    <p:otherStyle>
      <a:lvl1pPr marL="0" indent="0" algn="l" defTabSz="914400" latinLnBrk="1">
        <a:buNone/>
        <a:defRPr lang="ko-KR" sz="1800" baseline="0" smtClean="0">
          <a:solidFill>
            <a:schemeClr val="tx1"/>
          </a:solidFill>
          <a:latin typeface="+mn-lt"/>
          <a:ea typeface="+mn-ea"/>
          <a:cs typeface="+mn-cs"/>
        </a:defRPr>
      </a:lvl1pPr>
      <a:lvl2pPr marL="457200" lvl="1" indent="0" defTabSz="914400" latinLnBrk="1">
        <a:defRPr lang="ko-KR" smtClean="0"/>
      </a:lvl2pPr>
      <a:lvl3pPr marL="914400" lvl="2" indent="0" defTabSz="914400" latinLnBrk="1">
        <a:defRPr lang="ko-KR" smtClean="0"/>
      </a:lvl3pPr>
      <a:lvl4pPr marL="1371600" lvl="3" indent="0" defTabSz="914400" latinLnBrk="1">
        <a:defRPr lang="ko-KR" smtClean="0"/>
      </a:lvl4pPr>
      <a:lvl5pPr marL="1828800" lvl="4" indent="0" defTabSz="914400" latinLnBrk="1">
        <a:defRPr lang="ko-KR" smtClean="0"/>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826135" y="2026920"/>
            <a:ext cx="1040130" cy="102616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975" b="1" dirty="0">
                <a:solidFill>
                  <a:schemeClr val="accent4"/>
                </a:solidFill>
                <a:latin typeface="Agency FB" panose="020B0503020202020204" pitchFamily="34" charset="0"/>
                <a:ea typeface="Arial Unicode MS" panose="020B0604020202020204" pitchFamily="34" charset="-122"/>
                <a:cs typeface="Arial Unicode MS" panose="020B0604020202020204" pitchFamily="34" charset="-122"/>
              </a:rPr>
              <a:t>01</a:t>
            </a:r>
            <a:endParaRPr lang="zh-CN" altLang="en-US" sz="3975" b="1" dirty="0">
              <a:solidFill>
                <a:schemeClr val="accent4"/>
              </a:solidFill>
              <a:latin typeface="Agency FB" panose="020B0503020202020204" pitchFamily="34" charset="0"/>
              <a:ea typeface="Arial Unicode MS" panose="020B0604020202020204" pitchFamily="34" charset="-122"/>
              <a:cs typeface="Arial Unicode MS" panose="020B0604020202020204" pitchFamily="34" charset="-122"/>
            </a:endParaRPr>
          </a:p>
        </p:txBody>
      </p:sp>
      <p:sp>
        <p:nvSpPr>
          <p:cNvPr id="3" name="矩形 2"/>
          <p:cNvSpPr/>
          <p:nvPr/>
        </p:nvSpPr>
        <p:spPr>
          <a:xfrm>
            <a:off x="1905" y="3053080"/>
            <a:ext cx="1402715" cy="1962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sp>
        <p:nvSpPr>
          <p:cNvPr id="4" name="同心圆 3"/>
          <p:cNvSpPr/>
          <p:nvPr/>
        </p:nvSpPr>
        <p:spPr>
          <a:xfrm>
            <a:off x="629285" y="1844675"/>
            <a:ext cx="1423670" cy="1403985"/>
          </a:xfrm>
          <a:prstGeom prst="donut">
            <a:avLst>
              <a:gd name="adj" fmla="val 1384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solidFill>
                <a:schemeClr val="tx1"/>
              </a:solidFill>
            </a:endParaRPr>
          </a:p>
        </p:txBody>
      </p:sp>
      <p:sp>
        <p:nvSpPr>
          <p:cNvPr id="5" name="TextBox 4"/>
          <p:cNvSpPr txBox="1"/>
          <p:nvPr/>
        </p:nvSpPr>
        <p:spPr>
          <a:xfrm>
            <a:off x="1809115" y="1983105"/>
            <a:ext cx="2696210" cy="1475105"/>
          </a:xfrm>
          <a:prstGeom prst="rect">
            <a:avLst/>
          </a:prstGeom>
          <a:noFill/>
        </p:spPr>
        <p:txBody>
          <a:bodyPr wrap="none" lIns="91431" tIns="45715" rIns="91431" bIns="45715" rtlCol="0">
            <a:spAutoFit/>
          </a:bodyPr>
          <a:lstStyle/>
          <a:p>
            <a:r>
              <a:rPr lang="zh-CN" altLang="en-US" sz="2400" b="1" dirty="0">
                <a:solidFill>
                  <a:srgbClr val="0070C0"/>
                </a:solidFill>
                <a:latin typeface="微软雅黑" panose="020B0503020204020204" charset="-122"/>
                <a:ea typeface="微软雅黑" panose="020B0503020204020204" charset="-122"/>
              </a:rPr>
              <a:t>面向对象方法概论</a:t>
            </a:r>
            <a:endParaRPr lang="zh-CN" altLang="en-US" sz="2400" b="1" dirty="0">
              <a:solidFill>
                <a:srgbClr val="0070C0"/>
              </a:solidFill>
              <a:latin typeface="微软雅黑" panose="020B0503020204020204" charset="-122"/>
              <a:ea typeface="微软雅黑" panose="020B0503020204020204" charset="-122"/>
            </a:endParaRPr>
          </a:p>
          <a:p>
            <a:r>
              <a:rPr lang="zh-CN" altLang="en-US" dirty="0">
                <a:solidFill>
                  <a:schemeClr val="tx2"/>
                </a:solidFill>
                <a:latin typeface="微软雅黑 Light" panose="020B0502040204020203" charset="-122"/>
                <a:ea typeface="微软雅黑 Light" panose="020B0502040204020203" charset="-122"/>
              </a:rPr>
              <a:t>面向对象的基本思想</a:t>
            </a:r>
            <a:endParaRPr lang="zh-CN" altLang="en-US" dirty="0">
              <a:solidFill>
                <a:schemeClr val="tx2"/>
              </a:solidFill>
              <a:latin typeface="微软雅黑 Light" panose="020B0502040204020203" charset="-122"/>
              <a:ea typeface="微软雅黑 Light" panose="020B0502040204020203" charset="-122"/>
            </a:endParaRPr>
          </a:p>
          <a:p>
            <a:r>
              <a:rPr lang="zh-CN" altLang="en-US" dirty="0">
                <a:solidFill>
                  <a:schemeClr val="tx2"/>
                </a:solidFill>
                <a:latin typeface="微软雅黑 Light" panose="020B0502040204020203" charset="-122"/>
                <a:ea typeface="微软雅黑 Light" panose="020B0502040204020203" charset="-122"/>
              </a:rPr>
              <a:t>面向对象的基本原则</a:t>
            </a:r>
            <a:endParaRPr lang="zh-CN" altLang="en-US" dirty="0">
              <a:solidFill>
                <a:schemeClr val="tx2"/>
              </a:solidFill>
              <a:latin typeface="微软雅黑 Light" panose="020B0502040204020203" charset="-122"/>
              <a:ea typeface="微软雅黑 Light" panose="020B0502040204020203" charset="-122"/>
            </a:endParaRPr>
          </a:p>
          <a:p>
            <a:r>
              <a:rPr lang="zh-CN" altLang="en-US" dirty="0">
                <a:solidFill>
                  <a:schemeClr val="tx2"/>
                </a:solidFill>
                <a:latin typeface="微软雅黑 Light" panose="020B0502040204020203" charset="-122"/>
                <a:ea typeface="微软雅黑 Light" panose="020B0502040204020203" charset="-122"/>
              </a:rPr>
              <a:t>面向对象方法的主要优点</a:t>
            </a:r>
            <a:endParaRPr lang="en-US" altLang="zh-CN" sz="1200" dirty="0">
              <a:solidFill>
                <a:schemeClr val="tx1">
                  <a:lumMod val="50000"/>
                  <a:lumOff val="50000"/>
                </a:schemeClr>
              </a:solidFill>
            </a:endParaRPr>
          </a:p>
          <a:p>
            <a:endParaRPr lang="zh-CN" altLang="en-US" sz="1200" dirty="0">
              <a:solidFill>
                <a:schemeClr val="tx1">
                  <a:lumMod val="50000"/>
                  <a:lumOff val="50000"/>
                </a:schemeClr>
              </a:solidFill>
            </a:endParaRPr>
          </a:p>
        </p:txBody>
      </p:sp>
      <p:sp>
        <p:nvSpPr>
          <p:cNvPr id="6" name="椭圆 5"/>
          <p:cNvSpPr/>
          <p:nvPr/>
        </p:nvSpPr>
        <p:spPr>
          <a:xfrm>
            <a:off x="4521200" y="3375660"/>
            <a:ext cx="1040130" cy="102616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975" b="1" dirty="0">
                <a:solidFill>
                  <a:schemeClr val="accent3"/>
                </a:solidFill>
                <a:latin typeface="Agency FB" panose="020B0503020202020204" pitchFamily="34" charset="0"/>
                <a:ea typeface="Arial Unicode MS" panose="020B0604020202020204" pitchFamily="34" charset="-122"/>
                <a:cs typeface="Arial Unicode MS" panose="020B0604020202020204" pitchFamily="34" charset="-122"/>
              </a:rPr>
              <a:t>02</a:t>
            </a:r>
            <a:endParaRPr lang="zh-CN" altLang="en-US" sz="3975" b="1" dirty="0">
              <a:solidFill>
                <a:schemeClr val="accent3"/>
              </a:solidFill>
              <a:latin typeface="Agency FB" panose="020B0503020202020204" pitchFamily="34" charset="0"/>
              <a:ea typeface="Arial Unicode MS" panose="020B0604020202020204" pitchFamily="34" charset="-122"/>
              <a:cs typeface="Arial Unicode MS" panose="020B0604020202020204" pitchFamily="34" charset="-122"/>
            </a:endParaRPr>
          </a:p>
        </p:txBody>
      </p:sp>
      <p:sp>
        <p:nvSpPr>
          <p:cNvPr id="7" name="矩形 6"/>
          <p:cNvSpPr/>
          <p:nvPr/>
        </p:nvSpPr>
        <p:spPr>
          <a:xfrm>
            <a:off x="66675" y="4370705"/>
            <a:ext cx="4968875" cy="1835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sp>
        <p:nvSpPr>
          <p:cNvPr id="8" name="同心圆 7"/>
          <p:cNvSpPr/>
          <p:nvPr/>
        </p:nvSpPr>
        <p:spPr>
          <a:xfrm>
            <a:off x="4422140" y="3150235"/>
            <a:ext cx="1423670" cy="1403985"/>
          </a:xfrm>
          <a:prstGeom prst="donut">
            <a:avLst>
              <a:gd name="adj" fmla="val 138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solidFill>
                <a:schemeClr val="tx1"/>
              </a:solidFill>
            </a:endParaRPr>
          </a:p>
        </p:txBody>
      </p:sp>
      <p:sp>
        <p:nvSpPr>
          <p:cNvPr id="12" name="TextBox 11"/>
          <p:cNvSpPr txBox="1"/>
          <p:nvPr/>
        </p:nvSpPr>
        <p:spPr>
          <a:xfrm>
            <a:off x="5577840" y="3149600"/>
            <a:ext cx="3630930" cy="1774825"/>
          </a:xfrm>
          <a:prstGeom prst="rect">
            <a:avLst/>
          </a:prstGeom>
          <a:noFill/>
        </p:spPr>
        <p:txBody>
          <a:bodyPr wrap="square" lIns="91431" tIns="45715" rIns="91431" bIns="45715" rtlCol="0">
            <a:spAutoFit/>
          </a:bodyPr>
          <a:lstStyle/>
          <a:p>
            <a:pPr algn="l"/>
            <a:r>
              <a:rPr lang="zh-CN" altLang="en-US" sz="2400" b="1" dirty="0">
                <a:solidFill>
                  <a:srgbClr val="0070C0"/>
                </a:solidFill>
                <a:latin typeface="微软雅黑" panose="020B0503020204020204" charset="-122"/>
                <a:ea typeface="微软雅黑" panose="020B0503020204020204" charset="-122"/>
                <a:sym typeface="+mn-ea"/>
              </a:rPr>
              <a:t>面向对象系统的开发过程</a:t>
            </a:r>
            <a:endParaRPr lang="zh-CN" altLang="en-US" sz="2400" b="1" dirty="0">
              <a:solidFill>
                <a:srgbClr val="0070C0"/>
              </a:solidFill>
              <a:latin typeface="微软雅黑" panose="020B0503020204020204" charset="-122"/>
              <a:ea typeface="微软雅黑" panose="020B0503020204020204" charset="-122"/>
              <a:sym typeface="+mn-ea"/>
            </a:endParaRPr>
          </a:p>
          <a:p>
            <a:pPr algn="l"/>
            <a:endParaRPr lang="en-US" altLang="zh-CN" sz="1350" b="1" dirty="0">
              <a:solidFill>
                <a:schemeClr val="tx1">
                  <a:lumMod val="50000"/>
                  <a:lumOff val="50000"/>
                </a:schemeClr>
              </a:solidFill>
            </a:endParaRPr>
          </a:p>
          <a:p>
            <a:pPr algn="l"/>
            <a:r>
              <a:rPr lang="zh-CN" altLang="en-US" dirty="0">
                <a:solidFill>
                  <a:schemeClr val="tx1">
                    <a:lumMod val="50000"/>
                    <a:lumOff val="50000"/>
                  </a:schemeClr>
                </a:solidFill>
                <a:latin typeface="微软雅黑 Light" panose="020B0502040204020203" charset="-122"/>
                <a:ea typeface="微软雅黑 Light" panose="020B0502040204020203" charset="-122"/>
              </a:rPr>
              <a:t>面向对象分析</a:t>
            </a:r>
            <a:endParaRPr lang="zh-CN" altLang="en-US" dirty="0">
              <a:solidFill>
                <a:schemeClr val="tx1">
                  <a:lumMod val="50000"/>
                  <a:lumOff val="50000"/>
                </a:schemeClr>
              </a:solidFill>
              <a:latin typeface="微软雅黑 Light" panose="020B0502040204020203" charset="-122"/>
              <a:ea typeface="微软雅黑 Light" panose="020B0502040204020203" charset="-122"/>
            </a:endParaRPr>
          </a:p>
          <a:p>
            <a:pPr algn="l"/>
            <a:r>
              <a:rPr lang="zh-CN" altLang="en-US" dirty="0">
                <a:solidFill>
                  <a:schemeClr val="tx1">
                    <a:lumMod val="50000"/>
                    <a:lumOff val="50000"/>
                  </a:schemeClr>
                </a:solidFill>
                <a:latin typeface="微软雅黑 Light" panose="020B0502040204020203" charset="-122"/>
                <a:ea typeface="微软雅黑 Light" panose="020B0502040204020203" charset="-122"/>
              </a:rPr>
              <a:t>面向对象设计</a:t>
            </a:r>
            <a:endParaRPr lang="zh-CN" altLang="en-US" dirty="0">
              <a:solidFill>
                <a:schemeClr val="tx1">
                  <a:lumMod val="50000"/>
                  <a:lumOff val="50000"/>
                </a:schemeClr>
              </a:solidFill>
              <a:latin typeface="微软雅黑 Light" panose="020B0502040204020203" charset="-122"/>
              <a:ea typeface="微软雅黑 Light" panose="020B0502040204020203" charset="-122"/>
            </a:endParaRPr>
          </a:p>
          <a:p>
            <a:pPr algn="l"/>
            <a:r>
              <a:rPr lang="zh-CN" altLang="en-US" dirty="0">
                <a:solidFill>
                  <a:schemeClr val="tx1">
                    <a:lumMod val="50000"/>
                    <a:lumOff val="50000"/>
                  </a:schemeClr>
                </a:solidFill>
                <a:latin typeface="微软雅黑 Light" panose="020B0502040204020203" charset="-122"/>
                <a:ea typeface="微软雅黑 Light" panose="020B0502040204020203" charset="-122"/>
              </a:rPr>
              <a:t>面向对象的程序设计</a:t>
            </a:r>
            <a:endParaRPr lang="zh-CN" altLang="en-US" dirty="0">
              <a:solidFill>
                <a:schemeClr val="tx1">
                  <a:lumMod val="50000"/>
                  <a:lumOff val="50000"/>
                </a:schemeClr>
              </a:solidFill>
              <a:latin typeface="微软雅黑 Light" panose="020B0502040204020203" charset="-122"/>
              <a:ea typeface="微软雅黑 Light" panose="020B0502040204020203" charset="-122"/>
            </a:endParaRPr>
          </a:p>
          <a:p>
            <a:pPr algn="l"/>
            <a:r>
              <a:rPr lang="zh-CN" altLang="en-US" dirty="0">
                <a:solidFill>
                  <a:schemeClr val="tx1">
                    <a:lumMod val="50000"/>
                    <a:lumOff val="50000"/>
                  </a:schemeClr>
                </a:solidFill>
                <a:latin typeface="微软雅黑 Light" panose="020B0502040204020203" charset="-122"/>
                <a:ea typeface="微软雅黑 Light" panose="020B0502040204020203" charset="-122"/>
              </a:rPr>
              <a:t>面向对象的测试</a:t>
            </a:r>
            <a:endParaRPr lang="zh-CN" altLang="en-US" dirty="0">
              <a:solidFill>
                <a:schemeClr val="tx1">
                  <a:lumMod val="50000"/>
                  <a:lumOff val="50000"/>
                </a:schemeClr>
              </a:solidFill>
              <a:latin typeface="微软雅黑 Light" panose="020B0502040204020203" charset="-122"/>
              <a:ea typeface="微软雅黑 Light" panose="020B0502040204020203" charset="-122"/>
            </a:endParaRPr>
          </a:p>
        </p:txBody>
      </p:sp>
      <p:sp>
        <p:nvSpPr>
          <p:cNvPr id="14" name="标题 13"/>
          <p:cNvSpPr>
            <a:spLocks noGrp="1"/>
          </p:cNvSpPr>
          <p:nvPr>
            <p:ph type="title"/>
          </p:nvPr>
        </p:nvSpPr>
        <p:spPr>
          <a:xfrm>
            <a:off x="0" y="222250"/>
            <a:ext cx="9144635" cy="564515"/>
          </a:xfrm>
        </p:spPr>
        <p:txBody>
          <a:bodyPr/>
          <a:lstStyle/>
          <a:p>
            <a:r>
              <a:rPr lang="zh-CN" altLang="en-US" sz="3600" dirty="0">
                <a:solidFill>
                  <a:srgbClr val="0070C0"/>
                </a:solidFill>
                <a:latin typeface="华文行楷" panose="02010800040101010101" pitchFamily="2" charset="-122"/>
                <a:ea typeface="华文行楷" panose="02010800040101010101" pitchFamily="2" charset="-122"/>
                <a:cs typeface="华文行楷" panose="02010800040101010101" pitchFamily="2" charset="-122"/>
              </a:rPr>
              <a:t>第二讲 面向对象方法概论</a:t>
            </a:r>
            <a:endParaRPr lang="zh-CN" altLang="en-US" sz="3600" dirty="0">
              <a:solidFill>
                <a:srgbClr val="0070C0"/>
              </a:solidFill>
              <a:latin typeface="华文行楷" panose="02010800040101010101" pitchFamily="2" charset="-122"/>
              <a:ea typeface="华文行楷" panose="02010800040101010101" pitchFamily="2" charset="-122"/>
              <a:cs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1500"/>
                            </p:stCondLst>
                            <p:childTnLst>
                              <p:par>
                                <p:cTn id="23" presetID="22" presetClass="entr" presetSubtype="4"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animBg="1"/>
      <p:bldP spid="7" grpId="0" animBg="1"/>
      <p:bldP spid="8" grpId="0" animBg="1"/>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138680" y="2564130"/>
            <a:ext cx="1040765" cy="1026795"/>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defTabSz="914400" eaLnBrk="1" fontAlgn="base" latinLnBrk="0" hangingPunct="1">
              <a:lnSpc>
                <a:spcPct val="100000"/>
              </a:lnSpc>
              <a:spcBef>
                <a:spcPts val="0"/>
              </a:spcBef>
              <a:spcAft>
                <a:spcPts val="0"/>
              </a:spcAft>
              <a:buFontTx/>
              <a:buNone/>
            </a:pPr>
            <a:r>
              <a:rPr lang="en-US" sz="3975" b="1" i="0">
                <a:solidFill>
                  <a:schemeClr val="accent4"/>
                </a:solidFill>
                <a:latin typeface="Agency FB" panose="020B0503020202020204" pitchFamily="34" charset="0"/>
                <a:ea typeface="Arial Unicode MS" charset="0"/>
                <a:cs typeface="Arial Unicode MS" charset="0"/>
              </a:rPr>
              <a:t>2.1</a:t>
            </a:r>
            <a:endParaRPr lang="ko-KR" altLang="en-US" sz="3975" b="1" i="0">
              <a:solidFill>
                <a:schemeClr val="accent4"/>
              </a:solidFill>
              <a:latin typeface="Agency FB" panose="020B0503020202020204" pitchFamily="34" charset="0"/>
              <a:ea typeface="Arial Unicode MS" charset="0"/>
              <a:cs typeface="Arial Unicode MS" charset="0"/>
            </a:endParaRPr>
          </a:p>
        </p:txBody>
      </p:sp>
      <p:sp>
        <p:nvSpPr>
          <p:cNvPr id="3" name="矩形 2"/>
          <p:cNvSpPr/>
          <p:nvPr/>
        </p:nvSpPr>
        <p:spPr>
          <a:xfrm>
            <a:off x="3352800" y="2846705"/>
            <a:ext cx="3473450" cy="1962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sp>
        <p:nvSpPr>
          <p:cNvPr id="4" name="同心圆 3"/>
          <p:cNvSpPr/>
          <p:nvPr/>
        </p:nvSpPr>
        <p:spPr>
          <a:xfrm>
            <a:off x="1884045" y="2375535"/>
            <a:ext cx="1423670" cy="1403985"/>
          </a:xfrm>
          <a:prstGeom prst="donut">
            <a:avLst>
              <a:gd name="adj" fmla="val 1384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solidFill>
                <a:schemeClr val="tx1"/>
              </a:solidFill>
            </a:endParaRPr>
          </a:p>
        </p:txBody>
      </p:sp>
      <p:sp>
        <p:nvSpPr>
          <p:cNvPr id="5" name="TextBox 4"/>
          <p:cNvSpPr txBox="1"/>
          <p:nvPr/>
        </p:nvSpPr>
        <p:spPr>
          <a:xfrm>
            <a:off x="3307715" y="2291715"/>
            <a:ext cx="4504645" cy="2431425"/>
          </a:xfrm>
          <a:prstGeom prst="rect">
            <a:avLst/>
          </a:prstGeom>
          <a:noFill/>
        </p:spPr>
        <p:txBody>
          <a:bodyPr wrap="square" lIns="91431" tIns="45715" rIns="91431" bIns="45715" rtlCol="0">
            <a:spAutoFit/>
          </a:bodyPr>
          <a:lstStyle/>
          <a:p>
            <a:r>
              <a:rPr lang="zh-CN" altLang="en-US" sz="2800" b="1" dirty="0">
                <a:solidFill>
                  <a:srgbClr val="7030A0"/>
                </a:solidFill>
                <a:latin typeface="微软雅黑" panose="020B0503020204020204" charset="-122"/>
                <a:ea typeface="微软雅黑" panose="020B0503020204020204" charset="-122"/>
              </a:rPr>
              <a:t>面向对象方法概述</a:t>
            </a:r>
            <a:endParaRPr lang="zh-CN" altLang="en-US" sz="2400" b="1" dirty="0">
              <a:solidFill>
                <a:schemeClr val="tx1"/>
              </a:solidFill>
              <a:latin typeface="微软雅黑" panose="020B0503020204020204" charset="-122"/>
              <a:ea typeface="微软雅黑" panose="020B0503020204020204" charset="-122"/>
            </a:endParaRPr>
          </a:p>
          <a:p>
            <a:endParaRPr lang="zh-CN" altLang="en-US" dirty="0">
              <a:solidFill>
                <a:schemeClr val="tx1"/>
              </a:solidFill>
              <a:latin typeface="微软雅黑 Light" panose="020B0502040204020203" charset="-122"/>
              <a:ea typeface="微软雅黑 Light" panose="020B0502040204020203" charset="-122"/>
            </a:endParaRPr>
          </a:p>
          <a:p>
            <a:pPr>
              <a:lnSpc>
                <a:spcPct val="125000"/>
              </a:lnSpc>
            </a:pPr>
            <a:r>
              <a:rPr lang="zh-CN" altLang="en-US" sz="2400" dirty="0">
                <a:solidFill>
                  <a:srgbClr val="0070C0"/>
                </a:solidFill>
                <a:latin typeface="微软雅黑 Light" panose="020B0502040204020203" charset="-122"/>
                <a:ea typeface="微软雅黑 Light" panose="020B0502040204020203" charset="-122"/>
              </a:rPr>
              <a:t>面向对象的基本思想</a:t>
            </a:r>
            <a:endParaRPr lang="zh-CN" altLang="en-US" sz="2400" dirty="0">
              <a:solidFill>
                <a:srgbClr val="0070C0"/>
              </a:solidFill>
              <a:latin typeface="微软雅黑 Light" panose="020B0502040204020203" charset="-122"/>
              <a:ea typeface="微软雅黑 Light" panose="020B0502040204020203" charset="-122"/>
            </a:endParaRPr>
          </a:p>
          <a:p>
            <a:pPr>
              <a:lnSpc>
                <a:spcPct val="125000"/>
              </a:lnSpc>
            </a:pPr>
            <a:r>
              <a:rPr lang="zh-CN" altLang="en-US" sz="2400" dirty="0">
                <a:solidFill>
                  <a:srgbClr val="0070C0"/>
                </a:solidFill>
                <a:latin typeface="微软雅黑 Light" panose="020B0502040204020203" charset="-122"/>
                <a:ea typeface="微软雅黑 Light" panose="020B0502040204020203" charset="-122"/>
              </a:rPr>
              <a:t>面向对象的基本原则</a:t>
            </a:r>
            <a:endParaRPr lang="zh-CN" altLang="en-US" sz="2400" dirty="0">
              <a:solidFill>
                <a:srgbClr val="0070C0"/>
              </a:solidFill>
              <a:latin typeface="微软雅黑 Light" panose="020B0502040204020203" charset="-122"/>
              <a:ea typeface="微软雅黑 Light" panose="020B0502040204020203" charset="-122"/>
            </a:endParaRPr>
          </a:p>
          <a:p>
            <a:pPr>
              <a:lnSpc>
                <a:spcPct val="125000"/>
              </a:lnSpc>
            </a:pPr>
            <a:r>
              <a:rPr lang="zh-CN" altLang="en-US" sz="2400" dirty="0">
                <a:solidFill>
                  <a:srgbClr val="0070C0"/>
                </a:solidFill>
                <a:latin typeface="微软雅黑 Light" panose="020B0502040204020203" charset="-122"/>
                <a:ea typeface="微软雅黑 Light" panose="020B0502040204020203" charset="-122"/>
              </a:rPr>
              <a:t>面向对象方法的主要优点</a:t>
            </a:r>
            <a:endParaRPr lang="en-US" altLang="zh-CN" sz="1600" dirty="0">
              <a:solidFill>
                <a:schemeClr val="tx1"/>
              </a:solidFill>
            </a:endParaRPr>
          </a:p>
          <a:p>
            <a:endParaRPr lang="en-US" altLang="zh-CN" sz="1600" dirty="0">
              <a:solidFill>
                <a:schemeClr val="tx1"/>
              </a:solidFill>
            </a:endParaRPr>
          </a:p>
        </p:txBody>
      </p:sp>
      <p:sp>
        <p:nvSpPr>
          <p:cNvPr id="14" name="标题 13"/>
          <p:cNvSpPr>
            <a:spLocks noGrp="1"/>
          </p:cNvSpPr>
          <p:nvPr>
            <p:ph type="title"/>
          </p:nvPr>
        </p:nvSpPr>
        <p:spPr>
          <a:xfrm>
            <a:off x="0" y="222250"/>
            <a:ext cx="9144635" cy="564515"/>
          </a:xfrm>
        </p:spPr>
        <p:txBody>
          <a:bodyPr/>
          <a:lstStyle/>
          <a:p>
            <a:r>
              <a:rPr lang="zh-CN" altLang="en-US" sz="3600" dirty="0">
                <a:solidFill>
                  <a:srgbClr val="0070C0"/>
                </a:solidFill>
                <a:latin typeface="华文行楷" panose="02010800040101010101" pitchFamily="2" charset="-122"/>
                <a:ea typeface="华文行楷" panose="02010800040101010101" pitchFamily="2" charset="-122"/>
                <a:cs typeface="华文行楷" panose="02010800040101010101" pitchFamily="2" charset="-122"/>
              </a:rPr>
              <a:t>第二讲 面向对象方法概论</a:t>
            </a:r>
            <a:endParaRPr lang="zh-CN" altLang="en-US" sz="3600" dirty="0">
              <a:solidFill>
                <a:srgbClr val="0070C0"/>
              </a:solidFill>
              <a:latin typeface="华文行楷" panose="02010800040101010101" pitchFamily="2" charset="-122"/>
              <a:ea typeface="华文行楷" panose="02010800040101010101" pitchFamily="2" charset="-122"/>
              <a:cs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684530" y="222250"/>
            <a:ext cx="7848600" cy="563880"/>
          </a:xfrm>
        </p:spPr>
        <p:txBody>
          <a:bodyPr vert="horz" wrap="square" lIns="91440" tIns="45720" rIns="91440" bIns="45720" anchor="ctr"/>
          <a:lstStyle/>
          <a:p>
            <a:pPr lvl="0"/>
            <a:r>
              <a:rPr lang="en-US" altLang="zh-CN" dirty="0">
                <a:solidFill>
                  <a:srgbClr val="0070C0"/>
                </a:solidFill>
                <a:latin typeface="华文新魏" panose="02010800040101010101" pitchFamily="2" charset="-122"/>
                <a:ea typeface="华文新魏" panose="02010800040101010101" pitchFamily="2" charset="-122"/>
              </a:rPr>
              <a:t>2.1 </a:t>
            </a:r>
            <a:r>
              <a:rPr lang="zh-CN" altLang="en-US" dirty="0">
                <a:solidFill>
                  <a:srgbClr val="0070C0"/>
                </a:solidFill>
                <a:latin typeface="华文新魏" panose="02010800040101010101" pitchFamily="2" charset="-122"/>
                <a:ea typeface="华文新魏" panose="02010800040101010101" pitchFamily="2" charset="-122"/>
              </a:rPr>
              <a:t>面向对象方法概述</a:t>
            </a:r>
            <a:endParaRPr lang="zh-CN" altLang="en-US" dirty="0">
              <a:solidFill>
                <a:srgbClr val="0070C0"/>
              </a:solidFill>
              <a:latin typeface="华文新魏" panose="02010800040101010101" pitchFamily="2" charset="-122"/>
              <a:ea typeface="华文新魏" panose="02010800040101010101" pitchFamily="2" charset="-122"/>
            </a:endParaRPr>
          </a:p>
        </p:txBody>
      </p:sp>
      <p:sp>
        <p:nvSpPr>
          <p:cNvPr id="4" name="内容占位符 2"/>
          <p:cNvSpPr txBox="1"/>
          <p:nvPr/>
        </p:nvSpPr>
        <p:spPr bwMode="auto">
          <a:xfrm>
            <a:off x="173990" y="2943860"/>
            <a:ext cx="8568690" cy="2232025"/>
          </a:xfrm>
          <a:prstGeom prst="rect">
            <a:avLst/>
          </a:prstGeom>
          <a:noFill/>
          <a:ln w="9525">
            <a:noFill/>
            <a:miter lim="800000"/>
          </a:ln>
        </p:spPr>
        <p:txBody>
          <a:bodyPr/>
          <a:lstStyle/>
          <a:p>
            <a:pPr marL="742950" marR="0" lvl="1" indent="-285750" defTabSz="914400" rtl="0" eaLnBrk="0" fontAlgn="base" latinLnBrk="0" hangingPunct="0">
              <a:lnSpc>
                <a:spcPct val="150000"/>
              </a:lnSpc>
              <a:spcBef>
                <a:spcPct val="20000"/>
              </a:spcBef>
              <a:spcAft>
                <a:spcPct val="0"/>
              </a:spcAft>
              <a:buClr>
                <a:schemeClr val="accent1"/>
              </a:buClr>
              <a:buSzTx/>
              <a:buFontTx/>
              <a:buNone/>
              <a:defRPr/>
            </a:pPr>
            <a:r>
              <a:rPr kumimoji="0" lang="zh-CN" altLang="en-US" sz="2800" b="1" i="0" u="none" strike="noStrike" kern="0" cap="none" spc="0" normalizeH="0" baseline="0" noProof="0" dirty="0" smtClean="0">
                <a:ln>
                  <a:noFill/>
                </a:ln>
                <a:solidFill>
                  <a:srgbClr val="FF0000"/>
                </a:solidFill>
                <a:effectLst/>
                <a:uLnTx/>
                <a:uFillTx/>
                <a:latin typeface="华文新魏" panose="02010800040101010101" pitchFamily="2" charset="-122"/>
                <a:ea typeface="华文新魏" panose="02010800040101010101" pitchFamily="2" charset="-122"/>
                <a:cs typeface="+mn-cs"/>
              </a:rPr>
              <a:t>         </a:t>
            </a:r>
            <a:r>
              <a:rPr kumimoji="0" lang="zh-CN" altLang="en-US" sz="2800" b="1" i="0" u="none" strike="noStrike" kern="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rPr>
              <a:t>大家在过去的项目开发中，用的是传统的开发方法还是面向对象方法？你们如何理解这两类开发方法？他们各有什么优缺点。</a:t>
            </a:r>
            <a:endPar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AutoShape 8"/>
          <p:cNvSpPr>
            <a:spLocks noChangeArrowheads="1"/>
          </p:cNvSpPr>
          <p:nvPr/>
        </p:nvSpPr>
        <p:spPr bwMode="auto">
          <a:xfrm>
            <a:off x="775335" y="1961515"/>
            <a:ext cx="2232025" cy="604520"/>
          </a:xfrm>
          <a:prstGeom prst="flowChartAlternateProcess">
            <a:avLst/>
          </a:prstGeom>
          <a:solidFill>
            <a:schemeClr val="accent4"/>
          </a:solidFill>
          <a:ln w="9525" cmpd="sng">
            <a:solidFill>
              <a:schemeClr val="tx2"/>
            </a:solidFill>
            <a:miter lim="800000"/>
          </a:ln>
          <a:effectLst/>
        </p:spPr>
        <p:txBody>
          <a:bodyPr wrap="none" anchor="ctr"/>
          <a:lstStyle/>
          <a:p>
            <a:pPr algn="ctr" eaLnBrk="1" hangingPunct="1">
              <a:spcBef>
                <a:spcPct val="20000"/>
              </a:spcBef>
              <a:buFont typeface="Wingdings" panose="05000000000000000000" pitchFamily="2" charset="2"/>
              <a:buNone/>
              <a:defRPr/>
            </a:pPr>
            <a:r>
              <a:rPr lang="en-US" altLang="zh-CN" sz="3200" b="1"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a:t>
            </a:r>
            <a:r>
              <a:rPr lang="zh-CN" altLang="en-US" sz="3200" b="1" dirty="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讨论思考</a:t>
            </a:r>
            <a:endParaRPr lang="zh-CN" altLang="en-US" sz="3200" b="1" dirty="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endParaRPr>
          </a:p>
        </p:txBody>
      </p:sp>
      <p:sp>
        <p:nvSpPr>
          <p:cNvPr id="2" name="标题 1"/>
          <p:cNvSpPr>
            <a:spLocks noGrp="1"/>
          </p:cNvSpPr>
          <p:nvPr/>
        </p:nvSpPr>
        <p:spPr>
          <a:xfrm>
            <a:off x="419100" y="1024890"/>
            <a:ext cx="7848600" cy="56388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lgn="l"/>
            <a:r>
              <a:rPr lang="en-US" altLang="zh-CN" sz="2800" dirty="0">
                <a:solidFill>
                  <a:srgbClr val="0070C0"/>
                </a:solidFill>
                <a:latin typeface="华文新魏" panose="02010800040101010101" pitchFamily="2" charset="-122"/>
                <a:ea typeface="华文新魏" panose="02010800040101010101" pitchFamily="2" charset="-122"/>
              </a:rPr>
              <a:t>2.1.1 </a:t>
            </a:r>
            <a:r>
              <a:rPr lang="zh-CN" altLang="en-US" sz="2800" dirty="0">
                <a:solidFill>
                  <a:srgbClr val="0070C0"/>
                </a:solidFill>
                <a:latin typeface="华文新魏" panose="02010800040101010101" pitchFamily="2" charset="-122"/>
                <a:ea typeface="华文新魏" panose="02010800040101010101" pitchFamily="2" charset="-122"/>
              </a:rPr>
              <a:t>传统软件开发方法中存在的问题</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215900" y="1196975"/>
            <a:ext cx="8928100" cy="223202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a:ln>
                  <a:noFill/>
                </a:ln>
                <a:solidFill>
                  <a:srgbClr val="7030A0"/>
                </a:solidFill>
                <a:effectLst/>
                <a:uLnTx/>
                <a:uFillTx/>
                <a:latin typeface="+mn-lt"/>
                <a:ea typeface="宋体" panose="02010600030101010101" pitchFamily="2" charset="-122"/>
                <a:cs typeface="+mn-cs"/>
              </a:rPr>
              <a:t>传统开发方法</a:t>
            </a:r>
            <a:endParaRPr kumimoji="0" lang="zh-CN" altLang="en-US" sz="3200" b="1" i="0" u="none" strike="noStrike" kern="0" cap="none" spc="0" normalizeH="0" baseline="0" noProof="0" dirty="0">
              <a:ln>
                <a:noFill/>
              </a:ln>
              <a:solidFill>
                <a:srgbClr val="7030A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功能分解法</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结构化方法</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信息建模方法</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内容占位符 2"/>
          <p:cNvSpPr txBox="1"/>
          <p:nvPr/>
        </p:nvSpPr>
        <p:spPr bwMode="auto">
          <a:xfrm>
            <a:off x="214630" y="3860800"/>
            <a:ext cx="8930005" cy="223202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a:ln>
                  <a:noFill/>
                </a:ln>
                <a:solidFill>
                  <a:srgbClr val="7030A0"/>
                </a:solidFill>
                <a:effectLst/>
                <a:uLnTx/>
                <a:uFillTx/>
                <a:latin typeface="+mn-lt"/>
                <a:ea typeface="宋体" panose="02010600030101010101" pitchFamily="2" charset="-122"/>
                <a:cs typeface="+mn-cs"/>
              </a:rPr>
              <a:t>存在问题</a:t>
            </a:r>
            <a:endParaRPr kumimoji="0" lang="zh-CN" altLang="en-US" sz="3200" b="1" i="0" u="none" strike="noStrike" kern="0" cap="none" spc="0" normalizeH="0" baseline="0" noProof="0" dirty="0">
              <a:ln>
                <a:noFill/>
              </a:ln>
              <a:solidFill>
                <a:srgbClr val="7030A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传统方法都只注重于系统的一个或少数几个方面，对系统的其他方面建模的能力都很弱。</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2" name="标题 1"/>
          <p:cNvSpPr>
            <a:spLocks noGrp="1"/>
          </p:cNvSpPr>
          <p:nvPr/>
        </p:nvSpPr>
        <p:spPr>
          <a:xfrm>
            <a:off x="1144270" y="255270"/>
            <a:ext cx="7848600" cy="56388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lgn="l"/>
            <a:r>
              <a:rPr lang="en-US" altLang="zh-CN" sz="2800" dirty="0">
                <a:solidFill>
                  <a:srgbClr val="0070C0"/>
                </a:solidFill>
                <a:latin typeface="华文新魏" panose="02010800040101010101" pitchFamily="2" charset="-122"/>
                <a:ea typeface="华文新魏" panose="02010800040101010101" pitchFamily="2" charset="-122"/>
              </a:rPr>
              <a:t>2.1.1 </a:t>
            </a:r>
            <a:r>
              <a:rPr lang="zh-CN" altLang="en-US" sz="2800" dirty="0">
                <a:solidFill>
                  <a:srgbClr val="0070C0"/>
                </a:solidFill>
                <a:latin typeface="华文新魏" panose="02010800040101010101" pitchFamily="2" charset="-122"/>
                <a:ea typeface="华文新魏" panose="02010800040101010101" pitchFamily="2" charset="-122"/>
              </a:rPr>
              <a:t>传统软件开发方法中存在的问题</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blinds(horizontal)">
                                      <p:cBhvr>
                                        <p:cTn id="1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684530" y="116205"/>
            <a:ext cx="7343775" cy="669925"/>
          </a:xfrm>
        </p:spPr>
        <p:txBody>
          <a:bodyPr vert="horz" wrap="square" lIns="91440" tIns="45720" rIns="91440" bIns="45720" anchor="ctr"/>
          <a:lstStyle/>
          <a:p>
            <a:pPr lvl="0"/>
            <a:r>
              <a:rPr lang="en-US" altLang="zh-CN" dirty="0">
                <a:solidFill>
                  <a:srgbClr val="0070C0"/>
                </a:solidFill>
                <a:latin typeface="华文新魏" panose="02010800040101010101" pitchFamily="2" charset="-122"/>
                <a:ea typeface="华文新魏" panose="02010800040101010101" pitchFamily="2" charset="-122"/>
                <a:cs typeface="华文新魏" panose="02010800040101010101" pitchFamily="2" charset="-122"/>
              </a:rPr>
              <a:t>2.1.2</a:t>
            </a:r>
            <a:r>
              <a:rPr lang="zh-CN" altLang="en-US" dirty="0">
                <a:solidFill>
                  <a:srgbClr val="0070C0"/>
                </a:solidFill>
                <a:latin typeface="华文新魏" panose="02010800040101010101" pitchFamily="2" charset="-122"/>
                <a:ea typeface="华文新魏" panose="02010800040101010101" pitchFamily="2" charset="-122"/>
                <a:cs typeface="华文新魏" panose="02010800040101010101" pitchFamily="2" charset="-122"/>
              </a:rPr>
              <a:t>  面向对象的基本思想</a:t>
            </a:r>
            <a:endParaRPr lang="zh-CN" altLang="en-US" dirty="0">
              <a:solidFill>
                <a:srgbClr val="0070C0"/>
              </a:solidFill>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3" name="内容占位符 2"/>
          <p:cNvSpPr>
            <a:spLocks noGrp="1"/>
          </p:cNvSpPr>
          <p:nvPr>
            <p:ph idx="1"/>
          </p:nvPr>
        </p:nvSpPr>
        <p:spPr>
          <a:xfrm>
            <a:off x="0" y="1052830"/>
            <a:ext cx="9144000" cy="5616575"/>
          </a:xfrm>
        </p:spPr>
        <p:txBody>
          <a:bodyPr vert="horz" wrap="square" lIns="91440" tIns="45720" rIns="91440" bIns="45720" anchor="t"/>
          <a:lstStyle/>
          <a:p>
            <a:pPr lvl="1"/>
            <a:r>
              <a:rPr lang="zh-CN" altLang="en-US" sz="2400" b="1" dirty="0">
                <a:ea typeface="宋体" panose="02010600030101010101" pitchFamily="2" charset="-122"/>
              </a:rPr>
              <a:t>客观世界中的事务都是</a:t>
            </a:r>
            <a:r>
              <a:rPr lang="zh-CN" altLang="en-US" sz="2400" b="1" dirty="0">
                <a:solidFill>
                  <a:srgbClr val="7030A0"/>
                </a:solidFill>
                <a:ea typeface="宋体" panose="02010600030101010101" pitchFamily="2" charset="-122"/>
              </a:rPr>
              <a:t>对象（</a:t>
            </a:r>
            <a:r>
              <a:rPr lang="en-US" altLang="zh-CN" sz="2400" b="1" dirty="0">
                <a:solidFill>
                  <a:srgbClr val="7030A0"/>
                </a:solidFill>
                <a:ea typeface="宋体" panose="02010600030101010101" pitchFamily="2" charset="-122"/>
              </a:rPr>
              <a:t>Object)</a:t>
            </a:r>
            <a:r>
              <a:rPr lang="zh-CN" altLang="en-US" sz="2400" b="1" dirty="0">
                <a:ea typeface="宋体" panose="02010600030101010101" pitchFamily="2" charset="-122"/>
              </a:rPr>
              <a:t>，对象间存在一定的关系。</a:t>
            </a:r>
            <a:endParaRPr lang="en-US" altLang="zh-CN" sz="2400" b="1" dirty="0">
              <a:ea typeface="宋体" panose="02010600030101010101" pitchFamily="2" charset="-122"/>
            </a:endParaRPr>
          </a:p>
          <a:p>
            <a:pPr lvl="1"/>
            <a:r>
              <a:rPr lang="zh-CN" altLang="en-US" sz="2400" b="1" dirty="0">
                <a:ea typeface="宋体" panose="02010600030101010101" pitchFamily="2" charset="-122"/>
              </a:rPr>
              <a:t>用对象的</a:t>
            </a:r>
            <a:r>
              <a:rPr lang="zh-CN" altLang="en-US" sz="2400" b="1" dirty="0">
                <a:solidFill>
                  <a:srgbClr val="7030A0"/>
                </a:solidFill>
                <a:ea typeface="宋体" panose="02010600030101010101" pitchFamily="2" charset="-122"/>
              </a:rPr>
              <a:t>属性</a:t>
            </a:r>
            <a:r>
              <a:rPr lang="en-US" altLang="zh-CN" sz="2400" b="1" dirty="0">
                <a:solidFill>
                  <a:srgbClr val="7030A0"/>
                </a:solidFill>
                <a:ea typeface="宋体" panose="02010600030101010101" pitchFamily="2" charset="-122"/>
              </a:rPr>
              <a:t>(Attribute)</a:t>
            </a:r>
            <a:r>
              <a:rPr lang="zh-CN" altLang="en-US" sz="2400" b="1" dirty="0">
                <a:ea typeface="宋体" panose="02010600030101010101" pitchFamily="2" charset="-122"/>
              </a:rPr>
              <a:t>表示事务的数据特征；用对象的操作表示事务的行为特征。</a:t>
            </a:r>
            <a:endParaRPr lang="en-US" altLang="zh-CN" sz="2400" b="1" dirty="0">
              <a:ea typeface="宋体" panose="02010600030101010101" pitchFamily="2" charset="-122"/>
            </a:endParaRPr>
          </a:p>
          <a:p>
            <a:pPr lvl="1"/>
            <a:r>
              <a:rPr lang="zh-CN" altLang="en-US" sz="2400" b="1" dirty="0">
                <a:ea typeface="宋体" panose="02010600030101010101" pitchFamily="2" charset="-122"/>
              </a:rPr>
              <a:t>对象把它的属性与操作结合在一起，成为一个独立的、不可分的实体，并对外屏蔽它的内部细节。</a:t>
            </a:r>
            <a:endParaRPr lang="en-US" altLang="zh-CN" sz="2400" b="1" dirty="0">
              <a:ea typeface="宋体" panose="02010600030101010101" pitchFamily="2" charset="-122"/>
            </a:endParaRPr>
          </a:p>
          <a:p>
            <a:pPr lvl="1"/>
            <a:r>
              <a:rPr lang="zh-CN" altLang="en-US" sz="2400" b="1" dirty="0">
                <a:ea typeface="宋体" panose="02010600030101010101" pitchFamily="2" charset="-122"/>
              </a:rPr>
              <a:t>通过</a:t>
            </a:r>
            <a:r>
              <a:rPr lang="zh-CN" altLang="en-US" sz="2400" b="1" dirty="0">
                <a:solidFill>
                  <a:srgbClr val="7030A0"/>
                </a:solidFill>
                <a:ea typeface="宋体" panose="02010600030101010101" pitchFamily="2" charset="-122"/>
              </a:rPr>
              <a:t>抽象</a:t>
            </a:r>
            <a:r>
              <a:rPr lang="zh-CN" altLang="en-US" sz="2400" b="1" dirty="0">
                <a:ea typeface="宋体" panose="02010600030101010101" pitchFamily="2" charset="-122"/>
              </a:rPr>
              <a:t>对事物进行分类。</a:t>
            </a:r>
            <a:endParaRPr lang="en-US" altLang="zh-CN" sz="2400" b="1" dirty="0">
              <a:ea typeface="宋体" panose="02010600030101010101" pitchFamily="2" charset="-122"/>
            </a:endParaRPr>
          </a:p>
          <a:p>
            <a:pPr lvl="1"/>
            <a:r>
              <a:rPr lang="zh-CN" altLang="en-US" sz="2400" b="1" dirty="0">
                <a:ea typeface="宋体" panose="02010600030101010101" pitchFamily="2" charset="-122"/>
              </a:rPr>
              <a:t>复杂的对象可以用简单的对象作为构成部分。</a:t>
            </a:r>
            <a:endParaRPr lang="en-US" altLang="zh-CN" sz="2400" b="1" dirty="0">
              <a:ea typeface="宋体" panose="02010600030101010101" pitchFamily="2" charset="-122"/>
            </a:endParaRPr>
          </a:p>
          <a:p>
            <a:pPr lvl="1"/>
            <a:r>
              <a:rPr lang="zh-CN" altLang="en-US" sz="2400" b="1" dirty="0">
                <a:ea typeface="宋体" panose="02010600030101010101" pitchFamily="2" charset="-122"/>
              </a:rPr>
              <a:t>通过在不同程度上运用抽象原则，可以得到较一般的类和较特殊的类。</a:t>
            </a:r>
            <a:endParaRPr lang="en-US" altLang="zh-CN" sz="2400" b="1" dirty="0">
              <a:ea typeface="宋体" panose="02010600030101010101" pitchFamily="2" charset="-122"/>
            </a:endParaRPr>
          </a:p>
          <a:p>
            <a:pPr lvl="1"/>
            <a:r>
              <a:rPr lang="zh-CN" altLang="en-US" sz="2400" b="1" dirty="0">
                <a:ea typeface="宋体" panose="02010600030101010101" pitchFamily="2" charset="-122"/>
              </a:rPr>
              <a:t>对象之间通过</a:t>
            </a:r>
            <a:r>
              <a:rPr lang="zh-CN" altLang="en-US" sz="2400" b="1" dirty="0">
                <a:solidFill>
                  <a:srgbClr val="7030A0"/>
                </a:solidFill>
                <a:ea typeface="宋体" panose="02010600030101010101" pitchFamily="2" charset="-122"/>
              </a:rPr>
              <a:t>消息</a:t>
            </a:r>
            <a:r>
              <a:rPr lang="zh-CN" altLang="en-US" sz="2400" b="1" dirty="0">
                <a:ea typeface="宋体" panose="02010600030101010101" pitchFamily="2" charset="-122"/>
              </a:rPr>
              <a:t>进行通信，可以实现对象之间的动态联系</a:t>
            </a:r>
            <a:endParaRPr lang="en-US" altLang="zh-CN" sz="2400" b="1" dirty="0">
              <a:ea typeface="宋体" panose="02010600030101010101" pitchFamily="2" charset="-122"/>
            </a:endParaRPr>
          </a:p>
          <a:p>
            <a:pPr lvl="1"/>
            <a:r>
              <a:rPr lang="zh-CN" altLang="en-US" sz="2400" b="1" dirty="0">
                <a:ea typeface="宋体" panose="02010600030101010101" pitchFamily="2" charset="-122"/>
              </a:rPr>
              <a:t>通过关联表达类之间的静态关系。</a:t>
            </a:r>
            <a:endParaRPr lang="en-US" altLang="zh-CN" sz="2400" b="1" dirty="0">
              <a:ea typeface="宋体" panose="02010600030101010101" pitchFamily="2" charset="-122"/>
            </a:endParaRPr>
          </a:p>
          <a:p>
            <a:pPr lvl="1">
              <a:buNone/>
            </a:pPr>
            <a:r>
              <a:rPr lang="en-US" altLang="zh-CN" sz="2400" b="1" dirty="0">
                <a:ea typeface="宋体" panose="02010600030101010101" pitchFamily="2" charset="-122"/>
              </a:rPr>
              <a:t>    </a:t>
            </a:r>
            <a:endParaRPr lang="zh-CN" altLang="en-US" sz="2400" b="1" dirty="0">
              <a:ea typeface="宋体" panose="02010600030101010101" pitchFamily="2" charset="-122"/>
            </a:endParaRPr>
          </a:p>
          <a:p>
            <a:pPr lvl="0">
              <a:buNone/>
            </a:pPr>
            <a:endParaRPr lang="zh-CN" altLang="en-US"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linds(horizontal)">
                                      <p:cBhvr>
                                        <p:cTn id="25" dur="500"/>
                                        <p:tgtEl>
                                          <p:spTgt spid="3">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linds(horizontal)">
                                      <p:cBhvr>
                                        <p:cTn id="28" dur="500"/>
                                        <p:tgtEl>
                                          <p:spTgt spid="3">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linds(horizontal)">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684530" y="116205"/>
            <a:ext cx="7848600" cy="669925"/>
          </a:xfrm>
        </p:spPr>
        <p:txBody>
          <a:bodyPr vert="horz" wrap="square" lIns="91440" tIns="45720" rIns="91440" bIns="45720" anchor="ctr"/>
          <a:lstStyle/>
          <a:p>
            <a:pPr lvl="0"/>
            <a:r>
              <a:rPr lang="en-US" altLang="zh-CN" sz="2800" dirty="0">
                <a:solidFill>
                  <a:srgbClr val="0070C0"/>
                </a:solidFill>
                <a:latin typeface="华文新魏" panose="02010800040101010101" pitchFamily="2" charset="-122"/>
                <a:ea typeface="华文新魏" panose="02010800040101010101" pitchFamily="2" charset="-122"/>
              </a:rPr>
              <a:t>2.1.3</a:t>
            </a:r>
            <a:r>
              <a:rPr lang="zh-CN" altLang="en-US" sz="2800" dirty="0">
                <a:solidFill>
                  <a:srgbClr val="0070C0"/>
                </a:solidFill>
                <a:latin typeface="华文新魏" panose="02010800040101010101" pitchFamily="2" charset="-122"/>
                <a:ea typeface="华文新魏" panose="02010800040101010101" pitchFamily="2" charset="-122"/>
              </a:rPr>
              <a:t>  面向对象的基本原则</a:t>
            </a:r>
            <a:endParaRPr lang="zh-CN" altLang="en-US" sz="2800" dirty="0">
              <a:solidFill>
                <a:srgbClr val="0070C0"/>
              </a:solidFill>
              <a:latin typeface="华文新魏" panose="02010800040101010101" pitchFamily="2" charset="-122"/>
              <a:ea typeface="华文新魏" panose="02010800040101010101" pitchFamily="2" charset="-122"/>
            </a:endParaRPr>
          </a:p>
        </p:txBody>
      </p:sp>
      <p:grpSp>
        <p:nvGrpSpPr>
          <p:cNvPr id="6" name="组合 2"/>
          <p:cNvGrpSpPr/>
          <p:nvPr/>
        </p:nvGrpSpPr>
        <p:grpSpPr bwMode="auto">
          <a:xfrm>
            <a:off x="441325" y="1196975"/>
            <a:ext cx="8497570" cy="4863465"/>
            <a:chOff x="441325" y="1196975"/>
            <a:chExt cx="8497570" cy="4863465"/>
          </a:xfrm>
        </p:grpSpPr>
        <p:grpSp>
          <p:nvGrpSpPr>
            <p:cNvPr id="7" name="组合 1"/>
            <p:cNvGrpSpPr/>
            <p:nvPr/>
          </p:nvGrpSpPr>
          <p:grpSpPr bwMode="auto">
            <a:xfrm>
              <a:off x="441325" y="1196975"/>
              <a:ext cx="8497570" cy="4863465"/>
              <a:chOff x="441325" y="1196975"/>
              <a:chExt cx="8497570" cy="4863465"/>
            </a:xfrm>
          </p:grpSpPr>
          <p:grpSp>
            <p:nvGrpSpPr>
              <p:cNvPr id="16" name="그룹 55"/>
              <p:cNvGrpSpPr/>
              <p:nvPr/>
            </p:nvGrpSpPr>
            <p:grpSpPr bwMode="auto">
              <a:xfrm>
                <a:off x="441325" y="1196975"/>
                <a:ext cx="8497570" cy="492125"/>
                <a:chOff x="441325" y="1196975"/>
                <a:chExt cx="8497570" cy="492125"/>
              </a:xfrm>
            </p:grpSpPr>
            <p:sp>
              <p:nvSpPr>
                <p:cNvPr id="28" name="AutoShape 811"/>
                <p:cNvSpPr>
                  <a:spLocks noChangeArrowheads="1"/>
                </p:cNvSpPr>
                <p:nvPr/>
              </p:nvSpPr>
              <p:spPr bwMode="auto">
                <a:xfrm>
                  <a:off x="4809490" y="1196975"/>
                  <a:ext cx="4130040" cy="492125"/>
                </a:xfrm>
                <a:prstGeom prst="roundRect">
                  <a:avLst>
                    <a:gd name="adj" fmla="val 26472"/>
                  </a:avLst>
                </a:prstGeom>
                <a:gradFill rotWithShape="1">
                  <a:gsLst>
                    <a:gs pos="0">
                      <a:srgbClr val="FFFFFF">
                        <a:alpha val="79999"/>
                      </a:srgbClr>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tIns="0" bIns="118800"/>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30000"/>
                    </a:lnSpc>
                    <a:buClrTx/>
                    <a:buFont typeface="Wingdings" panose="05000000000000000000" pitchFamily="2" charset="2"/>
                    <a:buNone/>
                  </a:pPr>
                  <a:endParaRPr kumimoji="1" lang="ko-KR" altLang="ko-KR" sz="1800" b="1">
                    <a:solidFill>
                      <a:srgbClr val="FFFF00"/>
                    </a:solidFill>
                    <a:ea typeface="HY견고딕"/>
                    <a:cs typeface="HY견고딕"/>
                  </a:endParaRPr>
                </a:p>
              </p:txBody>
            </p:sp>
            <p:sp>
              <p:nvSpPr>
                <p:cNvPr id="29" name="AutoShape 813"/>
                <p:cNvSpPr>
                  <a:spLocks noChangeArrowheads="1"/>
                </p:cNvSpPr>
                <p:nvPr/>
              </p:nvSpPr>
              <p:spPr bwMode="auto">
                <a:xfrm>
                  <a:off x="441325" y="1196975"/>
                  <a:ext cx="4111625" cy="492125"/>
                </a:xfrm>
                <a:prstGeom prst="roundRect">
                  <a:avLst>
                    <a:gd name="adj" fmla="val 26472"/>
                  </a:avLst>
                </a:prstGeom>
                <a:gradFill rotWithShape="1">
                  <a:gsLst>
                    <a:gs pos="0">
                      <a:srgbClr val="FFFFFF">
                        <a:alpha val="79999"/>
                      </a:srgbClr>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tIns="0" bIns="118800"/>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30000"/>
                    </a:lnSpc>
                    <a:buClrTx/>
                    <a:buFont typeface="Wingdings" panose="05000000000000000000" pitchFamily="2" charset="2"/>
                    <a:buNone/>
                  </a:pPr>
                  <a:endParaRPr kumimoji="1" lang="ko-KR" altLang="ko-KR" sz="1800" b="1">
                    <a:solidFill>
                      <a:srgbClr val="FFFF00"/>
                    </a:solidFill>
                    <a:ea typeface="HY견고딕"/>
                    <a:cs typeface="HY견고딕"/>
                  </a:endParaRPr>
                </a:p>
              </p:txBody>
            </p:sp>
          </p:grpSp>
          <p:pic>
            <p:nvPicPr>
              <p:cNvPr id="17" name="Picture 86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7545" y="2195830"/>
                <a:ext cx="2827655" cy="3014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AutoShape 871"/>
              <p:cNvSpPr>
                <a:spLocks noChangeArrowheads="1"/>
              </p:cNvSpPr>
              <p:nvPr/>
            </p:nvSpPr>
            <p:spPr bwMode="auto">
              <a:xfrm>
                <a:off x="2814955" y="1805305"/>
                <a:ext cx="3663315" cy="4106545"/>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bg1">
                  <a:alpha val="30196"/>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19" name="AutoShape 860"/>
              <p:cNvSpPr>
                <a:spLocks noChangeArrowheads="1"/>
              </p:cNvSpPr>
              <p:nvPr/>
            </p:nvSpPr>
            <p:spPr bwMode="auto">
              <a:xfrm>
                <a:off x="6034405" y="3514725"/>
                <a:ext cx="1877695"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多态性</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20" name="AutoShape 864"/>
              <p:cNvSpPr>
                <a:spLocks noChangeArrowheads="1"/>
              </p:cNvSpPr>
              <p:nvPr/>
            </p:nvSpPr>
            <p:spPr bwMode="auto">
              <a:xfrm>
                <a:off x="1381125" y="3310890"/>
                <a:ext cx="1770380"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分 类</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21" name="AutoShape 876"/>
              <p:cNvSpPr>
                <a:spLocks noChangeArrowheads="1"/>
              </p:cNvSpPr>
              <p:nvPr/>
            </p:nvSpPr>
            <p:spPr bwMode="auto">
              <a:xfrm>
                <a:off x="1648460" y="4679950"/>
                <a:ext cx="1829435"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封 装</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23" name="오른쪽 화살표 75"/>
              <p:cNvSpPr>
                <a:spLocks noChangeArrowheads="1"/>
              </p:cNvSpPr>
              <p:nvPr/>
            </p:nvSpPr>
            <p:spPr bwMode="auto">
              <a:xfrm rot="10800000">
                <a:off x="5687695" y="3578225"/>
                <a:ext cx="372110" cy="324485"/>
              </a:xfrm>
              <a:prstGeom prst="rightArrow">
                <a:avLst>
                  <a:gd name="adj1" fmla="val 33241"/>
                  <a:gd name="adj2" fmla="val 76667"/>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
            <p:nvSpPr>
              <p:cNvPr id="26" name="오른쪽 화살표 80"/>
              <p:cNvSpPr>
                <a:spLocks noChangeArrowheads="1"/>
              </p:cNvSpPr>
              <p:nvPr/>
            </p:nvSpPr>
            <p:spPr bwMode="auto">
              <a:xfrm rot="11098360" flipH="1">
                <a:off x="3178810" y="3414395"/>
                <a:ext cx="372110" cy="324485"/>
              </a:xfrm>
              <a:prstGeom prst="rightArrow">
                <a:avLst>
                  <a:gd name="adj1" fmla="val 33241"/>
                  <a:gd name="adj2" fmla="val 76665"/>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
            <p:nvSpPr>
              <p:cNvPr id="30" name="AutoShape 860"/>
              <p:cNvSpPr>
                <a:spLocks noChangeArrowheads="1"/>
              </p:cNvSpPr>
              <p:nvPr/>
            </p:nvSpPr>
            <p:spPr bwMode="auto">
              <a:xfrm>
                <a:off x="5623560" y="4606925"/>
                <a:ext cx="2033905"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smtClean="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行为分析</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31" name="AutoShape 860"/>
              <p:cNvSpPr>
                <a:spLocks noChangeArrowheads="1"/>
              </p:cNvSpPr>
              <p:nvPr/>
            </p:nvSpPr>
            <p:spPr bwMode="auto">
              <a:xfrm>
                <a:off x="3831590" y="5529580"/>
                <a:ext cx="1433830"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包</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grpSp>
        <p:sp>
          <p:nvSpPr>
            <p:cNvPr id="8" name="AutoShape 860"/>
            <p:cNvSpPr>
              <a:spLocks noChangeArrowheads="1"/>
            </p:cNvSpPr>
            <p:nvPr/>
          </p:nvSpPr>
          <p:spPr bwMode="auto">
            <a:xfrm>
              <a:off x="5265420" y="1782445"/>
              <a:ext cx="1873250"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消息通信</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9" name="AutoShape 860"/>
            <p:cNvSpPr>
              <a:spLocks noChangeArrowheads="1"/>
            </p:cNvSpPr>
            <p:nvPr/>
          </p:nvSpPr>
          <p:spPr bwMode="auto">
            <a:xfrm>
              <a:off x="2002155" y="1797685"/>
              <a:ext cx="1829435" cy="530225"/>
            </a:xfrm>
            <a:prstGeom prst="roundRect">
              <a:avLst>
                <a:gd name="adj" fmla="val 50000"/>
              </a:avLst>
            </a:prstGeom>
            <a:gradFill rotWithShape="1">
              <a:gsLst>
                <a:gs pos="0">
                  <a:srgbClr val="00B0F0"/>
                </a:gs>
                <a:gs pos="100000">
                  <a:schemeClr val="accent1">
                    <a:lumMod val="75000"/>
                  </a:schemeClr>
                </a:gs>
              </a:gsLst>
              <a:lin ang="5400000" scaled="1"/>
            </a:gradFill>
            <a:ln w="19050" algn="ctr">
              <a:noFill/>
              <a:round/>
            </a:ln>
            <a:effectLst>
              <a:outerShdw blurRad="149987" dist="127000" dir="2880000" algn="ctr">
                <a:srgbClr val="000000">
                  <a:alpha val="28000"/>
                </a:srgbClr>
              </a:outerShdw>
            </a:effectLst>
            <a:scene3d>
              <a:camera prst="orthographicFront">
                <a:rot lat="0" lon="0" rev="0"/>
              </a:camera>
              <a:lightRig rig="contrasting" dir="t">
                <a:rot lat="0" lon="0" rev="1500000"/>
              </a:lightRig>
            </a:scene3d>
            <a:sp3d prstMaterial="metal">
              <a:bevelT w="146050" h="139700"/>
            </a:sp3d>
          </p:spPr>
          <p:txBody>
            <a:bodyPr wrap="none" lIns="72000" tIns="0" rIns="72000" bIns="0" anchor="ctr"/>
            <a:lstStyle/>
            <a:p>
              <a:pPr algn="ctr" fontAlgn="auto">
                <a:spcBef>
                  <a:spcPts val="0"/>
                </a:spcBef>
                <a:spcAft>
                  <a:spcPts val="0"/>
                </a:spcAft>
                <a:defRPr/>
              </a:pPr>
              <a:r>
                <a:rPr lang="zh-CN" altLang="en-US" sz="2400" b="1" kern="0" dirty="0" smtClean="0">
                  <a:solidFill>
                    <a:schemeClr val="bg1"/>
                  </a:solidFill>
                  <a:latin typeface="华文新魏" panose="02010800040101010101" pitchFamily="2" charset="-122"/>
                  <a:ea typeface="华文新魏" panose="02010800040101010101" pitchFamily="2" charset="-122"/>
                  <a:cs typeface="Times New Roman" panose="02020603050405020304" pitchFamily="18" charset="0"/>
                </a:rPr>
                <a:t>抽 象</a:t>
              </a:r>
              <a:endParaRPr lang="en-US" altLang="ko-KR" sz="2400" b="1" kern="0" dirty="0">
                <a:solidFill>
                  <a:schemeClr val="bg1"/>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12" name="오른쪽 화살표 80"/>
            <p:cNvSpPr>
              <a:spLocks noChangeArrowheads="1"/>
            </p:cNvSpPr>
            <p:nvPr/>
          </p:nvSpPr>
          <p:spPr bwMode="auto">
            <a:xfrm rot="8733795" flipH="1">
              <a:off x="3324225" y="4425315"/>
              <a:ext cx="481965" cy="324485"/>
            </a:xfrm>
            <a:prstGeom prst="rightArrow">
              <a:avLst>
                <a:gd name="adj1" fmla="val 27642"/>
                <a:gd name="adj2" fmla="val 76667"/>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
          <p:nvSpPr>
            <p:cNvPr id="13" name="오른쪽 화살표 80"/>
            <p:cNvSpPr>
              <a:spLocks noChangeArrowheads="1"/>
            </p:cNvSpPr>
            <p:nvPr/>
          </p:nvSpPr>
          <p:spPr bwMode="auto">
            <a:xfrm rot="2392592" flipH="1">
              <a:off x="5190490" y="4662805"/>
              <a:ext cx="501015" cy="289560"/>
            </a:xfrm>
            <a:prstGeom prst="rightArrow">
              <a:avLst>
                <a:gd name="adj1" fmla="val 33241"/>
                <a:gd name="adj2" fmla="val 76667"/>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
          <p:nvSpPr>
            <p:cNvPr id="14" name="오른쪽 화살표 80"/>
            <p:cNvSpPr>
              <a:spLocks noChangeArrowheads="1"/>
            </p:cNvSpPr>
            <p:nvPr/>
          </p:nvSpPr>
          <p:spPr bwMode="auto">
            <a:xfrm rot="13848205" flipH="1">
              <a:off x="3604260" y="2390775"/>
              <a:ext cx="490220" cy="294005"/>
            </a:xfrm>
            <a:prstGeom prst="rightArrow">
              <a:avLst>
                <a:gd name="adj1" fmla="val 33241"/>
                <a:gd name="adj2" fmla="val 76668"/>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
          <p:nvSpPr>
            <p:cNvPr id="15" name="오른쪽 화살표 75"/>
            <p:cNvSpPr>
              <a:spLocks noChangeArrowheads="1"/>
            </p:cNvSpPr>
            <p:nvPr/>
          </p:nvSpPr>
          <p:spPr bwMode="auto">
            <a:xfrm rot="6941238">
              <a:off x="5147945" y="2390775"/>
              <a:ext cx="459740" cy="324485"/>
            </a:xfrm>
            <a:prstGeom prst="rightArrow">
              <a:avLst>
                <a:gd name="adj1" fmla="val 34636"/>
                <a:gd name="adj2" fmla="val 76665"/>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grpSp>
      <p:sp>
        <p:nvSpPr>
          <p:cNvPr id="32" name="오른쪽 화살표 80"/>
          <p:cNvSpPr>
            <a:spLocks noChangeArrowheads="1"/>
          </p:cNvSpPr>
          <p:nvPr/>
        </p:nvSpPr>
        <p:spPr bwMode="auto">
          <a:xfrm rot="5400000" flipH="1">
            <a:off x="4253865" y="5053965"/>
            <a:ext cx="584200" cy="289560"/>
          </a:xfrm>
          <a:prstGeom prst="rightArrow">
            <a:avLst>
              <a:gd name="adj1" fmla="val 33241"/>
              <a:gd name="adj2" fmla="val 76667"/>
            </a:avLst>
          </a:prstGeom>
          <a:solidFill>
            <a:srgbClr val="002060"/>
          </a:solidFill>
          <a:ln>
            <a:noFill/>
          </a:ln>
          <a:extLst>
            <a:ext uri="{91240B29-F687-4F45-9708-019B960494DF}">
              <a14:hiddenLine xmlns:a14="http://schemas.microsoft.com/office/drawing/2010/main" w="25400">
                <a:solidFill>
                  <a:srgbClr val="000000"/>
                </a:solidFill>
                <a:miter lim="800000"/>
                <a:headEnd/>
                <a:tailEnd/>
              </a14:hiddenLine>
            </a:ext>
          </a:extLst>
        </p:spPr>
        <p:txBody>
          <a:bodyPr rot="10800000"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ko-KR" altLang="en-US" sz="1800">
              <a:solidFill>
                <a:srgbClr val="FFFFFF"/>
              </a:solidFill>
              <a:latin typeface="Gulim" panose="020B0600000101010101" pitchFamily="34" charset="-127"/>
              <a:ea typeface="Gulim" panose="020B0600000101010101" pitchFamily="34" charset="-127"/>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0" y="1052830"/>
            <a:ext cx="8928100" cy="280860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抽象</a:t>
            </a:r>
            <a:r>
              <a:rPr kumimoji="0" lang="en-US" altLang="zh-CN"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(abstraction)</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：是指从事物中舍弃个别的、非本质的特征，而抽取共同的、本质特征的思维方式。</a:t>
            </a:r>
            <a:endParaRPr kumimoji="0" lang="zh-CN" altLang="en-US" sz="2800" b="1" i="0" u="none" strike="noStrike" kern="0" cap="none" spc="0" normalizeH="0" baseline="0" noProof="0" dirty="0">
              <a:ln>
                <a:noFill/>
              </a:ln>
              <a:solidFill>
                <a:srgbClr val="7030A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编程语言的发展呈现抽象层次提高的趋势。</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在面向对象的方法中，对象是对现实世界中事物的抽象</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lang="zh-CN" altLang="en-US" sz="2400" b="1" kern="0" dirty="0">
                <a:latin typeface="+mn-lt"/>
                <a:cs typeface="+mn-cs"/>
              </a:rPr>
              <a:t>类</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是</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对对象的抽象，</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一般类是</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对特殊类的抽象。</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在面向对象的不同开发阶段需要进行不同程度的抽象。</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内容占位符 2"/>
          <p:cNvSpPr txBox="1"/>
          <p:nvPr/>
        </p:nvSpPr>
        <p:spPr bwMode="auto">
          <a:xfrm>
            <a:off x="0" y="3860800"/>
            <a:ext cx="8928100" cy="280860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分类</a:t>
            </a:r>
            <a:r>
              <a:rPr kumimoji="0" lang="en-US" altLang="zh-CN"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(classification)</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：按照某种原则划分出事物的类别，以有助于认识复杂世界。</a:t>
            </a:r>
            <a:endParaRPr kumimoji="0" lang="zh-CN" altLang="en-US" sz="2800" b="1" i="0" u="none" strike="noStrike" kern="0" cap="none" spc="0" normalizeH="0" baseline="0" noProof="0" dirty="0">
              <a:ln>
                <a:noFill/>
              </a:ln>
              <a:solidFill>
                <a:srgbClr val="7030A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OO</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中，分类就是把具有相同属性和相同操作的对象划分为一类，用类作为这些对象的抽象描述。</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运用分类原则，清楚地表示了对象与类的关系，以及特殊类与一般类的关系。</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266" name="标题 1"/>
          <p:cNvSpPr/>
          <p:nvPr/>
        </p:nvSpPr>
        <p:spPr>
          <a:xfrm>
            <a:off x="1456690" y="128905"/>
            <a:ext cx="6035675" cy="670560"/>
          </a:xfrm>
          <a:prstGeom prst="rect">
            <a:avLst/>
          </a:prstGeom>
          <a:noFill/>
          <a:ln w="0">
            <a:noFill/>
          </a:ln>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600" b="0" i="0">
                <a:solidFill>
                  <a:srgbClr val="0070C0"/>
                </a:solidFill>
                <a:latin typeface="黑体" panose="02010609060101010101" charset="-122"/>
                <a:ea typeface="黑体" panose="02010609060101010101" charset="-122"/>
              </a:rPr>
              <a:t>2.1.3 面向对象的基本原则</a:t>
            </a:r>
            <a:endParaRPr lang="ko-KR" altLang="en-US" sz="3600" b="0" i="0">
              <a:solidFill>
                <a:srgbClr val="0070C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blinds(horizontal)">
                                      <p:cBhvr>
                                        <p:cTn id="16" dur="500"/>
                                        <p:tgtEl>
                                          <p:spTgt spid="5">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blinds(horizontal)">
                                      <p:cBhvr>
                                        <p:cTn id="19"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0" y="1196975"/>
            <a:ext cx="8928100" cy="4824730"/>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lang="zh-CN" altLang="en-US" sz="2800" b="1" dirty="0">
                <a:solidFill>
                  <a:srgbClr val="7030A0"/>
                </a:solidFill>
                <a:latin typeface="华文新魏" panose="02010800040101010101" pitchFamily="2" charset="-122"/>
                <a:ea typeface="华文新魏" panose="02010800040101010101" pitchFamily="2" charset="-122"/>
                <a:cs typeface="+mn-cs"/>
              </a:rPr>
              <a:t>封装</a:t>
            </a:r>
            <a:r>
              <a:rPr kumimoji="0" lang="en-US" altLang="zh-CN"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(encapsulation)</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8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两层含义</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：一是把</a:t>
            </a:r>
            <a:r>
              <a:rPr kumimoji="0" lang="zh-CN" altLang="en-US" sz="2800" b="1" i="0" u="none" strike="noStrike" kern="120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描述一个事物的性质和行为结合在一起，对外形成该事物的一个界限</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。二是</a:t>
            </a:r>
            <a:r>
              <a:rPr kumimoji="0" lang="zh-CN" altLang="en-US" sz="2800" b="1" i="0" u="none" strike="noStrike" kern="120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信息隐蔽</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，即外界不能直接存取对象的内部信息（属性）以及隐藏起来的内部操作，外界也不用知道对象对外操作的内部实现细节。</a:t>
            </a:r>
            <a:endParaRPr kumimoji="0" lang="zh-CN" altLang="en-US" sz="2800" b="1" i="0" u="none" strike="noStrike" kern="0" cap="none" spc="0" normalizeH="0" baseline="0" noProof="0" dirty="0">
              <a:ln>
                <a:noFill/>
              </a:ln>
              <a:solidFill>
                <a:srgbClr val="7030A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通过封装，使得在对象的外部不能随意访问对象的内部数据和操作，而只允许通过由对象提供的外部可用的操作来访问其内部，这就降低了对象间的耦合度，还可以避免错误对它的“交叉感染”。</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266" name="标题 1"/>
          <p:cNvSpPr>
            <a:spLocks noGrp="1"/>
          </p:cNvSpPr>
          <p:nvPr/>
        </p:nvSpPr>
        <p:spPr>
          <a:xfrm>
            <a:off x="684530" y="116205"/>
            <a:ext cx="7848600" cy="669925"/>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r>
              <a:rPr lang="en-US" altLang="zh-CN" sz="2800" dirty="0">
                <a:solidFill>
                  <a:srgbClr val="0070C0"/>
                </a:solidFill>
                <a:latin typeface="华文新魏" panose="02010800040101010101" pitchFamily="2" charset="-122"/>
                <a:ea typeface="华文新魏" panose="02010800040101010101" pitchFamily="2" charset="-122"/>
              </a:rPr>
              <a:t>2.1.3</a:t>
            </a:r>
            <a:r>
              <a:rPr lang="zh-CN" altLang="en-US" sz="2800" dirty="0">
                <a:solidFill>
                  <a:srgbClr val="0070C0"/>
                </a:solidFill>
                <a:latin typeface="华文新魏" panose="02010800040101010101" pitchFamily="2" charset="-122"/>
                <a:ea typeface="华文新魏" panose="02010800040101010101" pitchFamily="2" charset="-122"/>
              </a:rPr>
              <a:t>  面向对象的基本原则</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0" y="1196975"/>
            <a:ext cx="8928100" cy="4824730"/>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lang="zh-CN" altLang="en-US" sz="2800" b="1" dirty="0">
                <a:solidFill>
                  <a:srgbClr val="7030A0"/>
                </a:solidFill>
                <a:latin typeface="华文新魏" panose="02010800040101010101" pitchFamily="2" charset="-122"/>
                <a:ea typeface="华文新魏" panose="02010800040101010101" pitchFamily="2" charset="-122"/>
                <a:cs typeface="+mn-cs"/>
              </a:rPr>
              <a:t>消息通信</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：原则上，对象之间只能通过</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message</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进行通信，而不允许在对象之外直接地访问它内部的属性，这是由封装原则引起的。</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消息必须直接发给特定的对象，消息中包含所请求服务的必要信息，且遵守所规定的通信规格说明。</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一条消息的规格说明至少包括：消息名、入口参数和可能的返回参数。一个对象是消息的发送者，也可以是消息的接收者，还可以作为消息中的参数。</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266" name="标题 1"/>
          <p:cNvSpPr>
            <a:spLocks noGrp="1"/>
          </p:cNvSpPr>
          <p:nvPr/>
        </p:nvSpPr>
        <p:spPr>
          <a:xfrm>
            <a:off x="684530" y="116205"/>
            <a:ext cx="7848600" cy="669925"/>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r>
              <a:rPr lang="en-US" altLang="zh-CN" sz="2800" dirty="0">
                <a:solidFill>
                  <a:srgbClr val="0070C0"/>
                </a:solidFill>
                <a:latin typeface="华文新魏" panose="02010800040101010101" pitchFamily="2" charset="-122"/>
                <a:ea typeface="华文新魏" panose="02010800040101010101" pitchFamily="2" charset="-122"/>
              </a:rPr>
              <a:t>2.1.3</a:t>
            </a:r>
            <a:r>
              <a:rPr lang="zh-CN" altLang="en-US" sz="2800" dirty="0">
                <a:solidFill>
                  <a:srgbClr val="0070C0"/>
                </a:solidFill>
                <a:latin typeface="华文新魏" panose="02010800040101010101" pitchFamily="2" charset="-122"/>
                <a:ea typeface="华文新魏" panose="02010800040101010101" pitchFamily="2" charset="-122"/>
              </a:rPr>
              <a:t>  面向对象的基本原则</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0" y="1052830"/>
            <a:ext cx="8928100" cy="194500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1200" cap="none" spc="0" normalizeH="0" baseline="0" noProof="0" dirty="0">
                <a:ln>
                  <a:noFill/>
                </a:ln>
                <a:solidFill>
                  <a:srgbClr val="7030A0"/>
                </a:solidFill>
                <a:effectLst/>
                <a:uLnTx/>
                <a:uFillTx/>
                <a:latin typeface="华文新魏" panose="02010800040101010101" pitchFamily="2" charset="-122"/>
                <a:ea typeface="华文新魏" panose="02010800040101010101" pitchFamily="2" charset="-122"/>
                <a:cs typeface="+mn-cs"/>
              </a:rPr>
              <a:t>多态性</a:t>
            </a:r>
            <a:r>
              <a:rPr kumimoji="0" lang="zh-CN" altLang="en-US"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a:t>
            </a:r>
            <a:r>
              <a:rPr kumimoji="0" lang="en-US" altLang="zh-CN"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polymorphism</a:t>
            </a:r>
            <a:r>
              <a:rPr kumimoji="0" lang="zh-CN" altLang="en-US"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：是指一般类和特殊类可以有相同格式的属性或操作，但这些属性或操作具有不同的含义，即具有不同的数据类型或表现出不同的行为。</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内容占位符 2"/>
          <p:cNvSpPr txBox="1"/>
          <p:nvPr/>
        </p:nvSpPr>
        <p:spPr bwMode="auto">
          <a:xfrm>
            <a:off x="0" y="2997200"/>
            <a:ext cx="8928100" cy="362775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lang="zh-CN" altLang="en-US" sz="2800" b="1" dirty="0">
                <a:solidFill>
                  <a:srgbClr val="7030A0"/>
                </a:solidFill>
                <a:latin typeface="华文新魏" panose="02010800040101010101" pitchFamily="2" charset="-122"/>
                <a:ea typeface="华文新魏" panose="02010800040101010101" pitchFamily="2" charset="-122"/>
                <a:cs typeface="+mn-cs"/>
              </a:rPr>
              <a:t>行为分析</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：关系机制提供了用关联、继承和聚合等组织类的方法。</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对于一个对象，由于</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其</a:t>
            </a:r>
            <a:r>
              <a:rPr lang="zh-CN" altLang="en-US" sz="2400" b="1" kern="0" dirty="0">
                <a:latin typeface="+mn-lt"/>
                <a:cs typeface="+mn-cs"/>
              </a:rPr>
              <a:t>类</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的</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属性值在不断发生变化，按一定的规则根据属性值可把对象划分不同的状态。</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系统中的对象是相互协作的，通过发消息共同完成某项功能</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266" name="标题 1"/>
          <p:cNvSpPr>
            <a:spLocks noGrp="1"/>
          </p:cNvSpPr>
          <p:nvPr/>
        </p:nvSpPr>
        <p:spPr>
          <a:xfrm>
            <a:off x="684530" y="116205"/>
            <a:ext cx="7848600" cy="669925"/>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r>
              <a:rPr lang="en-US" altLang="zh-CN" sz="2800" dirty="0">
                <a:solidFill>
                  <a:srgbClr val="0070C0"/>
                </a:solidFill>
                <a:latin typeface="华文新魏" panose="02010800040101010101" pitchFamily="2" charset="-122"/>
                <a:ea typeface="华文新魏" panose="02010800040101010101" pitchFamily="2" charset="-122"/>
              </a:rPr>
              <a:t>2.1.3</a:t>
            </a:r>
            <a:r>
              <a:rPr lang="zh-CN" altLang="en-US" sz="2800" dirty="0">
                <a:solidFill>
                  <a:srgbClr val="0070C0"/>
                </a:solidFill>
                <a:latin typeface="华文新魏" panose="02010800040101010101" pitchFamily="2" charset="-122"/>
                <a:ea typeface="华文新魏" panose="02010800040101010101" pitchFamily="2" charset="-122"/>
              </a:rPr>
              <a:t>  面向对象的基本原则</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179705" y="1268730"/>
            <a:ext cx="8749030" cy="3240405"/>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lang="zh-CN" altLang="en-US" sz="2800" b="1" dirty="0">
                <a:solidFill>
                  <a:srgbClr val="7030A0"/>
                </a:solidFill>
                <a:latin typeface="华文新魏" panose="02010800040101010101" pitchFamily="2" charset="-122"/>
                <a:ea typeface="华文新魏" panose="02010800040101010101" pitchFamily="2" charset="-122"/>
                <a:cs typeface="+mn-cs"/>
              </a:rPr>
              <a:t>复杂性控制</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：为了控制系统模型的复杂性，引入了</a:t>
            </a:r>
            <a:r>
              <a:rPr lang="zh-CN" altLang="en-US" sz="2800" b="1" dirty="0">
                <a:solidFill>
                  <a:srgbClr val="FF0000"/>
                </a:solidFill>
                <a:latin typeface="华文新魏" panose="02010800040101010101" pitchFamily="2" charset="-122"/>
                <a:ea typeface="华文新魏" panose="02010800040101010101" pitchFamily="2" charset="-122"/>
                <a:cs typeface="+mn-cs"/>
              </a:rPr>
              <a:t>包</a:t>
            </a:r>
            <a:r>
              <a:rPr kumimoji="0" lang="zh-CN" altLang="en-US"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a:t>
            </a:r>
            <a:r>
              <a:rPr kumimoji="0" lang="en-US" altLang="zh-CN" sz="2800" b="1" i="0" u="none" strike="noStrike" kern="1200" cap="none" spc="0" normalizeH="0" baseline="0" noProof="0" dirty="0">
                <a:ln>
                  <a:noFill/>
                </a:ln>
                <a:solidFill>
                  <a:srgbClr val="7030A0"/>
                </a:solidFill>
                <a:effectLst/>
                <a:uLnTx/>
                <a:uFillTx/>
                <a:latin typeface="Arial" panose="020B0604020202020204" pitchFamily="34" charset="0"/>
                <a:ea typeface="宋体" panose="02010600030101010101" pitchFamily="2" charset="-122"/>
                <a:cs typeface="+mn-cs"/>
              </a:rPr>
              <a:t>package)</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的概念。使用包可以把模型元素组织成不同的粒度的系统单位，也可以根据需要用包来组织包。</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用分析包和设计包来分别组织分析模型和设计模型，以显示地描述不同抽象层次的模型；对复杂类图也可以按类之间关系的紧密程度用包来组织类。</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266" name="标题 1"/>
          <p:cNvSpPr>
            <a:spLocks noGrp="1"/>
          </p:cNvSpPr>
          <p:nvPr/>
        </p:nvSpPr>
        <p:spPr>
          <a:xfrm>
            <a:off x="684530" y="116205"/>
            <a:ext cx="7848600" cy="669925"/>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lvl="0"/>
            <a:r>
              <a:rPr lang="en-US" altLang="zh-CN" sz="2800" dirty="0">
                <a:solidFill>
                  <a:srgbClr val="0070C0"/>
                </a:solidFill>
                <a:latin typeface="华文新魏" panose="02010800040101010101" pitchFamily="2" charset="-122"/>
                <a:ea typeface="华文新魏" panose="02010800040101010101" pitchFamily="2" charset="-122"/>
              </a:rPr>
              <a:t>2.1.3</a:t>
            </a:r>
            <a:r>
              <a:rPr lang="zh-CN" altLang="en-US" sz="2800" dirty="0">
                <a:solidFill>
                  <a:srgbClr val="0070C0"/>
                </a:solidFill>
                <a:latin typeface="华文新魏" panose="02010800040101010101" pitchFamily="2" charset="-122"/>
                <a:ea typeface="华文新魏" panose="02010800040101010101" pitchFamily="2" charset="-122"/>
              </a:rPr>
              <a:t>  面向对象的基本原则</a:t>
            </a:r>
            <a:endParaRPr lang="zh-CN" altLang="en-US" sz="2800" dirty="0">
              <a:solidFill>
                <a:srgbClr val="0070C0"/>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7576" y="2852936"/>
            <a:ext cx="8533106" cy="923330"/>
          </a:xfrm>
          <a:prstGeom prst="rect">
            <a:avLst/>
          </a:prstGeom>
          <a:noFill/>
        </p:spPr>
        <p:txBody>
          <a:bodyPr wrap="none" lIns="91440" tIns="45720" rIns="91440" bIns="45720">
            <a:spAutoFit/>
          </a:bodyPr>
          <a:lstStyle/>
          <a:p>
            <a:pPr algn="ctr"/>
            <a:r>
              <a:rPr lang="zh-CN" altLang="en-US" sz="5400" b="1" dirty="0" smtClean="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面向对象方法有哪些优点？</a:t>
            </a:r>
            <a:endParaRPr lang="zh-CN" altLang="en-US" sz="5400"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 name="矩形 4"/>
          <p:cNvSpPr/>
          <p:nvPr/>
        </p:nvSpPr>
        <p:spPr>
          <a:xfrm>
            <a:off x="395536" y="1628800"/>
            <a:ext cx="2271776" cy="923330"/>
          </a:xfrm>
          <a:prstGeom prst="rect">
            <a:avLst/>
          </a:prstGeom>
          <a:noFill/>
        </p:spPr>
        <p:txBody>
          <a:bodyPr wrap="none" lIns="91440" tIns="45720" rIns="91440" bIns="45720">
            <a:spAutoFit/>
          </a:bodyPr>
          <a:lstStyle/>
          <a:p>
            <a:pPr algn="ctr"/>
            <a:r>
              <a:rPr lang="zh-CN" altLang="en-US" sz="5400" b="1" dirty="0" smtClean="0">
                <a:solidFill>
                  <a:srgbClr val="FF33CC"/>
                </a:solidFill>
                <a:effectLst>
                  <a:outerShdw blurRad="38100" dist="19050" dir="2700000" algn="tl" rotWithShape="0">
                    <a:schemeClr val="dk1">
                      <a:lumMod val="50000"/>
                      <a:alpha val="40000"/>
                    </a:schemeClr>
                  </a:outerShdw>
                </a:effectLst>
              </a:rPr>
              <a:t>思考：</a:t>
            </a:r>
            <a:endParaRPr lang="zh-CN" altLang="en-US" sz="5400" b="1" dirty="0">
              <a:solidFill>
                <a:srgbClr val="FF33CC"/>
              </a:solidFill>
              <a:effectLst>
                <a:outerShdw blurRad="38100" dist="19050" dir="2700000" algn="tl" rotWithShape="0">
                  <a:schemeClr val="dk1">
                    <a:lumMod val="50000"/>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a:xfrm>
            <a:off x="611560" y="188640"/>
            <a:ext cx="7849235" cy="670560"/>
          </a:xfrm>
        </p:spPr>
        <p:txBody>
          <a:bodyPr vert="horz" wrap="square" lIns="91440" tIns="45720" rIns="91440" bIns="45720" numCol="1" anchor="ctr">
            <a:noAutofit/>
          </a:bodyPr>
          <a:lstStyle/>
          <a:p>
            <a:pPr marL="0" indent="0" algn="ctr" defTabSz="914400" eaLnBrk="0" fontAlgn="base" latinLnBrk="0" hangingPunct="0">
              <a:lnSpc>
                <a:spcPct val="100000"/>
              </a:lnSpc>
              <a:spcBef>
                <a:spcPts val="0"/>
              </a:spcBef>
              <a:spcAft>
                <a:spcPts val="0"/>
              </a:spcAft>
              <a:buFontTx/>
              <a:buNone/>
            </a:pPr>
            <a:r>
              <a:rPr sz="3600" b="1" i="0" dirty="0">
                <a:solidFill>
                  <a:srgbClr val="0070C0"/>
                </a:solidFill>
                <a:latin typeface="黑体" panose="02010609060101010101" charset="-122"/>
                <a:ea typeface="黑体" panose="02010609060101010101" charset="-122"/>
                <a:cs typeface="宋体" panose="02010600030101010101" pitchFamily="2" charset="-122"/>
              </a:rPr>
              <a:t>2.1.4 </a:t>
            </a:r>
            <a:r>
              <a:rPr sz="3600" b="1" i="0" dirty="0" err="1">
                <a:solidFill>
                  <a:srgbClr val="0070C0"/>
                </a:solidFill>
                <a:latin typeface="黑体" panose="02010609060101010101" charset="-122"/>
                <a:ea typeface="黑体" panose="02010609060101010101" charset="-122"/>
                <a:cs typeface="宋体" panose="02010600030101010101" pitchFamily="2" charset="-122"/>
              </a:rPr>
              <a:t>面向对象方法的主要优点</a:t>
            </a:r>
            <a:endParaRPr lang="ko-KR" altLang="en-US" sz="3600" b="1" i="0" dirty="0">
              <a:solidFill>
                <a:srgbClr val="0070C0"/>
              </a:solidFill>
              <a:latin typeface="黑体" panose="02010609060101010101" charset="-122"/>
              <a:ea typeface="黑体" panose="02010609060101010101" charset="-122"/>
              <a:cs typeface="宋体" panose="02010600030101010101" pitchFamily="2" charset="-122"/>
            </a:endParaRPr>
          </a:p>
        </p:txBody>
      </p:sp>
      <p:sp>
        <p:nvSpPr>
          <p:cNvPr id="4" name="内容占位符 2"/>
          <p:cNvSpPr txBox="1"/>
          <p:nvPr/>
        </p:nvSpPr>
        <p:spPr bwMode="auto">
          <a:xfrm>
            <a:off x="334616" y="1340768"/>
            <a:ext cx="8749030" cy="3961130"/>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认识的角度面向对象方法</a:t>
            </a:r>
            <a:r>
              <a:rPr lang="zh-CN" altLang="en-US" sz="2800" kern="0" dirty="0">
                <a:solidFill>
                  <a:srgbClr val="FF33CC"/>
                </a:solidFill>
                <a:latin typeface="微软雅黑" panose="020B0503020204020204" charset="-122"/>
                <a:ea typeface="微软雅黑" panose="020B0503020204020204" charset="-122"/>
                <a:cs typeface="+mn-cs"/>
              </a:rPr>
              <a:t>改变了开发软件的方法</a:t>
            </a:r>
            <a:endParaRPr lang="en-US" altLang="zh-CN" sz="2800" kern="0" dirty="0">
              <a:solidFill>
                <a:srgbClr val="FF33CC"/>
              </a:solidFill>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面向对象语言使得从</a:t>
            </a:r>
            <a:r>
              <a:rPr lang="zh-CN" altLang="en-US" sz="2800" kern="0" dirty="0">
                <a:solidFill>
                  <a:srgbClr val="FF33CC"/>
                </a:solidFill>
                <a:latin typeface="微软雅黑" panose="020B0503020204020204" charset="-122"/>
                <a:ea typeface="微软雅黑" panose="020B0503020204020204" charset="-122"/>
                <a:cs typeface="+mn-cs"/>
              </a:rPr>
              <a:t>客观世界到计算机的语言鸿沟  变窄</a:t>
            </a:r>
            <a:endParaRPr lang="en-US" altLang="zh-CN" sz="2800" kern="0" dirty="0">
              <a:solidFill>
                <a:srgbClr val="FF33CC"/>
              </a:solidFill>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面向对象方法使</a:t>
            </a:r>
            <a:r>
              <a:rPr lang="zh-CN" altLang="en-US" sz="2800" kern="0" dirty="0">
                <a:solidFill>
                  <a:srgbClr val="FF33CC"/>
                </a:solidFill>
                <a:latin typeface="微软雅黑" panose="020B0503020204020204" charset="-122"/>
                <a:ea typeface="微软雅黑" panose="020B0503020204020204" charset="-122"/>
                <a:cs typeface="+mn-cs"/>
              </a:rPr>
              <a:t>分析与设计之间的鸿沟变窄</a:t>
            </a:r>
            <a:endParaRPr lang="en-US" altLang="zh-CN" sz="2800" kern="0" dirty="0">
              <a:solidFill>
                <a:srgbClr val="FF33CC"/>
              </a:solidFill>
              <a:latin typeface="微软雅黑" panose="020B0503020204020204" charset="-122"/>
              <a:ea typeface="微软雅黑" panose="020B0503020204020204" charset="-122"/>
              <a:cs typeface="+mn-cs"/>
            </a:endParaRPr>
          </a:p>
          <a:p>
            <a:pPr marL="342900" indent="-342900" rtl="0" eaLnBrk="0" hangingPunct="0">
              <a:spcBef>
                <a:spcPts val="1200"/>
              </a:spcBef>
              <a:buClr>
                <a:schemeClr val="hlink"/>
              </a:buClr>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面向对象方法</a:t>
            </a:r>
            <a:r>
              <a:rPr lang="zh-CN" altLang="en-US" sz="2800" kern="0" dirty="0">
                <a:solidFill>
                  <a:srgbClr val="FF33CC"/>
                </a:solidFill>
                <a:latin typeface="微软雅黑" panose="020B0503020204020204" charset="-122"/>
                <a:ea typeface="微软雅黑" panose="020B0503020204020204" charset="-122"/>
                <a:cs typeface="+mn-cs"/>
              </a:rPr>
              <a:t>有助于软件的维护与复用</a:t>
            </a:r>
            <a:endParaRPr lang="en-US" altLang="zh-CN" sz="2800" kern="0" dirty="0">
              <a:solidFill>
                <a:srgbClr val="FF33CC"/>
              </a:solidFill>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面向对象方法</a:t>
            </a:r>
            <a:r>
              <a:rPr kumimoji="0" lang="zh-CN" altLang="en-US" sz="2800" b="0" i="0" u="none" strike="noStrike" kern="0" cap="none" spc="0" normalizeH="0" baseline="0" noProof="0" dirty="0">
                <a:ln>
                  <a:noFill/>
                </a:ln>
                <a:solidFill>
                  <a:srgbClr val="FF33CC"/>
                </a:solidFill>
                <a:effectLst/>
                <a:uLnTx/>
                <a:uFillTx/>
                <a:latin typeface="微软雅黑" panose="020B0503020204020204" charset="-122"/>
                <a:ea typeface="微软雅黑" panose="020B0503020204020204" charset="-122"/>
                <a:cs typeface="+mn-cs"/>
              </a:rPr>
              <a:t>有助于提高软件的质量和生产率</a:t>
            </a:r>
            <a:endParaRPr kumimoji="0" lang="zh-CN" altLang="en-US" sz="2800" b="0" i="0" u="none" strike="noStrike" kern="0" cap="none" spc="0" normalizeH="0" baseline="0" noProof="0" dirty="0">
              <a:ln>
                <a:noFill/>
              </a:ln>
              <a:solidFill>
                <a:srgbClr val="FF33CC"/>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Tx/>
              <a:buNone/>
              <a:defRPr/>
            </a:pPr>
            <a:endPar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7" name="Rectangle 3"/>
          <p:cNvSpPr>
            <a:spLocks noGrp="1"/>
          </p:cNvSpPr>
          <p:nvPr>
            <p:ph idx="1"/>
          </p:nvPr>
        </p:nvSpPr>
        <p:spPr>
          <a:xfrm>
            <a:off x="179512" y="1196975"/>
            <a:ext cx="8471093" cy="4895850"/>
          </a:xfrm>
        </p:spPr>
        <p:txBody>
          <a:bodyPr vert="horz" wrap="square" lIns="91440" tIns="45720" rIns="91440" bIns="45720" anchor="t"/>
          <a:lstStyle/>
          <a:p>
            <a:pPr eaLnBrk="1" hangingPunct="1"/>
            <a:r>
              <a:rPr lang="zh-CN" altLang="en-US" sz="2800" dirty="0">
                <a:solidFill>
                  <a:srgbClr val="FF33CC"/>
                </a:solidFill>
                <a:latin typeface="微软雅黑" panose="020B0503020204020204" charset="-122"/>
                <a:ea typeface="微软雅黑" panose="020B0503020204020204" charset="-122"/>
              </a:rPr>
              <a:t>面向对象技术的优点</a:t>
            </a:r>
            <a:endParaRPr lang="zh-CN" altLang="en-US" sz="2800" dirty="0">
              <a:solidFill>
                <a:srgbClr val="FF33CC"/>
              </a:solidFill>
              <a:latin typeface="微软雅黑" panose="020B0503020204020204" charset="-122"/>
              <a:ea typeface="微软雅黑" panose="020B0503020204020204" charset="-122"/>
            </a:endParaRPr>
          </a:p>
          <a:p>
            <a:pPr lvl="1" eaLnBrk="1" hangingPunct="1"/>
            <a:r>
              <a:rPr lang="zh-CN" altLang="en-US" sz="2400" dirty="0">
                <a:solidFill>
                  <a:srgbClr val="FF33CC"/>
                </a:solidFill>
                <a:latin typeface="微软雅黑" panose="020B0503020204020204" charset="-122"/>
                <a:ea typeface="微软雅黑" panose="020B0503020204020204" charset="-122"/>
              </a:rPr>
              <a:t>稳定性较高</a:t>
            </a:r>
            <a:r>
              <a:rPr lang="zh-CN" altLang="en-US" sz="2400" dirty="0">
                <a:latin typeface="微软雅黑" panose="020B0503020204020204" charset="-122"/>
                <a:ea typeface="微软雅黑" panose="020B0503020204020204" charset="-122"/>
              </a:rPr>
              <a:t>，需求的较小改变不会影响软件的结构</a:t>
            </a:r>
            <a:endParaRPr lang="zh-CN" altLang="en-US" sz="2400" dirty="0">
              <a:latin typeface="微软雅黑" panose="020B0503020204020204" charset="-122"/>
              <a:ea typeface="微软雅黑" panose="020B0503020204020204" charset="-122"/>
            </a:endParaRPr>
          </a:p>
          <a:p>
            <a:pPr lvl="1" eaLnBrk="1" hangingPunct="1"/>
            <a:r>
              <a:rPr lang="zh-CN" altLang="en-US" sz="2400" dirty="0">
                <a:latin typeface="微软雅黑" panose="020B0503020204020204" charset="-122"/>
                <a:ea typeface="微软雅黑" panose="020B0503020204020204" charset="-122"/>
              </a:rPr>
              <a:t>开发的</a:t>
            </a:r>
            <a:r>
              <a:rPr lang="zh-CN" altLang="en-US" sz="2400" dirty="0">
                <a:solidFill>
                  <a:srgbClr val="FF33CC"/>
                </a:solidFill>
                <a:latin typeface="微软雅黑" panose="020B0503020204020204" charset="-122"/>
                <a:ea typeface="微软雅黑" panose="020B0503020204020204" charset="-122"/>
              </a:rPr>
              <a:t>系统更易于理解</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贴近现实世界</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功能为基础</a:t>
            </a:r>
            <a:r>
              <a:rPr lang="en-US" altLang="zh-CN" sz="2400" dirty="0">
                <a:latin typeface="微软雅黑" panose="020B0503020204020204" charset="-122"/>
                <a:ea typeface="微软雅黑" panose="020B0503020204020204" charset="-122"/>
              </a:rPr>
              <a:t>PK</a:t>
            </a:r>
            <a:r>
              <a:rPr lang="zh-CN" altLang="en-US" sz="2400" dirty="0">
                <a:latin typeface="微软雅黑" panose="020B0503020204020204" charset="-122"/>
                <a:ea typeface="微软雅黑" panose="020B0503020204020204" charset="-122"/>
              </a:rPr>
              <a:t>对象为基础</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lvl="1" eaLnBrk="1" hangingPunct="1"/>
            <a:r>
              <a:rPr lang="zh-CN" altLang="en-US" sz="2400" dirty="0">
                <a:solidFill>
                  <a:srgbClr val="FF33CC"/>
                </a:solidFill>
                <a:latin typeface="微软雅黑" panose="020B0503020204020204" charset="-122"/>
                <a:ea typeface="微软雅黑" panose="020B0503020204020204" charset="-122"/>
              </a:rPr>
              <a:t>可靠性高</a:t>
            </a:r>
            <a:endParaRPr lang="zh-CN" altLang="en-US" sz="2400" dirty="0">
              <a:solidFill>
                <a:srgbClr val="FF33CC"/>
              </a:solidFill>
              <a:latin typeface="微软雅黑" panose="020B0503020204020204" charset="-122"/>
              <a:ea typeface="微软雅黑" panose="020B0503020204020204" charset="-122"/>
            </a:endParaRPr>
          </a:p>
          <a:p>
            <a:pPr lvl="1" eaLnBrk="1" hangingPunct="1"/>
            <a:r>
              <a:rPr lang="zh-CN" altLang="en-US" sz="2400" dirty="0">
                <a:solidFill>
                  <a:srgbClr val="FF33CC"/>
                </a:solidFill>
                <a:latin typeface="微软雅黑" panose="020B0503020204020204" charset="-122"/>
                <a:ea typeface="微软雅黑" panose="020B0503020204020204" charset="-122"/>
              </a:rPr>
              <a:t>复用</a:t>
            </a:r>
            <a:endParaRPr lang="zh-CN" altLang="en-US" sz="2400" dirty="0">
              <a:solidFill>
                <a:srgbClr val="FF33CC"/>
              </a:solidFill>
              <a:latin typeface="微软雅黑" panose="020B0503020204020204" charset="-122"/>
              <a:ea typeface="微软雅黑" panose="020B0503020204020204" charset="-122"/>
            </a:endParaRPr>
          </a:p>
          <a:p>
            <a:pPr lvl="1" eaLnBrk="1" hangingPunct="1"/>
            <a:r>
              <a:rPr lang="zh-CN" altLang="en-US" sz="2400" dirty="0">
                <a:latin typeface="微软雅黑" panose="020B0503020204020204" charset="-122"/>
                <a:ea typeface="微软雅黑" panose="020B0503020204020204" charset="-122"/>
              </a:rPr>
              <a:t>结构化方法对问题进行功能分解，强调软件的结构按照功能来组织，一旦功能改变，软件结构就不稳定</a:t>
            </a:r>
            <a:endParaRPr lang="zh-CN" altLang="en-US" sz="2400" dirty="0">
              <a:latin typeface="微软雅黑" panose="020B0503020204020204" charset="-122"/>
              <a:ea typeface="微软雅黑" panose="020B0503020204020204" charset="-122"/>
            </a:endParaRPr>
          </a:p>
          <a:p>
            <a:pPr lvl="1" eaLnBrk="1" hangingPunct="1"/>
            <a:r>
              <a:rPr lang="en-US" altLang="zh-CN" sz="2400" dirty="0">
                <a:latin typeface="微软雅黑" panose="020B0503020204020204" charset="-122"/>
                <a:ea typeface="微软雅黑" panose="020B0503020204020204" charset="-122"/>
              </a:rPr>
              <a:t>OO</a:t>
            </a:r>
            <a:r>
              <a:rPr lang="zh-CN" altLang="en-US" sz="2400" dirty="0">
                <a:latin typeface="微软雅黑" panose="020B0503020204020204" charset="-122"/>
                <a:ea typeface="微软雅黑" panose="020B0503020204020204" charset="-122"/>
              </a:rPr>
              <a:t>方法按照问题域分解，能够更直接地描述现实世界</a:t>
            </a:r>
            <a:endParaRPr lang="zh-CN" altLang="en-US" sz="2400" dirty="0">
              <a:latin typeface="微软雅黑" panose="020B0503020204020204" charset="-122"/>
              <a:ea typeface="微软雅黑" panose="020B0503020204020204" charset="-122"/>
            </a:endParaRPr>
          </a:p>
          <a:p>
            <a:pPr lvl="1" eaLnBrk="1" hangingPunct="1"/>
            <a:r>
              <a:rPr lang="zh-CN" altLang="en-US" sz="2400" dirty="0">
                <a:latin typeface="微软雅黑" panose="020B0503020204020204" charset="-122"/>
                <a:ea typeface="微软雅黑" panose="020B0503020204020204" charset="-122"/>
              </a:rPr>
              <a:t>各个开发阶段之间过渡</a:t>
            </a:r>
            <a:r>
              <a:rPr lang="zh-CN" altLang="en-US" sz="2400" dirty="0">
                <a:latin typeface="微软雅黑" panose="020B0503020204020204" charset="-122"/>
                <a:ea typeface="微软雅黑" panose="020B0503020204020204" charset="-122"/>
              </a:rPr>
              <a:t>平滑</a:t>
            </a:r>
            <a:r>
              <a:rPr lang="zh-CN" altLang="en-US" sz="2400" dirty="0">
                <a:solidFill>
                  <a:srgbClr val="FF33CC"/>
                </a:solidFill>
                <a:latin typeface="微软雅黑" panose="020B0503020204020204" charset="-122"/>
                <a:ea typeface="微软雅黑" panose="020B0503020204020204" charset="-122"/>
              </a:rPr>
              <a:t>   </a:t>
            </a:r>
            <a:r>
              <a:rPr lang="en-US" altLang="zh-CN" sz="2400" dirty="0">
                <a:solidFill>
                  <a:srgbClr val="FF33CC"/>
                </a:solidFill>
                <a:latin typeface="微软雅黑" panose="020B0503020204020204" charset="-122"/>
                <a:ea typeface="微软雅黑" panose="020B0503020204020204" charset="-122"/>
              </a:rPr>
              <a:t>OOA</a:t>
            </a:r>
            <a:r>
              <a:rPr lang="zh-CN" altLang="en-US" sz="2400" dirty="0">
                <a:solidFill>
                  <a:srgbClr val="FF33CC"/>
                </a:solidFill>
                <a:latin typeface="微软雅黑" panose="020B0503020204020204" charset="-122"/>
                <a:ea typeface="微软雅黑" panose="020B0503020204020204" charset="-122"/>
              </a:rPr>
              <a:t>与</a:t>
            </a:r>
            <a:r>
              <a:rPr lang="en-US" altLang="zh-CN" sz="2400" dirty="0">
                <a:solidFill>
                  <a:srgbClr val="FF33CC"/>
                </a:solidFill>
                <a:latin typeface="微软雅黑" panose="020B0503020204020204" charset="-122"/>
                <a:ea typeface="微软雅黑" panose="020B0503020204020204" charset="-122"/>
              </a:rPr>
              <a:t>OOD</a:t>
            </a:r>
            <a:r>
              <a:rPr lang="zh-CN" altLang="en-US" sz="2400" dirty="0">
                <a:solidFill>
                  <a:srgbClr val="FF33CC"/>
                </a:solidFill>
                <a:latin typeface="微软雅黑" panose="020B0503020204020204" charset="-122"/>
                <a:ea typeface="微软雅黑" panose="020B0503020204020204" charset="-122"/>
              </a:rPr>
              <a:t>阶段无鸿沟</a:t>
            </a:r>
            <a:endParaRPr lang="zh-CN" altLang="en-US" sz="2400" dirty="0">
              <a:solidFill>
                <a:srgbClr val="FF33CC"/>
              </a:solidFill>
              <a:latin typeface="微软雅黑" panose="020B0503020204020204" charset="-122"/>
              <a:ea typeface="微软雅黑" panose="020B0503020204020204" charset="-122"/>
            </a:endParaRPr>
          </a:p>
        </p:txBody>
      </p:sp>
      <p:sp>
        <p:nvSpPr>
          <p:cNvPr id="17412" name="Rectangle 5"/>
          <p:cNvSpPr/>
          <p:nvPr/>
        </p:nvSpPr>
        <p:spPr>
          <a:xfrm>
            <a:off x="468630" y="1341755"/>
            <a:ext cx="8686800" cy="3886200"/>
          </a:xfrm>
          <a:prstGeom prst="rect">
            <a:avLst/>
          </a:prstGeom>
          <a:noFill/>
          <a:ln w="9525">
            <a:noFill/>
          </a:ln>
        </p:spPr>
        <p:txBody>
          <a:bodyPr/>
          <a:lstStyle/>
          <a:p>
            <a:pPr marL="342900" lvl="0" indent="-342900" eaLnBrk="1" hangingPunct="1">
              <a:spcBef>
                <a:spcPct val="20000"/>
              </a:spcBef>
              <a:buClr>
                <a:schemeClr val="bg2"/>
              </a:buClr>
              <a:buSzPct val="75000"/>
              <a:buFont typeface="Wingdings" panose="05000000000000000000" pitchFamily="2" charset="2"/>
              <a:buNone/>
            </a:pPr>
            <a:endParaRPr lang="zh-CN" altLang="en-US" sz="3200" b="1" dirty="0">
              <a:latin typeface="Arial" panose="020B0604020202020204" pitchFamily="34" charset="0"/>
              <a:ea typeface="宋体" panose="02010600030101010101" pitchFamily="2" charset="-122"/>
            </a:endParaRPr>
          </a:p>
        </p:txBody>
      </p:sp>
      <p:sp>
        <p:nvSpPr>
          <p:cNvPr id="16386" name="标题 1"/>
          <p:cNvSpPr txBox="1">
            <a:spLocks noGrp="1"/>
          </p:cNvSpPr>
          <p:nvPr>
            <p:ph type="title"/>
          </p:nvPr>
        </p:nvSpPr>
        <p:spPr>
          <a:xfrm>
            <a:off x="671830" y="116205"/>
            <a:ext cx="7849235" cy="670560"/>
          </a:xfrm>
          <a:prstGeom prst="rect">
            <a:avLst/>
          </a:prstGeom>
          <a:noFill/>
          <a:ln w="0">
            <a:noFill/>
          </a:ln>
        </p:spPr>
        <p:txBody>
          <a:bodyPr vert="horz" wrap="square" lIns="91440" tIns="45720" rIns="91440" bIns="45720" numCol="1" anchor="ctr">
            <a:noAutofit/>
          </a:bodyPr>
          <a:lstStyle/>
          <a:p>
            <a:pPr marL="0" indent="0" algn="ctr" defTabSz="914400" eaLnBrk="0" fontAlgn="base" latinLnBrk="0" hangingPunct="0">
              <a:lnSpc>
                <a:spcPct val="100000"/>
              </a:lnSpc>
              <a:spcBef>
                <a:spcPts val="0"/>
              </a:spcBef>
              <a:spcAft>
                <a:spcPts val="0"/>
              </a:spcAft>
              <a:buFontTx/>
              <a:buNone/>
            </a:pPr>
            <a:r>
              <a:rPr sz="3600" b="1" i="0" dirty="0" err="1" smtClean="0">
                <a:solidFill>
                  <a:srgbClr val="0070C0"/>
                </a:solidFill>
                <a:latin typeface="黑体" panose="02010609060101010101" charset="-122"/>
                <a:ea typeface="黑体" panose="02010609060101010101" charset="-122"/>
                <a:cs typeface="宋体" panose="02010600030101010101" pitchFamily="2" charset="-122"/>
              </a:rPr>
              <a:t>面向对象方法的主要优点</a:t>
            </a:r>
            <a:r>
              <a:rPr lang="zh-CN" altLang="en-US" sz="3600" b="1" i="0" dirty="0" smtClean="0">
                <a:solidFill>
                  <a:srgbClr val="0070C0"/>
                </a:solidFill>
                <a:latin typeface="黑体" panose="02010609060101010101" charset="-122"/>
                <a:ea typeface="黑体" panose="02010609060101010101" charset="-122"/>
                <a:cs typeface="宋体" panose="02010600030101010101" pitchFamily="2" charset="-122"/>
              </a:rPr>
              <a:t>（</a:t>
            </a:r>
            <a:r>
              <a:rPr lang="en-US" altLang="zh-CN" sz="3600" b="1" i="0" dirty="0" smtClean="0">
                <a:solidFill>
                  <a:srgbClr val="0070C0"/>
                </a:solidFill>
                <a:latin typeface="黑体" panose="02010609060101010101" charset="-122"/>
                <a:ea typeface="黑体" panose="02010609060101010101" charset="-122"/>
                <a:cs typeface="宋体" panose="02010600030101010101" pitchFamily="2" charset="-122"/>
              </a:rPr>
              <a:t>Cont.)</a:t>
            </a:r>
            <a:endParaRPr lang="ko-KR" altLang="en-US" sz="3600" b="1" i="0" dirty="0">
              <a:solidFill>
                <a:srgbClr val="0070C0"/>
              </a:solidFill>
              <a:latin typeface="黑体" panose="02010609060101010101" charset="-122"/>
              <a:ea typeface="黑体" panose="02010609060101010101"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6707">
                                            <p:txEl>
                                              <p:pRg st="0" end="0"/>
                                            </p:txEl>
                                          </p:spTgt>
                                        </p:tgtEl>
                                        <p:attrNameLst>
                                          <p:attrName>style.visibility</p:attrName>
                                        </p:attrNameLst>
                                      </p:cBhvr>
                                      <p:to>
                                        <p:strVal val="visible"/>
                                      </p:to>
                                    </p:set>
                                    <p:anim calcmode="lin" valueType="num">
                                      <p:cBhvr additive="base">
                                        <p:cTn id="7" dur="500" fill="hold"/>
                                        <p:tgtEl>
                                          <p:spTgt spid="456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6707">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0" end="0"/>
                                            </p:txEl>
                                          </p:spTgt>
                                        </p:tgtEl>
                                        <p:attrNameLst>
                                          <p:attrName>style.visibility</p:attrName>
                                        </p:attrNameLst>
                                      </p:cBhvr>
                                      <p:to>
                                        <p:strVal val="hidden"/>
                                      </p:to>
                                    </p:set>
                                  </p:subTnLst>
                                </p:cTn>
                              </p:par>
                              <p:par>
                                <p:cTn id="9" presetID="2" presetClass="entr" presetSubtype="4" fill="hold" grpId="0" nodeType="withEffect">
                                  <p:stCondLst>
                                    <p:cond delay="0"/>
                                  </p:stCondLst>
                                  <p:childTnLst>
                                    <p:set>
                                      <p:cBhvr>
                                        <p:cTn id="10" dur="1" fill="hold">
                                          <p:stCondLst>
                                            <p:cond delay="0"/>
                                          </p:stCondLst>
                                        </p:cTn>
                                        <p:tgtEl>
                                          <p:spTgt spid="456707">
                                            <p:txEl>
                                              <p:pRg st="1" end="1"/>
                                            </p:txEl>
                                          </p:spTgt>
                                        </p:tgtEl>
                                        <p:attrNameLst>
                                          <p:attrName>style.visibility</p:attrName>
                                        </p:attrNameLst>
                                      </p:cBhvr>
                                      <p:to>
                                        <p:strVal val="visible"/>
                                      </p:to>
                                    </p:set>
                                    <p:anim calcmode="lin" valueType="num">
                                      <p:cBhvr additive="base">
                                        <p:cTn id="11" dur="500" fill="hold"/>
                                        <p:tgtEl>
                                          <p:spTgt spid="4567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56707">
                                            <p:txEl>
                                              <p:pRg st="1" end="1"/>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1" end="1"/>
                                            </p:txEl>
                                          </p:spTgt>
                                        </p:tgtEl>
                                        <p:attrNameLst>
                                          <p:attrName>style.visibility</p:attrName>
                                        </p:attrNameLst>
                                      </p:cBhvr>
                                      <p:to>
                                        <p:strVal val="hidden"/>
                                      </p:to>
                                    </p:set>
                                  </p:subTnLst>
                                </p:cTn>
                              </p:par>
                              <p:par>
                                <p:cTn id="13" presetID="2" presetClass="entr" presetSubtype="4" fill="hold" grpId="0" nodeType="withEffect">
                                  <p:stCondLst>
                                    <p:cond delay="0"/>
                                  </p:stCondLst>
                                  <p:childTnLst>
                                    <p:set>
                                      <p:cBhvr>
                                        <p:cTn id="14" dur="1" fill="hold">
                                          <p:stCondLst>
                                            <p:cond delay="0"/>
                                          </p:stCondLst>
                                        </p:cTn>
                                        <p:tgtEl>
                                          <p:spTgt spid="456707">
                                            <p:txEl>
                                              <p:pRg st="2" end="2"/>
                                            </p:txEl>
                                          </p:spTgt>
                                        </p:tgtEl>
                                        <p:attrNameLst>
                                          <p:attrName>style.visibility</p:attrName>
                                        </p:attrNameLst>
                                      </p:cBhvr>
                                      <p:to>
                                        <p:strVal val="visible"/>
                                      </p:to>
                                    </p:set>
                                    <p:anim calcmode="lin" valueType="num">
                                      <p:cBhvr additive="base">
                                        <p:cTn id="15" dur="500" fill="hold"/>
                                        <p:tgtEl>
                                          <p:spTgt spid="45670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56707">
                                            <p:txEl>
                                              <p:pRg st="2" end="2"/>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2" end="2"/>
                                            </p:txEl>
                                          </p:spTgt>
                                        </p:tgtEl>
                                        <p:attrNameLst>
                                          <p:attrName>style.visibility</p:attrName>
                                        </p:attrNameLst>
                                      </p:cBhvr>
                                      <p:to>
                                        <p:strVal val="hidden"/>
                                      </p:to>
                                    </p:set>
                                  </p:subTnLst>
                                </p:cTn>
                              </p:par>
                              <p:par>
                                <p:cTn id="17" presetID="2" presetClass="entr" presetSubtype="4" fill="hold" grpId="0" nodeType="withEffect">
                                  <p:stCondLst>
                                    <p:cond delay="0"/>
                                  </p:stCondLst>
                                  <p:childTnLst>
                                    <p:set>
                                      <p:cBhvr>
                                        <p:cTn id="18" dur="1" fill="hold">
                                          <p:stCondLst>
                                            <p:cond delay="0"/>
                                          </p:stCondLst>
                                        </p:cTn>
                                        <p:tgtEl>
                                          <p:spTgt spid="456707">
                                            <p:txEl>
                                              <p:pRg st="3" end="3"/>
                                            </p:txEl>
                                          </p:spTgt>
                                        </p:tgtEl>
                                        <p:attrNameLst>
                                          <p:attrName>style.visibility</p:attrName>
                                        </p:attrNameLst>
                                      </p:cBhvr>
                                      <p:to>
                                        <p:strVal val="visible"/>
                                      </p:to>
                                    </p:set>
                                    <p:anim calcmode="lin" valueType="num">
                                      <p:cBhvr additive="base">
                                        <p:cTn id="19" dur="500" fill="hold"/>
                                        <p:tgtEl>
                                          <p:spTgt spid="4567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6707">
                                            <p:txEl>
                                              <p:pRg st="3" end="3"/>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3" end="3"/>
                                            </p:txEl>
                                          </p:spTgt>
                                        </p:tgtEl>
                                        <p:attrNameLst>
                                          <p:attrName>style.visibility</p:attrName>
                                        </p:attrNameLst>
                                      </p:cBhvr>
                                      <p:to>
                                        <p:strVal val="hidden"/>
                                      </p:to>
                                    </p:set>
                                  </p:subTnLst>
                                </p:cTn>
                              </p:par>
                              <p:par>
                                <p:cTn id="21" presetID="2" presetClass="entr" presetSubtype="4" fill="hold" grpId="0" nodeType="withEffect">
                                  <p:stCondLst>
                                    <p:cond delay="0"/>
                                  </p:stCondLst>
                                  <p:childTnLst>
                                    <p:set>
                                      <p:cBhvr>
                                        <p:cTn id="22" dur="1" fill="hold">
                                          <p:stCondLst>
                                            <p:cond delay="0"/>
                                          </p:stCondLst>
                                        </p:cTn>
                                        <p:tgtEl>
                                          <p:spTgt spid="456707">
                                            <p:txEl>
                                              <p:pRg st="4" end="4"/>
                                            </p:txEl>
                                          </p:spTgt>
                                        </p:tgtEl>
                                        <p:attrNameLst>
                                          <p:attrName>style.visibility</p:attrName>
                                        </p:attrNameLst>
                                      </p:cBhvr>
                                      <p:to>
                                        <p:strVal val="visible"/>
                                      </p:to>
                                    </p:set>
                                    <p:anim calcmode="lin" valueType="num">
                                      <p:cBhvr additive="base">
                                        <p:cTn id="23" dur="500" fill="hold"/>
                                        <p:tgtEl>
                                          <p:spTgt spid="45670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56707">
                                            <p:txEl>
                                              <p:pRg st="4" end="4"/>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4" end="4"/>
                                            </p:txEl>
                                          </p:spTgt>
                                        </p:tgtEl>
                                        <p:attrNameLst>
                                          <p:attrName>style.visibility</p:attrName>
                                        </p:attrNameLst>
                                      </p:cBhvr>
                                      <p:to>
                                        <p:strVal val="hidden"/>
                                      </p:to>
                                    </p:set>
                                  </p:subTnLst>
                                </p:cTn>
                              </p:par>
                              <p:par>
                                <p:cTn id="25" presetID="2" presetClass="entr" presetSubtype="4" fill="hold" grpId="0" nodeType="withEffect">
                                  <p:stCondLst>
                                    <p:cond delay="0"/>
                                  </p:stCondLst>
                                  <p:childTnLst>
                                    <p:set>
                                      <p:cBhvr>
                                        <p:cTn id="26" dur="1" fill="hold">
                                          <p:stCondLst>
                                            <p:cond delay="0"/>
                                          </p:stCondLst>
                                        </p:cTn>
                                        <p:tgtEl>
                                          <p:spTgt spid="456707">
                                            <p:txEl>
                                              <p:pRg st="5" end="5"/>
                                            </p:txEl>
                                          </p:spTgt>
                                        </p:tgtEl>
                                        <p:attrNameLst>
                                          <p:attrName>style.visibility</p:attrName>
                                        </p:attrNameLst>
                                      </p:cBhvr>
                                      <p:to>
                                        <p:strVal val="visible"/>
                                      </p:to>
                                    </p:set>
                                    <p:anim calcmode="lin" valueType="num">
                                      <p:cBhvr additive="base">
                                        <p:cTn id="27" dur="500" fill="hold"/>
                                        <p:tgtEl>
                                          <p:spTgt spid="45670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56707">
                                            <p:txEl>
                                              <p:pRg st="5" end="5"/>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5" end="5"/>
                                            </p:txEl>
                                          </p:spTgt>
                                        </p:tgtEl>
                                        <p:attrNameLst>
                                          <p:attrName>style.visibility</p:attrName>
                                        </p:attrNameLst>
                                      </p:cBhvr>
                                      <p:to>
                                        <p:strVal val="hidden"/>
                                      </p:to>
                                    </p:set>
                                  </p:subTnLst>
                                </p:cTn>
                              </p:par>
                              <p:par>
                                <p:cTn id="29" presetID="2" presetClass="entr" presetSubtype="4" fill="hold" grpId="0" nodeType="withEffect">
                                  <p:stCondLst>
                                    <p:cond delay="0"/>
                                  </p:stCondLst>
                                  <p:childTnLst>
                                    <p:set>
                                      <p:cBhvr>
                                        <p:cTn id="30" dur="1" fill="hold">
                                          <p:stCondLst>
                                            <p:cond delay="0"/>
                                          </p:stCondLst>
                                        </p:cTn>
                                        <p:tgtEl>
                                          <p:spTgt spid="456707">
                                            <p:txEl>
                                              <p:pRg st="6" end="6"/>
                                            </p:txEl>
                                          </p:spTgt>
                                        </p:tgtEl>
                                        <p:attrNameLst>
                                          <p:attrName>style.visibility</p:attrName>
                                        </p:attrNameLst>
                                      </p:cBhvr>
                                      <p:to>
                                        <p:strVal val="visible"/>
                                      </p:to>
                                    </p:set>
                                    <p:anim calcmode="lin" valueType="num">
                                      <p:cBhvr additive="base">
                                        <p:cTn id="31" dur="500" fill="hold"/>
                                        <p:tgtEl>
                                          <p:spTgt spid="45670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6707">
                                            <p:txEl>
                                              <p:pRg st="6" end="6"/>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6" end="6"/>
                                            </p:txEl>
                                          </p:spTgt>
                                        </p:tgtEl>
                                        <p:attrNameLst>
                                          <p:attrName>style.visibility</p:attrName>
                                        </p:attrNameLst>
                                      </p:cBhvr>
                                      <p:to>
                                        <p:strVal val="hidden"/>
                                      </p:to>
                                    </p:set>
                                  </p:subTnLst>
                                </p:cTn>
                              </p:par>
                              <p:par>
                                <p:cTn id="33" presetID="2" presetClass="entr" presetSubtype="4" fill="hold" grpId="0" nodeType="withEffect">
                                  <p:stCondLst>
                                    <p:cond delay="0"/>
                                  </p:stCondLst>
                                  <p:childTnLst>
                                    <p:set>
                                      <p:cBhvr>
                                        <p:cTn id="34" dur="1" fill="hold">
                                          <p:stCondLst>
                                            <p:cond delay="0"/>
                                          </p:stCondLst>
                                        </p:cTn>
                                        <p:tgtEl>
                                          <p:spTgt spid="456707">
                                            <p:txEl>
                                              <p:pRg st="7" end="7"/>
                                            </p:txEl>
                                          </p:spTgt>
                                        </p:tgtEl>
                                        <p:attrNameLst>
                                          <p:attrName>style.visibility</p:attrName>
                                        </p:attrNameLst>
                                      </p:cBhvr>
                                      <p:to>
                                        <p:strVal val="visible"/>
                                      </p:to>
                                    </p:set>
                                    <p:anim calcmode="lin" valueType="num">
                                      <p:cBhvr additive="base">
                                        <p:cTn id="35" dur="500" fill="hold"/>
                                        <p:tgtEl>
                                          <p:spTgt spid="45670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56707">
                                            <p:txEl>
                                              <p:pRg st="7" end="7"/>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p:tgtEl>
                                          <p:spTgt spid="456707">
                                            <p:txEl>
                                              <p:pRg st="7" end="7"/>
                                            </p:txEl>
                                          </p:spTgt>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0" y="222250"/>
            <a:ext cx="9144635" cy="564515"/>
          </a:xfrm>
        </p:spPr>
        <p:txBody>
          <a:bodyPr vert="horz" wrap="square" lIns="91440" tIns="45720" rIns="91440" bIns="45720" numCol="1" anchor="ctr">
            <a:noAutofit/>
          </a:bodyPr>
          <a:lstStyle/>
          <a:p>
            <a:pPr marL="0" indent="0" algn="ctr" defTabSz="914400" eaLnBrk="1" fontAlgn="base" latinLnBrk="0" hangingPunct="1">
              <a:lnSpc>
                <a:spcPct val="100000"/>
              </a:lnSpc>
              <a:spcBef>
                <a:spcPts val="0"/>
              </a:spcBef>
              <a:spcAft>
                <a:spcPts val="0"/>
              </a:spcAft>
              <a:buFontTx/>
              <a:buNone/>
            </a:pPr>
            <a:r>
              <a:rPr sz="3600" b="1" i="0">
                <a:solidFill>
                  <a:srgbClr val="0070C0"/>
                </a:solidFill>
                <a:latin typeface="黑体" panose="02010609060101010101" charset="-122"/>
                <a:ea typeface="黑体" panose="02010609060101010101" charset="-122"/>
                <a:cs typeface="宋体" panose="02010600030101010101" pitchFamily="2" charset="-122"/>
              </a:rPr>
              <a:t>2.1.5 面向对象领域的基本概念</a:t>
            </a:r>
            <a:endParaRPr lang="ko-KR" altLang="en-US" sz="3600" b="1" i="0">
              <a:solidFill>
                <a:srgbClr val="0070C0"/>
              </a:solidFill>
              <a:latin typeface="黑体" panose="02010609060101010101" charset="-122"/>
              <a:ea typeface="黑体" panose="02010609060101010101" charset="-122"/>
              <a:cs typeface="宋体" panose="02010600030101010101" pitchFamily="2" charset="-122"/>
            </a:endParaRPr>
          </a:p>
        </p:txBody>
      </p:sp>
      <p:sp>
        <p:nvSpPr>
          <p:cNvPr id="29" name="内容占位符 2"/>
          <p:cNvSpPr>
            <a:spLocks noGrp="1"/>
          </p:cNvSpPr>
          <p:nvPr>
            <p:ph idx="1"/>
          </p:nvPr>
        </p:nvSpPr>
        <p:spPr>
          <a:xfrm>
            <a:off x="2051720" y="1180654"/>
            <a:ext cx="5112568" cy="4801166"/>
          </a:xfrm>
        </p:spPr>
        <p:txBody>
          <a:bodyPr/>
          <a:lstStyle/>
          <a:p>
            <a:pPr>
              <a:lnSpc>
                <a:spcPct val="150000"/>
              </a:lnSpc>
            </a:pPr>
            <a:r>
              <a:rPr lang="zh-CN" altLang="en-US" b="0" dirty="0" smtClean="0"/>
              <a:t>对象和实例</a:t>
            </a:r>
            <a:endParaRPr lang="en-US" altLang="zh-CN" b="0" dirty="0" smtClean="0"/>
          </a:p>
          <a:p>
            <a:pPr>
              <a:lnSpc>
                <a:spcPct val="150000"/>
              </a:lnSpc>
            </a:pPr>
            <a:r>
              <a:rPr lang="zh-CN" altLang="en-US" b="0" dirty="0" smtClean="0"/>
              <a:t>类</a:t>
            </a:r>
            <a:endParaRPr lang="en-US" altLang="zh-CN" b="0" dirty="0" smtClean="0"/>
          </a:p>
          <a:p>
            <a:pPr>
              <a:lnSpc>
                <a:spcPct val="150000"/>
              </a:lnSpc>
            </a:pPr>
            <a:r>
              <a:rPr lang="zh-CN" altLang="en-US" b="0" dirty="0" smtClean="0"/>
              <a:t>封装</a:t>
            </a:r>
            <a:endParaRPr lang="en-US" altLang="zh-CN" b="0" dirty="0" smtClean="0"/>
          </a:p>
          <a:p>
            <a:pPr>
              <a:lnSpc>
                <a:spcPct val="150000"/>
              </a:lnSpc>
            </a:pPr>
            <a:r>
              <a:rPr lang="zh-CN" altLang="en-US" dirty="0" smtClean="0"/>
              <a:t>继承</a:t>
            </a:r>
            <a:endParaRPr lang="en-US" altLang="zh-CN" dirty="0" smtClean="0"/>
          </a:p>
          <a:p>
            <a:pPr>
              <a:lnSpc>
                <a:spcPct val="150000"/>
              </a:lnSpc>
            </a:pPr>
            <a:r>
              <a:rPr lang="zh-CN" altLang="en-US" dirty="0" smtClean="0"/>
              <a:t>多态</a:t>
            </a:r>
            <a:endParaRPr lang="en-US" altLang="zh-CN" dirty="0" smtClean="0"/>
          </a:p>
          <a:p>
            <a:pPr>
              <a:lnSpc>
                <a:spcPct val="150000"/>
              </a:lnSpc>
            </a:pPr>
            <a:r>
              <a:rPr lang="zh-CN" altLang="en-US" dirty="0"/>
              <a:t>消息</a:t>
            </a:r>
            <a:endParaRPr lang="en-US" altLang="zh-CN" dirty="0" smtClean="0"/>
          </a:p>
          <a:p>
            <a:pPr>
              <a:lnSpc>
                <a:spcPct val="150000"/>
              </a:lnSpc>
            </a:pPr>
            <a:endParaRPr lang="zh-CN" altLang="en-US" b="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linds(horizontal)">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blinds(horizontal)">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blinds(horizontal)">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transition="in" filter="blinds(horizontal)">
                                      <p:cBhvr>
                                        <p:cTn id="22" dur="500"/>
                                        <p:tgtEl>
                                          <p:spTgt spid="2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
                                            <p:txEl>
                                              <p:pRg st="4" end="4"/>
                                            </p:txEl>
                                          </p:spTgt>
                                        </p:tgtEl>
                                        <p:attrNameLst>
                                          <p:attrName>style.visibility</p:attrName>
                                        </p:attrNameLst>
                                      </p:cBhvr>
                                      <p:to>
                                        <p:strVal val="visible"/>
                                      </p:to>
                                    </p:set>
                                    <p:animEffect transition="in" filter="blinds(horizontal)">
                                      <p:cBhvr>
                                        <p:cTn id="27" dur="500"/>
                                        <p:tgtEl>
                                          <p:spTgt spid="2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9">
                                            <p:txEl>
                                              <p:pRg st="5" end="5"/>
                                            </p:txEl>
                                          </p:spTgt>
                                        </p:tgtEl>
                                        <p:attrNameLst>
                                          <p:attrName>style.visibility</p:attrName>
                                        </p:attrNameLst>
                                      </p:cBhvr>
                                      <p:to>
                                        <p:strVal val="visible"/>
                                      </p:to>
                                    </p:set>
                                    <p:animEffect transition="in" filter="blinds(horizontal)">
                                      <p:cBhvr>
                                        <p:cTn id="32" dur="500"/>
                                        <p:tgtEl>
                                          <p:spTgt spid="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1</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对象和实例</a:t>
            </a:r>
            <a:endParaRPr lang="zh-CN" altLang="en-US" dirty="0">
              <a:latin typeface="+mj-lt"/>
              <a:ea typeface="宋体" panose="02010600030101010101" pitchFamily="2" charset="-122"/>
              <a:cs typeface="+mj-cs"/>
            </a:endParaRPr>
          </a:p>
        </p:txBody>
      </p:sp>
      <p:sp>
        <p:nvSpPr>
          <p:cNvPr id="19459" name="Rectangle 3"/>
          <p:cNvSpPr>
            <a:spLocks noGrp="1"/>
          </p:cNvSpPr>
          <p:nvPr>
            <p:ph idx="1"/>
          </p:nvPr>
        </p:nvSpPr>
        <p:spPr>
          <a:xfrm>
            <a:off x="571500" y="1357630"/>
            <a:ext cx="8230235" cy="4880610"/>
          </a:xfrm>
        </p:spPr>
        <p:txBody>
          <a:bodyPr vert="horz" wrap="square" lIns="91440" tIns="45720" rIns="91440" bIns="45720" anchor="t"/>
          <a:lstStyle/>
          <a:p>
            <a:pPr eaLnBrk="1" hangingPunct="1"/>
            <a:r>
              <a:rPr lang="zh-CN" altLang="en-US" dirty="0">
                <a:solidFill>
                  <a:srgbClr val="0070C0"/>
                </a:solidFill>
                <a:ea typeface="宋体" panose="02010600030101010101" pitchFamily="2" charset="-122"/>
              </a:rPr>
              <a:t>对象</a:t>
            </a:r>
            <a:r>
              <a:rPr lang="en-US" altLang="zh-CN" dirty="0">
                <a:ea typeface="宋体" panose="02010600030101010101" pitchFamily="2" charset="-122"/>
              </a:rPr>
              <a:t>(Object) </a:t>
            </a:r>
            <a:r>
              <a:rPr lang="zh-CN" altLang="en-US" i="1" dirty="0">
                <a:solidFill>
                  <a:srgbClr val="CC0066"/>
                </a:solidFill>
                <a:ea typeface="宋体" panose="02010600030101010101" pitchFamily="2" charset="-122"/>
              </a:rPr>
              <a:t>有意义的一切事物都是对象</a:t>
            </a:r>
            <a:endParaRPr lang="zh-CN" altLang="en-US" i="1" dirty="0">
              <a:solidFill>
                <a:srgbClr val="CC0066"/>
              </a:solidFill>
              <a:ea typeface="宋体" panose="02010600030101010101" pitchFamily="2" charset="-122"/>
            </a:endParaRPr>
          </a:p>
          <a:p>
            <a:pPr lvl="1" eaLnBrk="1" hangingPunct="1"/>
            <a:r>
              <a:rPr lang="zh-CN" altLang="en-US" dirty="0">
                <a:ea typeface="宋体" panose="02010600030101010101" pitchFamily="2" charset="-122"/>
              </a:rPr>
              <a:t>它是系统用来描述客观事物的一个实体，是构成系统的一个基本单位。</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对象包括：属性</a:t>
            </a:r>
            <a:r>
              <a:rPr lang="zh-CN" altLang="en-US" i="1" dirty="0">
                <a:ea typeface="宋体" panose="02010600030101010101" pitchFamily="2" charset="-122"/>
              </a:rPr>
              <a:t>（静态特征）</a:t>
            </a:r>
            <a:r>
              <a:rPr lang="zh-CN" altLang="en-US" dirty="0">
                <a:ea typeface="宋体" panose="02010600030101010101" pitchFamily="2" charset="-122"/>
              </a:rPr>
              <a:t>和方法</a:t>
            </a:r>
            <a:r>
              <a:rPr lang="zh-CN" altLang="en-US" i="1" dirty="0">
                <a:ea typeface="宋体" panose="02010600030101010101" pitchFamily="2" charset="-122"/>
              </a:rPr>
              <a:t>（动态特征）</a:t>
            </a:r>
            <a:endParaRPr lang="zh-CN" altLang="en-US" i="1" dirty="0">
              <a:ea typeface="宋体" panose="02010600030101010101" pitchFamily="2" charset="-122"/>
            </a:endParaRPr>
          </a:p>
          <a:p>
            <a:pPr lvl="1" eaLnBrk="1" hangingPunct="1"/>
            <a:r>
              <a:rPr lang="zh-CN" altLang="en-US" dirty="0">
                <a:ea typeface="宋体" panose="02010600030101010101" pitchFamily="2" charset="-122"/>
              </a:rPr>
              <a:t>对象之间对过消息进行通信。</a:t>
            </a:r>
            <a:endParaRPr lang="zh-CN" altLang="en-US" dirty="0">
              <a:ea typeface="宋体" panose="02010600030101010101" pitchFamily="2" charset="-122"/>
            </a:endParaRPr>
          </a:p>
          <a:p>
            <a:pPr eaLnBrk="1" hangingPunct="1"/>
            <a:r>
              <a:rPr lang="zh-CN" altLang="en-US" dirty="0">
                <a:solidFill>
                  <a:srgbClr val="0070C0"/>
                </a:solidFill>
                <a:ea typeface="宋体" panose="02010600030101010101" pitchFamily="2" charset="-122"/>
              </a:rPr>
              <a:t>实例</a:t>
            </a:r>
            <a:r>
              <a:rPr lang="en-US" altLang="zh-CN" dirty="0">
                <a:ea typeface="宋体" panose="02010600030101010101" pitchFamily="2" charset="-122"/>
              </a:rPr>
              <a:t>(Instance)</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它与对象的概念很类似，但其含义更广泛一些。</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2</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类</a:t>
            </a:r>
            <a:endParaRPr lang="zh-CN" altLang="en-US" dirty="0">
              <a:latin typeface="+mj-lt"/>
              <a:ea typeface="宋体" panose="02010600030101010101" pitchFamily="2" charset="-122"/>
              <a:cs typeface="+mj-cs"/>
            </a:endParaRPr>
          </a:p>
        </p:txBody>
      </p:sp>
      <p:sp>
        <p:nvSpPr>
          <p:cNvPr id="20483" name="Rectangle 3"/>
          <p:cNvSpPr>
            <a:spLocks noGrp="1"/>
          </p:cNvSpPr>
          <p:nvPr>
            <p:ph idx="1"/>
          </p:nvPr>
        </p:nvSpPr>
        <p:spPr>
          <a:xfrm>
            <a:off x="395605" y="1341755"/>
            <a:ext cx="5074920" cy="3886200"/>
          </a:xfrm>
        </p:spPr>
        <p:txBody>
          <a:bodyPr vert="horz" wrap="square" lIns="91440" tIns="45720" rIns="91440" bIns="45720" anchor="t"/>
          <a:lstStyle/>
          <a:p>
            <a:pPr eaLnBrk="1" hangingPunct="1"/>
            <a:r>
              <a:rPr lang="zh-CN" altLang="en-US" dirty="0">
                <a:solidFill>
                  <a:srgbClr val="0070C0"/>
                </a:solidFill>
                <a:ea typeface="宋体" panose="02010600030101010101" pitchFamily="2" charset="-122"/>
              </a:rPr>
              <a:t>类</a:t>
            </a:r>
            <a:r>
              <a:rPr lang="en-US" altLang="zh-CN" dirty="0">
                <a:ea typeface="宋体" panose="02010600030101010101" pitchFamily="2" charset="-122"/>
              </a:rPr>
              <a:t>(Class)</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它是具有相同属性和方法的一组对象的集合</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为某类对象提供统一的描述</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类是静态概念，对象是动态的</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对象是类的实例</a:t>
            </a:r>
            <a:endParaRPr lang="zh-CN" altLang="en-US" dirty="0">
              <a:ea typeface="宋体" panose="02010600030101010101" pitchFamily="2" charset="-122"/>
            </a:endParaRPr>
          </a:p>
          <a:p>
            <a:pPr lvl="1" eaLnBrk="1" hangingPunct="1">
              <a:buNone/>
            </a:pPr>
            <a:endParaRPr lang="zh-CN" altLang="en-US" dirty="0">
              <a:ea typeface="宋体" panose="02010600030101010101" pitchFamily="2" charset="-122"/>
            </a:endParaRPr>
          </a:p>
        </p:txBody>
      </p:sp>
      <p:pic>
        <p:nvPicPr>
          <p:cNvPr id="459780" name="Picture 4"/>
          <p:cNvPicPr>
            <a:picLocks noChangeAspect="1"/>
          </p:cNvPicPr>
          <p:nvPr/>
        </p:nvPicPr>
        <p:blipFill>
          <a:blip r:embed="rId1"/>
          <a:stretch>
            <a:fillRect/>
          </a:stretch>
        </p:blipFill>
        <p:spPr>
          <a:xfrm>
            <a:off x="6508750" y="3284855"/>
            <a:ext cx="2466975" cy="3573145"/>
          </a:xfrm>
          <a:prstGeom prst="rect">
            <a:avLst/>
          </a:prstGeom>
          <a:noFill/>
          <a:ln w="9525">
            <a:noFill/>
          </a:ln>
        </p:spPr>
      </p:pic>
      <p:pic>
        <p:nvPicPr>
          <p:cNvPr id="20485" name="Picture 5"/>
          <p:cNvPicPr>
            <a:picLocks noChangeAspect="1"/>
          </p:cNvPicPr>
          <p:nvPr/>
        </p:nvPicPr>
        <p:blipFill>
          <a:blip r:embed="rId2"/>
          <a:stretch>
            <a:fillRect/>
          </a:stretch>
        </p:blipFill>
        <p:spPr>
          <a:xfrm>
            <a:off x="5508625" y="405130"/>
            <a:ext cx="3529330" cy="29305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9780"/>
                                        </p:tgtEl>
                                        <p:attrNameLst>
                                          <p:attrName>style.visibility</p:attrName>
                                        </p:attrNameLst>
                                      </p:cBhvr>
                                      <p:to>
                                        <p:strVal val="visible"/>
                                      </p:to>
                                    </p:set>
                                    <p:anim calcmode="lin" valueType="num">
                                      <p:cBhvr additive="base">
                                        <p:cTn id="7" dur="500" fill="hold"/>
                                        <p:tgtEl>
                                          <p:spTgt spid="459780"/>
                                        </p:tgtEl>
                                        <p:attrNameLst>
                                          <p:attrName>ppt_x</p:attrName>
                                        </p:attrNameLst>
                                      </p:cBhvr>
                                      <p:tavLst>
                                        <p:tav tm="0">
                                          <p:val>
                                            <p:strVal val="#ppt_x"/>
                                          </p:val>
                                        </p:tav>
                                        <p:tav tm="100000">
                                          <p:val>
                                            <p:strVal val="#ppt_x"/>
                                          </p:val>
                                        </p:tav>
                                      </p:tavLst>
                                    </p:anim>
                                    <p:anim calcmode="lin" valueType="num">
                                      <p:cBhvr additive="base">
                                        <p:cTn id="8" dur="500" fill="hold"/>
                                        <p:tgtEl>
                                          <p:spTgt spid="459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0" y="189230"/>
            <a:ext cx="9144000" cy="56324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3</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封装</a:t>
            </a:r>
            <a:endParaRPr lang="zh-CN" altLang="en-US" dirty="0">
              <a:latin typeface="+mj-lt"/>
              <a:ea typeface="宋体" panose="02010600030101010101" pitchFamily="2" charset="-122"/>
              <a:cs typeface="+mj-cs"/>
            </a:endParaRPr>
          </a:p>
        </p:txBody>
      </p:sp>
      <p:sp>
        <p:nvSpPr>
          <p:cNvPr id="21507" name="Rectangle 3"/>
          <p:cNvSpPr>
            <a:spLocks noGrp="1"/>
          </p:cNvSpPr>
          <p:nvPr>
            <p:ph idx="1"/>
          </p:nvPr>
        </p:nvSpPr>
        <p:spPr>
          <a:xfrm>
            <a:off x="0" y="1230630"/>
            <a:ext cx="8686800" cy="4824730"/>
          </a:xfrm>
        </p:spPr>
        <p:txBody>
          <a:bodyPr vert="horz" wrap="square" lIns="91440" tIns="45720" rIns="91440" bIns="45720" anchor="t"/>
          <a:lstStyle/>
          <a:p>
            <a:pPr eaLnBrk="1" hangingPunct="1">
              <a:lnSpc>
                <a:spcPct val="90000"/>
              </a:lnSpc>
            </a:pPr>
            <a:r>
              <a:rPr lang="zh-CN" altLang="en-US" dirty="0">
                <a:solidFill>
                  <a:srgbClr val="0070C0"/>
                </a:solidFill>
                <a:ea typeface="宋体" panose="02010600030101010101" pitchFamily="2" charset="-122"/>
              </a:rPr>
              <a:t>封装</a:t>
            </a:r>
            <a:r>
              <a:rPr lang="en-US" altLang="zh-CN" dirty="0">
                <a:ea typeface="宋体" panose="02010600030101010101" pitchFamily="2" charset="-122"/>
              </a:rPr>
              <a:t>(Encapsulation)</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就是把对象的属性和方法结合成一个独立的系统单位，并尽可能隐蔽对象的内部细节。</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封装使对象具有</a:t>
            </a:r>
            <a:r>
              <a:rPr lang="en-US" altLang="zh-CN" dirty="0">
                <a:ea typeface="宋体" panose="02010600030101010101" pitchFamily="2" charset="-122"/>
              </a:rPr>
              <a:t>2</a:t>
            </a:r>
            <a:r>
              <a:rPr lang="zh-CN" altLang="en-US" dirty="0">
                <a:ea typeface="宋体" panose="02010600030101010101" pitchFamily="2" charset="-122"/>
              </a:rPr>
              <a:t>个部分：接口部分和实现部分  （硬盘）</a:t>
            </a:r>
            <a:endParaRPr lang="zh-CN" altLang="en-US" dirty="0">
              <a:ea typeface="宋体" panose="02010600030101010101" pitchFamily="2" charset="-122"/>
            </a:endParaRPr>
          </a:p>
          <a:p>
            <a:pPr eaLnBrk="1" hangingPunct="1">
              <a:lnSpc>
                <a:spcPct val="90000"/>
              </a:lnSpc>
            </a:pPr>
            <a:r>
              <a:rPr lang="zh-CN" altLang="en-US" dirty="0">
                <a:solidFill>
                  <a:srgbClr val="0070C0"/>
                </a:solidFill>
                <a:ea typeface="宋体" panose="02010600030101010101" pitchFamily="2" charset="-122"/>
              </a:rPr>
              <a:t>封装提供</a:t>
            </a:r>
            <a:r>
              <a:rPr lang="en-US" altLang="zh-CN" dirty="0">
                <a:solidFill>
                  <a:srgbClr val="0070C0"/>
                </a:solidFill>
                <a:ea typeface="宋体" panose="02010600030101010101" pitchFamily="2" charset="-122"/>
              </a:rPr>
              <a:t>2</a:t>
            </a:r>
            <a:r>
              <a:rPr lang="zh-CN" altLang="en-US" dirty="0">
                <a:solidFill>
                  <a:srgbClr val="0070C0"/>
                </a:solidFill>
                <a:ea typeface="宋体" panose="02010600030101010101" pitchFamily="2" charset="-122"/>
              </a:rPr>
              <a:t>种保护</a:t>
            </a:r>
            <a:endParaRPr lang="zh-CN" altLang="en-US" dirty="0">
              <a:solidFill>
                <a:srgbClr val="0070C0"/>
              </a:solidFill>
              <a:ea typeface="宋体" panose="02010600030101010101" pitchFamily="2" charset="-122"/>
            </a:endParaRPr>
          </a:p>
          <a:p>
            <a:pPr lvl="1" eaLnBrk="1" hangingPunct="1">
              <a:lnSpc>
                <a:spcPct val="90000"/>
              </a:lnSpc>
            </a:pPr>
            <a:r>
              <a:rPr lang="zh-CN" altLang="en-US" dirty="0">
                <a:ea typeface="宋体" panose="02010600030101010101" pitchFamily="2" charset="-122"/>
              </a:rPr>
              <a:t>保护对象</a:t>
            </a:r>
            <a:endParaRPr lang="zh-CN" altLang="en-US" dirty="0">
              <a:ea typeface="宋体" panose="02010600030101010101" pitchFamily="2" charset="-122"/>
            </a:endParaRPr>
          </a:p>
          <a:p>
            <a:pPr lvl="1" eaLnBrk="1" hangingPunct="1">
              <a:lnSpc>
                <a:spcPct val="90000"/>
              </a:lnSpc>
              <a:buNone/>
            </a:pPr>
            <a:r>
              <a:rPr lang="zh-CN" altLang="en-US" sz="2400" dirty="0">
                <a:ea typeface="宋体" panose="02010600030101010101" pitchFamily="2" charset="-122"/>
              </a:rPr>
              <a:t>防止直接访问对象内部细节</a:t>
            </a:r>
            <a:endParaRPr lang="zh-CN" altLang="en-US" sz="2400" dirty="0">
              <a:ea typeface="宋体" panose="02010600030101010101" pitchFamily="2" charset="-122"/>
            </a:endParaRPr>
          </a:p>
          <a:p>
            <a:pPr lvl="1" eaLnBrk="1" hangingPunct="1">
              <a:lnSpc>
                <a:spcPct val="90000"/>
              </a:lnSpc>
              <a:buNone/>
            </a:pPr>
            <a:r>
              <a:rPr lang="zh-CN" altLang="en-US" dirty="0">
                <a:ea typeface="宋体" panose="02010600030101010101" pitchFamily="2" charset="-122"/>
              </a:rPr>
              <a:t>保护客户</a:t>
            </a:r>
            <a:endParaRPr lang="zh-CN" altLang="en-US" dirty="0">
              <a:ea typeface="宋体" panose="02010600030101010101" pitchFamily="2" charset="-122"/>
            </a:endParaRPr>
          </a:p>
          <a:p>
            <a:pPr lvl="1" eaLnBrk="1" hangingPunct="1">
              <a:lnSpc>
                <a:spcPct val="90000"/>
              </a:lnSpc>
              <a:buNone/>
            </a:pPr>
            <a:r>
              <a:rPr lang="zh-CN" altLang="en-US" sz="2400" dirty="0">
                <a:ea typeface="宋体" panose="02010600030101010101" pitchFamily="2" charset="-122"/>
              </a:rPr>
              <a:t>防止对象实现部分的变化影响客户对象</a:t>
            </a:r>
            <a:endParaRPr lang="zh-CN" altLang="en-US" sz="2400" dirty="0">
              <a:ea typeface="宋体" panose="02010600030101010101" pitchFamily="2" charset="-122"/>
            </a:endParaRPr>
          </a:p>
        </p:txBody>
      </p:sp>
      <p:pic>
        <p:nvPicPr>
          <p:cNvPr id="21508" name="Picture 4"/>
          <p:cNvPicPr>
            <a:picLocks noChangeAspect="1"/>
          </p:cNvPicPr>
          <p:nvPr/>
        </p:nvPicPr>
        <p:blipFill>
          <a:blip r:embed="rId1"/>
          <a:stretch>
            <a:fillRect/>
          </a:stretch>
        </p:blipFill>
        <p:spPr>
          <a:xfrm>
            <a:off x="4796155" y="3114040"/>
            <a:ext cx="4211320" cy="225869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4</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继承</a:t>
            </a:r>
            <a:endParaRPr lang="zh-CN" altLang="en-US" dirty="0">
              <a:latin typeface="+mj-lt"/>
              <a:ea typeface="宋体" panose="02010600030101010101" pitchFamily="2" charset="-122"/>
              <a:cs typeface="+mj-cs"/>
            </a:endParaRPr>
          </a:p>
        </p:txBody>
      </p:sp>
      <p:sp>
        <p:nvSpPr>
          <p:cNvPr id="22531" name="Rectangle 3"/>
          <p:cNvSpPr>
            <a:spLocks noGrp="1"/>
          </p:cNvSpPr>
          <p:nvPr>
            <p:ph idx="1"/>
          </p:nvPr>
        </p:nvSpPr>
        <p:spPr>
          <a:xfrm>
            <a:off x="468630" y="1052830"/>
            <a:ext cx="8229600" cy="2663825"/>
          </a:xfrm>
        </p:spPr>
        <p:txBody>
          <a:bodyPr vert="horz" wrap="square" lIns="91440" tIns="45720" rIns="91440" bIns="45720" anchor="t"/>
          <a:lstStyle/>
          <a:p>
            <a:pPr eaLnBrk="1" hangingPunct="1"/>
            <a:r>
              <a:rPr lang="zh-CN" altLang="en-US" dirty="0">
                <a:solidFill>
                  <a:srgbClr val="0070C0"/>
                </a:solidFill>
                <a:ea typeface="宋体" panose="02010600030101010101" pitchFamily="2" charset="-122"/>
              </a:rPr>
              <a:t>继承</a:t>
            </a:r>
            <a:r>
              <a:rPr lang="en-US" altLang="zh-CN" dirty="0">
                <a:ea typeface="宋体" panose="02010600030101010101" pitchFamily="2" charset="-122"/>
              </a:rPr>
              <a:t>(Inheritance)</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它使子类可以继承父类的属性和方法</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继承增加了软件复用的机会</a:t>
            </a:r>
            <a:endParaRPr lang="zh-CN" altLang="en-US" dirty="0">
              <a:ea typeface="宋体" panose="02010600030101010101" pitchFamily="2" charset="-122"/>
            </a:endParaRPr>
          </a:p>
          <a:p>
            <a:pPr eaLnBrk="1" hangingPunct="1"/>
            <a:r>
              <a:rPr lang="zh-CN" altLang="en-US" dirty="0">
                <a:solidFill>
                  <a:srgbClr val="0070C0"/>
                </a:solidFill>
                <a:ea typeface="宋体" panose="02010600030101010101" pitchFamily="2" charset="-122"/>
              </a:rPr>
              <a:t>单继承与多继承</a:t>
            </a:r>
            <a:endParaRPr lang="zh-CN" altLang="en-US" dirty="0">
              <a:solidFill>
                <a:srgbClr val="0070C0"/>
              </a:solidFill>
              <a:ea typeface="宋体" panose="02010600030101010101" pitchFamily="2" charset="-122"/>
            </a:endParaRPr>
          </a:p>
        </p:txBody>
      </p:sp>
      <p:pic>
        <p:nvPicPr>
          <p:cNvPr id="22532" name="Picture 4"/>
          <p:cNvPicPr>
            <a:picLocks noChangeAspect="1"/>
          </p:cNvPicPr>
          <p:nvPr/>
        </p:nvPicPr>
        <p:blipFill>
          <a:blip r:embed="rId1"/>
          <a:stretch>
            <a:fillRect/>
          </a:stretch>
        </p:blipFill>
        <p:spPr>
          <a:xfrm>
            <a:off x="468630" y="3357880"/>
            <a:ext cx="8135620" cy="280797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override</a:t>
            </a:r>
            <a:r>
              <a:rPr lang="zh-CN" altLang="en-US" dirty="0">
                <a:latin typeface="+mj-lt"/>
                <a:ea typeface="宋体" panose="02010600030101010101" pitchFamily="2" charset="-122"/>
                <a:cs typeface="+mj-cs"/>
              </a:rPr>
              <a:t>与</a:t>
            </a:r>
            <a:r>
              <a:rPr lang="en-US" altLang="zh-CN" dirty="0">
                <a:latin typeface="+mj-lt"/>
                <a:ea typeface="宋体" panose="02010600030101010101" pitchFamily="2" charset="-122"/>
                <a:cs typeface="+mj-cs"/>
              </a:rPr>
              <a:t>overload</a:t>
            </a:r>
            <a:endParaRPr lang="zh-CN" altLang="en-US" dirty="0">
              <a:latin typeface="+mj-lt"/>
              <a:ea typeface="宋体" panose="02010600030101010101" pitchFamily="2" charset="-122"/>
              <a:cs typeface="+mj-cs"/>
            </a:endParaRPr>
          </a:p>
        </p:txBody>
      </p:sp>
      <p:sp>
        <p:nvSpPr>
          <p:cNvPr id="475139" name="Rectangle 3"/>
          <p:cNvSpPr>
            <a:spLocks noGrp="1"/>
          </p:cNvSpPr>
          <p:nvPr>
            <p:ph idx="1"/>
          </p:nvPr>
        </p:nvSpPr>
        <p:spPr>
          <a:xfrm>
            <a:off x="323850" y="1341755"/>
            <a:ext cx="8641080" cy="5111750"/>
          </a:xfrm>
        </p:spPr>
        <p:txBody>
          <a:bodyPr vert="horz" wrap="square" lIns="91440" tIns="45720" rIns="91440" bIns="45720" anchor="t"/>
          <a:lstStyle/>
          <a:p>
            <a:pPr eaLnBrk="1" hangingPunct="1">
              <a:lnSpc>
                <a:spcPct val="90000"/>
              </a:lnSpc>
            </a:pPr>
            <a:r>
              <a:rPr lang="zh-CN" altLang="en-US" sz="2800" dirty="0">
                <a:solidFill>
                  <a:srgbClr val="0070C0"/>
                </a:solidFill>
                <a:ea typeface="宋体" panose="02010600030101010101" pitchFamily="2" charset="-122"/>
              </a:rPr>
              <a:t>覆盖（</a:t>
            </a:r>
            <a:r>
              <a:rPr lang="en-US" altLang="zh-CN" sz="2800" dirty="0">
                <a:solidFill>
                  <a:srgbClr val="0070C0"/>
                </a:solidFill>
                <a:ea typeface="宋体" panose="02010600030101010101" pitchFamily="2" charset="-122"/>
              </a:rPr>
              <a:t>override</a:t>
            </a:r>
            <a:r>
              <a:rPr lang="zh-CN" altLang="en-US" sz="2800" dirty="0">
                <a:solidFill>
                  <a:srgbClr val="0070C0"/>
                </a:solidFill>
                <a:ea typeface="宋体" panose="02010600030101010101" pitchFamily="2" charset="-122"/>
              </a:rPr>
              <a:t>）</a:t>
            </a:r>
            <a:r>
              <a:rPr lang="zh-CN" altLang="en-US" sz="2800" dirty="0">
                <a:ea typeface="宋体" panose="02010600030101010101" pitchFamily="2" charset="-122"/>
              </a:rPr>
              <a:t>在</a:t>
            </a:r>
            <a:r>
              <a:rPr lang="zh-CN" altLang="en-US" sz="2800" dirty="0">
                <a:solidFill>
                  <a:srgbClr val="CC0066"/>
                </a:solidFill>
                <a:ea typeface="宋体" panose="02010600030101010101" pitchFamily="2" charset="-122"/>
              </a:rPr>
              <a:t>子类</a:t>
            </a:r>
            <a:r>
              <a:rPr lang="zh-CN" altLang="en-US" sz="2800" dirty="0">
                <a:ea typeface="宋体" panose="02010600030101010101" pitchFamily="2" charset="-122"/>
              </a:rPr>
              <a:t>中增加或重新定义所继承的属性或方法。</a:t>
            </a:r>
            <a:endParaRPr lang="zh-CN" altLang="en-US" sz="2800" dirty="0">
              <a:ea typeface="宋体" panose="02010600030101010101" pitchFamily="2" charset="-122"/>
            </a:endParaRPr>
          </a:p>
          <a:p>
            <a:pPr eaLnBrk="1" hangingPunct="1">
              <a:lnSpc>
                <a:spcPct val="90000"/>
              </a:lnSpc>
              <a:buNone/>
            </a:pPr>
            <a:r>
              <a:rPr lang="zh-CN" altLang="en-US" sz="2800" dirty="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public class A</a:t>
            </a:r>
            <a:r>
              <a:rPr lang="zh-CN" altLang="en-US"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a:p>
            <a:pPr eaLnBrk="1" hangingPunct="1">
              <a:lnSpc>
                <a:spcPct val="90000"/>
              </a:lnSpc>
              <a:buNone/>
            </a:pP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String name;</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public String getValue(){</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return “Value is:” + name;</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a:p>
            <a:pPr eaLnBrk="1" hangingPunct="1">
              <a:lnSpc>
                <a:spcPct val="90000"/>
              </a:lnSpc>
              <a:buNone/>
            </a:pP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a:p>
            <a:pPr eaLnBrk="1" hangingPunct="1">
              <a:lnSpc>
                <a:spcPct val="90000"/>
              </a:lnSpc>
              <a:buNone/>
            </a:pP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public class B extends A {</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String address;</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public String getValue () {</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return “Value is:” + address;    </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a:t>
            </a:r>
            <a:endParaRPr lang="en-US" altLang="zh-CN" sz="2000" dirty="0">
              <a:latin typeface="Times New Roman" panose="02020603050405020304" pitchFamily="18" charset="0"/>
              <a:ea typeface="宋体" panose="02010600030101010101" pitchFamily="2" charset="-122"/>
            </a:endParaRPr>
          </a:p>
          <a:p>
            <a:pPr eaLnBrk="1" hangingPunct="1">
              <a:lnSpc>
                <a:spcPct val="90000"/>
              </a:lnSpc>
              <a:buNone/>
            </a:pPr>
            <a:r>
              <a:rPr lang="en-US" altLang="zh-CN" sz="2000" dirty="0">
                <a:latin typeface="Times New Roman" panose="02020603050405020304" pitchFamily="18" charset="0"/>
                <a:ea typeface="宋体" panose="02010600030101010101" pitchFamily="2" charset="-122"/>
              </a:rPr>
              <a:t>      }</a:t>
            </a:r>
            <a:endParaRPr lang="en-US" altLang="zh-CN" sz="20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5139"/>
                                        </p:tgtEl>
                                        <p:attrNameLst>
                                          <p:attrName>style.visibility</p:attrName>
                                        </p:attrNameLst>
                                      </p:cBhvr>
                                      <p:to>
                                        <p:strVal val="visible"/>
                                      </p:to>
                                    </p:set>
                                    <p:anim calcmode="lin" valueType="num">
                                      <p:cBhvr additive="base">
                                        <p:cTn id="7" dur="500" fill="hold"/>
                                        <p:tgtEl>
                                          <p:spTgt spid="475139"/>
                                        </p:tgtEl>
                                        <p:attrNameLst>
                                          <p:attrName>ppt_x</p:attrName>
                                        </p:attrNameLst>
                                      </p:cBhvr>
                                      <p:tavLst>
                                        <p:tav tm="0">
                                          <p:val>
                                            <p:strVal val="#ppt_x"/>
                                          </p:val>
                                        </p:tav>
                                        <p:tav tm="100000">
                                          <p:val>
                                            <p:strVal val="#ppt_x"/>
                                          </p:val>
                                        </p:tav>
                                      </p:tavLst>
                                    </p:anim>
                                    <p:anim calcmode="lin" valueType="num">
                                      <p:cBhvr additive="base">
                                        <p:cTn id="8" dur="500" fill="hold"/>
                                        <p:tgtEl>
                                          <p:spTgt spid="475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p:nvPr/>
        </p:nvSpPr>
        <p:spPr>
          <a:xfrm>
            <a:off x="468630" y="1412875"/>
            <a:ext cx="8229600" cy="1511300"/>
          </a:xfrm>
          <a:prstGeom prst="rect">
            <a:avLst/>
          </a:prstGeom>
          <a:noFill/>
          <a:ln w="9525">
            <a:noFill/>
          </a:ln>
        </p:spPr>
        <p:txBody>
          <a:bodyPr/>
          <a:lstStyle/>
          <a:p>
            <a:pPr marL="342900" lvl="0" indent="-342900" eaLnBrk="1" hangingPunct="1">
              <a:spcBef>
                <a:spcPct val="20000"/>
              </a:spcBef>
              <a:buClr>
                <a:schemeClr val="bg2"/>
              </a:buClr>
              <a:buSzPct val="75000"/>
              <a:buFont typeface="Wingdings" panose="05000000000000000000" pitchFamily="2" charset="2"/>
              <a:buChar char="n"/>
            </a:pPr>
            <a:r>
              <a:rPr lang="zh-CN" altLang="en-US" sz="2800" b="1" dirty="0">
                <a:solidFill>
                  <a:srgbClr val="0070C0"/>
                </a:solidFill>
                <a:latin typeface="Arial" panose="020B0604020202020204" pitchFamily="34" charset="0"/>
                <a:ea typeface="宋体" panose="02010600030101010101" pitchFamily="2" charset="-122"/>
              </a:rPr>
              <a:t>重载</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overload</a:t>
            </a:r>
            <a:r>
              <a:rPr lang="zh-CN" altLang="en-US" sz="2800" b="1" dirty="0">
                <a:latin typeface="Arial" panose="020B0604020202020204" pitchFamily="34" charset="0"/>
                <a:ea typeface="宋体" panose="02010600030101010101" pitchFamily="2" charset="-122"/>
              </a:rPr>
              <a:t>）</a:t>
            </a:r>
            <a:r>
              <a:rPr lang="zh-CN" altLang="en-US" sz="2800" b="1" dirty="0">
                <a:solidFill>
                  <a:srgbClr val="CC0066"/>
                </a:solidFill>
                <a:latin typeface="Arial" panose="020B0604020202020204" pitchFamily="34" charset="0"/>
                <a:ea typeface="宋体" panose="02010600030101010101" pitchFamily="2" charset="-122"/>
              </a:rPr>
              <a:t>同一个类</a:t>
            </a:r>
            <a:r>
              <a:rPr lang="zh-CN" altLang="en-US" sz="2800" b="1" dirty="0">
                <a:latin typeface="Arial" panose="020B0604020202020204" pitchFamily="34" charset="0"/>
                <a:ea typeface="宋体" panose="02010600030101010101" pitchFamily="2" charset="-122"/>
              </a:rPr>
              <a:t>中有多个同名方法，但它们在操作数或操作数类型上有区别。系统根据实参引用不同方法。</a:t>
            </a:r>
            <a:endParaRPr lang="en-US" altLang="zh-CN" sz="2800" b="1" dirty="0">
              <a:latin typeface="Arial" panose="020B0604020202020204" pitchFamily="34" charset="0"/>
              <a:ea typeface="宋体" panose="02010600030101010101" pitchFamily="2" charset="-122"/>
            </a:endParaRPr>
          </a:p>
        </p:txBody>
      </p:sp>
      <p:pic>
        <p:nvPicPr>
          <p:cNvPr id="24579" name="Picture 5"/>
          <p:cNvPicPr>
            <a:picLocks noChangeAspect="1"/>
          </p:cNvPicPr>
          <p:nvPr/>
        </p:nvPicPr>
        <p:blipFill>
          <a:blip r:embed="rId1"/>
          <a:stretch>
            <a:fillRect/>
          </a:stretch>
        </p:blipFill>
        <p:spPr>
          <a:xfrm>
            <a:off x="1908175" y="3141980"/>
            <a:ext cx="5759450" cy="28067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5</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多态</a:t>
            </a:r>
            <a:endParaRPr lang="zh-CN" altLang="en-US" dirty="0">
              <a:latin typeface="+mj-lt"/>
              <a:ea typeface="宋体" panose="02010600030101010101" pitchFamily="2" charset="-122"/>
              <a:cs typeface="+mj-cs"/>
            </a:endParaRPr>
          </a:p>
        </p:txBody>
      </p:sp>
      <p:sp>
        <p:nvSpPr>
          <p:cNvPr id="25603" name="Rectangle 3"/>
          <p:cNvSpPr>
            <a:spLocks noGrp="1"/>
          </p:cNvSpPr>
          <p:nvPr>
            <p:ph idx="1"/>
          </p:nvPr>
        </p:nvSpPr>
        <p:spPr>
          <a:xfrm>
            <a:off x="571500" y="1357630"/>
            <a:ext cx="8230235" cy="4880610"/>
          </a:xfrm>
        </p:spPr>
        <p:txBody>
          <a:bodyPr vert="horz" wrap="square" lIns="91440" tIns="45720" rIns="91440" bIns="45720" anchor="t"/>
          <a:lstStyle/>
          <a:p>
            <a:pPr eaLnBrk="1" hangingPunct="1"/>
            <a:r>
              <a:rPr lang="zh-CN" altLang="en-US" dirty="0">
                <a:solidFill>
                  <a:srgbClr val="0070C0"/>
                </a:solidFill>
                <a:ea typeface="宋体" panose="02010600030101010101" pitchFamily="2" charset="-122"/>
              </a:rPr>
              <a:t>多态</a:t>
            </a:r>
            <a:r>
              <a:rPr lang="en-US" altLang="zh-CN" dirty="0">
                <a:ea typeface="宋体" panose="02010600030101010101" pitchFamily="2" charset="-122"/>
              </a:rPr>
              <a:t>(polymorphism)</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a:t>
            </a:r>
            <a:r>
              <a:rPr lang="en-US" altLang="zh-CN" dirty="0">
                <a:ea typeface="宋体" panose="02010600030101010101" pitchFamily="2" charset="-122"/>
              </a:rPr>
              <a:t>OO</a:t>
            </a:r>
            <a:r>
              <a:rPr lang="zh-CN" altLang="en-US" dirty="0">
                <a:ea typeface="宋体" panose="02010600030101010101" pitchFamily="2" charset="-122"/>
              </a:rPr>
              <a:t>技术中，多态指使一个实体在不同上下文条件下具有不同意义或用法的能力</a:t>
            </a:r>
            <a:endParaRPr lang="zh-CN" altLang="en-US" dirty="0">
              <a:ea typeface="宋体" panose="02010600030101010101" pitchFamily="2" charset="-122"/>
            </a:endParaRPr>
          </a:p>
          <a:p>
            <a:pPr eaLnBrk="1" hangingPunct="1"/>
            <a:r>
              <a:rPr lang="zh-CN" altLang="en-US" dirty="0">
                <a:ea typeface="宋体" panose="02010600030101010101" pitchFamily="2" charset="-122"/>
              </a:rPr>
              <a:t>与多态有关的概念</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继承</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覆盖</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动态绑定</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向上转型（指派）</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zh-CN" altLang="en-US" dirty="0">
                <a:latin typeface="+mj-lt"/>
                <a:ea typeface="宋体" panose="02010600030101010101" pitchFamily="2" charset="-122"/>
                <a:cs typeface="+mj-cs"/>
              </a:rPr>
              <a:t>圆柱体 锥体 立方体</a:t>
            </a:r>
            <a:endParaRPr lang="zh-CN" altLang="en-US" dirty="0">
              <a:latin typeface="+mj-lt"/>
              <a:ea typeface="宋体" panose="02010600030101010101" pitchFamily="2" charset="-122"/>
              <a:cs typeface="+mj-cs"/>
            </a:endParaRPr>
          </a:p>
        </p:txBody>
      </p:sp>
      <p:pic>
        <p:nvPicPr>
          <p:cNvPr id="26627" name="Picture 4"/>
          <p:cNvPicPr>
            <a:picLocks noChangeAspect="1"/>
          </p:cNvPicPr>
          <p:nvPr/>
        </p:nvPicPr>
        <p:blipFill>
          <a:blip r:embed="rId1"/>
          <a:stretch>
            <a:fillRect/>
          </a:stretch>
        </p:blipFill>
        <p:spPr>
          <a:xfrm>
            <a:off x="4211955" y="1268730"/>
            <a:ext cx="4362450" cy="3790950"/>
          </a:xfrm>
          <a:prstGeom prst="rect">
            <a:avLst/>
          </a:prstGeom>
          <a:noFill/>
          <a:ln w="9525">
            <a:noFill/>
          </a:ln>
        </p:spPr>
      </p:pic>
      <p:pic>
        <p:nvPicPr>
          <p:cNvPr id="26628" name="Picture 5"/>
          <p:cNvPicPr>
            <a:picLocks noChangeAspect="1"/>
          </p:cNvPicPr>
          <p:nvPr/>
        </p:nvPicPr>
        <p:blipFill>
          <a:blip r:embed="rId2"/>
          <a:stretch>
            <a:fillRect/>
          </a:stretch>
        </p:blipFill>
        <p:spPr>
          <a:xfrm>
            <a:off x="250825" y="1412875"/>
            <a:ext cx="3810000" cy="36099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en-US" altLang="zh-CN" dirty="0">
                <a:latin typeface="+mj-lt"/>
                <a:ea typeface="宋体" panose="02010600030101010101" pitchFamily="2" charset="-122"/>
                <a:cs typeface="+mj-cs"/>
              </a:rPr>
              <a:t>6</a:t>
            </a:r>
            <a:r>
              <a:rPr lang="zh-CN" altLang="en-US" dirty="0">
                <a:latin typeface="+mj-lt"/>
                <a:ea typeface="宋体" panose="02010600030101010101" pitchFamily="2" charset="-122"/>
                <a:cs typeface="+mj-cs"/>
              </a:rPr>
              <a:t>、</a:t>
            </a:r>
            <a:r>
              <a:rPr lang="en-US" altLang="zh-CN" dirty="0">
                <a:latin typeface="+mj-lt"/>
                <a:ea typeface="宋体" panose="02010600030101010101" pitchFamily="2" charset="-122"/>
                <a:cs typeface="+mj-cs"/>
              </a:rPr>
              <a:t> </a:t>
            </a:r>
            <a:r>
              <a:rPr lang="zh-CN" altLang="en-US" dirty="0">
                <a:latin typeface="+mj-lt"/>
                <a:ea typeface="宋体" panose="02010600030101010101" pitchFamily="2" charset="-122"/>
                <a:cs typeface="+mj-cs"/>
              </a:rPr>
              <a:t>消息</a:t>
            </a:r>
            <a:endParaRPr lang="zh-CN" altLang="en-US" dirty="0">
              <a:latin typeface="+mj-lt"/>
              <a:ea typeface="宋体" panose="02010600030101010101" pitchFamily="2" charset="-122"/>
              <a:cs typeface="+mj-cs"/>
            </a:endParaRPr>
          </a:p>
        </p:txBody>
      </p:sp>
      <p:sp>
        <p:nvSpPr>
          <p:cNvPr id="27651" name="Rectangle 3"/>
          <p:cNvSpPr>
            <a:spLocks noGrp="1"/>
          </p:cNvSpPr>
          <p:nvPr>
            <p:ph idx="1"/>
          </p:nvPr>
        </p:nvSpPr>
        <p:spPr>
          <a:xfrm>
            <a:off x="323850" y="1125855"/>
            <a:ext cx="8820150" cy="5543550"/>
          </a:xfrm>
        </p:spPr>
        <p:txBody>
          <a:bodyPr vert="horz" wrap="square" lIns="91440" tIns="45720" rIns="91440" bIns="45720" anchor="t"/>
          <a:lstStyle/>
          <a:p>
            <a:pPr eaLnBrk="1" hangingPunct="1"/>
            <a:r>
              <a:rPr lang="zh-CN" altLang="en-US" dirty="0">
                <a:solidFill>
                  <a:srgbClr val="0070C0"/>
                </a:solidFill>
                <a:ea typeface="宋体" panose="02010600030101010101" pitchFamily="2" charset="-122"/>
              </a:rPr>
              <a:t>消息</a:t>
            </a:r>
            <a:r>
              <a:rPr lang="en-US" altLang="zh-CN" dirty="0">
                <a:solidFill>
                  <a:srgbClr val="0070C0"/>
                </a:solidFill>
                <a:ea typeface="宋体" panose="02010600030101010101" pitchFamily="2" charset="-122"/>
              </a:rPr>
              <a:t>(Message)</a:t>
            </a:r>
            <a:endParaRPr lang="en-US" altLang="zh-CN" dirty="0">
              <a:solidFill>
                <a:srgbClr val="0070C0"/>
              </a:solidFill>
              <a:ea typeface="宋体" panose="02010600030101010101" pitchFamily="2" charset="-122"/>
            </a:endParaRPr>
          </a:p>
          <a:p>
            <a:pPr lvl="1" eaLnBrk="1" hangingPunct="1"/>
            <a:r>
              <a:rPr lang="zh-CN" altLang="en-US" dirty="0">
                <a:ea typeface="宋体" panose="02010600030101010101" pitchFamily="2" charset="-122"/>
              </a:rPr>
              <a:t>是指向对象发出的服务请求</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对象直接用消息的方式传递信息，而不是参数</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包括：提供服务的对象的标识、服务标识、输入信息和回答信息等</a:t>
            </a:r>
            <a:endParaRPr lang="zh-CN" altLang="en-US" dirty="0">
              <a:ea typeface="宋体" panose="02010600030101010101" pitchFamily="2" charset="-122"/>
            </a:endParaRPr>
          </a:p>
          <a:p>
            <a:pPr eaLnBrk="1" hangingPunct="1"/>
            <a:r>
              <a:rPr lang="zh-CN" altLang="en-US" dirty="0">
                <a:ea typeface="宋体" panose="02010600030101010101" pitchFamily="2" charset="-122"/>
              </a:rPr>
              <a:t>对象间的消息传递是</a:t>
            </a:r>
            <a:r>
              <a:rPr lang="en-US" altLang="zh-CN" dirty="0">
                <a:ea typeface="宋体" panose="02010600030101010101" pitchFamily="2" charset="-122"/>
              </a:rPr>
              <a:t>OO</a:t>
            </a:r>
            <a:r>
              <a:rPr lang="zh-CN" altLang="en-US" dirty="0">
                <a:ea typeface="宋体" panose="02010600030101010101" pitchFamily="2" charset="-122"/>
              </a:rPr>
              <a:t>方法的基本原则</a:t>
            </a:r>
            <a:endParaRPr lang="zh-CN" altLang="en-US" dirty="0">
              <a:ea typeface="宋体" panose="02010600030101010101" pitchFamily="2" charset="-122"/>
            </a:endParaRPr>
          </a:p>
          <a:p>
            <a:pPr eaLnBrk="1" hangingPunct="1"/>
            <a:r>
              <a:rPr lang="zh-CN" altLang="en-US" dirty="0">
                <a:ea typeface="宋体" panose="02010600030101010101" pitchFamily="2" charset="-122"/>
              </a:rPr>
              <a:t>消息包括</a:t>
            </a:r>
            <a:endParaRPr lang="zh-CN" altLang="en-US" dirty="0">
              <a:ea typeface="宋体" panose="02010600030101010101" pitchFamily="2" charset="-122"/>
            </a:endParaRPr>
          </a:p>
          <a:p>
            <a:pPr lvl="1" eaLnBrk="1" hangingPunct="1"/>
            <a:r>
              <a:rPr lang="zh-CN" altLang="en-US" dirty="0">
                <a:solidFill>
                  <a:srgbClr val="0070C0"/>
                </a:solidFill>
                <a:ea typeface="宋体" panose="02010600030101010101" pitchFamily="2" charset="-122"/>
              </a:rPr>
              <a:t>同步消息</a:t>
            </a:r>
            <a:r>
              <a:rPr lang="zh-CN" altLang="en-US" dirty="0">
                <a:ea typeface="宋体" panose="02010600030101010101" pitchFamily="2" charset="-122"/>
              </a:rPr>
              <a:t>，请求者需要等待响应者返回</a:t>
            </a:r>
            <a:endParaRPr lang="zh-CN" altLang="en-US" dirty="0">
              <a:ea typeface="宋体" panose="02010600030101010101" pitchFamily="2" charset="-122"/>
            </a:endParaRPr>
          </a:p>
          <a:p>
            <a:pPr lvl="1" eaLnBrk="1" hangingPunct="1"/>
            <a:r>
              <a:rPr lang="zh-CN" altLang="en-US" dirty="0">
                <a:solidFill>
                  <a:srgbClr val="0070C0"/>
                </a:solidFill>
                <a:ea typeface="宋体" panose="02010600030101010101" pitchFamily="2" charset="-122"/>
              </a:rPr>
              <a:t>异步消息</a:t>
            </a:r>
            <a:r>
              <a:rPr lang="zh-CN" altLang="en-US" dirty="0">
                <a:ea typeface="宋体" panose="02010600030101010101" pitchFamily="2" charset="-122"/>
              </a:rPr>
              <a:t>，请求者不需要等待响应者返回，发出消息后可以继续自己的后续工作</a:t>
            </a:r>
            <a:r>
              <a:rPr lang="zh-CN" altLang="en-US" i="1" dirty="0">
                <a:ea typeface="宋体" panose="02010600030101010101" pitchFamily="2" charset="-122"/>
              </a:rPr>
              <a:t>（和函数调用有本质区别）</a:t>
            </a:r>
            <a:endParaRPr lang="zh-CN" altLang="en-US" i="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6"/>
          <p:cNvGrpSpPr/>
          <p:nvPr/>
        </p:nvGrpSpPr>
        <p:grpSpPr>
          <a:xfrm>
            <a:off x="827405" y="981075"/>
            <a:ext cx="7848600" cy="5472430"/>
            <a:chOff x="827405" y="981075"/>
            <a:chExt cx="7848600" cy="5472430"/>
          </a:xfrm>
        </p:grpSpPr>
        <p:pic>
          <p:nvPicPr>
            <p:cNvPr id="28675" name="Picture 4"/>
            <p:cNvPicPr>
              <a:picLocks noChangeAspect="1"/>
            </p:cNvPicPr>
            <p:nvPr/>
          </p:nvPicPr>
          <p:blipFill>
            <a:blip r:embed="rId1"/>
            <a:stretch>
              <a:fillRect/>
            </a:stretch>
          </p:blipFill>
          <p:spPr>
            <a:xfrm>
              <a:off x="827405" y="981075"/>
              <a:ext cx="7848600" cy="5336540"/>
            </a:xfrm>
            <a:prstGeom prst="rect">
              <a:avLst/>
            </a:prstGeom>
            <a:noFill/>
            <a:ln w="9525">
              <a:noFill/>
            </a:ln>
          </p:spPr>
        </p:pic>
        <p:sp>
          <p:nvSpPr>
            <p:cNvPr id="28676" name="Rectangle 5"/>
            <p:cNvSpPr/>
            <p:nvPr/>
          </p:nvSpPr>
          <p:spPr>
            <a:xfrm>
              <a:off x="3630930" y="6219825"/>
              <a:ext cx="1599565" cy="233680"/>
            </a:xfrm>
            <a:prstGeom prst="rect">
              <a:avLst/>
            </a:prstGeom>
            <a:solidFill>
              <a:schemeClr val="bg1"/>
            </a:solidFill>
            <a:ln w="12700">
              <a:noFill/>
            </a:ln>
          </p:spPr>
          <p:txBody>
            <a:bodyPr wrap="none" anchor="ctr">
              <a:spAutoFit/>
            </a:bodyPr>
            <a:lstStyle/>
            <a:p>
              <a:pPr lvl="0" eaLnBrk="1" hangingPunct="1"/>
              <a:endParaRPr lang="zh-CN" altLang="en-US" dirty="0">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467544" y="2790825"/>
            <a:ext cx="2736304" cy="137223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defTabSz="914400" eaLnBrk="1" fontAlgn="base" latinLnBrk="0" hangingPunct="1">
              <a:lnSpc>
                <a:spcPct val="100000"/>
              </a:lnSpc>
              <a:spcBef>
                <a:spcPts val="0"/>
              </a:spcBef>
              <a:spcAft>
                <a:spcPts val="0"/>
              </a:spcAft>
              <a:buFontTx/>
              <a:buNone/>
            </a:pPr>
            <a:r>
              <a:rPr sz="3975" b="1" i="0" dirty="0" err="1">
                <a:solidFill>
                  <a:schemeClr val="accent3"/>
                </a:solidFill>
                <a:latin typeface="微软雅黑" panose="020B0503020204020204" charset="-122"/>
                <a:ea typeface="微软雅黑" panose="020B0503020204020204" charset="-122"/>
                <a:cs typeface="宋体" panose="02010600030101010101" pitchFamily="2" charset="-122"/>
              </a:rPr>
              <a:t>思考</a:t>
            </a:r>
            <a:r>
              <a:rPr sz="3975" b="1" i="0" dirty="0">
                <a:solidFill>
                  <a:schemeClr val="accent3"/>
                </a:solidFill>
                <a:latin typeface="微软雅黑" panose="020B0503020204020204" charset="-122"/>
                <a:ea typeface="微软雅黑" panose="020B0503020204020204" charset="-122"/>
                <a:cs typeface="宋体" panose="02010600030101010101" pitchFamily="2" charset="-122"/>
              </a:rPr>
              <a:t>：</a:t>
            </a:r>
            <a:endParaRPr lang="ko-KR" altLang="en-US" sz="3975" b="1" i="0" dirty="0">
              <a:solidFill>
                <a:schemeClr val="accent3"/>
              </a:solidFill>
              <a:latin typeface="微软雅黑" panose="020B0503020204020204" charset="-122"/>
              <a:ea typeface="微软雅黑" panose="020B0503020204020204" charset="-122"/>
              <a:cs typeface="宋体" panose="02010600030101010101" pitchFamily="2" charset="-122"/>
            </a:endParaRPr>
          </a:p>
        </p:txBody>
      </p:sp>
      <p:sp>
        <p:nvSpPr>
          <p:cNvPr id="8" name="同心圆 7"/>
          <p:cNvSpPr/>
          <p:nvPr/>
        </p:nvSpPr>
        <p:spPr>
          <a:xfrm>
            <a:off x="323529" y="2514600"/>
            <a:ext cx="2448272" cy="1877060"/>
          </a:xfrm>
          <a:prstGeom prst="donut">
            <a:avLst>
              <a:gd name="adj" fmla="val 138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solidFill>
                <a:schemeClr val="tx1"/>
              </a:solidFill>
            </a:endParaRPr>
          </a:p>
        </p:txBody>
      </p:sp>
      <p:sp>
        <p:nvSpPr>
          <p:cNvPr id="12" name="TextBox 11"/>
          <p:cNvSpPr txBox="1"/>
          <p:nvPr/>
        </p:nvSpPr>
        <p:spPr>
          <a:xfrm>
            <a:off x="2771801" y="3072517"/>
            <a:ext cx="6120679" cy="584765"/>
          </a:xfrm>
          <a:prstGeom prst="rect">
            <a:avLst/>
          </a:prstGeom>
          <a:noFill/>
        </p:spPr>
        <p:txBody>
          <a:bodyPr wrap="square" lIns="91431" tIns="45715" rIns="91431" bIns="45715" rtlCol="0">
            <a:spAutoFit/>
          </a:bodyPr>
          <a:lstStyle/>
          <a:p>
            <a:pPr algn="l"/>
            <a:r>
              <a:rPr lang="zh-CN" altLang="en-US" sz="3200" b="1" dirty="0">
                <a:solidFill>
                  <a:srgbClr val="92D050"/>
                </a:solidFill>
                <a:latin typeface="微软雅黑" panose="020B0503020204020204" charset="-122"/>
                <a:ea typeface="微软雅黑" panose="020B0503020204020204" charset="-122"/>
                <a:sym typeface="+mn-ea"/>
              </a:rPr>
              <a:t>面向对象系统的开发过程是什么</a:t>
            </a:r>
            <a:r>
              <a:rPr lang="zh-CN" altLang="en-US" sz="3200" b="1" dirty="0" smtClean="0">
                <a:solidFill>
                  <a:srgbClr val="92D050"/>
                </a:solidFill>
                <a:latin typeface="微软雅黑" panose="020B0503020204020204" charset="-122"/>
                <a:ea typeface="微软雅黑" panose="020B0503020204020204" charset="-122"/>
                <a:sym typeface="+mn-ea"/>
              </a:rPr>
              <a:t>？</a:t>
            </a:r>
            <a:endParaRPr lang="zh-CN" altLang="en-US" sz="2800" dirty="0">
              <a:solidFill>
                <a:schemeClr val="tx1">
                  <a:lumMod val="50000"/>
                  <a:lumOff val="50000"/>
                </a:schemeClr>
              </a:solidFill>
              <a:latin typeface="微软雅黑 Light" panose="020B0502040204020203" charset="-122"/>
              <a:ea typeface="微软雅黑 Light" panose="020B0502040204020203" charset="-122"/>
            </a:endParaRPr>
          </a:p>
        </p:txBody>
      </p:sp>
      <p:sp>
        <p:nvSpPr>
          <p:cNvPr id="2" name="标题 1"/>
          <p:cNvSpPr>
            <a:spLocks noGrp="1"/>
          </p:cNvSpPr>
          <p:nvPr>
            <p:ph type="title"/>
          </p:nvPr>
        </p:nvSpPr>
        <p:spPr>
          <a:xfrm>
            <a:off x="0" y="222250"/>
            <a:ext cx="9144635" cy="564515"/>
          </a:xfrm>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1699895" y="2767330"/>
            <a:ext cx="1161415" cy="1371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975" b="1" dirty="0">
                <a:solidFill>
                  <a:schemeClr val="accent3"/>
                </a:solidFill>
                <a:latin typeface="Agency FB" panose="020B0503020202020204" pitchFamily="34" charset="0"/>
                <a:ea typeface="Arial Unicode MS" panose="020B0604020202020204" pitchFamily="34" charset="-122"/>
                <a:cs typeface="Arial Unicode MS" panose="020B0604020202020204" pitchFamily="34" charset="-122"/>
              </a:rPr>
              <a:t>2.2</a:t>
            </a:r>
            <a:endParaRPr lang="zh-CN" altLang="en-US" sz="3975" b="1" dirty="0">
              <a:solidFill>
                <a:schemeClr val="accent3"/>
              </a:solidFill>
              <a:latin typeface="Agency FB" panose="020B0503020202020204" pitchFamily="34" charset="0"/>
              <a:ea typeface="Arial Unicode MS" panose="020B0604020202020204" pitchFamily="34" charset="-122"/>
              <a:cs typeface="Arial Unicode MS" panose="020B0604020202020204" pitchFamily="34" charset="-122"/>
            </a:endParaRPr>
          </a:p>
        </p:txBody>
      </p:sp>
      <p:sp>
        <p:nvSpPr>
          <p:cNvPr id="8" name="同心圆 7"/>
          <p:cNvSpPr/>
          <p:nvPr/>
        </p:nvSpPr>
        <p:spPr>
          <a:xfrm>
            <a:off x="1485900" y="2514600"/>
            <a:ext cx="1589405" cy="1877060"/>
          </a:xfrm>
          <a:prstGeom prst="donut">
            <a:avLst>
              <a:gd name="adj" fmla="val 138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solidFill>
                <a:schemeClr val="tx1"/>
              </a:solidFill>
            </a:endParaRPr>
          </a:p>
        </p:txBody>
      </p:sp>
      <p:sp>
        <p:nvSpPr>
          <p:cNvPr id="12" name="TextBox 11"/>
          <p:cNvSpPr txBox="1"/>
          <p:nvPr/>
        </p:nvSpPr>
        <p:spPr>
          <a:xfrm>
            <a:off x="2963545" y="2541270"/>
            <a:ext cx="4949825" cy="2516063"/>
          </a:xfrm>
          <a:prstGeom prst="rect">
            <a:avLst/>
          </a:prstGeom>
          <a:noFill/>
        </p:spPr>
        <p:txBody>
          <a:bodyPr wrap="square" lIns="91431" tIns="45715" rIns="91431" bIns="45715" rtlCol="0">
            <a:spAutoFit/>
          </a:bodyPr>
          <a:lstStyle/>
          <a:p>
            <a:pPr algn="l"/>
            <a:r>
              <a:rPr lang="zh-CN" altLang="en-US" sz="2800" b="1" dirty="0">
                <a:solidFill>
                  <a:srgbClr val="92D050"/>
                </a:solidFill>
                <a:latin typeface="微软雅黑" panose="020B0503020204020204" charset="-122"/>
                <a:ea typeface="微软雅黑" panose="020B0503020204020204" charset="-122"/>
                <a:sym typeface="+mn-ea"/>
              </a:rPr>
              <a:t>面向对象系统的开发过程</a:t>
            </a:r>
            <a:endParaRPr lang="zh-CN" altLang="en-US" sz="2800" b="1" dirty="0">
              <a:solidFill>
                <a:srgbClr val="0070C0"/>
              </a:solidFill>
              <a:latin typeface="微软雅黑" panose="020B0503020204020204" charset="-122"/>
              <a:ea typeface="微软雅黑" panose="020B0503020204020204" charset="-122"/>
              <a:sym typeface="+mn-ea"/>
            </a:endParaRPr>
          </a:p>
          <a:p>
            <a:pPr algn="l"/>
            <a:endParaRPr lang="en-US" altLang="zh-CN" sz="1350" b="1" dirty="0">
              <a:solidFill>
                <a:schemeClr val="tx1">
                  <a:lumMod val="50000"/>
                  <a:lumOff val="50000"/>
                </a:schemeClr>
              </a:solidFill>
            </a:endParaRPr>
          </a:p>
          <a:p>
            <a:pPr algn="l"/>
            <a:r>
              <a:rPr lang="zh-CN" altLang="en-US" sz="2800" dirty="0">
                <a:solidFill>
                  <a:schemeClr val="tx1">
                    <a:lumMod val="50000"/>
                    <a:lumOff val="50000"/>
                  </a:schemeClr>
                </a:solidFill>
                <a:latin typeface="微软雅黑" panose="020B0503020204020204" charset="-122"/>
                <a:ea typeface="微软雅黑" panose="020B0503020204020204" charset="-122"/>
              </a:rPr>
              <a:t>面向对象分析</a:t>
            </a:r>
            <a:endParaRPr lang="zh-CN" altLang="en-US" sz="2800" dirty="0">
              <a:solidFill>
                <a:schemeClr val="tx1">
                  <a:lumMod val="50000"/>
                  <a:lumOff val="50000"/>
                </a:schemeClr>
              </a:solidFill>
              <a:latin typeface="微软雅黑" panose="020B0503020204020204" charset="-122"/>
              <a:ea typeface="微软雅黑" panose="020B0503020204020204" charset="-122"/>
            </a:endParaRPr>
          </a:p>
          <a:p>
            <a:pPr algn="l"/>
            <a:r>
              <a:rPr lang="zh-CN" altLang="en-US" sz="2800" dirty="0">
                <a:solidFill>
                  <a:schemeClr val="tx1">
                    <a:lumMod val="50000"/>
                    <a:lumOff val="50000"/>
                  </a:schemeClr>
                </a:solidFill>
                <a:latin typeface="微软雅黑" panose="020B0503020204020204" charset="-122"/>
                <a:ea typeface="微软雅黑" panose="020B0503020204020204" charset="-122"/>
              </a:rPr>
              <a:t>面向对象设计</a:t>
            </a:r>
            <a:endParaRPr lang="zh-CN" altLang="en-US" sz="2800" dirty="0">
              <a:solidFill>
                <a:schemeClr val="tx1">
                  <a:lumMod val="50000"/>
                  <a:lumOff val="50000"/>
                </a:schemeClr>
              </a:solidFill>
              <a:latin typeface="微软雅黑" panose="020B0503020204020204" charset="-122"/>
              <a:ea typeface="微软雅黑" panose="020B0503020204020204" charset="-122"/>
            </a:endParaRPr>
          </a:p>
          <a:p>
            <a:pPr algn="l"/>
            <a:r>
              <a:rPr lang="zh-CN" altLang="en-US" sz="2800" dirty="0">
                <a:solidFill>
                  <a:schemeClr val="tx1">
                    <a:lumMod val="50000"/>
                    <a:lumOff val="50000"/>
                  </a:schemeClr>
                </a:solidFill>
                <a:latin typeface="微软雅黑" panose="020B0503020204020204" charset="-122"/>
                <a:ea typeface="微软雅黑" panose="020B0503020204020204" charset="-122"/>
              </a:rPr>
              <a:t>面向对象的程序设计</a:t>
            </a:r>
            <a:endParaRPr lang="zh-CN" altLang="en-US" sz="2800" dirty="0">
              <a:solidFill>
                <a:schemeClr val="tx1">
                  <a:lumMod val="50000"/>
                  <a:lumOff val="50000"/>
                </a:schemeClr>
              </a:solidFill>
              <a:latin typeface="微软雅黑" panose="020B0503020204020204" charset="-122"/>
              <a:ea typeface="微软雅黑" panose="020B0503020204020204" charset="-122"/>
            </a:endParaRPr>
          </a:p>
          <a:p>
            <a:pPr algn="l"/>
            <a:r>
              <a:rPr lang="zh-CN" altLang="en-US" sz="2800" dirty="0">
                <a:solidFill>
                  <a:schemeClr val="tx1">
                    <a:lumMod val="50000"/>
                    <a:lumOff val="50000"/>
                  </a:schemeClr>
                </a:solidFill>
                <a:latin typeface="微软雅黑" panose="020B0503020204020204" charset="-122"/>
                <a:ea typeface="微软雅黑" panose="020B0503020204020204" charset="-122"/>
              </a:rPr>
              <a:t>面向对象的测试</a:t>
            </a:r>
            <a:endParaRPr lang="zh-CN" altLang="en-US" sz="2800" dirty="0">
              <a:solidFill>
                <a:schemeClr val="tx1">
                  <a:lumMod val="50000"/>
                  <a:lumOff val="50000"/>
                </a:schemeClr>
              </a:solidFill>
              <a:latin typeface="微软雅黑" panose="020B0503020204020204" charset="-122"/>
              <a:ea typeface="微软雅黑" panose="020B0503020204020204" charset="-122"/>
            </a:endParaRPr>
          </a:p>
        </p:txBody>
      </p:sp>
      <p:sp>
        <p:nvSpPr>
          <p:cNvPr id="9" name="矩形 8"/>
          <p:cNvSpPr/>
          <p:nvPr/>
        </p:nvSpPr>
        <p:spPr>
          <a:xfrm>
            <a:off x="3074670" y="3011805"/>
            <a:ext cx="3959225" cy="2133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sp>
        <p:nvSpPr>
          <p:cNvPr id="2" name="标题 1"/>
          <p:cNvSpPr>
            <a:spLocks noGrp="1"/>
          </p:cNvSpPr>
          <p:nvPr>
            <p:ph type="title"/>
          </p:nvPr>
        </p:nvSpPr>
        <p:spPr>
          <a:xfrm>
            <a:off x="0" y="222250"/>
            <a:ext cx="9144635" cy="564515"/>
          </a:xfrm>
        </p:spPr>
        <p:txBody>
          <a:bodyPr/>
          <a:lstStyle/>
          <a:p>
            <a:r>
              <a:rPr lang="zh-CN" altLang="en-US" dirty="0" smtClean="0"/>
              <a:t>面向对象系统的开发过程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p:nvPr/>
        </p:nvSpPr>
        <p:spPr>
          <a:xfrm>
            <a:off x="2664460" y="1414145"/>
            <a:ext cx="3887470" cy="1151255"/>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800" b="1" dirty="0">
                <a:latin typeface="Arial" panose="020B0604020202020204" pitchFamily="34" charset="0"/>
                <a:ea typeface="宋体" panose="02010600030101010101" pitchFamily="2" charset="-122"/>
              </a:rPr>
              <a:t>面向对象的分析</a:t>
            </a:r>
            <a:endParaRPr lang="zh-CN" altLang="en-US" sz="2800" b="1" dirty="0">
              <a:latin typeface="Arial" panose="020B0604020202020204" pitchFamily="34" charset="0"/>
              <a:ea typeface="宋体" panose="02010600030101010101" pitchFamily="2" charset="-122"/>
            </a:endParaRPr>
          </a:p>
          <a:p>
            <a:pPr lvl="0" algn="ctr" eaLnBrk="1" hangingPunct="1"/>
            <a:r>
              <a:rPr lang="zh-CN" altLang="en-US" sz="2800" b="1" dirty="0">
                <a:latin typeface="Arial" panose="020B0604020202020204" pitchFamily="34" charset="0"/>
                <a:ea typeface="宋体" panose="02010600030101010101" pitchFamily="2" charset="-122"/>
              </a:rPr>
              <a:t>（需求分析与系统分析）</a:t>
            </a:r>
            <a:endParaRPr lang="zh-CN" altLang="en-US" sz="2800" b="1" dirty="0">
              <a:latin typeface="Arial" panose="020B0604020202020204" pitchFamily="34" charset="0"/>
              <a:ea typeface="宋体" panose="02010600030101010101" pitchFamily="2" charset="-122"/>
            </a:endParaRPr>
          </a:p>
        </p:txBody>
      </p:sp>
      <p:sp>
        <p:nvSpPr>
          <p:cNvPr id="3076" name="Rectangle 6"/>
          <p:cNvSpPr/>
          <p:nvPr/>
        </p:nvSpPr>
        <p:spPr>
          <a:xfrm>
            <a:off x="2664460" y="2854325"/>
            <a:ext cx="3816350" cy="79375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800" b="1" dirty="0">
                <a:latin typeface="Arial" panose="020B0604020202020204" pitchFamily="34" charset="0"/>
                <a:ea typeface="宋体" panose="02010600030101010101" pitchFamily="2" charset="-122"/>
              </a:rPr>
              <a:t>面向对象的设计</a:t>
            </a:r>
            <a:endParaRPr lang="zh-CN" altLang="en-US" sz="2800" b="1" dirty="0">
              <a:latin typeface="Arial" panose="020B0604020202020204" pitchFamily="34" charset="0"/>
              <a:ea typeface="宋体" panose="02010600030101010101" pitchFamily="2" charset="-122"/>
            </a:endParaRPr>
          </a:p>
        </p:txBody>
      </p:sp>
      <p:sp>
        <p:nvSpPr>
          <p:cNvPr id="3077" name="Rectangle 7"/>
          <p:cNvSpPr/>
          <p:nvPr/>
        </p:nvSpPr>
        <p:spPr>
          <a:xfrm>
            <a:off x="2664460" y="4006850"/>
            <a:ext cx="3816350" cy="64897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800" b="1" dirty="0">
                <a:latin typeface="Arial" panose="020B0604020202020204" pitchFamily="34" charset="0"/>
                <a:ea typeface="宋体" panose="02010600030101010101" pitchFamily="2" charset="-122"/>
              </a:rPr>
              <a:t>面向对象的程序设计</a:t>
            </a:r>
            <a:endParaRPr lang="zh-CN" altLang="en-US" sz="2800" b="1" dirty="0">
              <a:latin typeface="Arial" panose="020B0604020202020204" pitchFamily="34" charset="0"/>
              <a:ea typeface="宋体" panose="02010600030101010101" pitchFamily="2" charset="-122"/>
            </a:endParaRPr>
          </a:p>
        </p:txBody>
      </p:sp>
      <p:sp>
        <p:nvSpPr>
          <p:cNvPr id="3078" name="Rectangle 8"/>
          <p:cNvSpPr/>
          <p:nvPr/>
        </p:nvSpPr>
        <p:spPr>
          <a:xfrm>
            <a:off x="2664460" y="5014595"/>
            <a:ext cx="3816350" cy="649605"/>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800" b="1" dirty="0">
                <a:latin typeface="Arial" panose="020B0604020202020204" pitchFamily="34" charset="0"/>
                <a:ea typeface="宋体" panose="02010600030101010101" pitchFamily="2" charset="-122"/>
              </a:rPr>
              <a:t>面向对象的测试</a:t>
            </a:r>
            <a:endParaRPr lang="zh-CN" altLang="en-US" sz="2800" b="1" dirty="0">
              <a:latin typeface="Arial" panose="020B0604020202020204" pitchFamily="34" charset="0"/>
              <a:ea typeface="宋体" panose="02010600030101010101" pitchFamily="2" charset="-122"/>
            </a:endParaRPr>
          </a:p>
        </p:txBody>
      </p:sp>
      <p:sp>
        <p:nvSpPr>
          <p:cNvPr id="3079" name="Line 9"/>
          <p:cNvSpPr/>
          <p:nvPr/>
        </p:nvSpPr>
        <p:spPr>
          <a:xfrm>
            <a:off x="4536440" y="2565400"/>
            <a:ext cx="0" cy="360045"/>
          </a:xfrm>
          <a:prstGeom prst="line">
            <a:avLst/>
          </a:prstGeom>
          <a:ln w="28575" cap="flat" cmpd="sng">
            <a:solidFill>
              <a:schemeClr val="tx1"/>
            </a:solidFill>
            <a:prstDash val="solid"/>
            <a:headEnd type="none" w="med" len="med"/>
            <a:tailEnd type="triangle" w="med" len="med"/>
          </a:ln>
        </p:spPr>
      </p:sp>
      <p:sp>
        <p:nvSpPr>
          <p:cNvPr id="3080" name="Line 10"/>
          <p:cNvSpPr/>
          <p:nvPr/>
        </p:nvSpPr>
        <p:spPr>
          <a:xfrm>
            <a:off x="4536440" y="3646170"/>
            <a:ext cx="0" cy="360680"/>
          </a:xfrm>
          <a:prstGeom prst="line">
            <a:avLst/>
          </a:prstGeom>
          <a:ln w="28575" cap="flat" cmpd="sng">
            <a:solidFill>
              <a:schemeClr val="tx1"/>
            </a:solidFill>
            <a:prstDash val="solid"/>
            <a:headEnd type="none" w="med" len="med"/>
            <a:tailEnd type="triangle" w="med" len="med"/>
          </a:ln>
        </p:spPr>
      </p:sp>
      <p:sp>
        <p:nvSpPr>
          <p:cNvPr id="3081" name="Line 11"/>
          <p:cNvSpPr/>
          <p:nvPr/>
        </p:nvSpPr>
        <p:spPr>
          <a:xfrm>
            <a:off x="4536440" y="4654550"/>
            <a:ext cx="0" cy="360045"/>
          </a:xfrm>
          <a:prstGeom prst="line">
            <a:avLst/>
          </a:prstGeom>
          <a:ln w="28575" cap="flat" cmpd="sng">
            <a:solidFill>
              <a:schemeClr val="tx1"/>
            </a:solidFill>
            <a:prstDash val="solid"/>
            <a:headEnd type="none" w="med" len="med"/>
            <a:tailEnd type="triangle" w="med" len="med"/>
          </a:ln>
        </p:spPr>
      </p:sp>
      <p:sp>
        <p:nvSpPr>
          <p:cNvPr id="10" name="标题 1"/>
          <p:cNvSpPr txBox="1"/>
          <p:nvPr/>
        </p:nvSpPr>
        <p:spPr>
          <a:xfrm>
            <a:off x="1547664" y="243523"/>
            <a:ext cx="6449060" cy="564515"/>
          </a:xfr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600" b="0" i="0" dirty="0">
                <a:solidFill>
                  <a:srgbClr val="0070C0"/>
                </a:solidFill>
                <a:latin typeface="黑体" panose="02010609060101010101" charset="-122"/>
                <a:ea typeface="黑体" panose="02010609060101010101" charset="-122"/>
                <a:cs typeface="宋体" panose="02010600030101010101" pitchFamily="2" charset="-122"/>
              </a:rPr>
              <a:t>2.2 </a:t>
            </a:r>
            <a:r>
              <a:rPr sz="3600" b="0" i="0" dirty="0" err="1">
                <a:solidFill>
                  <a:srgbClr val="0070C0"/>
                </a:solidFill>
                <a:latin typeface="黑体" panose="02010609060101010101" charset="-122"/>
                <a:ea typeface="黑体" panose="02010609060101010101" charset="-122"/>
                <a:cs typeface="宋体" panose="02010600030101010101" pitchFamily="2" charset="-122"/>
              </a:rPr>
              <a:t>面向对象系统的开发过程</a:t>
            </a:r>
            <a:endParaRPr lang="ko-KR" altLang="en-US" sz="3600" b="0" i="0" dirty="0">
              <a:solidFill>
                <a:srgbClr val="0070C0"/>
              </a:solidFill>
              <a:latin typeface="黑体" panose="02010609060101010101" charset="-122"/>
              <a:ea typeface="黑体" panose="02010609060101010101"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1403350" y="333375"/>
            <a:ext cx="6482715" cy="564515"/>
          </a:xfrm>
        </p:spPr>
        <p:txBody>
          <a:bodyPr vert="horz" wrap="square" lIns="91440" tIns="45720" rIns="91440" bIns="45720" numCol="1" anchor="ctr">
            <a:noAutofit/>
          </a:bodyPr>
          <a:lstStyle/>
          <a:p>
            <a:pPr marL="0" indent="0" algn="l" defTabSz="914400" eaLnBrk="0" fontAlgn="base" latinLnBrk="0" hangingPunct="0">
              <a:lnSpc>
                <a:spcPct val="100000"/>
              </a:lnSpc>
              <a:spcBef>
                <a:spcPts val="0"/>
              </a:spcBef>
              <a:spcAft>
                <a:spcPts val="0"/>
              </a:spcAft>
              <a:buFontTx/>
              <a:buNone/>
            </a:pPr>
            <a:r>
              <a:rPr b="1" i="0" dirty="0">
                <a:solidFill>
                  <a:srgbClr val="0070C0"/>
                </a:solidFill>
                <a:latin typeface="黑体" panose="02010609060101010101" charset="-122"/>
                <a:ea typeface="黑体" panose="02010609060101010101" charset="-122"/>
                <a:cs typeface="宋体" panose="02010600030101010101" pitchFamily="2" charset="-122"/>
              </a:rPr>
              <a:t>2.2.1 </a:t>
            </a:r>
            <a:r>
              <a:rPr b="1" i="0" dirty="0" err="1">
                <a:solidFill>
                  <a:srgbClr val="0070C0"/>
                </a:solidFill>
                <a:latin typeface="黑体" panose="02010609060101010101" charset="-122"/>
                <a:ea typeface="黑体" panose="02010609060101010101" charset="-122"/>
                <a:cs typeface="宋体" panose="02010600030101010101" pitchFamily="2" charset="-122"/>
              </a:rPr>
              <a:t>面向对象分析</a:t>
            </a:r>
            <a:endParaRPr lang="ko-KR" altLang="en-US" b="1" i="0" dirty="0">
              <a:solidFill>
                <a:srgbClr val="0070C0"/>
              </a:solidFill>
              <a:latin typeface="黑体" panose="02010609060101010101" charset="-122"/>
              <a:ea typeface="黑体" panose="02010609060101010101" charset="-122"/>
              <a:cs typeface="宋体" panose="02010600030101010101" pitchFamily="2" charset="-122"/>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宋体" panose="02010600030101010101" pitchFamily="2" charset="-122"/>
              <a:cs typeface="+mn-cs"/>
            </a:endParaRPr>
          </a:p>
        </p:txBody>
      </p:sp>
      <p:sp>
        <p:nvSpPr>
          <p:cNvPr id="5" name="页脚占位符 4"/>
          <p:cNvSpPr txBox="1">
            <a:spLocks noGrp="1"/>
          </p:cNvSpPr>
          <p:nvPr/>
        </p:nvSpPr>
        <p:spPr bwMode="auto">
          <a:xfrm>
            <a:off x="5867400" y="6477000"/>
            <a:ext cx="2895600" cy="320675"/>
          </a:xfrm>
          <a:prstGeom prst="rect">
            <a:avLst/>
          </a:prstGeom>
          <a:noFill/>
          <a:ln>
            <a:miter lim="800000"/>
          </a:ln>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宋体" panose="02010600030101010101" pitchFamily="2" charset="-122"/>
                <a:cs typeface="+mn-cs"/>
              </a:rPr>
              <a:t>Company Logo</a:t>
            </a:r>
            <a:endParaRPr kumimoji="0" lang="en-US" altLang="zh-CN" sz="1200" b="0"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宋体" panose="02010600030101010101" pitchFamily="2" charset="-122"/>
              <a:cs typeface="+mn-cs"/>
            </a:endParaRPr>
          </a:p>
        </p:txBody>
      </p:sp>
      <p:grpSp>
        <p:nvGrpSpPr>
          <p:cNvPr id="5125" name="Group 41"/>
          <p:cNvGrpSpPr/>
          <p:nvPr/>
        </p:nvGrpSpPr>
        <p:grpSpPr>
          <a:xfrm>
            <a:off x="2268855" y="1628775"/>
            <a:ext cx="4724400" cy="685800"/>
            <a:chOff x="2268855" y="1628775"/>
            <a:chExt cx="4724400" cy="685800"/>
          </a:xfrm>
        </p:grpSpPr>
        <p:sp>
          <p:nvSpPr>
            <p:cNvPr id="6" name="AutoShape 42"/>
            <p:cNvSpPr>
              <a:spLocks noChangeArrowheads="1"/>
            </p:cNvSpPr>
            <p:nvPr/>
          </p:nvSpPr>
          <p:spPr bwMode="gray">
            <a:xfrm>
              <a:off x="2649855" y="1747520"/>
              <a:ext cx="4343400" cy="457200"/>
            </a:xfrm>
            <a:prstGeom prst="roundRect">
              <a:avLst>
                <a:gd name="adj" fmla="val 16667"/>
              </a:avLst>
            </a:prstGeom>
            <a:noFill/>
            <a:ln w="28575" algn="ctr">
              <a:solidFill>
                <a:schemeClr val="accent2"/>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AutoShape 43"/>
            <p:cNvSpPr>
              <a:spLocks noChangeArrowheads="1"/>
            </p:cNvSpPr>
            <p:nvPr/>
          </p:nvSpPr>
          <p:spPr bwMode="gray">
            <a:xfrm>
              <a:off x="2268855" y="1628775"/>
              <a:ext cx="685800" cy="685800"/>
            </a:xfrm>
            <a:prstGeom prst="diamond">
              <a:avLst/>
            </a:prstGeom>
            <a:solidFill>
              <a:schemeClr val="accent2"/>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33" name="Text Box 44"/>
            <p:cNvSpPr txBox="1"/>
            <p:nvPr/>
          </p:nvSpPr>
          <p:spPr>
            <a:xfrm>
              <a:off x="2878455" y="1803400"/>
              <a:ext cx="3782695" cy="461665"/>
            </a:xfrm>
            <a:prstGeom prst="rect">
              <a:avLst/>
            </a:prstGeom>
            <a:noFill/>
            <a:ln w="9525">
              <a:noFill/>
            </a:ln>
          </p:spPr>
          <p:txBody>
            <a:bodyPr>
              <a:spAutoFit/>
            </a:bodyPr>
            <a:lstStyle/>
            <a:p>
              <a:pPr lvl="0" algn="ctr" eaLnBrk="0" hangingPunct="0"/>
              <a:r>
                <a:rPr lang="zh-CN" altLang="en-US" sz="2400" b="1" dirty="0">
                  <a:latin typeface="微软雅黑" panose="020B0503020204020204" charset="-122"/>
                  <a:ea typeface="微软雅黑" panose="020B0503020204020204" charset="-122"/>
                </a:rPr>
                <a:t>分析面临的主要问题</a:t>
              </a:r>
              <a:endParaRPr lang="en-US" altLang="zh-CN" sz="2400" b="1" dirty="0">
                <a:latin typeface="微软雅黑" panose="020B0503020204020204" charset="-122"/>
                <a:ea typeface="微软雅黑" panose="020B0503020204020204" charset="-122"/>
              </a:endParaRPr>
            </a:p>
          </p:txBody>
        </p:sp>
        <p:sp>
          <p:nvSpPr>
            <p:cNvPr id="5134" name="Text Box 45"/>
            <p:cNvSpPr txBox="1"/>
            <p:nvPr/>
          </p:nvSpPr>
          <p:spPr>
            <a:xfrm>
              <a:off x="2422525" y="1727200"/>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1</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5126" name="Group 51"/>
          <p:cNvGrpSpPr/>
          <p:nvPr/>
        </p:nvGrpSpPr>
        <p:grpSpPr>
          <a:xfrm>
            <a:off x="2268855" y="3068955"/>
            <a:ext cx="4724400" cy="685800"/>
            <a:chOff x="2268855" y="3068955"/>
            <a:chExt cx="4724400" cy="685800"/>
          </a:xfrm>
        </p:grpSpPr>
        <p:sp>
          <p:nvSpPr>
            <p:cNvPr id="9" name="AutoShape 52"/>
            <p:cNvSpPr>
              <a:spLocks noChangeArrowheads="1"/>
            </p:cNvSpPr>
            <p:nvPr/>
          </p:nvSpPr>
          <p:spPr bwMode="gray">
            <a:xfrm>
              <a:off x="2649855" y="3187700"/>
              <a:ext cx="4343400" cy="457200"/>
            </a:xfrm>
            <a:prstGeom prst="roundRect">
              <a:avLst>
                <a:gd name="adj" fmla="val 16667"/>
              </a:avLst>
            </a:prstGeom>
            <a:noFill/>
            <a:ln w="28575" algn="ctr">
              <a:solidFill>
                <a:schemeClr val="hlink"/>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AutoShape 53"/>
            <p:cNvSpPr>
              <a:spLocks noChangeArrowheads="1"/>
            </p:cNvSpPr>
            <p:nvPr/>
          </p:nvSpPr>
          <p:spPr bwMode="gray">
            <a:xfrm>
              <a:off x="2268855" y="3068955"/>
              <a:ext cx="685800" cy="685800"/>
            </a:xfrm>
            <a:prstGeom prst="diamond">
              <a:avLst/>
            </a:prstGeom>
            <a:solidFill>
              <a:schemeClr val="hlink"/>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Text Box 54"/>
            <p:cNvSpPr txBox="1"/>
            <p:nvPr/>
          </p:nvSpPr>
          <p:spPr>
            <a:xfrm>
              <a:off x="2878455" y="3243580"/>
              <a:ext cx="3429000" cy="461665"/>
            </a:xfrm>
            <a:prstGeom prst="rect">
              <a:avLst/>
            </a:prstGeom>
            <a:noFill/>
            <a:ln w="9525">
              <a:noFill/>
            </a:ln>
          </p:spPr>
          <p:txBody>
            <a:bodyPr>
              <a:spAutoFit/>
            </a:bodyPr>
            <a:lstStyle/>
            <a:p>
              <a:pPr algn="ctr" eaLnBrk="0" hangingPunct="0"/>
              <a:r>
                <a:rPr lang="zh-CN" altLang="en-US" b="1" dirty="0">
                  <a:latin typeface="Arial" panose="020B0604020202020204" pitchFamily="34" charset="0"/>
                  <a:ea typeface="宋体" panose="02010600030101010101" pitchFamily="2" charset="-122"/>
                </a:rPr>
                <a:t>    </a:t>
              </a:r>
              <a:r>
                <a:rPr lang="zh-CN" altLang="en-US" sz="2400" b="1" dirty="0">
                  <a:latin typeface="微软雅黑" panose="020B0503020204020204" charset="-122"/>
                  <a:ea typeface="微软雅黑" panose="020B0503020204020204" charset="-122"/>
                </a:rPr>
                <a:t>面向对象分析综述</a:t>
              </a:r>
              <a:endParaRPr lang="en-US" altLang="zh-CN" sz="2400" b="1" dirty="0">
                <a:latin typeface="微软雅黑" panose="020B0503020204020204" charset="-122"/>
                <a:ea typeface="微软雅黑" panose="020B0503020204020204" charset="-122"/>
              </a:endParaRPr>
            </a:p>
          </p:txBody>
        </p:sp>
        <p:sp>
          <p:nvSpPr>
            <p:cNvPr id="5130" name="Text Box 55"/>
            <p:cNvSpPr txBox="1"/>
            <p:nvPr/>
          </p:nvSpPr>
          <p:spPr>
            <a:xfrm>
              <a:off x="2422525" y="3167380"/>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2</a:t>
              </a:r>
              <a:endParaRPr lang="en-US" altLang="zh-CN" sz="2400" dirty="0">
                <a:solidFill>
                  <a:schemeClr val="bg1"/>
                </a:solidFill>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7" name="Group 41"/>
          <p:cNvGrpSpPr/>
          <p:nvPr/>
        </p:nvGrpSpPr>
        <p:grpSpPr>
          <a:xfrm>
            <a:off x="2282190" y="1530350"/>
            <a:ext cx="4724400" cy="685800"/>
            <a:chOff x="2282190" y="1530350"/>
            <a:chExt cx="4724400" cy="685800"/>
          </a:xfrm>
        </p:grpSpPr>
        <p:sp>
          <p:nvSpPr>
            <p:cNvPr id="7" name="AutoShape 42"/>
            <p:cNvSpPr>
              <a:spLocks noChangeArrowheads="1"/>
            </p:cNvSpPr>
            <p:nvPr/>
          </p:nvSpPr>
          <p:spPr bwMode="gray">
            <a:xfrm>
              <a:off x="2663190" y="1649730"/>
              <a:ext cx="4343400" cy="457200"/>
            </a:xfrm>
            <a:prstGeom prst="roundRect">
              <a:avLst>
                <a:gd name="adj" fmla="val 16667"/>
              </a:avLst>
            </a:prstGeom>
            <a:noFill/>
            <a:ln w="28575" algn="ctr">
              <a:solidFill>
                <a:schemeClr val="accent2"/>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AutoShape 43"/>
            <p:cNvSpPr>
              <a:spLocks noChangeArrowheads="1"/>
            </p:cNvSpPr>
            <p:nvPr/>
          </p:nvSpPr>
          <p:spPr bwMode="gray">
            <a:xfrm>
              <a:off x="2282190" y="1530350"/>
              <a:ext cx="685800" cy="685800"/>
            </a:xfrm>
            <a:prstGeom prst="diamond">
              <a:avLst/>
            </a:prstGeom>
            <a:solidFill>
              <a:schemeClr val="accent2"/>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65" name="Text Box 44"/>
            <p:cNvSpPr txBox="1"/>
            <p:nvPr/>
          </p:nvSpPr>
          <p:spPr>
            <a:xfrm>
              <a:off x="2891790" y="1704975"/>
              <a:ext cx="3429000" cy="366395"/>
            </a:xfrm>
            <a:prstGeom prst="rect">
              <a:avLst/>
            </a:prstGeom>
            <a:noFill/>
            <a:ln w="9525">
              <a:noFill/>
            </a:ln>
          </p:spPr>
          <p:txBody>
            <a:bodyPr>
              <a:spAutoFit/>
            </a:bodyPr>
            <a:lstStyle/>
            <a:p>
              <a:pPr lvl="0" algn="ctr" eaLnBrk="0" hangingPunct="0"/>
              <a:r>
                <a:rPr lang="zh-CN" altLang="en-US" b="1" dirty="0">
                  <a:latin typeface="Arial" panose="020B0604020202020204" pitchFamily="34" charset="0"/>
                  <a:ea typeface="宋体" panose="02010600030101010101" pitchFamily="2" charset="-122"/>
                </a:rPr>
                <a:t>问题域和系统责任</a:t>
              </a:r>
              <a:endParaRPr lang="en-US" altLang="zh-CN" b="1" dirty="0">
                <a:latin typeface="Arial" panose="020B0604020202020204" pitchFamily="34" charset="0"/>
                <a:ea typeface="宋体" panose="02010600030101010101" pitchFamily="2" charset="-122"/>
              </a:endParaRPr>
            </a:p>
          </p:txBody>
        </p:sp>
        <p:sp>
          <p:nvSpPr>
            <p:cNvPr id="6166" name="Text Box 45"/>
            <p:cNvSpPr txBox="1"/>
            <p:nvPr/>
          </p:nvSpPr>
          <p:spPr>
            <a:xfrm>
              <a:off x="2435860" y="1628775"/>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1</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48" name="Group 46"/>
          <p:cNvGrpSpPr/>
          <p:nvPr/>
        </p:nvGrpSpPr>
        <p:grpSpPr>
          <a:xfrm>
            <a:off x="2307590" y="2564765"/>
            <a:ext cx="4724400" cy="685800"/>
            <a:chOff x="2307590" y="2564765"/>
            <a:chExt cx="4724400" cy="685800"/>
          </a:xfrm>
        </p:grpSpPr>
        <p:sp>
          <p:nvSpPr>
            <p:cNvPr id="12" name="AutoShape 47"/>
            <p:cNvSpPr>
              <a:spLocks noChangeArrowheads="1"/>
            </p:cNvSpPr>
            <p:nvPr/>
          </p:nvSpPr>
          <p:spPr bwMode="gray">
            <a:xfrm>
              <a:off x="2688590" y="2684145"/>
              <a:ext cx="4343400" cy="457200"/>
            </a:xfrm>
            <a:prstGeom prst="roundRect">
              <a:avLst>
                <a:gd name="adj" fmla="val 16667"/>
              </a:avLst>
            </a:prstGeom>
            <a:noFill/>
            <a:ln w="28575" algn="ctr">
              <a:solidFill>
                <a:schemeClr val="accent1"/>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AutoShape 48"/>
            <p:cNvSpPr>
              <a:spLocks noChangeArrowheads="1"/>
            </p:cNvSpPr>
            <p:nvPr/>
          </p:nvSpPr>
          <p:spPr bwMode="gray">
            <a:xfrm>
              <a:off x="2307590" y="2564765"/>
              <a:ext cx="685800" cy="685800"/>
            </a:xfrm>
            <a:prstGeom prst="diamond">
              <a:avLst/>
            </a:prstGeom>
            <a:solidFill>
              <a:schemeClr val="accent1"/>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61" name="Text Box 49"/>
            <p:cNvSpPr txBox="1"/>
            <p:nvPr/>
          </p:nvSpPr>
          <p:spPr>
            <a:xfrm>
              <a:off x="2917190" y="2739390"/>
              <a:ext cx="3429000" cy="366395"/>
            </a:xfrm>
            <a:prstGeom prst="rect">
              <a:avLst/>
            </a:prstGeom>
            <a:noFill/>
            <a:ln w="9525">
              <a:noFill/>
            </a:ln>
          </p:spPr>
          <p:txBody>
            <a:bodyPr>
              <a:spAutoFit/>
            </a:bodyPr>
            <a:lstStyle/>
            <a:p>
              <a:pPr lvl="0" algn="ctr" eaLnBrk="0" hangingPunct="0"/>
              <a:r>
                <a:rPr lang="zh-CN" altLang="en-US" b="1" dirty="0">
                  <a:latin typeface="Arial" panose="020B0604020202020204" pitchFamily="34" charset="0"/>
                  <a:ea typeface="宋体" panose="02010600030101010101" pitchFamily="2" charset="-122"/>
                </a:rPr>
                <a:t>交流问题</a:t>
              </a:r>
              <a:endParaRPr lang="en-US" altLang="zh-CN" b="1" dirty="0">
                <a:latin typeface="Arial" panose="020B0604020202020204" pitchFamily="34" charset="0"/>
                <a:ea typeface="宋体" panose="02010600030101010101" pitchFamily="2" charset="-122"/>
              </a:endParaRPr>
            </a:p>
          </p:txBody>
        </p:sp>
        <p:sp>
          <p:nvSpPr>
            <p:cNvPr id="6162" name="Text Box 50"/>
            <p:cNvSpPr txBox="1"/>
            <p:nvPr/>
          </p:nvSpPr>
          <p:spPr>
            <a:xfrm>
              <a:off x="2461260" y="2663190"/>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2</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49" name="Group 51"/>
          <p:cNvGrpSpPr/>
          <p:nvPr/>
        </p:nvGrpSpPr>
        <p:grpSpPr>
          <a:xfrm>
            <a:off x="2282190" y="3522345"/>
            <a:ext cx="4724400" cy="685800"/>
            <a:chOff x="2282190" y="3522345"/>
            <a:chExt cx="4724400" cy="685800"/>
          </a:xfrm>
        </p:grpSpPr>
        <p:sp>
          <p:nvSpPr>
            <p:cNvPr id="17" name="AutoShape 52"/>
            <p:cNvSpPr>
              <a:spLocks noChangeArrowheads="1"/>
            </p:cNvSpPr>
            <p:nvPr/>
          </p:nvSpPr>
          <p:spPr bwMode="gray">
            <a:xfrm>
              <a:off x="2663190" y="3641090"/>
              <a:ext cx="4343400" cy="457200"/>
            </a:xfrm>
            <a:prstGeom prst="roundRect">
              <a:avLst>
                <a:gd name="adj" fmla="val 16667"/>
              </a:avLst>
            </a:prstGeom>
            <a:noFill/>
            <a:ln w="28575" algn="ctr">
              <a:solidFill>
                <a:schemeClr val="hlink"/>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AutoShape 53"/>
            <p:cNvSpPr>
              <a:spLocks noChangeArrowheads="1"/>
            </p:cNvSpPr>
            <p:nvPr/>
          </p:nvSpPr>
          <p:spPr bwMode="gray">
            <a:xfrm>
              <a:off x="2282190" y="3522345"/>
              <a:ext cx="685800" cy="685800"/>
            </a:xfrm>
            <a:prstGeom prst="diamond">
              <a:avLst/>
            </a:prstGeom>
            <a:solidFill>
              <a:schemeClr val="hlink"/>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7" name="Text Box 54"/>
            <p:cNvSpPr txBox="1"/>
            <p:nvPr/>
          </p:nvSpPr>
          <p:spPr>
            <a:xfrm>
              <a:off x="2891790" y="3696970"/>
              <a:ext cx="3429000" cy="366395"/>
            </a:xfrm>
            <a:prstGeom prst="rect">
              <a:avLst/>
            </a:prstGeom>
            <a:noFill/>
            <a:ln w="9525">
              <a:noFill/>
            </a:ln>
          </p:spPr>
          <p:txBody>
            <a:bodyPr>
              <a:spAutoFit/>
            </a:bodyPr>
            <a:lstStyle/>
            <a:p>
              <a:pPr lvl="0" algn="ctr" eaLnBrk="0" hangingPunct="0"/>
              <a:r>
                <a:rPr lang="zh-CN" altLang="en-US" b="1" dirty="0">
                  <a:latin typeface="Arial" panose="020B0604020202020204" pitchFamily="34" charset="0"/>
                  <a:ea typeface="宋体" panose="02010600030101010101" pitchFamily="2" charset="-122"/>
                </a:rPr>
                <a:t>需求的不断变化</a:t>
              </a:r>
              <a:endParaRPr lang="en-US" altLang="zh-CN" b="1" dirty="0">
                <a:latin typeface="Arial" panose="020B0604020202020204" pitchFamily="34" charset="0"/>
                <a:ea typeface="宋体" panose="02010600030101010101" pitchFamily="2" charset="-122"/>
              </a:endParaRPr>
            </a:p>
          </p:txBody>
        </p:sp>
        <p:sp>
          <p:nvSpPr>
            <p:cNvPr id="6158" name="Text Box 55"/>
            <p:cNvSpPr txBox="1"/>
            <p:nvPr/>
          </p:nvSpPr>
          <p:spPr>
            <a:xfrm>
              <a:off x="2435860" y="3620770"/>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3</a:t>
              </a:r>
              <a:endParaRPr lang="en-US" altLang="zh-CN" sz="2400" dirty="0">
                <a:solidFill>
                  <a:schemeClr val="bg1"/>
                </a:solidFill>
                <a:latin typeface="Arial" panose="020B0604020202020204" pitchFamily="34" charset="0"/>
                <a:ea typeface="宋体" panose="02010600030101010101" pitchFamily="2" charset="-122"/>
              </a:endParaRPr>
            </a:p>
          </p:txBody>
        </p:sp>
      </p:grpSp>
      <p:grpSp>
        <p:nvGrpSpPr>
          <p:cNvPr id="6150" name="Group 41"/>
          <p:cNvGrpSpPr/>
          <p:nvPr/>
        </p:nvGrpSpPr>
        <p:grpSpPr>
          <a:xfrm>
            <a:off x="2307590" y="4451350"/>
            <a:ext cx="4724400" cy="685800"/>
            <a:chOff x="2307590" y="4451350"/>
            <a:chExt cx="4724400" cy="685800"/>
          </a:xfrm>
        </p:grpSpPr>
        <p:sp>
          <p:nvSpPr>
            <p:cNvPr id="27" name="AutoShape 42"/>
            <p:cNvSpPr>
              <a:spLocks noChangeArrowheads="1"/>
            </p:cNvSpPr>
            <p:nvPr/>
          </p:nvSpPr>
          <p:spPr bwMode="gray">
            <a:xfrm>
              <a:off x="2688590" y="4570730"/>
              <a:ext cx="4343400" cy="457200"/>
            </a:xfrm>
            <a:prstGeom prst="roundRect">
              <a:avLst>
                <a:gd name="adj" fmla="val 16667"/>
              </a:avLst>
            </a:prstGeom>
            <a:noFill/>
            <a:ln w="28575" algn="ctr">
              <a:solidFill>
                <a:schemeClr val="accent2"/>
              </a:solidFill>
              <a:round/>
            </a:ln>
            <a:effectLst>
              <a:outerShdw dist="99190" dir="238833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AutoShape 43"/>
            <p:cNvSpPr>
              <a:spLocks noChangeArrowheads="1"/>
            </p:cNvSpPr>
            <p:nvPr/>
          </p:nvSpPr>
          <p:spPr bwMode="gray">
            <a:xfrm>
              <a:off x="2307590" y="4451350"/>
              <a:ext cx="685800" cy="685800"/>
            </a:xfrm>
            <a:prstGeom prst="diamond">
              <a:avLst/>
            </a:prstGeom>
            <a:solidFill>
              <a:schemeClr val="accent2"/>
            </a:solidFill>
            <a:ln w="25400" algn="ctr">
              <a:solidFill>
                <a:schemeClr val="bg1"/>
              </a:solidFill>
              <a:miter lim="800000"/>
            </a:ln>
            <a:effectLst>
              <a:outerShdw dist="63500" dir="2212194" algn="ctr" rotWithShape="0">
                <a:srgbClr val="3333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3" name="Text Box 44"/>
            <p:cNvSpPr txBox="1"/>
            <p:nvPr/>
          </p:nvSpPr>
          <p:spPr>
            <a:xfrm>
              <a:off x="2917190" y="4625975"/>
              <a:ext cx="3429000" cy="366395"/>
            </a:xfrm>
            <a:prstGeom prst="rect">
              <a:avLst/>
            </a:prstGeom>
            <a:noFill/>
            <a:ln w="9525">
              <a:noFill/>
            </a:ln>
          </p:spPr>
          <p:txBody>
            <a:bodyPr>
              <a:spAutoFit/>
            </a:bodyPr>
            <a:lstStyle/>
            <a:p>
              <a:pPr lvl="0" algn="ctr" eaLnBrk="0" hangingPunct="0"/>
              <a:r>
                <a:rPr lang="zh-CN" altLang="en-US" b="1" dirty="0">
                  <a:latin typeface="Arial" panose="020B0604020202020204" pitchFamily="34" charset="0"/>
                  <a:ea typeface="宋体" panose="02010600030101010101" pitchFamily="2" charset="-122"/>
                </a:rPr>
                <a:t>软件复用的要求</a:t>
              </a:r>
              <a:endParaRPr lang="en-US" altLang="zh-CN" b="1" dirty="0">
                <a:latin typeface="Arial" panose="020B0604020202020204" pitchFamily="34" charset="0"/>
                <a:ea typeface="宋体" panose="02010600030101010101" pitchFamily="2" charset="-122"/>
              </a:endParaRPr>
            </a:p>
          </p:txBody>
        </p:sp>
        <p:sp>
          <p:nvSpPr>
            <p:cNvPr id="6154" name="Text Box 45"/>
            <p:cNvSpPr txBox="1"/>
            <p:nvPr/>
          </p:nvSpPr>
          <p:spPr>
            <a:xfrm>
              <a:off x="2461260" y="4549775"/>
              <a:ext cx="353695" cy="457200"/>
            </a:xfrm>
            <a:prstGeom prst="rect">
              <a:avLst/>
            </a:prstGeom>
            <a:noFill/>
            <a:ln w="9525">
              <a:noFill/>
            </a:ln>
          </p:spPr>
          <p:txBody>
            <a:bodyPr wrap="none">
              <a:spAutoFit/>
            </a:bodyPr>
            <a:lstStyle/>
            <a:p>
              <a:pPr lvl="0" algn="ctr" eaLnBrk="0" hangingPunct="0"/>
              <a:r>
                <a:rPr lang="en-US" altLang="zh-CN" sz="2400" dirty="0">
                  <a:solidFill>
                    <a:schemeClr val="bg1"/>
                  </a:solidFill>
                  <a:latin typeface="Arial" panose="020B0604020202020204" pitchFamily="34" charset="0"/>
                  <a:ea typeface="宋体" panose="02010600030101010101" pitchFamily="2" charset="-122"/>
                </a:rPr>
                <a:t>4</a:t>
              </a:r>
              <a:endParaRPr lang="en-US" altLang="zh-CN" sz="2400" dirty="0">
                <a:solidFill>
                  <a:schemeClr val="bg1"/>
                </a:solidFill>
                <a:latin typeface="Arial" panose="020B0604020202020204" pitchFamily="34" charset="0"/>
                <a:ea typeface="宋体" panose="02010600030101010101" pitchFamily="2" charset="-122"/>
              </a:endParaRPr>
            </a:p>
          </p:txBody>
        </p:sp>
      </p:grpSp>
      <p:sp>
        <p:nvSpPr>
          <p:cNvPr id="23" name="标题 1"/>
          <p:cNvSpPr txBox="1"/>
          <p:nvPr/>
        </p:nvSpPr>
        <p:spPr>
          <a:xfrm>
            <a:off x="1403350" y="333375"/>
            <a:ext cx="6482080" cy="563880"/>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l"/>
            <a:r>
              <a:rPr lang="zh-CN" altLang="en-US" dirty="0" smtClean="0">
                <a:solidFill>
                  <a:srgbClr val="7030A0"/>
                </a:solidFill>
                <a:latin typeface="微软雅黑" panose="020B0503020204020204" charset="-122"/>
                <a:ea typeface="微软雅黑" panose="020B0503020204020204" charset="-122"/>
              </a:rPr>
              <a:t>一</a:t>
            </a:r>
            <a:r>
              <a:rPr lang="en-US" altLang="zh-CN" dirty="0" smtClean="0">
                <a:solidFill>
                  <a:srgbClr val="7030A0"/>
                </a:solidFill>
                <a:latin typeface="微软雅黑" panose="020B0503020204020204" charset="-122"/>
                <a:ea typeface="微软雅黑" panose="020B0503020204020204" charset="-122"/>
              </a:rPr>
              <a:t>.</a:t>
            </a:r>
            <a:r>
              <a:rPr lang="zh-CN" altLang="en-US" dirty="0" smtClean="0">
                <a:solidFill>
                  <a:srgbClr val="7030A0"/>
                </a:solidFill>
                <a:latin typeface="微软雅黑" panose="020B0503020204020204" charset="-122"/>
                <a:ea typeface="微软雅黑" panose="020B0503020204020204" charset="-122"/>
              </a:rPr>
              <a:t>分析</a:t>
            </a:r>
            <a:r>
              <a:rPr lang="zh-CN" altLang="en-US" dirty="0">
                <a:solidFill>
                  <a:srgbClr val="7030A0"/>
                </a:solidFill>
                <a:latin typeface="微软雅黑" panose="020B0503020204020204" charset="-122"/>
                <a:ea typeface="微软雅黑" panose="020B0503020204020204" charset="-122"/>
              </a:rPr>
              <a:t>面临的主要问题</a:t>
            </a:r>
            <a:endParaRPr lang="zh-CN" altLang="en-US" dirty="0">
              <a:solidFill>
                <a:srgbClr val="7030A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377825" y="1340485"/>
            <a:ext cx="8229600" cy="194310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Tx/>
              <a:buNone/>
              <a:defRPr/>
            </a:pPr>
            <a:r>
              <a:rPr kumimoji="0" lang="en-US" altLang="zh-CN" sz="2800" b="1" i="0" u="none" strike="noStrike" kern="120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1</a:t>
            </a:r>
            <a:r>
              <a:rPr kumimoji="0" lang="zh-CN" altLang="en-US" sz="2800" b="1" i="0" u="none" strike="noStrike" kern="120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、问题域和系统责任</a:t>
            </a:r>
            <a:endPar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问题域</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：被开发系统的应用领域，即在现实世界中这个系统所涉及的业务范围。</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系统责任</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：被开发系统应该具备的职能。</a:t>
            </a:r>
            <a:endPar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内容占位符 2"/>
          <p:cNvSpPr txBox="1"/>
          <p:nvPr/>
        </p:nvSpPr>
        <p:spPr bwMode="auto">
          <a:xfrm>
            <a:off x="377825" y="3428365"/>
            <a:ext cx="8229600" cy="273685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对问题域和系统责任进行深入的调查研究，是开发工作的第一个难点，</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原因</a:t>
            </a:r>
            <a:r>
              <a:rPr kumimoji="0"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如下：</a:t>
            </a: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软件开发人员要迅速、准确、深入地掌握领域知识。</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现今的系统所面临的问题域比以往更广阔和复杂，系统比以往更庞大。</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标题 1"/>
          <p:cNvSpPr txBox="1"/>
          <p:nvPr/>
        </p:nvSpPr>
        <p:spPr>
          <a:xfrm>
            <a:off x="1403350" y="333375"/>
            <a:ext cx="6482080" cy="563880"/>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l"/>
            <a:r>
              <a:rPr lang="zh-CN" altLang="en-US" dirty="0" smtClean="0">
                <a:solidFill>
                  <a:srgbClr val="7030A0"/>
                </a:solidFill>
                <a:latin typeface="微软雅黑" panose="020B0503020204020204" charset="-122"/>
                <a:ea typeface="微软雅黑" panose="020B0503020204020204" charset="-122"/>
              </a:rPr>
              <a:t>  一</a:t>
            </a:r>
            <a:r>
              <a:rPr lang="en-US" altLang="zh-CN" dirty="0" smtClean="0">
                <a:solidFill>
                  <a:srgbClr val="7030A0"/>
                </a:solidFill>
                <a:latin typeface="微软雅黑" panose="020B0503020204020204" charset="-122"/>
                <a:ea typeface="微软雅黑" panose="020B0503020204020204" charset="-122"/>
              </a:rPr>
              <a:t>.</a:t>
            </a:r>
            <a:r>
              <a:rPr lang="zh-CN" altLang="en-US" dirty="0" smtClean="0">
                <a:solidFill>
                  <a:srgbClr val="7030A0"/>
                </a:solidFill>
                <a:latin typeface="微软雅黑" panose="020B0503020204020204" charset="-122"/>
                <a:ea typeface="微软雅黑" panose="020B0503020204020204" charset="-122"/>
              </a:rPr>
              <a:t>分析</a:t>
            </a:r>
            <a:r>
              <a:rPr lang="zh-CN" altLang="en-US" dirty="0">
                <a:solidFill>
                  <a:srgbClr val="7030A0"/>
                </a:solidFill>
                <a:latin typeface="微软雅黑" panose="020B0503020204020204" charset="-122"/>
                <a:ea typeface="微软雅黑" panose="020B0503020204020204" charset="-122"/>
              </a:rPr>
              <a:t>面临的主要问题</a:t>
            </a:r>
            <a:endParaRPr lang="zh-CN" altLang="en-US" dirty="0">
              <a:solidFill>
                <a:srgbClr val="7030A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blinds(horizontal)">
                                      <p:cBhvr>
                                        <p:cTn id="13" dur="500"/>
                                        <p:tgtEl>
                                          <p:spTgt spid="5">
                                            <p:txEl>
                                              <p:p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blinds(horizontal)">
                                      <p:cBhvr>
                                        <p:cTn id="16"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647700" y="2637155"/>
            <a:ext cx="8496300" cy="2016125"/>
          </a:xfrm>
          <a:prstGeom prst="rect">
            <a:avLst/>
          </a:prstGeom>
          <a:noFill/>
          <a:ln w="9525">
            <a:noFill/>
            <a:miter lim="800000"/>
          </a:ln>
        </p:spPr>
        <p:txBody>
          <a:bodyPr/>
          <a:lstStyle/>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开发人员与用户及领域专家家的交流。</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开发人员之间的交流。</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开发人员与管理人员之间的交流。</a:t>
            </a: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内容占位符 2"/>
          <p:cNvSpPr txBox="1"/>
          <p:nvPr/>
        </p:nvSpPr>
        <p:spPr bwMode="auto">
          <a:xfrm>
            <a:off x="323850" y="1125855"/>
            <a:ext cx="8425180" cy="144018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如果文档的内容和形式等不利于交流，就会使各方的思想不易沟通，对问题的理解会产生歧义，并容易隐藏许多错误。</a:t>
            </a: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 name="标题 1"/>
          <p:cNvSpPr txBox="1"/>
          <p:nvPr/>
        </p:nvSpPr>
        <p:spPr>
          <a:xfrm>
            <a:off x="1403350" y="333375"/>
            <a:ext cx="6482080" cy="563880"/>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l"/>
            <a:r>
              <a:rPr lang="en-US" altLang="zh-CN" dirty="0">
                <a:solidFill>
                  <a:srgbClr val="0070C0"/>
                </a:solidFill>
                <a:ea typeface="宋体" panose="02010600030101010101" pitchFamily="2" charset="-122"/>
              </a:rPr>
              <a:t>2</a:t>
            </a:r>
            <a:r>
              <a:rPr lang="zh-CN" altLang="en-US" dirty="0">
                <a:solidFill>
                  <a:srgbClr val="0070C0"/>
                </a:solidFill>
                <a:ea typeface="宋体" panose="02010600030101010101" pitchFamily="2" charset="-122"/>
              </a:rPr>
              <a:t>、交流问题</a:t>
            </a:r>
            <a:endParaRPr lang="zh-CN" altLang="en-US" dirty="0">
              <a:solidFill>
                <a:srgbClr val="7030A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395605" y="981075"/>
            <a:ext cx="8425180" cy="5184775"/>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在实践中发现，当</a:t>
            </a:r>
            <a:r>
              <a:rPr kumimoji="0" lang="zh-CN" altLang="en-US" sz="2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需求发生变化</a:t>
            </a:r>
            <a:r>
              <a:rPr kumimoji="0" lang="zh-CN" altLang="en-US"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时，系统中最容易变化的部分是功能部分（对</a:t>
            </a:r>
            <a:r>
              <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OO</a:t>
            </a:r>
            <a:r>
              <a:rPr kumimoji="0" lang="zh-CN" altLang="en-US"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方法而言则是对象的操作或操作的协助部分）；其次是对外提供服务的接口部分；第三是描述问题域的事务的数据（对</a:t>
            </a:r>
            <a:r>
              <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OO</a:t>
            </a:r>
            <a:r>
              <a:rPr kumimoji="0" lang="zh-CN" altLang="en-US"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方法而言即对象的属性）；相对稳定的部分是对象。</a:t>
            </a:r>
            <a:endPar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面向对象的封装原则为应对需求的变化提供了良好的支持。面向对象方法以相对稳定的对象作为系统的基本构成单位，使得系统具有一种宏观的稳定效果；把容易变化的属性和部分操作封装并隐藏在对象之中，使得它们的变化主要影响对象内部。</a:t>
            </a:r>
            <a:endPar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 name="标题 1"/>
          <p:cNvSpPr txBox="1"/>
          <p:nvPr/>
        </p:nvSpPr>
        <p:spPr>
          <a:xfrm>
            <a:off x="1403350" y="333375"/>
            <a:ext cx="6482080" cy="563880"/>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l"/>
            <a:r>
              <a:rPr lang="en-US" altLang="zh-CN" dirty="0">
                <a:solidFill>
                  <a:srgbClr val="0070C0"/>
                </a:solidFill>
                <a:ea typeface="宋体" panose="02010600030101010101" pitchFamily="2" charset="-122"/>
              </a:rPr>
              <a:t>3</a:t>
            </a:r>
            <a:r>
              <a:rPr lang="zh-CN" altLang="en-US" dirty="0">
                <a:solidFill>
                  <a:srgbClr val="0070C0"/>
                </a:solidFill>
                <a:ea typeface="宋体" panose="02010600030101010101" pitchFamily="2" charset="-122"/>
              </a:rPr>
              <a:t>、需求的不断变化</a:t>
            </a:r>
            <a:endParaRPr lang="zh-CN" altLang="en-US" dirty="0">
              <a:solidFill>
                <a:srgbClr val="7030A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395605" y="981075"/>
            <a:ext cx="8425180" cy="5184775"/>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OOA</a:t>
            </a:r>
            <a:r>
              <a:rPr kumimoji="0" lang="zh-CN" altLang="en-US"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模型中的一个类完整地描述了问题域中的一个客观事物，并且是一个独立的封装实体，很适合作为一个可复用成分。</a:t>
            </a:r>
            <a:endParaRPr kumimoji="0" lang="en-US" altLang="zh-CN" sz="2800" b="0"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OO</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方法的</a:t>
            </a:r>
            <a:r>
              <a:rPr kumimoji="0" lang="zh-CN" altLang="en-US" sz="2800" b="0"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继承</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本身就是一种</a:t>
            </a:r>
            <a:r>
              <a:rPr kumimoji="0" lang="zh-CN" altLang="en-US" sz="2800" b="0"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支持复用的机制</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，使特殊类中不必重复定义一般类中已经定义的属性与操作。</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分析结果的复用</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是把分析模型中的可复用部分用于多个系统，并要求一个分析模型可在多种条件下设计与实现。</a:t>
            </a:r>
            <a:endPar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 name="标题 1"/>
          <p:cNvSpPr txBox="1"/>
          <p:nvPr/>
        </p:nvSpPr>
        <p:spPr>
          <a:xfrm>
            <a:off x="1403350" y="333375"/>
            <a:ext cx="6482080" cy="563880"/>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l"/>
            <a:r>
              <a:rPr lang="en-US" altLang="zh-CN" dirty="0">
                <a:solidFill>
                  <a:srgbClr val="0070C0"/>
                </a:solidFill>
                <a:ea typeface="宋体" panose="02010600030101010101" pitchFamily="2" charset="-122"/>
              </a:rPr>
              <a:t>4</a:t>
            </a:r>
            <a:r>
              <a:rPr lang="zh-CN" altLang="en-US" dirty="0">
                <a:solidFill>
                  <a:srgbClr val="0070C0"/>
                </a:solidFill>
                <a:ea typeface="宋体" panose="02010600030101010101" pitchFamily="2" charset="-122"/>
              </a:rPr>
              <a:t>、软件复用的需求</a:t>
            </a:r>
            <a:endParaRPr lang="zh-CN" altLang="en-US" dirty="0">
              <a:solidFill>
                <a:srgbClr val="7030A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0" y="222250"/>
            <a:ext cx="9144635" cy="564515"/>
          </a:xfrm>
        </p:spPr>
        <p:txBody>
          <a:bodyPr vert="horz" wrap="square" lIns="91440" tIns="45720" rIns="91440" bIns="45720" anchor="ctr"/>
          <a:lstStyle/>
          <a:p>
            <a:pPr eaLnBrk="1" hangingPunct="1"/>
            <a:r>
              <a:rPr lang="zh-CN" altLang="en-US" sz="3200" dirty="0" smtClean="0">
                <a:solidFill>
                  <a:srgbClr val="0070C0"/>
                </a:solidFill>
                <a:latin typeface="黑体" panose="02010609060101010101" charset="-122"/>
                <a:ea typeface="黑体" panose="02010609060101010101" charset="-122"/>
                <a:cs typeface="华文新魏" panose="02010800040101010101" pitchFamily="2" charset="-122"/>
              </a:rPr>
              <a:t>二</a:t>
            </a:r>
            <a:r>
              <a:rPr lang="en-US" altLang="zh-CN" sz="3200" dirty="0" smtClean="0">
                <a:solidFill>
                  <a:srgbClr val="0070C0"/>
                </a:solidFill>
                <a:latin typeface="黑体" panose="02010609060101010101" charset="-122"/>
                <a:ea typeface="黑体" panose="02010609060101010101" charset="-122"/>
                <a:cs typeface="华文新魏" panose="02010800040101010101" pitchFamily="2" charset="-122"/>
              </a:rPr>
              <a:t>.</a:t>
            </a:r>
            <a:r>
              <a:rPr lang="zh-CN" altLang="en-US" sz="3200" dirty="0" smtClean="0">
                <a:solidFill>
                  <a:srgbClr val="0070C0"/>
                </a:solidFill>
                <a:latin typeface="黑体" panose="02010609060101010101" charset="-122"/>
                <a:ea typeface="黑体" panose="02010609060101010101" charset="-122"/>
                <a:cs typeface="华文新魏" panose="02010800040101010101" pitchFamily="2" charset="-122"/>
              </a:rPr>
              <a:t>面向对象分析</a:t>
            </a:r>
            <a:r>
              <a:rPr lang="zh-CN" altLang="en-US" sz="3200" dirty="0">
                <a:solidFill>
                  <a:srgbClr val="0070C0"/>
                </a:solidFill>
                <a:latin typeface="黑体" panose="02010609060101010101" charset="-122"/>
                <a:ea typeface="黑体" panose="02010609060101010101" charset="-122"/>
                <a:cs typeface="华文新魏" panose="02010800040101010101" pitchFamily="2" charset="-122"/>
              </a:rPr>
              <a:t>综述</a:t>
            </a:r>
            <a:endParaRPr lang="zh-CN" altLang="en-US" sz="3200" dirty="0">
              <a:solidFill>
                <a:srgbClr val="0070C0"/>
              </a:solidFill>
              <a:latin typeface="黑体" panose="02010609060101010101" charset="-122"/>
              <a:ea typeface="黑体" panose="02010609060101010101" charset="-122"/>
              <a:cs typeface="华文新魏" panose="02010800040101010101" pitchFamily="2" charset="-122"/>
            </a:endParaRPr>
          </a:p>
        </p:txBody>
      </p:sp>
      <p:sp>
        <p:nvSpPr>
          <p:cNvPr id="479235" name="Rectangle 3"/>
          <p:cNvSpPr>
            <a:spLocks noGrp="1"/>
          </p:cNvSpPr>
          <p:nvPr>
            <p:ph idx="1"/>
          </p:nvPr>
        </p:nvSpPr>
        <p:spPr>
          <a:xfrm>
            <a:off x="250825" y="1052830"/>
            <a:ext cx="8651875" cy="5544820"/>
          </a:xfrm>
        </p:spPr>
        <p:txBody>
          <a:bodyPr vert="horz" wrap="square" lIns="91440" tIns="45720" rIns="91440" bIns="45720" anchor="t"/>
          <a:lstStyle/>
          <a:p>
            <a:pPr eaLnBrk="1" hangingPunct="1">
              <a:lnSpc>
                <a:spcPct val="150000"/>
              </a:lnSpc>
              <a:spcBef>
                <a:spcPts val="1200"/>
              </a:spcBef>
            </a:pPr>
            <a:r>
              <a:rPr lang="zh-CN" altLang="en-US" sz="2800" b="1" dirty="0">
                <a:ea typeface="宋体" panose="02010600030101010101" pitchFamily="2" charset="-122"/>
              </a:rPr>
              <a:t>面向对象分析就是</a:t>
            </a:r>
            <a:r>
              <a:rPr lang="zh-CN" altLang="en-US" sz="2800" b="1" dirty="0">
                <a:solidFill>
                  <a:srgbClr val="0070C0"/>
                </a:solidFill>
                <a:ea typeface="宋体" panose="02010600030101010101" pitchFamily="2" charset="-122"/>
              </a:rPr>
              <a:t>研究问题域</a:t>
            </a:r>
            <a:r>
              <a:rPr lang="zh-CN" altLang="en-US" sz="2800" b="1" dirty="0">
                <a:ea typeface="宋体" panose="02010600030101010101" pitchFamily="2" charset="-122"/>
              </a:rPr>
              <a:t>，强调</a:t>
            </a:r>
            <a:r>
              <a:rPr lang="zh-CN" altLang="en-US" sz="2800" b="1" dirty="0">
                <a:solidFill>
                  <a:srgbClr val="0070C0"/>
                </a:solidFill>
                <a:ea typeface="宋体" panose="02010600030101010101" pitchFamily="2" charset="-122"/>
              </a:rPr>
              <a:t>用对象的概念对问题域中的事务进行完整的描述</a:t>
            </a:r>
            <a:r>
              <a:rPr lang="zh-CN" altLang="en-US" sz="2800" b="1" dirty="0">
                <a:ea typeface="宋体" panose="02010600030101010101" pitchFamily="2" charset="-122"/>
              </a:rPr>
              <a:t>，刻画事务的数据特征和行为特征，同时也要如实地反映问题域中的事务之间的各种关系，包括分类关系、组装关系等静态关系以及行为关系，产生一个满足用户需求的系统分析模型。</a:t>
            </a:r>
            <a:endParaRPr lang="en-US" altLang="zh-CN" sz="2800" b="1" dirty="0">
              <a:ea typeface="宋体" panose="02010600030101010101" pitchFamily="2" charset="-122"/>
            </a:endParaRPr>
          </a:p>
          <a:p>
            <a:pPr eaLnBrk="1" hangingPunct="1">
              <a:lnSpc>
                <a:spcPct val="150000"/>
              </a:lnSpc>
              <a:spcBef>
                <a:spcPts val="1200"/>
              </a:spcBef>
            </a:pPr>
            <a:r>
              <a:rPr lang="zh-CN" altLang="en-US" sz="2800" b="1" dirty="0">
                <a:ea typeface="宋体" panose="02010600030101010101" pitchFamily="2" charset="-122"/>
              </a:rPr>
              <a:t>下面分别阐述</a:t>
            </a:r>
            <a:r>
              <a:rPr lang="en-US" altLang="zh-CN" sz="2800" b="1" dirty="0">
                <a:ea typeface="宋体" panose="02010600030101010101" pitchFamily="2" charset="-122"/>
              </a:rPr>
              <a:t>OOA</a:t>
            </a:r>
            <a:r>
              <a:rPr lang="zh-CN" altLang="en-US" sz="2800" b="1" dirty="0">
                <a:ea typeface="宋体" panose="02010600030101010101" pitchFamily="2" charset="-122"/>
              </a:rPr>
              <a:t>阶段的</a:t>
            </a:r>
            <a:r>
              <a:rPr lang="zh-CN" altLang="en-US" sz="2800" b="1" dirty="0">
                <a:solidFill>
                  <a:srgbClr val="0070C0"/>
                </a:solidFill>
                <a:ea typeface="宋体" panose="02010600030101010101" pitchFamily="2" charset="-122"/>
              </a:rPr>
              <a:t>概念与表示法、</a:t>
            </a:r>
            <a:r>
              <a:rPr lang="en-US" altLang="zh-CN" sz="2800" b="1" dirty="0">
                <a:solidFill>
                  <a:srgbClr val="0070C0"/>
                </a:solidFill>
                <a:ea typeface="宋体" panose="02010600030101010101" pitchFamily="2" charset="-122"/>
              </a:rPr>
              <a:t>OOA</a:t>
            </a:r>
            <a:r>
              <a:rPr lang="zh-CN" altLang="en-US" sz="2800" b="1" dirty="0">
                <a:solidFill>
                  <a:srgbClr val="0070C0"/>
                </a:solidFill>
                <a:ea typeface="宋体" panose="02010600030101010101" pitchFamily="2" charset="-122"/>
              </a:rPr>
              <a:t>模型</a:t>
            </a:r>
            <a:r>
              <a:rPr lang="zh-CN" altLang="en-US" sz="2800" b="1" dirty="0">
                <a:ea typeface="宋体" panose="02010600030101010101" pitchFamily="2" charset="-122"/>
              </a:rPr>
              <a:t>及</a:t>
            </a:r>
            <a:r>
              <a:rPr lang="zh-CN" altLang="en-US" sz="2800" b="1" dirty="0">
                <a:solidFill>
                  <a:srgbClr val="0070C0"/>
                </a:solidFill>
                <a:ea typeface="宋体" panose="02010600030101010101" pitchFamily="2" charset="-122"/>
              </a:rPr>
              <a:t>过程指导。</a:t>
            </a:r>
            <a:endParaRPr lang="zh-CN" altLang="en-US" sz="2800" b="1" dirty="0">
              <a:solidFill>
                <a:srgbClr val="0070C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9235">
                                            <p:txEl>
                                              <p:pRg st="0" end="0"/>
                                            </p:txEl>
                                          </p:spTgt>
                                        </p:tgtEl>
                                        <p:attrNameLst>
                                          <p:attrName>style.visibility</p:attrName>
                                        </p:attrNameLst>
                                      </p:cBhvr>
                                      <p:to>
                                        <p:strVal val="visible"/>
                                      </p:to>
                                    </p:set>
                                    <p:anim calcmode="lin" valueType="num">
                                      <p:cBhvr additive="base">
                                        <p:cTn id="7" dur="500" fill="hold"/>
                                        <p:tgtEl>
                                          <p:spTgt spid="4792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9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9235">
                                            <p:txEl>
                                              <p:pRg st="1" end="1"/>
                                            </p:txEl>
                                          </p:spTgt>
                                        </p:tgtEl>
                                        <p:attrNameLst>
                                          <p:attrName>style.visibility</p:attrName>
                                        </p:attrNameLst>
                                      </p:cBhvr>
                                      <p:to>
                                        <p:strVal val="visible"/>
                                      </p:to>
                                    </p:set>
                                    <p:anim calcmode="lin" valueType="num">
                                      <p:cBhvr additive="base">
                                        <p:cTn id="13" dur="500" fill="hold"/>
                                        <p:tgtEl>
                                          <p:spTgt spid="4792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92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468630" y="1125855"/>
            <a:ext cx="8229600" cy="5255895"/>
          </a:xfrm>
        </p:spPr>
        <p:txBody>
          <a:bodyPr vert="horz" wrap="square" lIns="91440" tIns="45720" rIns="91440" bIns="45720" anchor="t"/>
          <a:lstStyle/>
          <a:p>
            <a:pPr lvl="0">
              <a:spcBef>
                <a:spcPts val="1800"/>
              </a:spcBef>
            </a:pPr>
            <a:r>
              <a:rPr lang="en-US" altLang="zh-CN" b="1" dirty="0">
                <a:ea typeface="宋体" panose="02010600030101010101" pitchFamily="2" charset="-122"/>
              </a:rPr>
              <a:t>20</a:t>
            </a:r>
            <a:r>
              <a:rPr lang="zh-CN" altLang="en-US" b="1" dirty="0">
                <a:ea typeface="宋体" panose="02010600030101010101" pitchFamily="2" charset="-122"/>
              </a:rPr>
              <a:t>世纪</a:t>
            </a:r>
            <a:r>
              <a:rPr lang="en-US" altLang="zh-CN" b="1" dirty="0">
                <a:ea typeface="宋体" panose="02010600030101010101" pitchFamily="2" charset="-122"/>
              </a:rPr>
              <a:t>80</a:t>
            </a:r>
            <a:r>
              <a:rPr lang="zh-CN" altLang="en-US" b="1" dirty="0">
                <a:ea typeface="宋体" panose="02010600030101010101" pitchFamily="2" charset="-122"/>
              </a:rPr>
              <a:t>年代，相继出现了多种</a:t>
            </a:r>
            <a:r>
              <a:rPr lang="en-US" altLang="zh-CN" b="1" dirty="0">
                <a:ea typeface="宋体" panose="02010600030101010101" pitchFamily="2" charset="-122"/>
              </a:rPr>
              <a:t>OOA</a:t>
            </a:r>
            <a:r>
              <a:rPr lang="zh-CN" altLang="en-US" b="1" dirty="0">
                <a:ea typeface="宋体" panose="02010600030101010101" pitchFamily="2" charset="-122"/>
              </a:rPr>
              <a:t>及</a:t>
            </a:r>
            <a:r>
              <a:rPr lang="en-US" altLang="zh-CN" b="1" dirty="0">
                <a:ea typeface="宋体" panose="02010600030101010101" pitchFamily="2" charset="-122"/>
              </a:rPr>
              <a:t>OOD</a:t>
            </a:r>
            <a:r>
              <a:rPr lang="zh-CN" altLang="en-US" b="1" dirty="0">
                <a:ea typeface="宋体" panose="02010600030101010101" pitchFamily="2" charset="-122"/>
              </a:rPr>
              <a:t>方法。在概念与表示法、系统模型和开发过程等方面存在差异。</a:t>
            </a:r>
            <a:endParaRPr lang="en-US" altLang="zh-CN" b="1" dirty="0">
              <a:ea typeface="宋体" panose="02010600030101010101" pitchFamily="2" charset="-122"/>
            </a:endParaRPr>
          </a:p>
          <a:p>
            <a:pPr lvl="0">
              <a:spcBef>
                <a:spcPts val="1800"/>
              </a:spcBef>
            </a:pPr>
            <a:r>
              <a:rPr lang="zh-CN" altLang="en-US" b="1" dirty="0">
                <a:ea typeface="宋体" panose="02010600030101010101" pitchFamily="2" charset="-122"/>
              </a:rPr>
              <a:t>统一建模语言</a:t>
            </a:r>
            <a:r>
              <a:rPr lang="en-US" altLang="zh-CN" b="1" dirty="0">
                <a:ea typeface="宋体" panose="02010600030101010101" pitchFamily="2" charset="-122"/>
              </a:rPr>
              <a:t>UML</a:t>
            </a:r>
            <a:r>
              <a:rPr lang="zh-CN" altLang="en-US" b="1" dirty="0">
                <a:ea typeface="宋体" panose="02010600030101010101" pitchFamily="2" charset="-122"/>
              </a:rPr>
              <a:t>出现，使得面向对象建模概念及表示法趋于统一。</a:t>
            </a:r>
            <a:endParaRPr lang="zh-CN" altLang="en-US" b="1" dirty="0">
              <a:ea typeface="宋体" panose="02010600030101010101" pitchFamily="2" charset="-122"/>
            </a:endParaRPr>
          </a:p>
          <a:p>
            <a:pPr lvl="0">
              <a:spcBef>
                <a:spcPts val="1800"/>
              </a:spcBef>
            </a:pPr>
            <a:r>
              <a:rPr lang="zh-CN" altLang="en-US" b="1" dirty="0">
                <a:ea typeface="宋体" panose="02010600030101010101" pitchFamily="2" charset="-122"/>
              </a:rPr>
              <a:t>在</a:t>
            </a:r>
            <a:r>
              <a:rPr lang="en-US" altLang="zh-CN" b="1" dirty="0">
                <a:ea typeface="宋体" panose="02010600030101010101" pitchFamily="2" charset="-122"/>
              </a:rPr>
              <a:t>OOA</a:t>
            </a:r>
            <a:r>
              <a:rPr lang="zh-CN" altLang="en-US" b="1" dirty="0">
                <a:ea typeface="宋体" panose="02010600030101010101" pitchFamily="2" charset="-122"/>
              </a:rPr>
              <a:t>阶段使用的概念包括：对象、属性、操作、类、继承、聚合和关联等，这些概念属于</a:t>
            </a:r>
            <a:r>
              <a:rPr lang="en-US" altLang="zh-CN" b="1" dirty="0">
                <a:ea typeface="宋体" panose="02010600030101010101" pitchFamily="2" charset="-122"/>
              </a:rPr>
              <a:t>UML</a:t>
            </a:r>
            <a:r>
              <a:rPr lang="zh-CN" altLang="en-US" b="1" dirty="0">
                <a:ea typeface="宋体" panose="02010600030101010101" pitchFamily="2" charset="-122"/>
              </a:rPr>
              <a:t>的核心内容，且表示法也是相一致的。	</a:t>
            </a:r>
            <a:endParaRPr lang="en-US" altLang="zh-CN" b="1" dirty="0">
              <a:ea typeface="宋体" panose="02010600030101010101" pitchFamily="2" charset="-122"/>
            </a:endParaRPr>
          </a:p>
          <a:p>
            <a:pPr lvl="0"/>
            <a:endParaRPr lang="zh-CN" altLang="en-US" b="1" dirty="0">
              <a:ea typeface="宋体" panose="02010600030101010101" pitchFamily="2" charset="-122"/>
            </a:endParaRPr>
          </a:p>
          <a:p>
            <a:pPr lvl="0"/>
            <a:endParaRPr lang="zh-CN" altLang="en-US" b="1" dirty="0">
              <a:ea typeface="宋体" panose="02010600030101010101" pitchFamily="2" charset="-122"/>
            </a:endParaRPr>
          </a:p>
        </p:txBody>
      </p:sp>
      <p:sp>
        <p:nvSpPr>
          <p:cNvPr id="4" name="Rectangle 2"/>
          <p:cNvSpPr txBox="1"/>
          <p:nvPr/>
        </p:nvSpPr>
        <p:spPr>
          <a:xfrm>
            <a:off x="1528445" y="229235"/>
            <a:ext cx="4154170"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000" b="1" i="0">
                <a:solidFill>
                  <a:srgbClr val="0070C0"/>
                </a:solidFill>
                <a:latin typeface="黑体" panose="02010609060101010101" charset="-122"/>
                <a:ea typeface="黑体" panose="02010609060101010101" charset="-122"/>
              </a:rPr>
              <a:t>1、概念与表示法</a:t>
            </a:r>
            <a:endParaRPr lang="ko-KR" altLang="en-US" sz="3000" b="1" i="0">
              <a:solidFill>
                <a:srgbClr val="0070C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0" y="908050"/>
            <a:ext cx="9144000" cy="1800225"/>
          </a:xfrm>
          <a:prstGeom prst="rect">
            <a:avLst/>
          </a:prstGeom>
          <a:solidFill>
            <a:schemeClr val="bg1"/>
          </a:solid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OOA</a:t>
            </a:r>
            <a:r>
              <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模型是通过面向对象的分析所建立的系统分析模型，表达了在</a:t>
            </a:r>
            <a:r>
              <a:rPr kumimoji="0" lang="en-US" altLang="zh-CN"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OOA</a:t>
            </a:r>
            <a:r>
              <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阶段所认识到的系统成分及彼此之间的关系。在可视化方面，用建模概念所对应的表示法绘制相应种类的图。	</a:t>
            </a: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Rectangle 2"/>
          <p:cNvSpPr txBox="1"/>
          <p:nvPr/>
        </p:nvSpPr>
        <p:spPr>
          <a:xfrm>
            <a:off x="1733550" y="222250"/>
            <a:ext cx="494855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lang="en-US" altLang="zh-CN" sz="3000" b="0" i="0">
                <a:solidFill>
                  <a:srgbClr val="0070C0"/>
                </a:solidFill>
                <a:latin typeface="Arial" panose="020B0604020202020204" pitchFamily="34" charset="0"/>
                <a:ea typeface="宋体" panose="02010600030101010101" pitchFamily="2" charset="-122"/>
              </a:rPr>
              <a:t>2</a:t>
            </a:r>
            <a:r>
              <a:rPr lang="zh-CN" altLang="en-US" sz="3000" b="0" i="0">
                <a:solidFill>
                  <a:srgbClr val="0070C0"/>
                </a:solidFill>
                <a:latin typeface="Arial" panose="020B0604020202020204" pitchFamily="34" charset="0"/>
                <a:ea typeface="宋体" panose="02010600030101010101" pitchFamily="2" charset="-122"/>
              </a:rPr>
              <a:t>、</a:t>
            </a:r>
            <a:r>
              <a:rPr lang="en-US" altLang="zh-CN" sz="3000" b="0" i="0">
                <a:solidFill>
                  <a:srgbClr val="0070C0"/>
                </a:solidFill>
                <a:latin typeface="Arial" panose="020B0604020202020204" pitchFamily="34" charset="0"/>
                <a:ea typeface="宋体" panose="02010600030101010101" pitchFamily="2" charset="-122"/>
              </a:rPr>
              <a:t>OOA</a:t>
            </a:r>
            <a:r>
              <a:rPr lang="zh-CN" altLang="en-US" sz="3000" b="0" i="0">
                <a:solidFill>
                  <a:srgbClr val="0070C0"/>
                </a:solidFill>
                <a:latin typeface="Arial" panose="020B0604020202020204" pitchFamily="34" charset="0"/>
                <a:ea typeface="宋体" panose="02010600030101010101" pitchFamily="2" charset="-122"/>
              </a:rPr>
              <a:t>模型</a:t>
            </a:r>
            <a:endParaRPr lang="ko-KR" altLang="en-US" sz="3000" b="0" i="0">
              <a:solidFill>
                <a:srgbClr val="0070C0"/>
              </a:solidFill>
              <a:latin typeface="Arial" panose="020B0604020202020204" pitchFamily="34" charset="0"/>
              <a:ea typeface="宋体" panose="02010600030101010101" pitchFamily="2" charset="-122"/>
            </a:endParaRPr>
          </a:p>
        </p:txBody>
      </p:sp>
      <p:pic>
        <p:nvPicPr>
          <p:cNvPr id="2" name="Picture 2"/>
          <p:cNvPicPr>
            <a:picLocks noChangeAspect="1"/>
          </p:cNvPicPr>
          <p:nvPr>
            <p:custDataLst>
              <p:tags r:id="rId1"/>
            </p:custDataLst>
          </p:nvPr>
        </p:nvPicPr>
        <p:blipFill>
          <a:blip r:embed="rId2">
            <a:biLevel thresh="50000"/>
          </a:blip>
          <a:stretch>
            <a:fillRect/>
          </a:stretch>
        </p:blipFill>
        <p:spPr>
          <a:xfrm>
            <a:off x="1217930" y="2708275"/>
            <a:ext cx="6493510" cy="3091180"/>
          </a:xfrm>
          <a:prstGeom prst="rect">
            <a:avLst/>
          </a:prstGeom>
          <a:noFill/>
          <a:ln w="9525">
            <a:noFill/>
          </a:ln>
        </p:spPr>
      </p:pic>
      <p:sp>
        <p:nvSpPr>
          <p:cNvPr id="3" name="内容占位符 2"/>
          <p:cNvSpPr txBox="1"/>
          <p:nvPr/>
        </p:nvSpPr>
        <p:spPr bwMode="auto">
          <a:xfrm>
            <a:off x="2718435" y="5580380"/>
            <a:ext cx="3249295" cy="518160"/>
          </a:xfrm>
          <a:prstGeom prst="rect">
            <a:avLst/>
          </a:prstGeom>
          <a:solidFill>
            <a:schemeClr val="bg1"/>
          </a:solidFill>
          <a:ln w="9525">
            <a:noFill/>
            <a:miter lim="800000"/>
          </a:ln>
        </p:spPr>
        <p:txBody>
          <a:bodyPr/>
          <a:lstStyle/>
          <a:p>
            <a:pPr marL="0" marR="0" lvl="1"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a:t>
            </a:r>
            <a:r>
              <a:rPr kumimoji="0" lang="en-US" altLang="zh-CN" sz="2800" b="0" i="0" u="none" strike="noStrike" kern="0" cap="none" spc="0" normalizeH="0" baseline="0" noProof="0">
                <a:ln>
                  <a:noFill/>
                </a:ln>
                <a:solidFill>
                  <a:schemeClr val="tx1"/>
                </a:solidFill>
                <a:effectLst/>
                <a:uLnTx/>
                <a:uFillTx/>
                <a:latin typeface="+mn-lt"/>
                <a:ea typeface="宋体" panose="02010600030101010101" pitchFamily="2" charset="-122"/>
                <a:cs typeface="+mn-cs"/>
              </a:rPr>
              <a:t>2-1  OOA</a:t>
            </a:r>
            <a:r>
              <a:rPr kumimoji="0" lang="zh-CN" altLang="en-US" sz="2800" b="0" i="0" u="none" strike="noStrike" kern="0" cap="none" spc="0" normalizeH="0" baseline="0" noProof="0">
                <a:ln>
                  <a:noFill/>
                </a:ln>
                <a:solidFill>
                  <a:schemeClr val="tx1"/>
                </a:solidFill>
                <a:effectLst/>
                <a:uLnTx/>
                <a:uFillTx/>
                <a:latin typeface="+mn-lt"/>
                <a:ea typeface="宋体" panose="02010600030101010101" pitchFamily="2" charset="-122"/>
                <a:cs typeface="+mn-cs"/>
              </a:rPr>
              <a:t>模型</a:t>
            </a:r>
            <a:endParaRPr kumimoji="0" lang="zh-CN" altLang="en-US" sz="28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647700" y="2853055"/>
            <a:ext cx="8496300" cy="2520950"/>
          </a:xfrm>
          <a:prstGeom prst="rect">
            <a:avLst/>
          </a:prstGeom>
          <a:noFill/>
          <a:ln w="9525">
            <a:noFill/>
            <a:miter lim="800000"/>
          </a:ln>
        </p:spPr>
        <p:txBody>
          <a:bodyPr/>
          <a:lstStyle/>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对象层</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：给出系统中所有反映问题域与系统责任的对象，并用类作为对象的抽象描述。类是构成系统的基本单位。</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特征层</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：给出每一个类的属性与操作。该层描述了类的内部构成状况。</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关系层</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：给出类之间的关系。</a:t>
            </a: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 name="内容占位符 2"/>
          <p:cNvSpPr txBox="1"/>
          <p:nvPr/>
        </p:nvSpPr>
        <p:spPr bwMode="auto">
          <a:xfrm>
            <a:off x="323850" y="5445125"/>
            <a:ext cx="8569325" cy="1152525"/>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上述三个层次的信息（以图形和文字体现）叠加</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0" fontAlgn="base" latinLnBrk="0" hangingPunct="0">
              <a:lnSpc>
                <a:spcPct val="100000"/>
              </a:lnSpc>
              <a:spcBef>
                <a:spcPts val="1200"/>
              </a:spcBef>
              <a:spcAft>
                <a:spcPct val="0"/>
              </a:spcAft>
              <a:buClr>
                <a:schemeClr val="hlink"/>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在一起，形成完整的类图。</a:t>
            </a: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8" name="内容占位符 2"/>
          <p:cNvSpPr txBox="1"/>
          <p:nvPr/>
        </p:nvSpPr>
        <p:spPr bwMode="auto">
          <a:xfrm>
            <a:off x="0" y="981075"/>
            <a:ext cx="9144000" cy="187198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用类图构建的模型是系统的基本模型，主要是因为类图为面向对象编程提供了最直接的依据。基本模型为系统的静态模型，描述系统的结构特征，主要构成成分是：类、属性、操作、泛化、关联、聚合和依赖。</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chemeClr val="hlink"/>
              </a:buClr>
              <a:buSzTx/>
              <a:buFontTx/>
              <a:buNone/>
              <a:defRPr/>
            </a:pP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Rectangle 2"/>
          <p:cNvSpPr txBox="1"/>
          <p:nvPr/>
        </p:nvSpPr>
        <p:spPr>
          <a:xfrm>
            <a:off x="1700530" y="289560"/>
            <a:ext cx="57410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lang="en-US" altLang="zh-CN" sz="3200" b="0" i="0">
                <a:solidFill>
                  <a:srgbClr val="0070C0"/>
                </a:solidFill>
                <a:latin typeface="Arial" panose="020B0604020202020204" pitchFamily="34" charset="0"/>
                <a:ea typeface="宋体" panose="02010600030101010101" pitchFamily="2" charset="-122"/>
              </a:rPr>
              <a:t>2</a:t>
            </a:r>
            <a:r>
              <a:rPr lang="zh-CN" altLang="en-US" sz="3200" b="0" i="0">
                <a:solidFill>
                  <a:srgbClr val="0070C0"/>
                </a:solidFill>
                <a:latin typeface="Arial" panose="020B0604020202020204" pitchFamily="34" charset="0"/>
                <a:ea typeface="宋体" panose="02010600030101010101" pitchFamily="2" charset="-122"/>
              </a:rPr>
              <a:t>、</a:t>
            </a:r>
            <a:r>
              <a:rPr lang="en-US" altLang="zh-CN" sz="3200" b="0" i="0">
                <a:solidFill>
                  <a:srgbClr val="0070C0"/>
                </a:solidFill>
                <a:latin typeface="Arial" panose="020B0604020202020204" pitchFamily="34" charset="0"/>
                <a:ea typeface="宋体" panose="02010600030101010101" pitchFamily="2" charset="-122"/>
              </a:rPr>
              <a:t>OOA</a:t>
            </a:r>
            <a:r>
              <a:rPr lang="zh-CN" altLang="en-US" sz="3200" b="0" i="0">
                <a:solidFill>
                  <a:srgbClr val="0070C0"/>
                </a:solidFill>
                <a:latin typeface="Arial" panose="020B0604020202020204" pitchFamily="34" charset="0"/>
                <a:ea typeface="宋体" panose="02010600030101010101" pitchFamily="2" charset="-122"/>
              </a:rPr>
              <a:t>模型（</a:t>
            </a:r>
            <a:r>
              <a:rPr lang="en-US" altLang="zh-CN" sz="3200" b="0" i="0">
                <a:solidFill>
                  <a:srgbClr val="0070C0"/>
                </a:solidFill>
                <a:latin typeface="Arial" panose="020B0604020202020204" pitchFamily="34" charset="0"/>
                <a:ea typeface="宋体" panose="02010600030101010101" pitchFamily="2" charset="-122"/>
              </a:rPr>
              <a:t>Cont.</a:t>
            </a:r>
            <a:r>
              <a:rPr lang="zh-CN" altLang="en-US" sz="3200" b="0" i="0">
                <a:solidFill>
                  <a:srgbClr val="0070C0"/>
                </a:solidFill>
                <a:latin typeface="Arial" panose="020B0604020202020204" pitchFamily="34" charset="0"/>
                <a:ea typeface="宋体" panose="02010600030101010101" pitchFamily="2" charset="-122"/>
              </a:rPr>
              <a:t>）</a:t>
            </a:r>
            <a:endParaRPr lang="ko-KR" altLang="en-US" sz="3200" b="0" i="0">
              <a:solidFill>
                <a:srgbClr val="0070C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blinds(horizontal)">
                                      <p:cBhvr>
                                        <p:cTn id="1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2847340" y="5366385"/>
            <a:ext cx="3834765" cy="518160"/>
          </a:xfrm>
          <a:prstGeom prst="rect">
            <a:avLst/>
          </a:prstGeom>
          <a:solidFill>
            <a:schemeClr val="bg1"/>
          </a:solidFill>
          <a:ln w="9525">
            <a:noFill/>
            <a:miter lim="800000"/>
          </a:ln>
        </p:spPr>
        <p:txBody>
          <a:bodyPr/>
          <a:lstStyle/>
          <a:p>
            <a:pPr marL="0" marR="0" lvl="1"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图</a:t>
            </a:r>
            <a:r>
              <a:rPr kumimoji="0" lang="en-US" altLang="zh-CN" sz="28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2-2  OOA</a:t>
            </a:r>
            <a:r>
              <a:rPr kumimoji="0" lang="zh-CN" altLang="en-US" sz="28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过程模型</a:t>
            </a:r>
            <a:endParaRPr kumimoji="0" lang="zh-CN" altLang="en-US" sz="28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 name="Rectangle 2"/>
          <p:cNvSpPr txBox="1"/>
          <p:nvPr/>
        </p:nvSpPr>
        <p:spPr>
          <a:xfrm>
            <a:off x="1763395" y="177800"/>
            <a:ext cx="5614670"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lang="en-US" altLang="zh-CN" sz="3200" b="0" i="0">
                <a:solidFill>
                  <a:srgbClr val="0070C0"/>
                </a:solidFill>
                <a:latin typeface="Arial" panose="020B0604020202020204" pitchFamily="34" charset="0"/>
                <a:ea typeface="宋体" panose="02010600030101010101" pitchFamily="2" charset="-122"/>
              </a:rPr>
              <a:t>3</a:t>
            </a:r>
            <a:r>
              <a:rPr lang="zh-CN" altLang="en-US" sz="3200" b="0" i="0">
                <a:solidFill>
                  <a:srgbClr val="0070C0"/>
                </a:solidFill>
                <a:latin typeface="Arial" panose="020B0604020202020204" pitchFamily="34" charset="0"/>
                <a:ea typeface="宋体" panose="02010600030101010101" pitchFamily="2" charset="-122"/>
              </a:rPr>
              <a:t>、</a:t>
            </a:r>
            <a:r>
              <a:rPr lang="en-US" altLang="zh-CN" sz="3200" b="0" i="0">
                <a:solidFill>
                  <a:srgbClr val="0070C0"/>
                </a:solidFill>
                <a:latin typeface="Arial" panose="020B0604020202020204" pitchFamily="34" charset="0"/>
                <a:ea typeface="宋体" panose="02010600030101010101" pitchFamily="2" charset="-122"/>
              </a:rPr>
              <a:t>OOA</a:t>
            </a:r>
            <a:r>
              <a:rPr lang="zh-CN" altLang="en-US" sz="3200" b="0" i="0">
                <a:solidFill>
                  <a:srgbClr val="0070C0"/>
                </a:solidFill>
                <a:latin typeface="Arial" panose="020B0604020202020204" pitchFamily="34" charset="0"/>
                <a:ea typeface="宋体" panose="02010600030101010101" pitchFamily="2" charset="-122"/>
              </a:rPr>
              <a:t>过程</a:t>
            </a:r>
            <a:endParaRPr lang="ko-KR" altLang="en-US" sz="3200" b="0" i="0">
              <a:solidFill>
                <a:srgbClr val="0070C0"/>
              </a:solidFill>
              <a:latin typeface="Arial" panose="020B0604020202020204" pitchFamily="34" charset="0"/>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615440" y="1012190"/>
            <a:ext cx="5567680" cy="4210050"/>
          </a:xfrm>
          <a:prstGeom prst="rect">
            <a:avLst/>
          </a:prstGeom>
        </p:spPr>
      </p:pic>
      <p:sp>
        <p:nvSpPr>
          <p:cNvPr id="12" name="内容占位符 2"/>
          <p:cNvSpPr txBox="1"/>
          <p:nvPr/>
        </p:nvSpPr>
        <p:spPr bwMode="auto">
          <a:xfrm>
            <a:off x="73025" y="6077585"/>
            <a:ext cx="8804910" cy="51816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a:t>
            </a:r>
            <a:r>
              <a:rPr kumimoji="0" lang="zh-CN" altLang="en-US" sz="2800" b="0" i="0" u="none" strike="noStrike" kern="0" cap="none" spc="0" normalizeH="0" baseline="0" noProof="0">
                <a:ln>
                  <a:noFill/>
                </a:ln>
                <a:solidFill>
                  <a:schemeClr val="tx1"/>
                </a:solidFill>
                <a:effectLst/>
                <a:uLnTx/>
                <a:uFillTx/>
                <a:latin typeface="+mn-lt"/>
                <a:ea typeface="宋体" panose="02010600030101010101" pitchFamily="2" charset="-122"/>
                <a:cs typeface="+mn-cs"/>
              </a:rPr>
              <a:t>中标明建模活动是可以回溯的，也可以交替进行。</a:t>
            </a: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blinds(horizontal)">
                                      <p:cBhvr>
                                        <p:cTn id="10"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179705" y="1052830"/>
            <a:ext cx="8641080" cy="647700"/>
          </a:xfrm>
          <a:prstGeom prst="rect">
            <a:avLst/>
          </a:prstGeom>
          <a:noFill/>
          <a:ln w="9525">
            <a:noFill/>
            <a:miter lim="800000"/>
          </a:ln>
        </p:spPr>
        <p:txBody>
          <a:bodyPr/>
          <a:lstStyle/>
          <a:p>
            <a:pPr marL="342900" marR="0" lvl="1"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对实施</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OOA</a:t>
            </a:r>
            <a:r>
              <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过程的几点建议：</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chemeClr val="hlink"/>
              </a:buClr>
              <a:buSzTx/>
              <a:buFontTx/>
              <a:buNone/>
              <a:defRPr/>
            </a:pP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内容占位符 2"/>
          <p:cNvSpPr txBox="1"/>
          <p:nvPr/>
        </p:nvSpPr>
        <p:spPr bwMode="auto">
          <a:xfrm>
            <a:off x="179705" y="1628775"/>
            <a:ext cx="8641080" cy="5229225"/>
          </a:xfrm>
          <a:prstGeom prst="rect">
            <a:avLst/>
          </a:prstGeom>
          <a:noFill/>
          <a:ln w="9525">
            <a:noFill/>
            <a:miter lim="800000"/>
          </a:ln>
        </p:spPr>
        <p:txBody>
          <a:bodyPr/>
          <a:lstStyle/>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把对需求模型的建立放在分析工作的开始。通过定义用况和建立用况图来对用户需求进行规范化的描述。</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把建立基本模型的三个活动安排得比较密切，根据需要随时从一个活动转到另一个活动。</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建立交互图、状态机图或活动图可以安排在基本模型建立之后，但也可以与基本模型的活动同时进行。即在认识清楚了若干对象后，就开始绘制反映系统行为的模型图，反之建立辅助模型也有助于认识清楚对象以及对象之间的关系，从而完善基本模型。</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 name="Rectangle 2"/>
          <p:cNvSpPr txBox="1"/>
          <p:nvPr/>
        </p:nvSpPr>
        <p:spPr>
          <a:xfrm>
            <a:off x="0" y="289560"/>
            <a:ext cx="91446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lang="en-US" altLang="zh-CN" sz="3200" b="0" i="0">
                <a:solidFill>
                  <a:srgbClr val="0070C0"/>
                </a:solidFill>
                <a:latin typeface="Arial" panose="020B0604020202020204" pitchFamily="34" charset="0"/>
                <a:ea typeface="宋体" panose="02010600030101010101" pitchFamily="2" charset="-122"/>
              </a:rPr>
              <a:t>3</a:t>
            </a:r>
            <a:r>
              <a:rPr lang="zh-CN" altLang="en-US" sz="3200" b="0" i="0">
                <a:solidFill>
                  <a:srgbClr val="0070C0"/>
                </a:solidFill>
                <a:latin typeface="Arial" panose="020B0604020202020204" pitchFamily="34" charset="0"/>
                <a:ea typeface="宋体" panose="02010600030101010101" pitchFamily="2" charset="-122"/>
              </a:rPr>
              <a:t>、</a:t>
            </a:r>
            <a:r>
              <a:rPr lang="en-US" altLang="zh-CN" sz="3200" b="0" i="0">
                <a:solidFill>
                  <a:srgbClr val="0070C0"/>
                </a:solidFill>
                <a:latin typeface="Arial" panose="020B0604020202020204" pitchFamily="34" charset="0"/>
                <a:ea typeface="宋体" panose="02010600030101010101" pitchFamily="2" charset="-122"/>
              </a:rPr>
              <a:t>OOA</a:t>
            </a:r>
            <a:r>
              <a:rPr lang="zh-CN" altLang="en-US" sz="3200" b="0" i="0">
                <a:solidFill>
                  <a:srgbClr val="0070C0"/>
                </a:solidFill>
                <a:latin typeface="Arial" panose="020B0604020202020204" pitchFamily="34" charset="0"/>
                <a:ea typeface="宋体" panose="02010600030101010101" pitchFamily="2" charset="-122"/>
              </a:rPr>
              <a:t>过程</a:t>
            </a:r>
            <a:endParaRPr lang="ko-KR" altLang="en-US" sz="3200" b="0" i="0">
              <a:solidFill>
                <a:srgbClr val="0070C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blinds(horizontal)">
                                      <p:cBhvr>
                                        <p:cTn id="10" dur="500"/>
                                        <p:tgtEl>
                                          <p:spTgt spid="6">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blinds(horizontal)">
                                      <p:cBhvr>
                                        <p:cTn id="13" dur="500"/>
                                        <p:tgtEl>
                                          <p:spTgt spid="6">
                                            <p:txEl>
                                              <p:p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blinds(horizontal)">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1547664" y="188640"/>
            <a:ext cx="6912610" cy="648335"/>
          </a:xfrm>
          <a:prstGeom prst="rect">
            <a:avLst/>
          </a:prstGeom>
          <a:noFill/>
          <a:ln w="9525">
            <a:noFill/>
            <a:miter lim="800000"/>
          </a:ln>
        </p:spPr>
        <p:txBody>
          <a:bodyPr vert="horz" wrap="square" lIns="91440" tIns="45720" rIns="91440" bIns="45720" numCol="1" anchor="t">
            <a:noAutofit/>
          </a:bodyPr>
          <a:lstStyle/>
          <a:p>
            <a:pPr marL="342900" indent="-342900" algn="l" defTabSz="914400" eaLnBrk="0" fontAlgn="base" latinLnBrk="0" hangingPunct="0">
              <a:lnSpc>
                <a:spcPct val="100000"/>
              </a:lnSpc>
              <a:spcBef>
                <a:spcPts val="700"/>
              </a:spcBef>
              <a:spcAft>
                <a:spcPts val="0"/>
              </a:spcAft>
              <a:buFontTx/>
              <a:buNone/>
              <a:defRPr sz="1800"/>
            </a:pPr>
            <a:r>
              <a:rPr sz="3600" b="1" i="0" strike="noStrike" cap="none" dirty="0" err="1">
                <a:solidFill>
                  <a:srgbClr val="FF0000"/>
                </a:solidFill>
                <a:latin typeface="微软雅黑" panose="020B0503020204020204" charset="-122"/>
                <a:ea typeface="微软雅黑" panose="020B0503020204020204" charset="-122"/>
                <a:cs typeface="+mn-cs"/>
              </a:rPr>
              <a:t>对实施OOA过程的几点建议</a:t>
            </a:r>
            <a:endParaRPr lang="ko-KR" altLang="en-US" sz="3600" b="0" i="0" strike="noStrike" cap="none" dirty="0">
              <a:solidFill>
                <a:srgbClr val="FF0000"/>
              </a:solidFill>
              <a:latin typeface="微软雅黑" panose="020B0503020204020204" charset="-122"/>
              <a:ea typeface="宋体" panose="02010600030101010101" pitchFamily="2" charset="-122"/>
              <a:cs typeface="+mn-cs"/>
            </a:endParaRPr>
          </a:p>
          <a:p>
            <a:pPr marL="342900" indent="-342900" algn="l" defTabSz="914400" eaLnBrk="0" fontAlgn="base" latinLnBrk="0" hangingPunct="0">
              <a:lnSpc>
                <a:spcPct val="100000"/>
              </a:lnSpc>
              <a:spcBef>
                <a:spcPts val="700"/>
              </a:spcBef>
              <a:spcAft>
                <a:spcPts val="0"/>
              </a:spcAft>
              <a:buFontTx/>
              <a:buNone/>
              <a:defRPr sz="1800"/>
            </a:pPr>
            <a:endParaRPr lang="ko-KR" altLang="en-US" sz="2800" b="0" i="0" strike="noStrike" cap="none" dirty="0">
              <a:ln w="9525" cap="flat" cmpd="sng">
                <a:noFill/>
              </a:ln>
              <a:solidFill>
                <a:srgbClr val="0070C0"/>
              </a:solidFill>
              <a:latin typeface="Arial" panose="020B0604020202020204" pitchFamily="34" charset="0"/>
              <a:ea typeface="宋体" panose="02010600030101010101" pitchFamily="2" charset="-122"/>
              <a:cs typeface="+mn-cs"/>
            </a:endParaRPr>
          </a:p>
        </p:txBody>
      </p:sp>
      <p:sp>
        <p:nvSpPr>
          <p:cNvPr id="6" name="内容占位符 2"/>
          <p:cNvSpPr txBox="1"/>
          <p:nvPr/>
        </p:nvSpPr>
        <p:spPr bwMode="auto">
          <a:xfrm>
            <a:off x="179705" y="1052830"/>
            <a:ext cx="8641080" cy="5229225"/>
          </a:xfrm>
          <a:prstGeom prst="rect">
            <a:avLst/>
          </a:prstGeom>
          <a:noFill/>
          <a:ln w="9525">
            <a:noFill/>
            <a:miter lim="800000"/>
          </a:ln>
        </p:spPr>
        <p:txBody>
          <a:bodyPr/>
          <a:lstStyle/>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详细说明的活动应该分散进行，结合其他活动之中。最后做一次集中的审查与补充。</a:t>
            </a:r>
            <a:endPar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原型开发可反复地进行，在认识了基本模型中一些主要的对象之后就可以建立初步原型，随着分析工作的深入而进行增量式的原型开发。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分析较小系统时可以省略划分包的活动，或把该活动放在基本模型建立之后进行。在分析大型系统时，可以按需求先划分包，根据包进行分工，然后开始通常的分析；在分析的过程中，若需要仍可以用包来组织模型元素。</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linds(horizontal)">
                                      <p:cBhvr>
                                        <p:cTn id="10" dur="500"/>
                                        <p:tgtEl>
                                          <p:spTgt spid="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blinds(horizontal)">
                                      <p:cBhvr>
                                        <p:cTn id="13" dur="500"/>
                                        <p:tgtEl>
                                          <p:spTgt spid="6">
                                            <p:txEl>
                                              <p:p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p:cNvSpPr>
            <a:spLocks noGrp="1"/>
          </p:cNvSpPr>
          <p:nvPr>
            <p:ph idx="1"/>
          </p:nvPr>
        </p:nvSpPr>
        <p:spPr>
          <a:xfrm>
            <a:off x="611505" y="1916430"/>
            <a:ext cx="8229600" cy="1798320"/>
          </a:xfrm>
        </p:spPr>
        <p:txBody>
          <a:bodyPr vert="horz" wrap="square" lIns="91440" tIns="45720" rIns="91440" bIns="45720" anchor="t"/>
          <a:lstStyle/>
          <a:p>
            <a:pPr lvl="0">
              <a:spcBef>
                <a:spcPts val="1800"/>
              </a:spcBef>
            </a:pPr>
            <a:r>
              <a:rPr lang="zh-CN" altLang="en-US" sz="2400" b="1" dirty="0">
                <a:ea typeface="宋体" panose="02010600030101010101" pitchFamily="2" charset="-122"/>
              </a:rPr>
              <a:t>完成系统的业务模型建模</a:t>
            </a:r>
            <a:endParaRPr lang="zh-CN" altLang="en-US" sz="2400" b="1" dirty="0">
              <a:ea typeface="宋体" panose="02010600030101010101" pitchFamily="2" charset="-122"/>
            </a:endParaRPr>
          </a:p>
          <a:p>
            <a:pPr lvl="0">
              <a:spcBef>
                <a:spcPts val="1800"/>
              </a:spcBef>
            </a:pPr>
            <a:r>
              <a:rPr lang="zh-CN" altLang="en-US" sz="2400" b="1" dirty="0">
                <a:ea typeface="宋体" panose="02010600030101010101" pitchFamily="2" charset="-122"/>
              </a:rPr>
              <a:t>完成系统的静态结构模型</a:t>
            </a:r>
            <a:endParaRPr lang="zh-CN" altLang="en-US" sz="2400" b="1" dirty="0">
              <a:ea typeface="宋体" panose="02010600030101010101" pitchFamily="2" charset="-122"/>
            </a:endParaRPr>
          </a:p>
          <a:p>
            <a:pPr lvl="0">
              <a:spcBef>
                <a:spcPts val="1800"/>
              </a:spcBef>
            </a:pPr>
            <a:r>
              <a:rPr lang="zh-CN" altLang="en-US" sz="2400" b="1" dirty="0">
                <a:ea typeface="宋体" panose="02010600030101010101" pitchFamily="2" charset="-122"/>
              </a:rPr>
              <a:t>完成系统的动态行为模型</a:t>
            </a:r>
            <a:endParaRPr lang="zh-CN" altLang="en-US" sz="2400" b="1" dirty="0">
              <a:ea typeface="宋体" panose="02010600030101010101" pitchFamily="2" charset="-122"/>
            </a:endParaRPr>
          </a:p>
        </p:txBody>
      </p:sp>
      <p:sp>
        <p:nvSpPr>
          <p:cNvPr id="18436" name="标题 1"/>
          <p:cNvSpPr/>
          <p:nvPr/>
        </p:nvSpPr>
        <p:spPr>
          <a:xfrm>
            <a:off x="0" y="1052830"/>
            <a:ext cx="9144635" cy="563880"/>
          </a:xfrm>
          <a:prstGeom prst="rect">
            <a:avLst/>
          </a:prstGeom>
          <a:noFill/>
          <a:ln w="9525">
            <a:noFill/>
          </a:ln>
        </p:spPr>
        <p:txBody>
          <a:bodyPr vert="horz" wrap="square" lIns="91440" tIns="45720" rIns="91440" bIns="45720" numCol="1" anchor="ctr">
            <a:noAutofit/>
          </a:bodyPr>
          <a:lstStyle/>
          <a:p>
            <a:pPr marL="0" indent="0" algn="l" defTabSz="914400" eaLnBrk="0" fontAlgn="base" latinLnBrk="0" hangingPunct="0">
              <a:lnSpc>
                <a:spcPct val="100000"/>
              </a:lnSpc>
              <a:spcBef>
                <a:spcPts val="0"/>
              </a:spcBef>
              <a:spcAft>
                <a:spcPts val="0"/>
              </a:spcAft>
              <a:buFontTx/>
              <a:buNone/>
            </a:pPr>
            <a:endParaRPr lang="ko-KR" altLang="en-US" sz="2800" b="1" i="0">
              <a:solidFill>
                <a:schemeClr val="tx2"/>
              </a:solidFill>
              <a:latin typeface="Verdana" panose="020B0604030504040204" pitchFamily="34" charset="0"/>
              <a:ea typeface="宋体" panose="02010600030101010101" pitchFamily="2" charset="-122"/>
            </a:endParaRPr>
          </a:p>
        </p:txBody>
      </p:sp>
      <p:sp>
        <p:nvSpPr>
          <p:cNvPr id="5" name="Rectangle 2"/>
          <p:cNvSpPr txBox="1"/>
          <p:nvPr/>
        </p:nvSpPr>
        <p:spPr>
          <a:xfrm>
            <a:off x="86360" y="175895"/>
            <a:ext cx="91446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lang="zh-CN" altLang="en-US" sz="2800" b="1" i="0" dirty="0">
                <a:solidFill>
                  <a:schemeClr val="tx2"/>
                </a:solidFill>
                <a:latin typeface="黑体" panose="02010609060101010101" charset="-122"/>
                <a:ea typeface="黑体" panose="02010609060101010101" charset="-122"/>
              </a:rPr>
              <a:t>面向对象分析阶段完成的任务</a:t>
            </a:r>
            <a:r>
              <a:rPr lang="zh-CN" altLang="en-US" sz="2800" b="1" i="0" dirty="0">
                <a:solidFill>
                  <a:schemeClr val="tx2"/>
                </a:solidFill>
                <a:latin typeface="Verdana" panose="020B0604030504040204" pitchFamily="34" charset="0"/>
                <a:ea typeface="宋体" panose="02010600030101010101" pitchFamily="2" charset="-122"/>
              </a:rPr>
              <a:t>：</a:t>
            </a:r>
            <a:endParaRPr lang="ko-KR" altLang="en-US" sz="3200" b="0" i="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2"/>
          <p:cNvSpPr>
            <a:spLocks noGrp="1"/>
          </p:cNvSpPr>
          <p:nvPr>
            <p:ph idx="1"/>
          </p:nvPr>
        </p:nvSpPr>
        <p:spPr>
          <a:xfrm>
            <a:off x="468630" y="1125855"/>
            <a:ext cx="8229600" cy="5255895"/>
          </a:xfrm>
        </p:spPr>
        <p:txBody>
          <a:bodyPr vert="horz" wrap="square" lIns="91440" tIns="45720" rIns="91440" bIns="45720" anchor="t"/>
          <a:lstStyle/>
          <a:p>
            <a:pPr lvl="0">
              <a:spcBef>
                <a:spcPts val="1800"/>
              </a:spcBef>
            </a:pPr>
            <a:r>
              <a:rPr lang="zh-CN" altLang="en-US" sz="2800" dirty="0">
                <a:ea typeface="宋体" panose="02010600030101010101" pitchFamily="2" charset="-122"/>
              </a:rPr>
              <a:t>分析问题域，明确用户需求</a:t>
            </a:r>
            <a:endParaRPr lang="zh-CN" altLang="en-US" sz="2800" dirty="0">
              <a:ea typeface="宋体" panose="02010600030101010101" pitchFamily="2" charset="-122"/>
            </a:endParaRPr>
          </a:p>
          <a:p>
            <a:pPr lvl="0">
              <a:spcBef>
                <a:spcPts val="1800"/>
              </a:spcBef>
            </a:pPr>
            <a:r>
              <a:rPr lang="zh-CN" altLang="en-US" sz="2800" dirty="0">
                <a:ea typeface="宋体" panose="02010600030101010101" pitchFamily="2" charset="-122"/>
              </a:rPr>
              <a:t>识别对象，在此基础上抽象出候选对象类</a:t>
            </a:r>
            <a:endParaRPr lang="zh-CN" altLang="en-US" sz="2800" dirty="0">
              <a:ea typeface="宋体" panose="02010600030101010101" pitchFamily="2" charset="-122"/>
            </a:endParaRPr>
          </a:p>
          <a:p>
            <a:pPr lvl="0">
              <a:spcBef>
                <a:spcPts val="1800"/>
              </a:spcBef>
            </a:pPr>
            <a:r>
              <a:rPr lang="zh-CN" altLang="en-US" sz="2800" dirty="0">
                <a:ea typeface="宋体" panose="02010600030101010101" pitchFamily="2" charset="-122"/>
              </a:rPr>
              <a:t>标识对象的属性和行为</a:t>
            </a:r>
            <a:endParaRPr lang="zh-CN" altLang="en-US" sz="2800" dirty="0">
              <a:ea typeface="宋体" panose="02010600030101010101" pitchFamily="2" charset="-122"/>
            </a:endParaRPr>
          </a:p>
          <a:p>
            <a:pPr lvl="0">
              <a:spcBef>
                <a:spcPts val="1800"/>
              </a:spcBef>
            </a:pPr>
            <a:r>
              <a:rPr lang="zh-CN" altLang="en-US" sz="2800" dirty="0">
                <a:ea typeface="宋体" panose="02010600030101010101" pitchFamily="2" charset="-122"/>
              </a:rPr>
              <a:t>确定对象类之间的关系</a:t>
            </a:r>
            <a:endParaRPr lang="zh-CN" altLang="en-US" sz="2800" dirty="0">
              <a:ea typeface="宋体" panose="02010600030101010101" pitchFamily="2" charset="-122"/>
            </a:endParaRPr>
          </a:p>
          <a:p>
            <a:pPr lvl="0">
              <a:spcBef>
                <a:spcPts val="1800"/>
              </a:spcBef>
            </a:pPr>
            <a:r>
              <a:rPr lang="zh-CN" altLang="en-US" sz="2800" dirty="0">
                <a:ea typeface="宋体" panose="02010600030101010101" pitchFamily="2" charset="-122"/>
              </a:rPr>
              <a:t>确定动态行为模型</a:t>
            </a:r>
            <a:endParaRPr lang="zh-CN" altLang="en-US" sz="2800" dirty="0">
              <a:ea typeface="宋体" panose="02010600030101010101" pitchFamily="2" charset="-122"/>
            </a:endParaRPr>
          </a:p>
          <a:p>
            <a:pPr lvl="0">
              <a:spcBef>
                <a:spcPts val="1800"/>
              </a:spcBef>
            </a:pPr>
            <a:r>
              <a:rPr lang="zh-CN" altLang="en-US" sz="2800" dirty="0">
                <a:ea typeface="宋体" panose="02010600030101010101" pitchFamily="2" charset="-122"/>
              </a:rPr>
              <a:t>确定用户界面需求。</a:t>
            </a:r>
            <a:endParaRPr lang="zh-CN" altLang="en-US" sz="2800" dirty="0">
              <a:ea typeface="宋体" panose="02010600030101010101" pitchFamily="2" charset="-122"/>
            </a:endParaRPr>
          </a:p>
          <a:p>
            <a:pPr lvl="0"/>
            <a:endParaRPr lang="zh-CN" altLang="en-US" sz="2800" dirty="0">
              <a:ea typeface="宋体" panose="02010600030101010101" pitchFamily="2" charset="-122"/>
            </a:endParaRPr>
          </a:p>
        </p:txBody>
      </p:sp>
      <p:sp>
        <p:nvSpPr>
          <p:cNvPr id="4" name="Rectangle 2"/>
          <p:cNvSpPr txBox="1"/>
          <p:nvPr/>
        </p:nvSpPr>
        <p:spPr>
          <a:xfrm>
            <a:off x="66040" y="215900"/>
            <a:ext cx="91446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b="0" i="0" dirty="0" err="1" smtClean="0">
                <a:latin typeface="黑体" panose="02010609060101010101" charset="-122"/>
                <a:ea typeface="黑体" panose="02010609060101010101" charset="-122"/>
              </a:rPr>
              <a:t>面向对象分析步骤</a:t>
            </a:r>
            <a:r>
              <a:rPr b="0" i="0" dirty="0">
                <a:latin typeface="黑体" panose="02010609060101010101" charset="-122"/>
                <a:ea typeface="黑体" panose="02010609060101010101" charset="-122"/>
              </a:rPr>
              <a:t>：</a:t>
            </a:r>
            <a:endParaRPr lang="ko-KR" altLang="en-US" b="0" i="0" dirty="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468630" y="1125855"/>
            <a:ext cx="8229600" cy="5255895"/>
          </a:xfrm>
        </p:spPr>
        <p:txBody>
          <a:bodyPr vert="horz" wrap="square" lIns="91440" tIns="45720" rIns="91440" bIns="45720" anchor="t"/>
          <a:lstStyle/>
          <a:p>
            <a:pPr lvl="0"/>
            <a:r>
              <a:rPr lang="zh-CN" altLang="en-US" sz="2800" b="1" dirty="0">
                <a:ea typeface="宋体" panose="02010600030101010101" pitchFamily="2" charset="-122"/>
              </a:rPr>
              <a:t>所有人员一起定义系统的职责范围和边界，探讨问题的初步解决方案，进行可行性研究和制订资源、进度预算，为后期的开发工作奠定良好的基础。</a:t>
            </a:r>
            <a:endParaRPr lang="zh-CN" altLang="en-US" sz="2800" b="1" dirty="0">
              <a:ea typeface="宋体" panose="02010600030101010101" pitchFamily="2" charset="-122"/>
            </a:endParaRPr>
          </a:p>
          <a:p>
            <a:pPr lvl="0"/>
            <a:r>
              <a:rPr lang="zh-CN" altLang="en-US" sz="2800" b="1" dirty="0">
                <a:ea typeface="宋体" panose="02010600030101010101" pitchFamily="2" charset="-122"/>
              </a:rPr>
              <a:t>为了更好地和客户、未来软件的用户代表以及相关领域的专家沟通，通常采用</a:t>
            </a:r>
            <a:r>
              <a:rPr lang="en-US" altLang="zh-CN" sz="2800" b="1" dirty="0">
                <a:ea typeface="宋体" panose="02010600030101010101" pitchFamily="2" charset="-122"/>
              </a:rPr>
              <a:t>UML</a:t>
            </a:r>
            <a:r>
              <a:rPr lang="zh-CN" altLang="en-US" sz="2800" b="1" dirty="0">
                <a:ea typeface="宋体" panose="02010600030101010101" pitchFamily="2" charset="-122"/>
              </a:rPr>
              <a:t>标准中提供 </a:t>
            </a:r>
            <a:r>
              <a:rPr lang="zh-CN" altLang="en-US" sz="2800" b="1" dirty="0">
                <a:solidFill>
                  <a:srgbClr val="FF33CC"/>
                </a:solidFill>
                <a:ea typeface="宋体" panose="02010600030101010101" pitchFamily="2" charset="-122"/>
              </a:rPr>
              <a:t>用例模型</a:t>
            </a:r>
            <a:r>
              <a:rPr lang="zh-CN" altLang="en-US" sz="2800" b="1" dirty="0">
                <a:ea typeface="宋体" panose="02010600030101010101" pitchFamily="2" charset="-122"/>
              </a:rPr>
              <a:t>来表达需求。</a:t>
            </a:r>
            <a:endParaRPr lang="zh-CN" altLang="en-US" sz="2800" b="1" dirty="0">
              <a:ea typeface="宋体" panose="02010600030101010101" pitchFamily="2" charset="-122"/>
            </a:endParaRPr>
          </a:p>
          <a:p>
            <a:pPr lvl="0"/>
            <a:r>
              <a:rPr lang="zh-CN" altLang="en-US" sz="2800" b="1" dirty="0">
                <a:ea typeface="宋体" panose="02010600030101010101" pitchFamily="2" charset="-122"/>
              </a:rPr>
              <a:t>这一步骤的工作最终要形成文件，给出详细的问题描述和用例模型，规范地表述出来，交给用户确认。</a:t>
            </a:r>
            <a:endParaRPr lang="zh-CN" altLang="en-US" sz="2800" b="1" dirty="0">
              <a:ea typeface="宋体" panose="02010600030101010101" pitchFamily="2" charset="-122"/>
            </a:endParaRPr>
          </a:p>
        </p:txBody>
      </p:sp>
      <p:sp>
        <p:nvSpPr>
          <p:cNvPr id="5" name="Rectangle 2"/>
          <p:cNvSpPr txBox="1"/>
          <p:nvPr/>
        </p:nvSpPr>
        <p:spPr>
          <a:xfrm>
            <a:off x="78105" y="299720"/>
            <a:ext cx="91446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sz="2800" b="0" i="0">
                <a:solidFill>
                  <a:srgbClr val="0070C0"/>
                </a:solidFill>
                <a:latin typeface="微软雅黑" panose="020B0503020204020204" charset="-122"/>
                <a:ea typeface="微软雅黑" panose="020B0503020204020204" charset="-122"/>
              </a:rPr>
              <a:t>1、分析问题域，明确用户需求</a:t>
            </a:r>
            <a:endParaRPr lang="ko-KR" altLang="en-US" sz="2800" b="0" i="0">
              <a:solidFill>
                <a:srgbClr val="0070C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8630" y="1125855"/>
            <a:ext cx="8229600" cy="5255895"/>
          </a:xfrm>
        </p:spPr>
        <p:txBody>
          <a:bodyPr vert="horz" wrap="square" lIns="91440" tIns="45720" rIns="91440" bIns="45720" anchor="t"/>
          <a:lstStyle/>
          <a:p>
            <a:pPr lvl="0"/>
            <a:r>
              <a:rPr lang="zh-CN" altLang="en-US" sz="2800" b="1" dirty="0">
                <a:ea typeface="宋体" panose="02010600030101010101" pitchFamily="2" charset="-122"/>
              </a:rPr>
              <a:t>在问题陈述和用例模型的基础上来进行提取，在软件系统中，最终会抽取出一些具有以下特征的对象：</a:t>
            </a:r>
            <a:endParaRPr lang="zh-CN" altLang="en-US" sz="2800" b="1" dirty="0">
              <a:ea typeface="宋体" panose="02010600030101010101" pitchFamily="2" charset="-122"/>
            </a:endParaRPr>
          </a:p>
          <a:p>
            <a:pPr lvl="0">
              <a:buNone/>
            </a:pPr>
            <a:r>
              <a:rPr lang="en-US" altLang="zh-CN" sz="2400" b="1" dirty="0">
                <a:ea typeface="宋体" panose="02010600030101010101" pitchFamily="2" charset="-122"/>
              </a:rPr>
              <a:t>1</a:t>
            </a:r>
            <a:r>
              <a:rPr lang="zh-CN" altLang="en-US" sz="2400" b="1" dirty="0">
                <a:ea typeface="宋体" panose="02010600030101010101" pitchFamily="2" charset="-122"/>
              </a:rPr>
              <a:t>）需要记录这个对象的信息，否则系统将无法正常工作；</a:t>
            </a:r>
            <a:endParaRPr lang="zh-CN" altLang="en-US" sz="2400" b="1" dirty="0">
              <a:ea typeface="宋体" panose="02010600030101010101" pitchFamily="2" charset="-122"/>
            </a:endParaRPr>
          </a:p>
          <a:p>
            <a:pPr lvl="0">
              <a:buNone/>
            </a:pPr>
            <a:r>
              <a:rPr lang="en-US" altLang="zh-CN" sz="2400" b="1" dirty="0">
                <a:ea typeface="宋体" panose="02010600030101010101" pitchFamily="2" charset="-122"/>
              </a:rPr>
              <a:t>2</a:t>
            </a:r>
            <a:r>
              <a:rPr lang="zh-CN" altLang="en-US" sz="2400" b="1" dirty="0">
                <a:ea typeface="宋体" panose="02010600030101010101" pitchFamily="2" charset="-122"/>
              </a:rPr>
              <a:t>）这个对象应该具有一组确定操作，通过这些操作可以实现对对象属性的修改；</a:t>
            </a:r>
            <a:endParaRPr lang="zh-CN" altLang="en-US" sz="2400" b="1" dirty="0">
              <a:ea typeface="宋体" panose="02010600030101010101" pitchFamily="2" charset="-122"/>
            </a:endParaRPr>
          </a:p>
          <a:p>
            <a:pPr lvl="0">
              <a:buNone/>
            </a:pPr>
            <a:r>
              <a:rPr lang="en-US" altLang="zh-CN" sz="2400" b="1" dirty="0">
                <a:ea typeface="宋体" panose="02010600030101010101" pitchFamily="2" charset="-122"/>
              </a:rPr>
              <a:t>3</a:t>
            </a:r>
            <a:r>
              <a:rPr lang="zh-CN" altLang="en-US" sz="2400" b="1" dirty="0">
                <a:ea typeface="宋体" panose="02010600030101010101" pitchFamily="2" charset="-122"/>
              </a:rPr>
              <a:t>）这个对象应该具有多个属性，用于描述对象的特征；</a:t>
            </a:r>
            <a:endParaRPr lang="zh-CN" altLang="en-US" sz="2400" b="1" dirty="0">
              <a:ea typeface="宋体" panose="02010600030101010101" pitchFamily="2" charset="-122"/>
            </a:endParaRPr>
          </a:p>
          <a:p>
            <a:pPr lvl="0">
              <a:buNone/>
            </a:pPr>
            <a:r>
              <a:rPr lang="en-US" altLang="zh-CN" sz="2400" b="1" dirty="0">
                <a:ea typeface="宋体" panose="02010600030101010101" pitchFamily="2" charset="-122"/>
              </a:rPr>
              <a:t>4</a:t>
            </a:r>
            <a:r>
              <a:rPr lang="zh-CN" altLang="en-US" sz="2400" b="1" dirty="0">
                <a:ea typeface="宋体" panose="02010600030101010101" pitchFamily="2" charset="-122"/>
              </a:rPr>
              <a:t>）能够定义一组适用于所有对象实例的公共属性；</a:t>
            </a:r>
            <a:endParaRPr lang="zh-CN" altLang="en-US" sz="2400" b="1" dirty="0">
              <a:ea typeface="宋体" panose="02010600030101010101" pitchFamily="2" charset="-122"/>
            </a:endParaRPr>
          </a:p>
          <a:p>
            <a:pPr lvl="0">
              <a:buNone/>
            </a:pPr>
            <a:r>
              <a:rPr lang="en-US" altLang="zh-CN" sz="2400" b="1" dirty="0">
                <a:ea typeface="宋体" panose="02010600030101010101" pitchFamily="2" charset="-122"/>
              </a:rPr>
              <a:t>5</a:t>
            </a:r>
            <a:r>
              <a:rPr lang="zh-CN" altLang="en-US" sz="2400" b="1" dirty="0">
                <a:ea typeface="宋体" panose="02010600030101010101" pitchFamily="2" charset="-122"/>
              </a:rPr>
              <a:t>）能够定义一组适用于所有对象实例的公共操作。</a:t>
            </a:r>
            <a:endParaRPr lang="zh-CN" altLang="en-US" sz="2400" b="1" dirty="0">
              <a:ea typeface="宋体" panose="02010600030101010101" pitchFamily="2" charset="-122"/>
            </a:endParaRPr>
          </a:p>
          <a:p>
            <a:pPr lvl="0">
              <a:buNone/>
            </a:pPr>
            <a:endParaRPr lang="zh-CN" altLang="en-US" sz="2400" b="1" dirty="0">
              <a:ea typeface="宋体" panose="02010600030101010101" pitchFamily="2" charset="-122"/>
            </a:endParaRPr>
          </a:p>
          <a:p>
            <a:pPr lvl="0">
              <a:buNone/>
            </a:pPr>
            <a:endParaRPr lang="zh-CN" altLang="en-US" sz="2400" b="1" dirty="0">
              <a:ea typeface="宋体" panose="02010600030101010101" pitchFamily="2" charset="-122"/>
            </a:endParaRPr>
          </a:p>
        </p:txBody>
      </p:sp>
      <p:sp>
        <p:nvSpPr>
          <p:cNvPr id="4" name="Rectangle 2"/>
          <p:cNvSpPr txBox="1"/>
          <p:nvPr/>
        </p:nvSpPr>
        <p:spPr>
          <a:xfrm>
            <a:off x="62865" y="254635"/>
            <a:ext cx="9144635" cy="564515"/>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sz="2800" b="0" i="0">
                <a:solidFill>
                  <a:srgbClr val="0070C0"/>
                </a:solidFill>
                <a:latin typeface="微软雅黑" panose="020B0503020204020204" charset="-122"/>
                <a:ea typeface="微软雅黑" panose="020B0503020204020204" charset="-122"/>
              </a:rPr>
              <a:t>2、识别对象，在此基础上抽象出候选对象类</a:t>
            </a:r>
            <a:endParaRPr lang="ko-KR" altLang="en-US" sz="2800" b="0" i="0">
              <a:solidFill>
                <a:srgbClr val="0070C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548130" y="222250"/>
            <a:ext cx="6119495" cy="563880"/>
          </a:xfrm>
        </p:spPr>
        <p:txBody>
          <a:bodyPr vert="horz" wrap="square" lIns="91440" tIns="45720" rIns="91440" bIns="45720" anchor="ctr"/>
          <a:lstStyle/>
          <a:p>
            <a:r>
              <a:rPr lang="en-US" altLang="zh-CN" sz="3000" dirty="0">
                <a:solidFill>
                  <a:srgbClr val="0070C0"/>
                </a:solidFill>
                <a:ea typeface="宋体" panose="02010600030101010101" pitchFamily="2" charset="-122"/>
              </a:rPr>
              <a:t>3</a:t>
            </a:r>
            <a:r>
              <a:rPr lang="zh-CN" altLang="en-US" sz="3000" dirty="0">
                <a:solidFill>
                  <a:srgbClr val="0070C0"/>
                </a:solidFill>
                <a:ea typeface="宋体" panose="02010600030101010101" pitchFamily="2" charset="-122"/>
              </a:rPr>
              <a:t>、标识对象的属性和行为</a:t>
            </a:r>
            <a:endParaRPr lang="zh-CN" altLang="en-US" sz="3000" dirty="0">
              <a:solidFill>
                <a:srgbClr val="0070C0"/>
              </a:solidFill>
              <a:ea typeface="宋体" panose="02010600030101010101" pitchFamily="2" charset="-122"/>
            </a:endParaRPr>
          </a:p>
        </p:txBody>
      </p:sp>
      <p:sp>
        <p:nvSpPr>
          <p:cNvPr id="22531" name="内容占位符 2"/>
          <p:cNvSpPr>
            <a:spLocks noGrp="1"/>
          </p:cNvSpPr>
          <p:nvPr>
            <p:ph idx="1"/>
          </p:nvPr>
        </p:nvSpPr>
        <p:spPr>
          <a:xfrm>
            <a:off x="468630" y="1125855"/>
            <a:ext cx="8229600" cy="5255895"/>
          </a:xfrm>
        </p:spPr>
        <p:txBody>
          <a:bodyPr vert="horz" wrap="square" lIns="91440" tIns="45720" rIns="91440" bIns="45720" anchor="t"/>
          <a:lstStyle/>
          <a:p>
            <a:pPr lvl="0">
              <a:lnSpc>
                <a:spcPct val="110000"/>
              </a:lnSpc>
            </a:pPr>
            <a:r>
              <a:rPr lang="zh-CN" altLang="en-US" sz="2800" b="1" dirty="0">
                <a:ea typeface="宋体" panose="02010600030101010101" pitchFamily="2" charset="-122"/>
              </a:rPr>
              <a:t>每个类的职责可以通过属性和行为来体现。确定类的职责应该遵循下述</a:t>
            </a:r>
            <a:r>
              <a:rPr lang="en-US" altLang="zh-CN" sz="2800" b="1" dirty="0">
                <a:ea typeface="宋体" panose="02010600030101010101" pitchFamily="2" charset="-122"/>
              </a:rPr>
              <a:t>4</a:t>
            </a:r>
            <a:r>
              <a:rPr lang="zh-CN" altLang="en-US" sz="2800" b="1" dirty="0">
                <a:ea typeface="宋体" panose="02010600030101010101" pitchFamily="2" charset="-122"/>
              </a:rPr>
              <a:t>条原则：</a:t>
            </a:r>
            <a:endParaRPr lang="zh-CN" altLang="en-US" sz="2800" b="1" dirty="0">
              <a:ea typeface="宋体" panose="02010600030101010101" pitchFamily="2" charset="-122"/>
            </a:endParaRPr>
          </a:p>
          <a:p>
            <a:pPr lvl="0">
              <a:lnSpc>
                <a:spcPct val="110000"/>
              </a:lnSpc>
              <a:buNone/>
            </a:pPr>
            <a:r>
              <a:rPr lang="en-US" altLang="zh-CN" sz="2400" b="1" dirty="0">
                <a:ea typeface="宋体" panose="02010600030101010101" pitchFamily="2" charset="-122"/>
              </a:rPr>
              <a:t>1</a:t>
            </a:r>
            <a:r>
              <a:rPr lang="zh-CN" altLang="en-US" sz="2400" b="1" dirty="0">
                <a:ea typeface="宋体" panose="02010600030101010101" pitchFamily="2" charset="-122"/>
              </a:rPr>
              <a:t>）系统包含的所有职责，即系统要完成的功能，应该均匀地分担到每个类中，避免出现某些类的职责过度而另外一些类的职责过少的现象；</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2</a:t>
            </a:r>
            <a:r>
              <a:rPr lang="zh-CN" altLang="en-US" sz="2400" b="1" dirty="0">
                <a:ea typeface="宋体" panose="02010600030101010101" pitchFamily="2" charset="-122"/>
              </a:rPr>
              <a:t>）应该尽可能地概括描述类的每个职责，即一般性的职责应该放置在较高层次的类中描述；</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3</a:t>
            </a:r>
            <a:r>
              <a:rPr lang="zh-CN" altLang="en-US" sz="2400" b="1" dirty="0">
                <a:ea typeface="宋体" panose="02010600030101010101" pitchFamily="2" charset="-122"/>
              </a:rPr>
              <a:t>）反应一个事物的信息应该放在一个类中，属性记录的信息与相关的；</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4</a:t>
            </a:r>
            <a:r>
              <a:rPr lang="zh-CN" altLang="en-US" sz="2400" b="1" dirty="0">
                <a:ea typeface="宋体" panose="02010600030101010101" pitchFamily="2" charset="-122"/>
              </a:rPr>
              <a:t>）在相关类之间共享职责。</a:t>
            </a:r>
            <a:endParaRPr lang="zh-CN" altLang="en-US" sz="2400" b="1" dirty="0">
              <a:ea typeface="宋体" panose="02010600030101010101" pitchFamily="2" charset="-122"/>
            </a:endParaRPr>
          </a:p>
          <a:p>
            <a:pPr lvl="0">
              <a:lnSpc>
                <a:spcPct val="110000"/>
              </a:lnSpc>
              <a:buNone/>
            </a:pP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548130" y="189230"/>
            <a:ext cx="6119495" cy="563245"/>
          </a:xfrm>
        </p:spPr>
        <p:txBody>
          <a:bodyPr vert="horz" wrap="square" lIns="91440" tIns="45720" rIns="91440" bIns="45720" anchor="ctr"/>
          <a:lstStyle/>
          <a:p>
            <a:r>
              <a:rPr lang="en-US" altLang="zh-CN" sz="3000" dirty="0">
                <a:solidFill>
                  <a:srgbClr val="0070C0"/>
                </a:solidFill>
                <a:ea typeface="宋体" panose="02010600030101010101" pitchFamily="2" charset="-122"/>
              </a:rPr>
              <a:t>4</a:t>
            </a:r>
            <a:r>
              <a:rPr lang="zh-CN" altLang="en-US" sz="3000" dirty="0">
                <a:solidFill>
                  <a:srgbClr val="0070C0"/>
                </a:solidFill>
                <a:ea typeface="宋体" panose="02010600030101010101" pitchFamily="2" charset="-122"/>
              </a:rPr>
              <a:t>、确定对象类之间的关系</a:t>
            </a:r>
            <a:endParaRPr lang="zh-CN" altLang="en-US" sz="3000" dirty="0">
              <a:solidFill>
                <a:srgbClr val="0070C0"/>
              </a:solidFill>
              <a:ea typeface="宋体" panose="02010600030101010101" pitchFamily="2" charset="-122"/>
            </a:endParaRPr>
          </a:p>
        </p:txBody>
      </p:sp>
      <p:sp>
        <p:nvSpPr>
          <p:cNvPr id="23555" name="内容占位符 2"/>
          <p:cNvSpPr>
            <a:spLocks noGrp="1"/>
          </p:cNvSpPr>
          <p:nvPr>
            <p:ph idx="1"/>
          </p:nvPr>
        </p:nvSpPr>
        <p:spPr>
          <a:xfrm>
            <a:off x="179705" y="1052830"/>
            <a:ext cx="8445500" cy="5255895"/>
          </a:xfrm>
        </p:spPr>
        <p:txBody>
          <a:bodyPr vert="horz" wrap="square" lIns="91440" tIns="45720" rIns="91440" bIns="45720" anchor="t"/>
          <a:lstStyle/>
          <a:p>
            <a:pPr lvl="0">
              <a:lnSpc>
                <a:spcPct val="110000"/>
              </a:lnSpc>
              <a:buNone/>
            </a:pPr>
            <a:r>
              <a:rPr lang="zh-CN" altLang="en-US" sz="2400" b="1" dirty="0">
                <a:ea typeface="宋体" panose="02010600030101010101" pitchFamily="2" charset="-122"/>
              </a:rPr>
              <a:t>         在确定了对象类之后，就应该进一步确定类之间的关系。通常，类之间的基本关系可以分为</a:t>
            </a:r>
            <a:r>
              <a:rPr lang="zh-CN" altLang="en-US" sz="2400" b="1" dirty="0">
                <a:solidFill>
                  <a:srgbClr val="FF33CC"/>
                </a:solidFill>
                <a:ea typeface="宋体" panose="02010600030101010101" pitchFamily="2" charset="-122"/>
              </a:rPr>
              <a:t>继承、聚合</a:t>
            </a:r>
            <a:r>
              <a:rPr lang="zh-CN" altLang="en-US" sz="2400" b="1" dirty="0">
                <a:ea typeface="宋体" panose="02010600030101010101" pitchFamily="2" charset="-122"/>
              </a:rPr>
              <a:t>和</a:t>
            </a:r>
            <a:r>
              <a:rPr lang="zh-CN" altLang="en-US" sz="2400" b="1" dirty="0">
                <a:solidFill>
                  <a:srgbClr val="FF33CC"/>
                </a:solidFill>
                <a:ea typeface="宋体" panose="02010600030101010101" pitchFamily="2" charset="-122"/>
              </a:rPr>
              <a:t>关联</a:t>
            </a:r>
            <a:r>
              <a:rPr lang="zh-CN" altLang="en-US" sz="2400" b="1" dirty="0">
                <a:ea typeface="宋体" panose="02010600030101010101" pitchFamily="2" charset="-122"/>
              </a:rPr>
              <a:t>。</a:t>
            </a:r>
            <a:endParaRPr lang="zh-CN" altLang="en-US" sz="2400" b="1" dirty="0">
              <a:ea typeface="宋体" panose="02010600030101010101" pitchFamily="2" charset="-122"/>
            </a:endParaRPr>
          </a:p>
          <a:p>
            <a:pPr lvl="0">
              <a:lnSpc>
                <a:spcPct val="110000"/>
              </a:lnSpc>
            </a:pPr>
            <a:r>
              <a:rPr lang="zh-CN" altLang="en-US" sz="2400" b="1" dirty="0">
                <a:solidFill>
                  <a:srgbClr val="FF33CC"/>
                </a:solidFill>
                <a:ea typeface="宋体" panose="02010600030101010101" pitchFamily="2" charset="-122"/>
              </a:rPr>
              <a:t>继承关系</a:t>
            </a:r>
            <a:r>
              <a:rPr lang="zh-CN" altLang="en-US" sz="2400" b="1" dirty="0">
                <a:ea typeface="宋体" panose="02010600030101010101" pitchFamily="2" charset="-122"/>
              </a:rPr>
              <a:t>表示两个类之间存在“</a:t>
            </a:r>
            <a:r>
              <a:rPr lang="en-US" altLang="zh-CN" sz="2400" b="1" dirty="0">
                <a:ea typeface="宋体" panose="02010600030101010101" pitchFamily="2" charset="-122"/>
              </a:rPr>
              <a:t>is a kind of”</a:t>
            </a:r>
            <a:r>
              <a:rPr lang="zh-CN" altLang="en-US" sz="2400" b="1" dirty="0">
                <a:ea typeface="宋体" panose="02010600030101010101" pitchFamily="2" charset="-122"/>
              </a:rPr>
              <a:t>、“ </a:t>
            </a:r>
            <a:r>
              <a:rPr lang="en-US" altLang="zh-CN" sz="2400" b="1" dirty="0">
                <a:ea typeface="宋体" panose="02010600030101010101" pitchFamily="2" charset="-122"/>
              </a:rPr>
              <a:t>is a”</a:t>
            </a:r>
            <a:r>
              <a:rPr lang="zh-CN" altLang="en-US" sz="2400" b="1" dirty="0">
                <a:ea typeface="宋体" panose="02010600030101010101" pitchFamily="2" charset="-122"/>
              </a:rPr>
              <a:t>，“ </a:t>
            </a:r>
            <a:r>
              <a:rPr lang="en-US" altLang="zh-CN" sz="2400" b="1" dirty="0">
                <a:ea typeface="宋体" panose="02010600030101010101" pitchFamily="2" charset="-122"/>
              </a:rPr>
              <a:t>is like”</a:t>
            </a:r>
            <a:r>
              <a:rPr lang="zh-CN" altLang="en-US" sz="2400" b="1" dirty="0">
                <a:ea typeface="宋体" panose="02010600030101010101" pitchFamily="2" charset="-122"/>
              </a:rPr>
              <a:t>关系，即“是一种”关系。继承构成了类之间的层次结构。</a:t>
            </a:r>
            <a:endParaRPr lang="zh-CN" altLang="en-US" sz="2400" b="1" dirty="0">
              <a:ea typeface="宋体" panose="02010600030101010101" pitchFamily="2" charset="-122"/>
            </a:endParaRPr>
          </a:p>
          <a:p>
            <a:pPr lvl="0">
              <a:lnSpc>
                <a:spcPct val="110000"/>
              </a:lnSpc>
            </a:pPr>
            <a:r>
              <a:rPr lang="zh-CN" altLang="en-US" sz="2400" b="1" dirty="0">
                <a:solidFill>
                  <a:srgbClr val="FF33CC"/>
                </a:solidFill>
                <a:ea typeface="宋体" panose="02010600030101010101" pitchFamily="2" charset="-122"/>
              </a:rPr>
              <a:t>聚合关系</a:t>
            </a:r>
            <a:r>
              <a:rPr lang="zh-CN" altLang="en-US" sz="2400" b="1" dirty="0">
                <a:ea typeface="宋体" panose="02010600030101010101" pitchFamily="2" charset="-122"/>
              </a:rPr>
              <a:t>标识的是类之间存在一种“是什么的一部分”、“包括什么”的关系。</a:t>
            </a:r>
            <a:endParaRPr lang="zh-CN" altLang="en-US" sz="2400" b="1" dirty="0">
              <a:ea typeface="宋体" panose="02010600030101010101" pitchFamily="2" charset="-122"/>
            </a:endParaRPr>
          </a:p>
          <a:p>
            <a:pPr lvl="0">
              <a:lnSpc>
                <a:spcPct val="110000"/>
              </a:lnSpc>
            </a:pPr>
            <a:r>
              <a:rPr lang="zh-CN" altLang="en-US" sz="2400" b="1" dirty="0">
                <a:solidFill>
                  <a:srgbClr val="FF33CC"/>
                </a:solidFill>
                <a:ea typeface="宋体" panose="02010600030101010101" pitchFamily="2" charset="-122"/>
              </a:rPr>
              <a:t>关联关系</a:t>
            </a:r>
            <a:r>
              <a:rPr lang="zh-CN" altLang="en-US" sz="2400" b="1" dirty="0">
                <a:ea typeface="宋体" panose="02010600030101010101" pitchFamily="2" charset="-122"/>
              </a:rPr>
              <a:t>表示类对象之间的协作关系，当一个类对象在完成某项职责过程中需要其他类对象的协作时，找个两个对象类之间就存在关联。</a:t>
            </a: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548130" y="189230"/>
            <a:ext cx="6119495" cy="563245"/>
          </a:xfrm>
        </p:spPr>
        <p:txBody>
          <a:bodyPr vert="horz" wrap="square" lIns="91440" tIns="45720" rIns="91440" bIns="45720" anchor="ctr"/>
          <a:lstStyle/>
          <a:p>
            <a:r>
              <a:rPr lang="en-US" altLang="zh-CN" sz="3000" dirty="0">
                <a:solidFill>
                  <a:srgbClr val="0070C0"/>
                </a:solidFill>
                <a:ea typeface="宋体" panose="02010600030101010101" pitchFamily="2" charset="-122"/>
              </a:rPr>
              <a:t>5</a:t>
            </a:r>
            <a:r>
              <a:rPr lang="zh-CN" altLang="en-US" sz="3000" dirty="0">
                <a:solidFill>
                  <a:srgbClr val="0070C0"/>
                </a:solidFill>
                <a:ea typeface="宋体" panose="02010600030101010101" pitchFamily="2" charset="-122"/>
              </a:rPr>
              <a:t>、确定动态行为模型</a:t>
            </a:r>
            <a:endParaRPr lang="zh-CN" altLang="en-US" sz="3000" dirty="0">
              <a:solidFill>
                <a:srgbClr val="0070C0"/>
              </a:solidFill>
              <a:ea typeface="宋体" panose="02010600030101010101" pitchFamily="2" charset="-122"/>
            </a:endParaRPr>
          </a:p>
        </p:txBody>
      </p:sp>
      <p:sp>
        <p:nvSpPr>
          <p:cNvPr id="24579" name="内容占位符 2"/>
          <p:cNvSpPr>
            <a:spLocks noGrp="1"/>
          </p:cNvSpPr>
          <p:nvPr>
            <p:ph idx="1"/>
          </p:nvPr>
        </p:nvSpPr>
        <p:spPr>
          <a:xfrm>
            <a:off x="179705" y="1052830"/>
            <a:ext cx="8445500" cy="5255895"/>
          </a:xfrm>
        </p:spPr>
        <p:txBody>
          <a:bodyPr vert="horz" wrap="square" lIns="91440" tIns="45720" rIns="91440" bIns="45720" anchor="t"/>
          <a:lstStyle/>
          <a:p>
            <a:pPr lvl="0">
              <a:lnSpc>
                <a:spcPct val="110000"/>
              </a:lnSpc>
              <a:buNone/>
            </a:pPr>
            <a:r>
              <a:rPr lang="zh-CN" altLang="en-US" sz="2400" b="1" dirty="0">
                <a:ea typeface="宋体" panose="02010600030101010101" pitchFamily="2" charset="-122"/>
              </a:rPr>
              <a:t>         动态行为模型用来描述系统中对象的合法状态和交互序列，包括两个方面的内容：一是对内部状态行为和自身的生命周期演化过程；二是系统中对象之间的交互和协同工作。</a:t>
            </a:r>
            <a:endParaRPr lang="zh-CN" altLang="en-US" sz="2400" b="1" dirty="0">
              <a:ea typeface="宋体" panose="02010600030101010101" pitchFamily="2" charset="-122"/>
            </a:endParaRPr>
          </a:p>
          <a:p>
            <a:pPr lvl="0">
              <a:lnSpc>
                <a:spcPct val="110000"/>
              </a:lnSpc>
            </a:pPr>
            <a:r>
              <a:rPr lang="zh-CN" altLang="en-US" sz="2400" b="1" dirty="0">
                <a:ea typeface="宋体" panose="02010600030101010101" pitchFamily="2" charset="-122"/>
              </a:rPr>
              <a:t>系统中对象之间的交互和协同工作通过</a:t>
            </a:r>
            <a:r>
              <a:rPr lang="zh-CN" altLang="en-US" sz="2400" b="1" dirty="0">
                <a:solidFill>
                  <a:srgbClr val="FF33CC"/>
                </a:solidFill>
                <a:ea typeface="宋体" panose="02010600030101010101" pitchFamily="2" charset="-122"/>
              </a:rPr>
              <a:t>事件交互图（事件序列图</a:t>
            </a:r>
            <a:r>
              <a:rPr lang="zh-CN" altLang="en-US" sz="2400" b="1" dirty="0">
                <a:ea typeface="宋体" panose="02010600030101010101" pitchFamily="2" charset="-122"/>
              </a:rPr>
              <a:t>）模型来描述。</a:t>
            </a: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1548130" y="189230"/>
            <a:ext cx="6119495" cy="563245"/>
          </a:xfrm>
        </p:spPr>
        <p:txBody>
          <a:bodyPr vert="horz" wrap="square" lIns="91440" tIns="45720" rIns="91440" bIns="45720" anchor="ctr"/>
          <a:lstStyle/>
          <a:p>
            <a:r>
              <a:rPr lang="en-US" altLang="zh-CN" sz="3000" dirty="0">
                <a:solidFill>
                  <a:srgbClr val="0070C0"/>
                </a:solidFill>
                <a:ea typeface="宋体" panose="02010600030101010101" pitchFamily="2" charset="-122"/>
              </a:rPr>
              <a:t>6</a:t>
            </a:r>
            <a:r>
              <a:rPr lang="zh-CN" altLang="en-US" sz="3000" dirty="0">
                <a:solidFill>
                  <a:srgbClr val="0070C0"/>
                </a:solidFill>
                <a:ea typeface="宋体" panose="02010600030101010101" pitchFamily="2" charset="-122"/>
              </a:rPr>
              <a:t>、确定用户界面需求</a:t>
            </a:r>
            <a:endParaRPr lang="zh-CN" altLang="en-US" sz="3000" dirty="0">
              <a:solidFill>
                <a:srgbClr val="0070C0"/>
              </a:solidFill>
              <a:ea typeface="宋体" panose="02010600030101010101" pitchFamily="2" charset="-122"/>
            </a:endParaRPr>
          </a:p>
        </p:txBody>
      </p:sp>
      <p:sp>
        <p:nvSpPr>
          <p:cNvPr id="25603" name="内容占位符 2"/>
          <p:cNvSpPr>
            <a:spLocks noGrp="1"/>
          </p:cNvSpPr>
          <p:nvPr>
            <p:ph idx="1"/>
          </p:nvPr>
        </p:nvSpPr>
        <p:spPr>
          <a:xfrm>
            <a:off x="179705" y="1052830"/>
            <a:ext cx="8445500" cy="5255895"/>
          </a:xfrm>
        </p:spPr>
        <p:txBody>
          <a:bodyPr vert="horz" wrap="square" lIns="91440" tIns="45720" rIns="91440" bIns="45720" anchor="t"/>
          <a:lstStyle/>
          <a:p>
            <a:pPr lvl="0">
              <a:lnSpc>
                <a:spcPct val="110000"/>
              </a:lnSpc>
            </a:pPr>
            <a:r>
              <a:rPr lang="zh-CN" altLang="en-US" sz="2400" b="1" dirty="0">
                <a:ea typeface="宋体" panose="02010600030101010101" pitchFamily="2" charset="-122"/>
              </a:rPr>
              <a:t>对于图形用户界面来说，界面是系统的重要组成部分，在对系统进行功能分析、需求分析时，和用户确定界面需求是必须的。通过和将来的系统用户进行讨论分析，可以设计出符合用户需求的交互界面。通过用户界面原型来和用户进行沟通是最有效的方式。</a:t>
            </a: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p:cNvSpPr>
          <p:nvPr>
            <p:ph idx="1"/>
          </p:nvPr>
        </p:nvSpPr>
        <p:spPr>
          <a:xfrm>
            <a:off x="539750" y="1628775"/>
            <a:ext cx="8229600" cy="3313430"/>
          </a:xfrm>
        </p:spPr>
        <p:txBody>
          <a:bodyPr vert="horz" wrap="square" lIns="91440" tIns="45720" rIns="91440" bIns="45720" anchor="t"/>
          <a:lstStyle/>
          <a:p>
            <a:pPr lvl="0">
              <a:spcBef>
                <a:spcPts val="1800"/>
              </a:spcBef>
            </a:pPr>
            <a:r>
              <a:rPr lang="zh-CN" altLang="en-US" sz="2400" b="1" dirty="0">
                <a:ea typeface="宋体" panose="02010600030101010101" pitchFamily="2" charset="-122"/>
              </a:rPr>
              <a:t>面向对象分析阶段的主要任务是明确目标系统应该做什么，而</a:t>
            </a:r>
            <a:r>
              <a:rPr lang="zh-CN" altLang="en-US" sz="2400" b="1" dirty="0">
                <a:solidFill>
                  <a:srgbClr val="0070C0"/>
                </a:solidFill>
                <a:ea typeface="宋体" panose="02010600030101010101" pitchFamily="2" charset="-122"/>
              </a:rPr>
              <a:t>面向对象设计阶段的主要任务是确定目标系统应该如何做</a:t>
            </a:r>
            <a:r>
              <a:rPr lang="zh-CN" altLang="en-US" sz="2400" b="1" dirty="0">
                <a:ea typeface="宋体" panose="02010600030101010101" pitchFamily="2" charset="-122"/>
              </a:rPr>
              <a:t>，以实现目标系统的构建，这一阶段关注的焦点是从问题空间过度到解空间。</a:t>
            </a:r>
            <a:endParaRPr lang="zh-CN" altLang="en-US" sz="2400" b="1" dirty="0">
              <a:ea typeface="宋体" panose="02010600030101010101" pitchFamily="2" charset="-122"/>
            </a:endParaRPr>
          </a:p>
          <a:p>
            <a:pPr lvl="0">
              <a:spcBef>
                <a:spcPts val="1800"/>
              </a:spcBef>
            </a:pPr>
            <a:r>
              <a:rPr lang="zh-CN" altLang="en-US" sz="2400" b="1" dirty="0">
                <a:ea typeface="宋体" panose="02010600030101010101" pitchFamily="2" charset="-122"/>
              </a:rPr>
              <a:t>面向对象的设计是确定问题解决方案的过程，主要任务是在面向对象分析模型的基础上，确定系统的体系结构，考虑与系统实现相关的各种因素，进一步完成对象设计。</a:t>
            </a:r>
            <a:endParaRPr lang="zh-CN" altLang="en-US" sz="2400" b="1" dirty="0">
              <a:ea typeface="宋体" panose="02010600030101010101" pitchFamily="2" charset="-122"/>
            </a:endParaRPr>
          </a:p>
        </p:txBody>
      </p:sp>
      <p:sp>
        <p:nvSpPr>
          <p:cNvPr id="5" name="标题 1"/>
          <p:cNvSpPr txBox="1"/>
          <p:nvPr/>
        </p:nvSpPr>
        <p:spPr>
          <a:xfrm>
            <a:off x="1511935" y="249555"/>
            <a:ext cx="6120130" cy="563880"/>
          </a:xfr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ctr" defTabSz="914400" eaLnBrk="1" fontAlgn="base" latinLnBrk="0" hangingPunct="1">
              <a:lnSpc>
                <a:spcPct val="100000"/>
              </a:lnSpc>
              <a:spcBef>
                <a:spcPts val="0"/>
              </a:spcBef>
              <a:spcAft>
                <a:spcPts val="0"/>
              </a:spcAft>
              <a:buFontTx/>
              <a:buNone/>
            </a:pPr>
            <a:r>
              <a:rPr sz="3600" b="0" i="0">
                <a:solidFill>
                  <a:srgbClr val="0070C0"/>
                </a:solidFill>
                <a:latin typeface="黑体" panose="02010609060101010101" charset="-122"/>
                <a:ea typeface="黑体" panose="02010609060101010101" charset="-122"/>
                <a:cs typeface="宋体" panose="02010600030101010101" pitchFamily="2" charset="-122"/>
              </a:rPr>
              <a:t>2.2.2 面向对象的设计</a:t>
            </a:r>
            <a:endParaRPr lang="ko-KR" altLang="en-US" sz="3600" b="0" i="0">
              <a:solidFill>
                <a:srgbClr val="0070C0"/>
              </a:solidFill>
              <a:latin typeface="黑体" panose="02010609060101010101" charset="-122"/>
              <a:ea typeface="黑体" panose="02010609060101010101"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a:xfrm>
            <a:off x="468630" y="1052830"/>
            <a:ext cx="8229600" cy="1512570"/>
          </a:xfrm>
        </p:spPr>
        <p:txBody>
          <a:bodyPr vert="horz" wrap="square" lIns="91440" tIns="45720" rIns="91440" bIns="45720" anchor="t"/>
          <a:lstStyle/>
          <a:p>
            <a:pPr lvl="0">
              <a:spcBef>
                <a:spcPts val="1800"/>
              </a:spcBef>
              <a:buNone/>
            </a:pPr>
            <a:r>
              <a:rPr lang="zh-CN" altLang="en-US" sz="2800" dirty="0">
                <a:latin typeface="黑体" panose="02010609060101010101" charset="-122"/>
                <a:ea typeface="黑体" panose="02010609060101010101" charset="-122"/>
              </a:rPr>
              <a:t>       系统设计过程主要包括系统分解与层次结构设计、系统数据存储设计、任务管理子系统设计和人机交互界面设计四项活动。</a:t>
            </a:r>
            <a:endParaRPr lang="zh-CN" altLang="en-US" sz="2800" dirty="0">
              <a:latin typeface="黑体" panose="02010609060101010101" charset="-122"/>
              <a:ea typeface="黑体" panose="02010609060101010101" charset="-122"/>
            </a:endParaRPr>
          </a:p>
          <a:p>
            <a:pPr lvl="0">
              <a:buNone/>
            </a:pPr>
            <a:endParaRPr lang="zh-CN" altLang="en-US" sz="2800" dirty="0">
              <a:latin typeface="黑体" panose="02010609060101010101" charset="-122"/>
              <a:ea typeface="黑体" panose="02010609060101010101" charset="-122"/>
            </a:endParaRPr>
          </a:p>
        </p:txBody>
      </p:sp>
      <p:sp>
        <p:nvSpPr>
          <p:cNvPr id="27652" name="内容占位符 2"/>
          <p:cNvSpPr/>
          <p:nvPr/>
        </p:nvSpPr>
        <p:spPr>
          <a:xfrm>
            <a:off x="539750" y="2565400"/>
            <a:ext cx="8229600" cy="2303780"/>
          </a:xfrm>
          <a:prstGeom prst="rect">
            <a:avLst/>
          </a:prstGeom>
          <a:noFill/>
          <a:ln w="9525">
            <a:noFill/>
          </a:ln>
        </p:spPr>
        <p:txBody>
          <a:bodyPr/>
          <a:lstStyle/>
          <a:p>
            <a:pPr marL="342900" lvl="0" indent="-342900" eaLnBrk="0" hangingPunct="0">
              <a:spcBef>
                <a:spcPts val="1800"/>
              </a:spcBef>
              <a:buClr>
                <a:schemeClr val="hlink"/>
              </a:buClr>
              <a:buFont typeface="Wingdings" panose="05000000000000000000" pitchFamily="2" charset="2"/>
              <a:buNone/>
            </a:pP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、系统分解与层次结构设计</a:t>
            </a:r>
            <a:endParaRPr lang="zh-CN" altLang="en-US" sz="2800" b="1"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None/>
            </a:pPr>
            <a:r>
              <a:rPr lang="zh-CN" altLang="en-US" sz="2800" dirty="0">
                <a:latin typeface="Arial" panose="020B0604020202020204" pitchFamily="34" charset="0"/>
                <a:ea typeface="宋体" panose="02010600030101010101" pitchFamily="2" charset="-122"/>
              </a:rPr>
              <a:t>       系统分解在系统设计阶段使用的重要手段，通常使用将分析模型划分为若干个子系统的方法对系统进行分解。</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ct val="20000"/>
              </a:spcBef>
              <a:buClr>
                <a:schemeClr val="hlink"/>
              </a:buClr>
              <a:buFont typeface="Wingdings" panose="05000000000000000000" pitchFamily="2" charset="2"/>
              <a:buChar char="v"/>
            </a:pPr>
            <a:endParaRPr lang="zh-CN" altLang="en-US" sz="2800" dirty="0">
              <a:latin typeface="Arial" panose="020B0604020202020204" pitchFamily="34" charset="0"/>
              <a:ea typeface="宋体" panose="02010600030101010101" pitchFamily="2" charset="-122"/>
            </a:endParaRPr>
          </a:p>
        </p:txBody>
      </p:sp>
      <p:sp>
        <p:nvSpPr>
          <p:cNvPr id="5" name="标题 1"/>
          <p:cNvSpPr txBox="1"/>
          <p:nvPr/>
        </p:nvSpPr>
        <p:spPr>
          <a:xfrm>
            <a:off x="1303655" y="314960"/>
            <a:ext cx="6119495" cy="563245"/>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zh-CN" altLang="en-US" dirty="0">
                <a:ea typeface="宋体" panose="02010600030101010101" pitchFamily="2" charset="-122"/>
              </a:rPr>
              <a:t>一、</a:t>
            </a:r>
            <a:r>
              <a:rPr lang="en-US" altLang="zh-CN" dirty="0">
                <a:ea typeface="宋体" panose="02010600030101010101" pitchFamily="2" charset="-122"/>
              </a:rPr>
              <a:t> </a:t>
            </a:r>
            <a:r>
              <a:rPr lang="zh-CN" altLang="en-US" dirty="0">
                <a:ea typeface="宋体" panose="02010600030101010101" pitchFamily="2" charset="-122"/>
              </a:rPr>
              <a:t>系统设计</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p:nvPr/>
        </p:nvSpPr>
        <p:spPr>
          <a:xfrm>
            <a:off x="539750" y="1196975"/>
            <a:ext cx="8229600" cy="2808605"/>
          </a:xfrm>
          <a:prstGeom prst="rect">
            <a:avLst/>
          </a:prstGeom>
          <a:noFill/>
          <a:ln w="9525">
            <a:noFill/>
          </a:ln>
        </p:spPr>
        <p:txBody>
          <a:bodyPr/>
          <a:lstStyle/>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保持每个子系统的相对独立，减少子系统之间的依赖性。</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子系统要定义良好的接口，通过接口与系统的其余部分进行通信。</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划分的子系统数量不宜太多。</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ct val="20000"/>
              </a:spcBef>
              <a:buClr>
                <a:schemeClr val="hlink"/>
              </a:buClr>
              <a:buFont typeface="Wingdings" panose="05000000000000000000" pitchFamily="2" charset="2"/>
              <a:buChar char="v"/>
            </a:pPr>
            <a:endParaRPr lang="zh-CN" altLang="en-US" sz="2800" dirty="0">
              <a:latin typeface="Arial" panose="020B0604020202020204" pitchFamily="34" charset="0"/>
              <a:ea typeface="宋体" panose="02010600030101010101" pitchFamily="2" charset="-122"/>
            </a:endParaRPr>
          </a:p>
        </p:txBody>
      </p:sp>
      <p:sp>
        <p:nvSpPr>
          <p:cNvPr id="4" name="标题 1"/>
          <p:cNvSpPr txBox="1"/>
          <p:nvPr/>
        </p:nvSpPr>
        <p:spPr>
          <a:xfrm>
            <a:off x="1594485" y="325120"/>
            <a:ext cx="6120130" cy="563880"/>
          </a:xfr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000" b="0" i="0">
                <a:solidFill>
                  <a:srgbClr val="0070C0"/>
                </a:solidFill>
                <a:latin typeface="微软雅黑" panose="020B0503020204020204" charset="-122"/>
                <a:ea typeface="微软雅黑" panose="020B0503020204020204" charset="-122"/>
              </a:rPr>
              <a:t>子系统设计遵循的原则</a:t>
            </a:r>
            <a:endParaRPr lang="ko-KR" altLang="en-US" sz="3000" b="0" i="0">
              <a:solidFill>
                <a:srgbClr val="0070C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p:nvPr/>
        </p:nvSpPr>
        <p:spPr>
          <a:xfrm>
            <a:off x="395605" y="1125855"/>
            <a:ext cx="8229600" cy="4824095"/>
          </a:xfrm>
          <a:prstGeom prst="rect">
            <a:avLst/>
          </a:prstGeom>
          <a:noFill/>
          <a:ln w="9525">
            <a:noFill/>
          </a:ln>
        </p:spPr>
        <p:txBody>
          <a:bodyPr/>
          <a:lstStyle/>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有助于把复杂的问题按功能分解，使整体设计更为清晰。</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使得业务逻辑层和数据存储层受到有效控制，只有用户界面曾对外界公开。</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每一个层次可以方便地实现服用。</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ts val="18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底层通过接口为上层提供服务，只要给上层提供的接口保持不变，每一个层次可以独立变化，不会影响其他层次。</a:t>
            </a:r>
            <a:endParaRPr lang="zh-CN" altLang="en-US" sz="2800" dirty="0">
              <a:latin typeface="Arial" panose="020B0604020202020204" pitchFamily="34" charset="0"/>
              <a:ea typeface="宋体" panose="02010600030101010101" pitchFamily="2" charset="-122"/>
            </a:endParaRPr>
          </a:p>
          <a:p>
            <a:pPr marL="342900" lvl="0" indent="-342900" eaLnBrk="0" hangingPunct="0">
              <a:spcBef>
                <a:spcPct val="20000"/>
              </a:spcBef>
              <a:buClr>
                <a:schemeClr val="hlink"/>
              </a:buClr>
              <a:buFont typeface="Wingdings" panose="05000000000000000000" pitchFamily="2" charset="2"/>
              <a:buChar char="v"/>
            </a:pPr>
            <a:endParaRPr lang="zh-CN" altLang="en-US" sz="2800" dirty="0">
              <a:latin typeface="Arial" panose="020B0604020202020204" pitchFamily="34" charset="0"/>
              <a:ea typeface="宋体" panose="02010600030101010101" pitchFamily="2" charset="-122"/>
            </a:endParaRPr>
          </a:p>
        </p:txBody>
      </p:sp>
      <p:sp>
        <p:nvSpPr>
          <p:cNvPr id="4" name="标题 1"/>
          <p:cNvSpPr txBox="1"/>
          <p:nvPr/>
        </p:nvSpPr>
        <p:spPr>
          <a:xfrm>
            <a:off x="1603375" y="157480"/>
            <a:ext cx="6120130" cy="563880"/>
          </a:xfr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000" b="0" i="0">
                <a:solidFill>
                  <a:srgbClr val="0070C0"/>
                </a:solidFill>
                <a:latin typeface="微软雅黑" panose="020B0503020204020204" charset="-122"/>
                <a:ea typeface="微软雅黑" panose="020B0503020204020204" charset="-122"/>
              </a:rPr>
              <a:t>将系统按不同层次组织的优点</a:t>
            </a:r>
            <a:endParaRPr lang="ko-KR" altLang="en-US" sz="3000" b="0" i="0">
              <a:solidFill>
                <a:srgbClr val="0070C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468630" y="1125855"/>
            <a:ext cx="8229600" cy="5255895"/>
          </a:xfrm>
        </p:spPr>
        <p:txBody>
          <a:bodyPr vert="horz" wrap="square" lIns="91440" tIns="45720" rIns="91440" bIns="45720" anchor="t"/>
          <a:lstStyle/>
          <a:p>
            <a:pPr lvl="0"/>
            <a:r>
              <a:rPr lang="zh-CN" altLang="en-US" sz="2800" b="1" dirty="0">
                <a:ea typeface="宋体" panose="02010600030101010101" pitchFamily="2" charset="-122"/>
              </a:rPr>
              <a:t>每一个应用系统多需要解决对象数据的存储和检索问题。通常，在面向对象的设计中采用专门的数据存储管理部分来实现这些底层需求。</a:t>
            </a:r>
            <a:endParaRPr lang="zh-CN" altLang="en-US" sz="2800" b="1" dirty="0">
              <a:ea typeface="宋体" panose="02010600030101010101" pitchFamily="2" charset="-122"/>
            </a:endParaRPr>
          </a:p>
          <a:p>
            <a:pPr lvl="0"/>
            <a:r>
              <a:rPr lang="zh-CN" altLang="en-US" sz="2800" b="1" dirty="0">
                <a:ea typeface="宋体" panose="02010600030101010101" pitchFamily="2" charset="-122"/>
              </a:rPr>
              <a:t>数据存储管理部分提供了数据对象在系统中存储和检索的基本结构，它的作用是将目标系统中依赖预开发平台的数据存取部分与其他功能分隔开，是数据存取可以通过一般的数据管理系统实现，是系统维护更加方便。</a:t>
            </a:r>
            <a:endParaRPr lang="zh-CN" altLang="en-US" sz="2800" b="1" dirty="0">
              <a:ea typeface="宋体" panose="02010600030101010101" pitchFamily="2" charset="-122"/>
            </a:endParaRPr>
          </a:p>
          <a:p>
            <a:pPr lvl="0"/>
            <a:r>
              <a:rPr lang="zh-CN" altLang="en-US" sz="2800" b="1" dirty="0">
                <a:ea typeface="宋体" panose="02010600030101010101" pitchFamily="2" charset="-122"/>
              </a:rPr>
              <a:t>设计人员根据系统的需要选择合适的数据管理机制来设计数据存储管理子系统。</a:t>
            </a:r>
            <a:endParaRPr lang="zh-CN" altLang="en-US" sz="2800" b="1" dirty="0">
              <a:ea typeface="宋体" panose="02010600030101010101" pitchFamily="2" charset="-122"/>
            </a:endParaRPr>
          </a:p>
        </p:txBody>
      </p:sp>
      <p:sp>
        <p:nvSpPr>
          <p:cNvPr id="4" name="标题 1"/>
          <p:cNvSpPr txBox="1"/>
          <p:nvPr/>
        </p:nvSpPr>
        <p:spPr>
          <a:xfrm>
            <a:off x="1902460" y="265430"/>
            <a:ext cx="6120130" cy="563880"/>
          </a:xfrm>
          <a:prstGeom prst="rect">
            <a:avLst/>
          </a:prstGeom>
        </p:spPr>
        <p:txBody>
          <a:bodyPr vert="horz" wrap="square" lIns="91440" tIns="45720" rIns="91440" bIns="45720" numCol="1" anchor="ctr">
            <a:noAutofit/>
          </a:bodyPr>
          <a:lstStyle>
            <a:lvl1pPr marL="0" indent="0" algn="ctr" defTabSz="508000" eaLnBrk="0" fontAlgn="base" hangingPunct="0">
              <a:lnSpc>
                <a:spcPct val="100000"/>
              </a:lnSpc>
              <a:spcBef>
                <a:spcPts val="0"/>
              </a:spcBef>
              <a:spcAft>
                <a:spcPts val="0"/>
              </a:spcAft>
              <a:buFontTx/>
              <a:buNone/>
              <a:defRPr lang="en-GB" altLang="en-US" sz="3200" b="1">
                <a:solidFill>
                  <a:schemeClr val="tx2"/>
                </a:solidFill>
                <a:latin typeface="+mj-lt"/>
                <a:ea typeface="+mj-ea"/>
                <a:cs typeface="+mj-cs"/>
              </a:defRPr>
            </a:lvl1pPr>
            <a:lvl2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2pPr>
            <a:lvl3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3pPr>
            <a:lvl4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4pPr>
            <a:lvl5pPr marL="0" indent="0" algn="ctr" defTabSz="508000" eaLnBrk="0" fontAlgn="base" hangingPunct="0">
              <a:lnSpc>
                <a:spcPct val="100000"/>
              </a:lnSpc>
              <a:spcBef>
                <a:spcPts val="0"/>
              </a:spcBef>
              <a:spcAft>
                <a:spcPts val="0"/>
              </a:spcAft>
              <a:buFontTx/>
              <a:buNone/>
              <a:defRPr lang="en-GB" altLang="en-US" sz="3200" b="1">
                <a:solidFill>
                  <a:schemeClr val="tx2"/>
                </a:solidFill>
                <a:latin typeface="Verdana" panose="020B0604030504040204" pitchFamily="34" charset="0"/>
              </a:defRPr>
            </a:lvl5pPr>
            <a:lvl6pPr marL="4572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6pPr>
            <a:lvl7pPr marL="9144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7pPr>
            <a:lvl8pPr marL="13716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8pPr>
            <a:lvl9pPr marL="1828800" indent="0" algn="l" defTabSz="508000" eaLnBrk="1" fontAlgn="base" hangingPunct="1">
              <a:lnSpc>
                <a:spcPct val="100000"/>
              </a:lnSpc>
              <a:spcBef>
                <a:spcPts val="0"/>
              </a:spcBef>
              <a:spcAft>
                <a:spcPts val="0"/>
              </a:spcAft>
              <a:buFontTx/>
              <a:buNone/>
              <a:defRPr lang="en-GB" altLang="en-US" sz="3200" b="1">
                <a:solidFill>
                  <a:schemeClr val="bg1"/>
                </a:solidFill>
                <a:latin typeface="Verdana" panose="020B0604030504040204" pitchFamily="34" charset="0"/>
              </a:defRPr>
            </a:lvl9pPr>
          </a:lstStyle>
          <a:p>
            <a:pPr marL="0" indent="0" algn="l" defTabSz="914400" eaLnBrk="1" fontAlgn="base" latinLnBrk="0" hangingPunct="1">
              <a:lnSpc>
                <a:spcPct val="100000"/>
              </a:lnSpc>
              <a:spcBef>
                <a:spcPts val="0"/>
              </a:spcBef>
              <a:spcAft>
                <a:spcPts val="0"/>
              </a:spcAft>
              <a:buFontTx/>
              <a:buNone/>
            </a:pPr>
            <a:r>
              <a:rPr sz="3000" b="0" i="0">
                <a:solidFill>
                  <a:srgbClr val="0070C0"/>
                </a:solidFill>
                <a:latin typeface="微软雅黑" panose="020B0503020204020204" charset="-122"/>
                <a:ea typeface="微软雅黑" panose="020B0503020204020204" charset="-122"/>
              </a:rPr>
              <a:t>2、系统数据存储设计</a:t>
            </a:r>
            <a:endParaRPr lang="ko-KR" altLang="en-US" sz="3000" b="0" i="0">
              <a:solidFill>
                <a:srgbClr val="0070C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a:xfrm>
            <a:off x="468630" y="1125855"/>
            <a:ext cx="8229600" cy="5255895"/>
          </a:xfrm>
        </p:spPr>
        <p:txBody>
          <a:bodyPr vert="horz" wrap="square" lIns="91440" tIns="45720" rIns="91440" bIns="45720" anchor="t"/>
          <a:lstStyle/>
          <a:p>
            <a:pPr lvl="0">
              <a:lnSpc>
                <a:spcPct val="120000"/>
              </a:lnSpc>
            </a:pPr>
            <a:r>
              <a:rPr lang="zh-CN" altLang="en-US" sz="2800" b="1" dirty="0">
                <a:ea typeface="宋体" panose="02010600030101010101" pitchFamily="2" charset="-122"/>
              </a:rPr>
              <a:t>在面向对象的设计中，任务管理部分复杂设计管理并发行为的策略和控制驱动机制。任务管理设计首先根据对象的动态行为模型分析并定义系统的并发性，并通过识别和建立控制流程来设计面向对象系统的任务，选择软件实现的控制方法。</a:t>
            </a:r>
            <a:endParaRPr lang="zh-CN" altLang="en-US" sz="2800" b="1" dirty="0">
              <a:ea typeface="宋体" panose="02010600030101010101" pitchFamily="2" charset="-122"/>
            </a:endParaRPr>
          </a:p>
          <a:p>
            <a:pPr lvl="0">
              <a:lnSpc>
                <a:spcPct val="120000"/>
              </a:lnSpc>
              <a:buNone/>
            </a:pPr>
            <a:endParaRPr lang="zh-CN" altLang="en-US" sz="2800" b="1" dirty="0">
              <a:ea typeface="宋体" panose="02010600030101010101" pitchFamily="2" charset="-122"/>
            </a:endParaRPr>
          </a:p>
          <a:p>
            <a:pPr lvl="0">
              <a:lnSpc>
                <a:spcPct val="120000"/>
              </a:lnSpc>
              <a:buNone/>
            </a:pPr>
            <a:endParaRPr lang="zh-CN" altLang="en-US" sz="2800" b="1" dirty="0">
              <a:ea typeface="宋体" panose="02010600030101010101" pitchFamily="2" charset="-122"/>
            </a:endParaRPr>
          </a:p>
        </p:txBody>
      </p:sp>
      <p:sp>
        <p:nvSpPr>
          <p:cNvPr id="4" name="标题 1"/>
          <p:cNvSpPr txBox="1"/>
          <p:nvPr/>
        </p:nvSpPr>
        <p:spPr>
          <a:xfrm>
            <a:off x="1548130" y="189230"/>
            <a:ext cx="6119495" cy="563245"/>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en-US" altLang="zh-CN" sz="3000" dirty="0">
                <a:solidFill>
                  <a:srgbClr val="0070C0"/>
                </a:solidFill>
                <a:ea typeface="宋体" panose="02010600030101010101" pitchFamily="2" charset="-122"/>
              </a:rPr>
              <a:t>3</a:t>
            </a:r>
            <a:r>
              <a:rPr lang="zh-CN" altLang="en-US" sz="3000" dirty="0">
                <a:solidFill>
                  <a:srgbClr val="0070C0"/>
                </a:solidFill>
                <a:ea typeface="宋体" panose="02010600030101010101" pitchFamily="2" charset="-122"/>
              </a:rPr>
              <a:t>、任务管理子系统设计</a:t>
            </a:r>
            <a:endParaRPr lang="zh-CN" altLang="en-US" sz="3000" dirty="0">
              <a:solidFill>
                <a:srgbClr val="0070C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548130" y="222250"/>
            <a:ext cx="6119495" cy="563880"/>
          </a:xfrm>
        </p:spPr>
        <p:txBody>
          <a:bodyPr vert="horz" wrap="square" lIns="91440" tIns="45720" rIns="91440" bIns="45720" anchor="ctr"/>
          <a:lstStyle/>
          <a:p>
            <a:r>
              <a:rPr lang="en-US" altLang="zh-CN" sz="3000" dirty="0">
                <a:solidFill>
                  <a:srgbClr val="0070C0"/>
                </a:solidFill>
                <a:ea typeface="宋体" panose="02010600030101010101" pitchFamily="2" charset="-122"/>
              </a:rPr>
              <a:t>4</a:t>
            </a:r>
            <a:r>
              <a:rPr lang="zh-CN" altLang="en-US" sz="3000" dirty="0">
                <a:solidFill>
                  <a:srgbClr val="0070C0"/>
                </a:solidFill>
                <a:ea typeface="宋体" panose="02010600030101010101" pitchFamily="2" charset="-122"/>
              </a:rPr>
              <a:t>、人机交互界面设计</a:t>
            </a:r>
            <a:endParaRPr lang="zh-CN" altLang="en-US" sz="3000" dirty="0">
              <a:solidFill>
                <a:srgbClr val="0070C0"/>
              </a:solidFill>
              <a:ea typeface="宋体" panose="02010600030101010101" pitchFamily="2" charset="-122"/>
            </a:endParaRPr>
          </a:p>
        </p:txBody>
      </p:sp>
      <p:sp>
        <p:nvSpPr>
          <p:cNvPr id="32771" name="内容占位符 2"/>
          <p:cNvSpPr>
            <a:spLocks noGrp="1"/>
          </p:cNvSpPr>
          <p:nvPr>
            <p:ph idx="1"/>
          </p:nvPr>
        </p:nvSpPr>
        <p:spPr>
          <a:xfrm>
            <a:off x="468630" y="1125855"/>
            <a:ext cx="8229600" cy="5255895"/>
          </a:xfrm>
        </p:spPr>
        <p:txBody>
          <a:bodyPr vert="horz" wrap="square" lIns="91440" tIns="45720" rIns="91440" bIns="45720" anchor="t"/>
          <a:lstStyle/>
          <a:p>
            <a:pPr lvl="0">
              <a:lnSpc>
                <a:spcPct val="110000"/>
              </a:lnSpc>
            </a:pPr>
            <a:r>
              <a:rPr lang="zh-CN" altLang="en-US" sz="2800" b="1" dirty="0">
                <a:ea typeface="宋体" panose="02010600030101010101" pitchFamily="2" charset="-122"/>
              </a:rPr>
              <a:t>为了确保用户界面的质量，在进行界面设计中应该遵循下列基本过程和策略：</a:t>
            </a:r>
            <a:endParaRPr lang="zh-CN" altLang="en-US" sz="2800" b="1" dirty="0">
              <a:ea typeface="宋体" panose="02010600030101010101" pitchFamily="2" charset="-122"/>
            </a:endParaRPr>
          </a:p>
          <a:p>
            <a:pPr lvl="0">
              <a:lnSpc>
                <a:spcPct val="110000"/>
              </a:lnSpc>
              <a:buNone/>
            </a:pPr>
            <a:r>
              <a:rPr lang="en-US" altLang="zh-CN" sz="2400" b="1" dirty="0">
                <a:ea typeface="宋体" panose="02010600030101010101" pitchFamily="2" charset="-122"/>
              </a:rPr>
              <a:t>1</a:t>
            </a:r>
            <a:r>
              <a:rPr lang="zh-CN" altLang="en-US" sz="2400" b="1" dirty="0">
                <a:ea typeface="宋体" panose="02010600030101010101" pitchFamily="2" charset="-122"/>
              </a:rPr>
              <a:t>）对用户进行分类并确定人机交互过程。；</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2</a:t>
            </a:r>
            <a:r>
              <a:rPr lang="zh-CN" altLang="en-US" sz="2400" b="1" dirty="0">
                <a:ea typeface="宋体" panose="02010600030101010101" pitchFamily="2" charset="-122"/>
              </a:rPr>
              <a:t>）选择界面支持系统。常用的界面支持系统为可视化编程环境。</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3</a:t>
            </a:r>
            <a:r>
              <a:rPr lang="zh-CN" altLang="en-US" sz="2400" b="1" dirty="0">
                <a:ea typeface="宋体" panose="02010600030101010101" pitchFamily="2" charset="-122"/>
              </a:rPr>
              <a:t>）选择界面元素；</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4</a:t>
            </a:r>
            <a:r>
              <a:rPr lang="zh-CN" altLang="en-US" sz="2400" b="1" dirty="0">
                <a:ea typeface="宋体" panose="02010600030101010101" pitchFamily="2" charset="-122"/>
              </a:rPr>
              <a:t>）界面原型设计；</a:t>
            </a:r>
            <a:endParaRPr lang="zh-CN" altLang="en-US" sz="2400" b="1" dirty="0">
              <a:ea typeface="宋体" panose="02010600030101010101" pitchFamily="2" charset="-122"/>
            </a:endParaRPr>
          </a:p>
          <a:p>
            <a:pPr lvl="0">
              <a:lnSpc>
                <a:spcPct val="110000"/>
              </a:lnSpc>
              <a:buNone/>
            </a:pPr>
            <a:r>
              <a:rPr lang="en-US" altLang="zh-CN" sz="2400" b="1" dirty="0">
                <a:ea typeface="宋体" panose="02010600030101010101" pitchFamily="2" charset="-122"/>
              </a:rPr>
              <a:t>5</a:t>
            </a:r>
            <a:r>
              <a:rPr lang="zh-CN" altLang="en-US" sz="2400" b="1" dirty="0">
                <a:ea typeface="宋体" panose="02010600030101010101" pitchFamily="2" charset="-122"/>
              </a:rPr>
              <a:t>）设计人机交互类对象。</a:t>
            </a:r>
            <a:endParaRPr lang="zh-CN" altLang="en-US" sz="2400" b="1" dirty="0">
              <a:ea typeface="宋体" panose="02010600030101010101" pitchFamily="2" charset="-122"/>
            </a:endParaRPr>
          </a:p>
          <a:p>
            <a:pPr lvl="0">
              <a:lnSpc>
                <a:spcPct val="110000"/>
              </a:lnSpc>
              <a:buNone/>
            </a:pP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548130" y="189230"/>
            <a:ext cx="6119495" cy="563245"/>
          </a:xfrm>
        </p:spPr>
        <p:txBody>
          <a:bodyPr vert="horz" wrap="square" lIns="91440" tIns="45720" rIns="91440" bIns="45720" anchor="ctr"/>
          <a:lstStyle/>
          <a:p>
            <a:pPr lvl="0"/>
            <a:r>
              <a:rPr lang="en-US" altLang="zh-CN" sz="3000" dirty="0">
                <a:ea typeface="宋体" panose="02010600030101010101" pitchFamily="2" charset="-122"/>
              </a:rPr>
              <a:t>2.2.2 </a:t>
            </a:r>
            <a:r>
              <a:rPr lang="zh-CN" altLang="en-US" sz="3000" dirty="0">
                <a:ea typeface="宋体" panose="02010600030101010101" pitchFamily="2" charset="-122"/>
              </a:rPr>
              <a:t>对象设计</a:t>
            </a:r>
            <a:endParaRPr lang="zh-CN" altLang="en-US" sz="3000" dirty="0">
              <a:ea typeface="宋体" panose="02010600030101010101" pitchFamily="2" charset="-122"/>
            </a:endParaRPr>
          </a:p>
        </p:txBody>
      </p:sp>
      <p:sp>
        <p:nvSpPr>
          <p:cNvPr id="33795" name="内容占位符 2"/>
          <p:cNvSpPr>
            <a:spLocks noGrp="1"/>
          </p:cNvSpPr>
          <p:nvPr>
            <p:ph idx="1"/>
          </p:nvPr>
        </p:nvSpPr>
        <p:spPr>
          <a:xfrm>
            <a:off x="179705" y="1052830"/>
            <a:ext cx="8445500" cy="5255895"/>
          </a:xfrm>
        </p:spPr>
        <p:txBody>
          <a:bodyPr vert="horz" wrap="square" lIns="91440" tIns="45720" rIns="91440" bIns="45720" anchor="t"/>
          <a:lstStyle/>
          <a:p>
            <a:pPr lvl="0">
              <a:lnSpc>
                <a:spcPct val="110000"/>
              </a:lnSpc>
              <a:buNone/>
            </a:pPr>
            <a:r>
              <a:rPr lang="zh-CN" altLang="en-US" sz="2400" b="1" dirty="0">
                <a:ea typeface="宋体" panose="02010600030101010101" pitchFamily="2" charset="-122"/>
              </a:rPr>
              <a:t>         在对象设计过程中，将分析模型转换为设计模型的对应转换关系是：将问题域中的类转换为解域中的类，为每个类的属性确定数据结构，为每个类的行为操作确定实现算法；将类之间的关系用消息传递机制表达。</a:t>
            </a:r>
            <a:endParaRPr lang="zh-CN" altLang="en-US" sz="2400" b="1" dirty="0">
              <a:ea typeface="宋体" panose="02010600030101010101" pitchFamily="2" charset="-122"/>
            </a:endParaRPr>
          </a:p>
          <a:p>
            <a:pPr lvl="0">
              <a:lnSpc>
                <a:spcPct val="110000"/>
              </a:lnSpc>
              <a:buNone/>
            </a:pPr>
            <a:r>
              <a:rPr lang="zh-CN" altLang="en-US" sz="2400" b="1" dirty="0">
                <a:ea typeface="宋体" panose="02010600030101010101" pitchFamily="2" charset="-122"/>
              </a:rPr>
              <a:t>        对象设计包括</a:t>
            </a:r>
            <a:r>
              <a:rPr lang="zh-CN" altLang="en-US" sz="2400" b="1" dirty="0">
                <a:solidFill>
                  <a:srgbClr val="FF33CC"/>
                </a:solidFill>
                <a:ea typeface="宋体" panose="02010600030101010101" pitchFamily="2" charset="-122"/>
              </a:rPr>
              <a:t>静态结构设计</a:t>
            </a:r>
            <a:r>
              <a:rPr lang="zh-CN" altLang="en-US" sz="2400" b="1" dirty="0">
                <a:ea typeface="宋体" panose="02010600030101010101" pitchFamily="2" charset="-122"/>
              </a:rPr>
              <a:t>和</a:t>
            </a:r>
            <a:r>
              <a:rPr lang="zh-CN" altLang="en-US" sz="2400" b="1" dirty="0">
                <a:solidFill>
                  <a:srgbClr val="FF33CC"/>
                </a:solidFill>
                <a:ea typeface="宋体" panose="02010600030101010101" pitchFamily="2" charset="-122"/>
              </a:rPr>
              <a:t>动态行为模型设计</a:t>
            </a:r>
            <a:r>
              <a:rPr lang="zh-CN" altLang="en-US" sz="2400" b="1" dirty="0">
                <a:ea typeface="宋体" panose="02010600030101010101" pitchFamily="2" charset="-122"/>
              </a:rPr>
              <a:t>两个过程。。</a:t>
            </a:r>
            <a:endParaRPr lang="zh-CN" altLang="en-US" sz="2400" b="1" dirty="0">
              <a:ea typeface="宋体" panose="02010600030101010101" pitchFamily="2" charset="-122"/>
            </a:endParaRPr>
          </a:p>
          <a:p>
            <a:pPr lvl="0">
              <a:lnSpc>
                <a:spcPct val="110000"/>
              </a:lnSpc>
              <a:buNone/>
            </a:pP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548130" y="189230"/>
            <a:ext cx="6119495" cy="563245"/>
          </a:xfrm>
        </p:spPr>
        <p:txBody>
          <a:bodyPr vert="horz" wrap="square" lIns="91440" tIns="45720" rIns="91440" bIns="45720" anchor="ctr"/>
          <a:lstStyle/>
          <a:p>
            <a:pPr lvl="0"/>
            <a:r>
              <a:rPr lang="en-US" altLang="zh-CN" sz="3000" dirty="0">
                <a:solidFill>
                  <a:srgbClr val="0070C0"/>
                </a:solidFill>
                <a:ea typeface="宋体" panose="02010600030101010101" pitchFamily="2" charset="-122"/>
              </a:rPr>
              <a:t>1</a:t>
            </a:r>
            <a:r>
              <a:rPr lang="zh-CN" altLang="en-US" sz="3000" dirty="0">
                <a:solidFill>
                  <a:srgbClr val="0070C0"/>
                </a:solidFill>
                <a:ea typeface="宋体" panose="02010600030101010101" pitchFamily="2" charset="-122"/>
              </a:rPr>
              <a:t>、静态结构设计</a:t>
            </a:r>
            <a:endParaRPr lang="zh-CN" altLang="en-US" sz="3000" dirty="0">
              <a:solidFill>
                <a:srgbClr val="0070C0"/>
              </a:solidFill>
              <a:ea typeface="宋体" panose="02010600030101010101" pitchFamily="2" charset="-122"/>
            </a:endParaRPr>
          </a:p>
        </p:txBody>
      </p:sp>
      <p:sp>
        <p:nvSpPr>
          <p:cNvPr id="34819" name="内容占位符 2"/>
          <p:cNvSpPr>
            <a:spLocks noGrp="1"/>
          </p:cNvSpPr>
          <p:nvPr>
            <p:ph idx="1"/>
          </p:nvPr>
        </p:nvSpPr>
        <p:spPr>
          <a:xfrm>
            <a:off x="179705" y="1052830"/>
            <a:ext cx="8445500" cy="791845"/>
          </a:xfrm>
        </p:spPr>
        <p:txBody>
          <a:bodyPr vert="horz" wrap="square" lIns="91440" tIns="45720" rIns="91440" bIns="45720" anchor="t"/>
          <a:lstStyle/>
          <a:p>
            <a:pPr lvl="0" eaLnBrk="1" hangingPunct="1">
              <a:buNone/>
            </a:pPr>
            <a:r>
              <a:rPr lang="zh-CN" altLang="en-US" sz="3000" dirty="0">
                <a:ea typeface="宋体" panose="02010600030101010101" pitchFamily="2" charset="-122"/>
              </a:rPr>
              <a:t>静态结构设计应遵循的原则</a:t>
            </a:r>
            <a:r>
              <a:rPr lang="zh-CN" altLang="en-US" sz="2400" b="1" dirty="0">
                <a:ea typeface="宋体" panose="02010600030101010101" pitchFamily="2" charset="-122"/>
              </a:rPr>
              <a:t>：</a:t>
            </a:r>
            <a:endParaRPr lang="zh-CN" altLang="en-US" sz="2400" b="1" dirty="0">
              <a:ea typeface="宋体" panose="02010600030101010101" pitchFamily="2" charset="-122"/>
            </a:endParaRPr>
          </a:p>
        </p:txBody>
      </p:sp>
      <p:sp>
        <p:nvSpPr>
          <p:cNvPr id="34820" name="内容占位符 2"/>
          <p:cNvSpPr/>
          <p:nvPr/>
        </p:nvSpPr>
        <p:spPr>
          <a:xfrm>
            <a:off x="323850" y="1844675"/>
            <a:ext cx="8445500" cy="1871980"/>
          </a:xfrm>
          <a:prstGeom prst="rect">
            <a:avLst/>
          </a:prstGeom>
          <a:noFill/>
          <a:ln w="9525">
            <a:noFill/>
          </a:ln>
        </p:spPr>
        <p:txBody>
          <a:bodyPr/>
          <a:lstStyle/>
          <a:p>
            <a:pPr marL="342900" lvl="0" indent="-342900" eaLnBrk="0" hangingPunct="0">
              <a:lnSpc>
                <a:spcPct val="110000"/>
              </a:lnSpc>
              <a:spcBef>
                <a:spcPct val="20000"/>
              </a:spcBef>
              <a:buClr>
                <a:schemeClr val="hlink"/>
              </a:buClr>
              <a:buFont typeface="Wingdings" panose="05000000000000000000" pitchFamily="2" charset="2"/>
              <a:buChar char="v"/>
            </a:pPr>
            <a:r>
              <a:rPr lang="zh-CN" altLang="en-US" sz="2400" b="1" dirty="0">
                <a:latin typeface="Arial" panose="020B0604020202020204" pitchFamily="34" charset="0"/>
                <a:ea typeface="宋体" panose="02010600030101010101" pitchFamily="2" charset="-122"/>
              </a:rPr>
              <a:t>应该尽量将类的接口标准化</a:t>
            </a:r>
            <a:endParaRPr lang="zh-CN" altLang="en-US" sz="2400" b="1" dirty="0">
              <a:latin typeface="Arial" panose="020B0604020202020204" pitchFamily="34" charset="0"/>
              <a:ea typeface="宋体" panose="02010600030101010101" pitchFamily="2" charset="-122"/>
            </a:endParaRPr>
          </a:p>
          <a:p>
            <a:pPr marL="342900" lvl="0" indent="-342900" eaLnBrk="0" hangingPunct="0">
              <a:lnSpc>
                <a:spcPct val="110000"/>
              </a:lnSpc>
              <a:spcBef>
                <a:spcPct val="20000"/>
              </a:spcBef>
              <a:buClr>
                <a:schemeClr val="hlink"/>
              </a:buClr>
              <a:buFont typeface="Wingdings" panose="05000000000000000000" pitchFamily="2" charset="2"/>
              <a:buChar char="v"/>
            </a:pPr>
            <a:r>
              <a:rPr lang="zh-CN" altLang="en-US" sz="2400" b="1" dirty="0">
                <a:latin typeface="Arial" panose="020B0604020202020204" pitchFamily="34" charset="0"/>
                <a:ea typeface="宋体" panose="02010600030101010101" pitchFamily="2" charset="-122"/>
              </a:rPr>
              <a:t>使用继承特征，调整类的属性和操作，定义抽象类</a:t>
            </a:r>
            <a:endParaRPr lang="zh-CN" altLang="en-US" sz="2400" b="1" dirty="0">
              <a:latin typeface="Arial" panose="020B0604020202020204" pitchFamily="34" charset="0"/>
              <a:ea typeface="宋体" panose="02010600030101010101" pitchFamily="2" charset="-122"/>
            </a:endParaRPr>
          </a:p>
          <a:p>
            <a:pPr marL="342900" lvl="0" indent="-342900" eaLnBrk="0" hangingPunct="0">
              <a:lnSpc>
                <a:spcPct val="110000"/>
              </a:lnSpc>
              <a:spcBef>
                <a:spcPct val="20000"/>
              </a:spcBef>
              <a:buClr>
                <a:schemeClr val="hlink"/>
              </a:buClr>
              <a:buFont typeface="Wingdings" panose="05000000000000000000" pitchFamily="2" charset="2"/>
              <a:buChar char="v"/>
            </a:pPr>
            <a:r>
              <a:rPr lang="zh-CN" altLang="en-US" sz="2400" b="1" dirty="0">
                <a:latin typeface="Arial" panose="020B0604020202020204" pitchFamily="34" charset="0"/>
                <a:ea typeface="宋体" panose="02010600030101010101" pitchFamily="2" charset="-122"/>
              </a:rPr>
              <a:t>每个类的操作应该尽可能小，保证功能的单一性。</a:t>
            </a:r>
            <a:endParaRPr lang="zh-CN" altLang="en-US" sz="2400" b="1"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1548130" y="189230"/>
            <a:ext cx="6119495" cy="563245"/>
          </a:xfrm>
        </p:spPr>
        <p:txBody>
          <a:bodyPr vert="horz" wrap="square" lIns="91440" tIns="45720" rIns="91440" bIns="45720" anchor="ctr"/>
          <a:lstStyle/>
          <a:p>
            <a:r>
              <a:rPr lang="en-US" altLang="zh-CN" sz="3000" dirty="0">
                <a:solidFill>
                  <a:srgbClr val="0070C0"/>
                </a:solidFill>
                <a:ea typeface="宋体" panose="02010600030101010101" pitchFamily="2" charset="-122"/>
              </a:rPr>
              <a:t>2</a:t>
            </a:r>
            <a:r>
              <a:rPr lang="zh-CN" altLang="en-US" sz="3000" dirty="0">
                <a:solidFill>
                  <a:srgbClr val="0070C0"/>
                </a:solidFill>
                <a:ea typeface="宋体" panose="02010600030101010101" pitchFamily="2" charset="-122"/>
              </a:rPr>
              <a:t>、动态行为模型设计</a:t>
            </a:r>
            <a:endParaRPr lang="zh-CN" altLang="en-US" sz="3000" dirty="0">
              <a:solidFill>
                <a:srgbClr val="0070C0"/>
              </a:solidFill>
              <a:ea typeface="宋体" panose="02010600030101010101" pitchFamily="2" charset="-122"/>
            </a:endParaRPr>
          </a:p>
        </p:txBody>
      </p:sp>
      <p:sp>
        <p:nvSpPr>
          <p:cNvPr id="35843" name="内容占位符 2"/>
          <p:cNvSpPr>
            <a:spLocks noGrp="1"/>
          </p:cNvSpPr>
          <p:nvPr>
            <p:ph idx="1"/>
          </p:nvPr>
        </p:nvSpPr>
        <p:spPr>
          <a:xfrm>
            <a:off x="179705" y="1052830"/>
            <a:ext cx="8445500" cy="5255895"/>
          </a:xfrm>
        </p:spPr>
        <p:txBody>
          <a:bodyPr vert="horz" wrap="square" lIns="91440" tIns="45720" rIns="91440" bIns="45720" anchor="t"/>
          <a:lstStyle/>
          <a:p>
            <a:pPr lvl="0">
              <a:lnSpc>
                <a:spcPct val="120000"/>
              </a:lnSpc>
            </a:pPr>
            <a:r>
              <a:rPr lang="zh-CN" altLang="en-US" sz="2400" b="1" dirty="0">
                <a:ea typeface="宋体" panose="02010600030101010101" pitchFamily="2" charset="-122"/>
              </a:rPr>
              <a:t>根据静态结构设计的模型，对分析阶段获得的动态行为分析模型进行相应的扩充和修改，得到完成的动态行为模型。可以通过把动态行为模型转换为对象模型中的操作来实现。</a:t>
            </a:r>
            <a:endParaRPr lang="zh-CN" altLang="en-US" sz="2400" b="1"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2"/>
          <p:cNvSpPr>
            <a:spLocks noGrp="1"/>
          </p:cNvSpPr>
          <p:nvPr>
            <p:ph idx="1"/>
          </p:nvPr>
        </p:nvSpPr>
        <p:spPr>
          <a:xfrm>
            <a:off x="539750" y="1628775"/>
            <a:ext cx="8229600" cy="3313430"/>
          </a:xfrm>
        </p:spPr>
        <p:txBody>
          <a:bodyPr vert="horz" wrap="square" lIns="91440" tIns="45720" rIns="91440" bIns="45720" anchor="t"/>
          <a:lstStyle/>
          <a:p>
            <a:pPr lvl="0">
              <a:lnSpc>
                <a:spcPct val="120000"/>
              </a:lnSpc>
              <a:spcBef>
                <a:spcPts val="1800"/>
              </a:spcBef>
            </a:pPr>
            <a:r>
              <a:rPr lang="zh-CN" altLang="en-US" sz="2400" b="1" dirty="0">
                <a:ea typeface="宋体" panose="02010600030101010101" pitchFamily="2" charset="-122"/>
              </a:rPr>
              <a:t>在程序设计阶段，用类定义来表达对象的静态结构模型，用类操作的实现代码来表达遵循一定系统结构的对象动态行为模型及关键算法。</a:t>
            </a:r>
            <a:endParaRPr lang="zh-CN" altLang="en-US" sz="2400" b="1" dirty="0">
              <a:ea typeface="宋体" panose="02010600030101010101" pitchFamily="2" charset="-122"/>
            </a:endParaRPr>
          </a:p>
        </p:txBody>
      </p:sp>
      <p:sp>
        <p:nvSpPr>
          <p:cNvPr id="4" name="标题 1"/>
          <p:cNvSpPr txBox="1"/>
          <p:nvPr/>
        </p:nvSpPr>
        <p:spPr>
          <a:xfrm>
            <a:off x="1548130" y="189230"/>
            <a:ext cx="6119495" cy="563245"/>
          </a:xfrm>
        </p:spPr>
        <p:txBody>
          <a:bodyPr vert="horz" wrap="square" lIns="91440" tIns="45720" rIns="91440" bIns="45720" anchor="ctr">
            <a:scene3d>
              <a:camera prst="orthographicFront"/>
              <a:lightRig rig="threePt" dir="t"/>
            </a:scene3d>
          </a:bodyP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en-US" altLang="zh-CN" sz="2800" dirty="0">
                <a:solidFill>
                  <a:schemeClr val="accent1"/>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cs typeface="华文新魏" panose="02010800040101010101" pitchFamily="2" charset="-122"/>
              </a:rPr>
              <a:t>2.2.3  </a:t>
            </a:r>
            <a:r>
              <a:rPr lang="zh-CN" altLang="en-US" sz="2800" dirty="0">
                <a:solidFill>
                  <a:schemeClr val="accent1"/>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cs typeface="华文新魏" panose="02010800040101010101" pitchFamily="2" charset="-122"/>
              </a:rPr>
              <a:t>面向对象的程序设计</a:t>
            </a:r>
            <a:endParaRPr lang="zh-CN" altLang="en-US" sz="2800" dirty="0">
              <a:solidFill>
                <a:schemeClr val="accent1"/>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cs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p:cNvSpPr>
            <a:spLocks noGrp="1"/>
          </p:cNvSpPr>
          <p:nvPr>
            <p:ph idx="1"/>
          </p:nvPr>
        </p:nvSpPr>
        <p:spPr>
          <a:xfrm>
            <a:off x="539750" y="1628775"/>
            <a:ext cx="8229600" cy="3313430"/>
          </a:xfrm>
        </p:spPr>
        <p:txBody>
          <a:bodyPr vert="horz" wrap="square" lIns="91440" tIns="45720" rIns="91440" bIns="45720" anchor="t"/>
          <a:lstStyle/>
          <a:p>
            <a:pPr lvl="0">
              <a:lnSpc>
                <a:spcPct val="120000"/>
              </a:lnSpc>
              <a:spcBef>
                <a:spcPts val="1800"/>
              </a:spcBef>
              <a:buNone/>
            </a:pPr>
            <a:r>
              <a:rPr lang="zh-CN" altLang="en-US" sz="2400" b="1" dirty="0">
                <a:ea typeface="宋体" panose="02010600030101010101" pitchFamily="2" charset="-122"/>
              </a:rPr>
              <a:t>      根据面向对象软件的性质，在进行软件测试时必须注意下面几个问题：</a:t>
            </a:r>
            <a:endParaRPr lang="zh-CN" altLang="en-US" sz="2400" b="1" dirty="0">
              <a:ea typeface="宋体" panose="02010600030101010101" pitchFamily="2" charset="-122"/>
            </a:endParaRPr>
          </a:p>
          <a:p>
            <a:pPr lvl="0">
              <a:lnSpc>
                <a:spcPct val="120000"/>
              </a:lnSpc>
              <a:spcBef>
                <a:spcPts val="1800"/>
              </a:spcBef>
              <a:buNone/>
            </a:pPr>
            <a:r>
              <a:rPr lang="en-US" altLang="zh-CN" sz="2400" b="1" dirty="0">
                <a:ea typeface="宋体" panose="02010600030101010101" pitchFamily="2" charset="-122"/>
              </a:rPr>
              <a:t>1</a:t>
            </a:r>
            <a:r>
              <a:rPr lang="zh-CN" altLang="en-US" sz="2400" b="1" dirty="0">
                <a:ea typeface="宋体" panose="02010600030101010101" pitchFamily="2" charset="-122"/>
              </a:rPr>
              <a:t>、扩大测试范围</a:t>
            </a:r>
            <a:endParaRPr lang="zh-CN" altLang="en-US" sz="2400" b="1" dirty="0">
              <a:ea typeface="宋体" panose="02010600030101010101" pitchFamily="2" charset="-122"/>
            </a:endParaRPr>
          </a:p>
          <a:p>
            <a:pPr lvl="0">
              <a:lnSpc>
                <a:spcPct val="120000"/>
              </a:lnSpc>
              <a:spcBef>
                <a:spcPts val="1800"/>
              </a:spcBef>
              <a:buNone/>
            </a:pPr>
            <a:r>
              <a:rPr lang="en-US" altLang="zh-CN" sz="2400" b="1" dirty="0">
                <a:ea typeface="宋体" panose="02010600030101010101" pitchFamily="2" charset="-122"/>
              </a:rPr>
              <a:t>2</a:t>
            </a:r>
            <a:r>
              <a:rPr lang="zh-CN" altLang="en-US" sz="2400" b="1" dirty="0">
                <a:ea typeface="宋体" panose="02010600030101010101" pitchFamily="2" charset="-122"/>
              </a:rPr>
              <a:t>、改变单元测试和集成测试的策略</a:t>
            </a:r>
            <a:endParaRPr lang="zh-CN" altLang="en-US" sz="2400" b="1" dirty="0">
              <a:ea typeface="宋体" panose="02010600030101010101" pitchFamily="2" charset="-122"/>
            </a:endParaRPr>
          </a:p>
          <a:p>
            <a:pPr lvl="0">
              <a:lnSpc>
                <a:spcPct val="120000"/>
              </a:lnSpc>
              <a:spcBef>
                <a:spcPts val="1800"/>
              </a:spcBef>
              <a:buNone/>
            </a:pPr>
            <a:r>
              <a:rPr lang="en-US" altLang="zh-CN" sz="2400" b="1" dirty="0">
                <a:ea typeface="宋体" panose="02010600030101010101" pitchFamily="2" charset="-122"/>
              </a:rPr>
              <a:t>3</a:t>
            </a:r>
            <a:r>
              <a:rPr lang="zh-CN" altLang="en-US" sz="2400" b="1" dirty="0">
                <a:ea typeface="宋体" panose="02010600030101010101" pitchFamily="2" charset="-122"/>
              </a:rPr>
              <a:t>、根据面向对象软件的特征设计测试用例。</a:t>
            </a:r>
            <a:endParaRPr lang="zh-CN" altLang="en-US" sz="2400" b="1" dirty="0">
              <a:ea typeface="宋体" panose="02010600030101010101" pitchFamily="2" charset="-122"/>
            </a:endParaRPr>
          </a:p>
        </p:txBody>
      </p:sp>
      <p:sp>
        <p:nvSpPr>
          <p:cNvPr id="4" name="标题 1"/>
          <p:cNvSpPr txBox="1"/>
          <p:nvPr/>
        </p:nvSpPr>
        <p:spPr>
          <a:xfrm>
            <a:off x="1548130" y="189230"/>
            <a:ext cx="6119495" cy="563245"/>
          </a:xfrm>
        </p:spPr>
        <p:txBody>
          <a:bodyPr vert="horz" wrap="square" lIns="91440" tIns="45720" rIns="91440" bIns="45720" anchor="ctr"/>
          <a:lst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defRPr>
            </a:lvl2pPr>
            <a:lvl3pPr algn="ctr" rtl="0" eaLnBrk="0" fontAlgn="base" hangingPunct="0">
              <a:spcBef>
                <a:spcPct val="0"/>
              </a:spcBef>
              <a:spcAft>
                <a:spcPct val="0"/>
              </a:spcAft>
              <a:defRPr sz="3200" b="1">
                <a:solidFill>
                  <a:schemeClr val="tx2"/>
                </a:solidFill>
                <a:latin typeface="Verdana" panose="020B0604030504040204" pitchFamily="34" charset="0"/>
              </a:defRPr>
            </a:lvl3pPr>
            <a:lvl4pPr algn="ctr" rtl="0" eaLnBrk="0" fontAlgn="base" hangingPunct="0">
              <a:spcBef>
                <a:spcPct val="0"/>
              </a:spcBef>
              <a:spcAft>
                <a:spcPct val="0"/>
              </a:spcAft>
              <a:defRPr sz="3200" b="1">
                <a:solidFill>
                  <a:schemeClr val="tx2"/>
                </a:solidFill>
                <a:latin typeface="Verdana" panose="020B0604030504040204" pitchFamily="34" charset="0"/>
              </a:defRPr>
            </a:lvl4pPr>
            <a:lvl5pPr algn="ctr" rtl="0" eaLnBrk="0" fontAlgn="base" hangingPunct="0">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en-US" altLang="zh-CN" sz="3600" dirty="0">
                <a:ea typeface="宋体" panose="02010600030101010101" pitchFamily="2" charset="-122"/>
              </a:rPr>
              <a:t>2.2.4 </a:t>
            </a:r>
            <a:r>
              <a:rPr lang="zh-CN" altLang="en-US" sz="3600" dirty="0">
                <a:ea typeface="宋体" panose="02010600030101010101" pitchFamily="2" charset="-122"/>
              </a:rPr>
              <a:t>面向对象的测试</a:t>
            </a:r>
            <a:endParaRPr lang="zh-CN" altLang="en-US" sz="36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1979930" y="333375"/>
            <a:ext cx="4753610" cy="648335"/>
          </a:xfrm>
          <a:prstGeom prst="rect">
            <a:avLst/>
          </a:prstGeom>
          <a:noFill/>
          <a:ln w="9525">
            <a:noFill/>
            <a:miter lim="800000"/>
          </a:ln>
        </p:spPr>
        <p:txBody>
          <a:bodyPr vert="horz" wrap="square" lIns="91440" tIns="45720" rIns="91440" bIns="45720" numCol="1" anchor="t">
            <a:noAutofit/>
          </a:bodyPr>
          <a:lstStyle/>
          <a:p>
            <a:pPr marL="342900" indent="-342900" algn="ctr" defTabSz="914400" eaLnBrk="0" fontAlgn="base" latinLnBrk="0" hangingPunct="0">
              <a:lnSpc>
                <a:spcPct val="100000"/>
              </a:lnSpc>
              <a:spcBef>
                <a:spcPts val="900"/>
              </a:spcBef>
              <a:spcAft>
                <a:spcPts val="0"/>
              </a:spcAft>
              <a:buFontTx/>
              <a:buNone/>
              <a:defRPr sz="1800"/>
            </a:pPr>
            <a:r>
              <a:rPr lang="zh-CN" altLang="en-US" sz="3600" b="1" i="0" strike="noStrike" cap="none" dirty="0">
                <a:ln w="9525" cap="flat" cmpd="sng">
                  <a:noFill/>
                </a:ln>
                <a:solidFill>
                  <a:srgbClr val="0070C0"/>
                </a:solidFill>
                <a:latin typeface="黑体" panose="02010609060101010101" charset="-122"/>
                <a:ea typeface="黑体" panose="02010609060101010101" charset="-122"/>
                <a:cs typeface="+mn-cs"/>
              </a:rPr>
              <a:t>思</a:t>
            </a:r>
            <a:r>
              <a:rPr lang="zh-CN" altLang="en-US" sz="3600" b="1" i="0" dirty="0">
                <a:solidFill>
                  <a:srgbClr val="0070C0"/>
                </a:solidFill>
                <a:latin typeface="黑体" panose="02010609060101010101" charset="-122"/>
                <a:ea typeface="黑体" panose="02010609060101010101" charset="-122"/>
                <a:cs typeface="+mn-cs"/>
              </a:rPr>
              <a:t>考</a:t>
            </a:r>
            <a:r>
              <a:rPr lang="zh-CN" altLang="en-US" sz="3600" b="1" i="0" strike="noStrike" cap="none" dirty="0">
                <a:ln w="9525" cap="flat" cmpd="sng">
                  <a:noFill/>
                </a:ln>
                <a:solidFill>
                  <a:srgbClr val="0070C0"/>
                </a:solidFill>
                <a:latin typeface="黑体" panose="02010609060101010101" charset="-122"/>
                <a:ea typeface="黑体" panose="02010609060101010101" charset="-122"/>
                <a:cs typeface="+mn-cs"/>
              </a:rPr>
              <a:t>与讨论</a:t>
            </a:r>
            <a:endParaRPr lang="ko-KR" altLang="en-US" sz="3600" b="1" i="0" strike="noStrike" cap="none" dirty="0">
              <a:ln w="9525" cap="flat" cmpd="sng">
                <a:noFill/>
              </a:ln>
              <a:solidFill>
                <a:srgbClr val="0070C0"/>
              </a:solidFill>
              <a:latin typeface="黑体" panose="02010609060101010101" charset="-122"/>
              <a:ea typeface="宋体" panose="02010600030101010101" pitchFamily="2" charset="-122"/>
              <a:cs typeface="+mn-cs"/>
            </a:endParaRPr>
          </a:p>
        </p:txBody>
      </p:sp>
      <p:sp>
        <p:nvSpPr>
          <p:cNvPr id="6" name="内容占位符 2"/>
          <p:cNvSpPr txBox="1"/>
          <p:nvPr/>
        </p:nvSpPr>
        <p:spPr bwMode="auto">
          <a:xfrm>
            <a:off x="218440" y="1268730"/>
            <a:ext cx="8642350" cy="4032250"/>
          </a:xfrm>
          <a:prstGeom prst="rect">
            <a:avLst/>
          </a:prstGeom>
          <a:noFill/>
          <a:ln w="9525">
            <a:noFill/>
            <a:miter lim="800000"/>
          </a:ln>
        </p:spPr>
        <p:txBody>
          <a:bodyPr/>
          <a:lstStyle/>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kumimoji="0" lang="en-US" altLang="zh-CN" sz="2800" b="1"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1</a:t>
            </a:r>
            <a:r>
              <a:rPr kumimoji="0" lang="zh-CN" altLang="en-US" sz="2800" b="1"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、为什么要进行</a:t>
            </a:r>
            <a:r>
              <a:rPr kumimoji="0" lang="en-US" altLang="zh-CN" sz="2800" b="1"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rPr>
              <a:t>OOA?</a:t>
            </a:r>
            <a:endParaRPr kumimoji="0" lang="en-US" altLang="zh-CN" sz="2800" b="1"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cs typeface="+mn-cs"/>
            </a:endParaRPr>
          </a:p>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2</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a:t>
            </a: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OOA</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是如何应对需求变化性的？</a:t>
            </a:r>
            <a:endPar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3</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、简述</a:t>
            </a: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OOA</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模型和</a:t>
            </a: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OOA</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过程。</a:t>
            </a:r>
            <a:endPar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4</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、为什么把用类图构建的模型称为基本模型？</a:t>
            </a:r>
            <a:endPar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a:p>
            <a:pPr marR="0" lvl="1" algn="l" defTabSz="914400" rtl="0" eaLnBrk="0" fontAlgn="base" latinLnBrk="0" hangingPunct="0">
              <a:lnSpc>
                <a:spcPct val="100000"/>
              </a:lnSpc>
              <a:spcBef>
                <a:spcPts val="1200"/>
              </a:spcBef>
              <a:spcAft>
                <a:spcPct val="0"/>
              </a:spcAft>
              <a:buClr>
                <a:schemeClr val="accent1"/>
              </a:buClr>
              <a:buSzTx/>
              <a:defRPr/>
            </a:pP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blinds(horizontal)">
                                      <p:cBhvr>
                                        <p:cTn id="10" dur="500"/>
                                        <p:tgtEl>
                                          <p:spTgt spid="6">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blinds(horizontal)">
                                      <p:cBhvr>
                                        <p:cTn id="13" dur="500"/>
                                        <p:tgtEl>
                                          <p:spTgt spid="6">
                                            <p:txEl>
                                              <p:p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blinds(horizontal)">
                                      <p:cBhvr>
                                        <p:cTn id="16" dur="500"/>
                                        <p:tgtEl>
                                          <p:spTgt spid="6">
                                            <p:txEl>
                                              <p:pRg st="2" end="2"/>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blinds(horizontal)">
                                      <p:cBhvr>
                                        <p:cTn id="19"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1979930" y="333375"/>
            <a:ext cx="4752975" cy="647700"/>
          </a:xfrm>
          <a:prstGeom prst="rect">
            <a:avLst/>
          </a:prstGeom>
          <a:noFill/>
          <a:ln w="9525">
            <a:noFill/>
            <a:miter lim="800000"/>
          </a:ln>
        </p:spPr>
        <p:txBody>
          <a:bodyPr/>
          <a:lstStyle/>
          <a:p>
            <a:pPr marL="342900" marR="0" lvl="1" indent="-342900" algn="ctr" defTabSz="914400" rtl="0" eaLnBrk="0" fontAlgn="base" latinLnBrk="0" hangingPunct="0">
              <a:lnSpc>
                <a:spcPct val="100000"/>
              </a:lnSpc>
              <a:spcBef>
                <a:spcPct val="20000"/>
              </a:spcBef>
              <a:spcAft>
                <a:spcPct val="0"/>
              </a:spcAft>
              <a:buClr>
                <a:schemeClr val="hlink"/>
              </a:buClr>
              <a:buSzTx/>
              <a:buFontTx/>
              <a:buNone/>
              <a:defRPr/>
            </a:pPr>
            <a:r>
              <a:rPr kumimoji="0" lang="zh-CN" altLang="en-US" sz="3600" b="1" i="0" u="none" strike="noStrike" kern="0" cap="none" spc="0" normalizeH="0" baseline="0" noProof="0" dirty="0" smtClean="0">
                <a:ln>
                  <a:noFill/>
                </a:ln>
                <a:solidFill>
                  <a:srgbClr val="0070C0"/>
                </a:solidFill>
                <a:effectLst/>
                <a:uLnTx/>
                <a:uFillTx/>
                <a:latin typeface="+mn-lt"/>
                <a:ea typeface="宋体" panose="02010600030101010101" pitchFamily="2" charset="-122"/>
                <a:cs typeface="+mn-cs"/>
              </a:rPr>
              <a:t>讨论</a:t>
            </a:r>
            <a:endParaRPr kumimoji="0" lang="zh-CN" altLang="en-US" sz="36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p:txBody>
      </p:sp>
      <p:sp>
        <p:nvSpPr>
          <p:cNvPr id="6" name="内容占位符 2"/>
          <p:cNvSpPr txBox="1"/>
          <p:nvPr/>
        </p:nvSpPr>
        <p:spPr bwMode="auto">
          <a:xfrm>
            <a:off x="250825" y="981075"/>
            <a:ext cx="8642350" cy="5229225"/>
          </a:xfrm>
          <a:prstGeom prst="rect">
            <a:avLst/>
          </a:prstGeom>
          <a:noFill/>
          <a:ln w="9525">
            <a:noFill/>
            <a:miter lim="800000"/>
          </a:ln>
        </p:spPr>
        <p:txBody>
          <a:bodyPr/>
          <a:lstStyle/>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kumimoji="0" lang="zh-CN" altLang="en-US" sz="2800" b="1" i="0" u="none" strike="noStrike" kern="0" cap="none" spc="0" normalizeH="0" baseline="0" noProof="0" dirty="0" smtClean="0">
                <a:ln>
                  <a:noFill/>
                </a:ln>
                <a:solidFill>
                  <a:srgbClr val="0070C0"/>
                </a:solidFill>
                <a:effectLst/>
                <a:uLnTx/>
                <a:uFillTx/>
                <a:latin typeface="+mn-lt"/>
                <a:ea typeface="宋体" panose="02010600030101010101" pitchFamily="2" charset="-122"/>
                <a:cs typeface="+mn-cs"/>
              </a:rPr>
              <a:t>       </a:t>
            </a:r>
            <a:endParaRPr kumimoji="0" lang="en-US" altLang="zh-CN" sz="2800" b="1" i="0" u="none" strike="noStrike" kern="0" cap="none" spc="0" normalizeH="0" baseline="0" noProof="0" dirty="0" smtClean="0">
              <a:ln>
                <a:noFill/>
              </a:ln>
              <a:solidFill>
                <a:srgbClr val="0070C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ts val="1200"/>
              </a:spcBef>
              <a:spcAft>
                <a:spcPct val="0"/>
              </a:spcAft>
              <a:buClr>
                <a:schemeClr val="accent1"/>
              </a:buClr>
              <a:buSzTx/>
              <a:buFontTx/>
              <a:buNone/>
              <a:defRPr/>
            </a:pPr>
            <a:r>
              <a:rPr lang="en-US" altLang="zh-CN" sz="2800" b="1" kern="0" dirty="0">
                <a:solidFill>
                  <a:srgbClr val="0070C0"/>
                </a:solidFill>
                <a:latin typeface="+mn-lt"/>
                <a:cs typeface="+mn-cs"/>
              </a:rPr>
              <a:t> </a:t>
            </a:r>
            <a:r>
              <a:rPr lang="en-US" altLang="zh-CN" sz="2800" b="1" kern="0" dirty="0" smtClean="0">
                <a:solidFill>
                  <a:srgbClr val="0070C0"/>
                </a:solidFill>
                <a:latin typeface="+mn-lt"/>
                <a:cs typeface="+mn-cs"/>
              </a:rPr>
              <a:t>      </a:t>
            </a:r>
            <a:r>
              <a:rPr kumimoji="0" lang="zh-CN" altLang="en-US" sz="2800" b="1" i="0" u="none" strike="noStrike" kern="0" cap="none" spc="0" normalizeH="0" baseline="0" noProof="0" dirty="0" smtClean="0">
                <a:ln>
                  <a:noFill/>
                </a:ln>
                <a:solidFill>
                  <a:srgbClr val="0070C0"/>
                </a:solidFill>
                <a:effectLst/>
                <a:uLnTx/>
                <a:uFillTx/>
                <a:latin typeface="+mn-lt"/>
                <a:ea typeface="宋体" panose="02010600030101010101" pitchFamily="2" charset="-122"/>
                <a:cs typeface="+mn-cs"/>
              </a:rPr>
              <a:t>对</a:t>
            </a:r>
            <a:r>
              <a:rPr kumimoji="0" lang="zh-CN" altLang="en-US"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本讲里“分析面临的主要问题”有过什么实际感受？举例说明。</a:t>
            </a:r>
            <a:endParaRPr kumimoji="0" lang="en-US" altLang="zh-CN" sz="2800" b="1" i="0" u="none" strike="noStrike" kern="0" cap="none" spc="0" normalizeH="0" baseline="0" noProof="0" dirty="0">
              <a:ln>
                <a:noFill/>
              </a:ln>
              <a:solidFill>
                <a:srgbClr val="0070C0"/>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blinds(horizontal)">
                                      <p:cBhvr>
                                        <p:cTn id="10" dur="500"/>
                                        <p:tgtEl>
                                          <p:spTgt spid="6">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blinds(horizontal)">
                                      <p:cBhvr>
                                        <p:cTn id="13"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WordArt 5"/>
          <p:cNvSpPr>
            <a:spLocks noTextEdit="1"/>
          </p:cNvSpPr>
          <p:nvPr/>
        </p:nvSpPr>
        <p:spPr>
          <a:xfrm>
            <a:off x="1259840" y="3572510"/>
            <a:ext cx="6454775" cy="1228725"/>
          </a:xfrm>
          <a:prstGeom prst="rect">
            <a:avLst/>
          </a:prstGeom>
        </p:spPr>
        <p:txBody>
          <a:bodyPr wrap="none" fromWordArt="1">
            <a:prstTxWarp prst="textDeflate">
              <a:avLst>
                <a:gd name="adj" fmla="val 0"/>
              </a:avLst>
            </a:prstTxWarp>
            <a:normAutofit/>
          </a:bodyPr>
          <a:lstStyle/>
          <a:p>
            <a:pPr algn="ctr" eaLnBrk="0" hangingPunct="0"/>
            <a:r>
              <a:rPr lang="zh-CN" altLang="en-US" sz="3600" b="1">
                <a:ln w="19050" cap="flat" cmpd="sng">
                  <a:solidFill>
                    <a:schemeClr val="bg1"/>
                  </a:solidFill>
                  <a:prstDash val="solid"/>
                  <a:headEnd type="none" w="med" len="med"/>
                  <a:tailEnd type="none" w="med" len="med"/>
                </a:ln>
                <a:gradFill rotWithShape="1">
                  <a:gsLst>
                    <a:gs pos="0">
                      <a:schemeClr val="tx1"/>
                    </a:gs>
                    <a:gs pos="100000">
                      <a:schemeClr val="hlink"/>
                    </a:gs>
                  </a:gsLst>
                  <a:lin ang="0" scaled="1"/>
                  <a:tileRect/>
                </a:gradFill>
                <a:effectLst>
                  <a:outerShdw dist="63500" dir="2212193" algn="ctr" rotWithShape="0">
                    <a:srgbClr val="868686">
                      <a:alpha val="50000"/>
                    </a:srgbClr>
                  </a:outerShdw>
                </a:effectLst>
                <a:latin typeface="Arial" panose="020B0604020202020204" pitchFamily="34" charset="0"/>
                <a:ea typeface="Arial" panose="020B0604020202020204" pitchFamily="34" charset="0"/>
              </a:rPr>
              <a:t>Thank You !</a:t>
            </a:r>
            <a:endParaRPr lang="zh-CN" altLang="en-US" sz="3600" b="1">
              <a:ln w="19050" cap="flat" cmpd="sng">
                <a:solidFill>
                  <a:schemeClr val="bg1"/>
                </a:solidFill>
                <a:prstDash val="solid"/>
                <a:headEnd type="none" w="med" len="med"/>
                <a:tailEnd type="none" w="med" len="med"/>
              </a:ln>
              <a:gradFill rotWithShape="1">
                <a:gsLst>
                  <a:gs pos="0">
                    <a:schemeClr val="tx1"/>
                  </a:gs>
                  <a:gs pos="100000">
                    <a:schemeClr val="hlink"/>
                  </a:gs>
                </a:gsLst>
                <a:lin ang="0" scaled="1"/>
                <a:tileRect/>
              </a:gradFill>
              <a:effectLst>
                <a:outerShdw dist="63500" dir="2212193" algn="ctr" rotWithShape="0">
                  <a:srgbClr val="868686">
                    <a:alpha val="50000"/>
                  </a:srgbClr>
                </a:outerShdw>
              </a:effectLst>
              <a:latin typeface="Arial" panose="020B0604020202020204" pitchFamily="34" charset="0"/>
              <a:ea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p:cTn id="7" dur="500" fill="hold"/>
                                        <p:tgtEl>
                                          <p:spTgt spid="46082"/>
                                        </p:tgtEl>
                                        <p:attrNameLst>
                                          <p:attrName>ppt_w</p:attrName>
                                        </p:attrNameLst>
                                      </p:cBhvr>
                                      <p:tavLst>
                                        <p:tav tm="0">
                                          <p:val>
                                            <p:fltVal val="0"/>
                                          </p:val>
                                        </p:tav>
                                        <p:tav tm="100000">
                                          <p:val>
                                            <p:strVal val="#ppt_w"/>
                                          </p:val>
                                        </p:tav>
                                      </p:tavLst>
                                    </p:anim>
                                    <p:anim calcmode="lin" valueType="num">
                                      <p:cBhvr>
                                        <p:cTn id="8" dur="500" fill="hold"/>
                                        <p:tgtEl>
                                          <p:spTgt spid="46082"/>
                                        </p:tgtEl>
                                        <p:attrNameLst>
                                          <p:attrName>ppt_h</p:attrName>
                                        </p:attrNameLst>
                                      </p:cBhvr>
                                      <p:tavLst>
                                        <p:tav tm="0">
                                          <p:val>
                                            <p:fltVal val="0"/>
                                          </p:val>
                                        </p:tav>
                                        <p:tav tm="100000">
                                          <p:val>
                                            <p:strVal val="#ppt_h"/>
                                          </p:val>
                                        </p:tav>
                                      </p:tavLst>
                                    </p:anim>
                                    <p:animEffect transition="in" filter="fade">
                                      <p:cBhvr>
                                        <p:cTn id="9" dur="500"/>
                                        <p:tgtEl>
                                          <p:spTgt spid="46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REFSHAPE" val="1315862812"/>
  <p:tag name="KSO_WM_UNIT_PLACING_PICTURE_USER_VIEWPORT" val="{&quot;height&quot;:3824,&quot;width&quot;:8033}"/>
</p:tagLst>
</file>

<file path=ppt/theme/theme1.xml><?xml version="1.0" encoding="utf-8"?>
<a:theme xmlns:a="http://schemas.openxmlformats.org/drawingml/2006/main" name="C">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A0963C"/>
        </a:folHlink>
      </a:clrScheme>
      <a:clrMap bg1="lt1" tx1="dk1" bg2="lt2" tx2="dk2" accent1="accent1" accent2="accent2" accent3="accent3" accent4="accent4" accent5="accent5" accent6="accent6" hlink="hlink" folHlink="folHlink"/>
    </a:extraClrScheme>
    <a:extraClrScheme>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7836</Words>
  <Application>WPS 演示</Application>
  <PresentationFormat>全屏显示(4:3)</PresentationFormat>
  <Paragraphs>531</Paragraphs>
  <Slides>64</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64</vt:i4>
      </vt:variant>
    </vt:vector>
  </HeadingPairs>
  <TitlesOfParts>
    <vt:vector size="85" baseType="lpstr">
      <vt:lpstr>Arial</vt:lpstr>
      <vt:lpstr>宋体</vt:lpstr>
      <vt:lpstr>Wingdings</vt:lpstr>
      <vt:lpstr>Verdana</vt:lpstr>
      <vt:lpstr>Arial</vt:lpstr>
      <vt:lpstr>Calibri</vt:lpstr>
      <vt:lpstr>Agency FB</vt:lpstr>
      <vt:lpstr>Arial Unicode MS</vt:lpstr>
      <vt:lpstr>微软雅黑</vt:lpstr>
      <vt:lpstr>微软雅黑 Light</vt:lpstr>
      <vt:lpstr>华文行楷</vt:lpstr>
      <vt:lpstr>Arial Unicode MS</vt:lpstr>
      <vt:lpstr>华文新魏</vt:lpstr>
      <vt:lpstr>HY견고딕</vt:lpstr>
      <vt:lpstr>Times New Roman</vt:lpstr>
      <vt:lpstr>Gulim</vt:lpstr>
      <vt:lpstr>黑体</vt:lpstr>
      <vt:lpstr>Malgun Gothic</vt:lpstr>
      <vt:lpstr>ksdb</vt:lpstr>
      <vt:lpstr>C</vt:lpstr>
      <vt:lpstr>Office theme</vt:lpstr>
      <vt:lpstr>第二讲 面向对象方法概论</vt:lpstr>
      <vt:lpstr>第二讲 面向对象方法概论</vt:lpstr>
      <vt:lpstr>2.1 面向对象方法概述</vt:lpstr>
      <vt:lpstr>PowerPoint 演示文稿</vt:lpstr>
      <vt:lpstr>2.1.2  面向对象的基本思想</vt:lpstr>
      <vt:lpstr>2.1.3  面向对象的基本原则</vt:lpstr>
      <vt:lpstr>PowerPoint 演示文稿</vt:lpstr>
      <vt:lpstr>PowerPoint 演示文稿</vt:lpstr>
      <vt:lpstr>PowerPoint 演示文稿</vt:lpstr>
      <vt:lpstr>PowerPoint 演示文稿</vt:lpstr>
      <vt:lpstr>PowerPoint 演示文稿</vt:lpstr>
      <vt:lpstr>PowerPoint 演示文稿</vt:lpstr>
      <vt:lpstr>2.1.4 面向对象方法的主要优点</vt:lpstr>
      <vt:lpstr>面向对象方法的主要优点（Cont.)</vt:lpstr>
      <vt:lpstr>2.1.5 面向对象领域的基本概念</vt:lpstr>
      <vt:lpstr>1、 对象和实例</vt:lpstr>
      <vt:lpstr>2、 类</vt:lpstr>
      <vt:lpstr>3、 封装</vt:lpstr>
      <vt:lpstr>4、 继承</vt:lpstr>
      <vt:lpstr>override与overload</vt:lpstr>
      <vt:lpstr>PowerPoint 演示文稿</vt:lpstr>
      <vt:lpstr>5、 多态</vt:lpstr>
      <vt:lpstr>圆柱体 锥体 立方体</vt:lpstr>
      <vt:lpstr>6、 消息</vt:lpstr>
      <vt:lpstr>PowerPoint 演示文稿</vt:lpstr>
      <vt:lpstr>PowerPoint 演示文稿</vt:lpstr>
      <vt:lpstr>面向对象系统的开发过程</vt:lpstr>
      <vt:lpstr>PowerPoint 演示文稿</vt:lpstr>
      <vt:lpstr>2.2.1 面向对象分析</vt:lpstr>
      <vt:lpstr>PowerPoint 演示文稿</vt:lpstr>
      <vt:lpstr>PowerPoint 演示文稿</vt:lpstr>
      <vt:lpstr>PowerPoint 演示文稿</vt:lpstr>
      <vt:lpstr>PowerPoint 演示文稿</vt:lpstr>
      <vt:lpstr>PowerPoint 演示文稿</vt:lpstr>
      <vt:lpstr>二.面向对象分析综述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3、标识对象的属性和行为</vt:lpstr>
      <vt:lpstr>4、确定对象类之间的关系</vt:lpstr>
      <vt:lpstr>5、确定动态行为模型</vt:lpstr>
      <vt:lpstr>6、确定用户界面需求</vt:lpstr>
      <vt:lpstr>PowerPoint 演示文稿</vt:lpstr>
      <vt:lpstr>PowerPoint 演示文稿</vt:lpstr>
      <vt:lpstr>PowerPoint 演示文稿</vt:lpstr>
      <vt:lpstr>PowerPoint 演示文稿</vt:lpstr>
      <vt:lpstr>PowerPoint 演示文稿</vt:lpstr>
      <vt:lpstr>PowerPoint 演示文稿</vt:lpstr>
      <vt:lpstr>4、人机交互界面设计</vt:lpstr>
      <vt:lpstr>2.2.2 对象设计</vt:lpstr>
      <vt:lpstr>1、静态结构设计</vt:lpstr>
      <vt:lpstr>2、动态行为模型设计</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ages>63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微软用户</dc:creator>
  <cp:lastModifiedBy>怡然</cp:lastModifiedBy>
  <cp:revision>10</cp:revision>
  <dcterms:created xsi:type="dcterms:W3CDTF">2025-03-06T03:20:14Z</dcterms:created>
  <dcterms:modified xsi:type="dcterms:W3CDTF">2025-03-06T03:29:13Z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AD315B4DEAE84290894780293EFC69E0_12</vt:lpwstr>
  </property>
</Properties>
</file>