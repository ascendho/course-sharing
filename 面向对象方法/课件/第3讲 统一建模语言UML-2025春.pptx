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6"/>
  </p:notesMasterIdLst>
  <p:handoutMasterIdLst>
    <p:handoutMasterId r:id="rId67"/>
  </p:handoutMasterIdLst>
  <p:sldIdLst>
    <p:sldId id="259" r:id="rId3"/>
    <p:sldId id="347" r:id="rId4"/>
    <p:sldId id="304" r:id="rId5"/>
    <p:sldId id="305" r:id="rId6"/>
    <p:sldId id="306" r:id="rId7"/>
    <p:sldId id="307" r:id="rId8"/>
    <p:sldId id="308" r:id="rId9"/>
    <p:sldId id="313" r:id="rId10"/>
    <p:sldId id="314" r:id="rId11"/>
    <p:sldId id="348" r:id="rId12"/>
    <p:sldId id="349" r:id="rId13"/>
    <p:sldId id="350" r:id="rId14"/>
    <p:sldId id="351" r:id="rId15"/>
    <p:sldId id="352" r:id="rId16"/>
    <p:sldId id="353" r:id="rId17"/>
    <p:sldId id="354" r:id="rId18"/>
    <p:sldId id="270" r:id="rId19"/>
    <p:sldId id="377" r:id="rId20"/>
    <p:sldId id="271" r:id="rId21"/>
    <p:sldId id="362" r:id="rId22"/>
    <p:sldId id="363" r:id="rId23"/>
    <p:sldId id="272" r:id="rId24"/>
    <p:sldId id="273" r:id="rId25"/>
    <p:sldId id="274" r:id="rId26"/>
    <p:sldId id="275" r:id="rId27"/>
    <p:sldId id="276" r:id="rId28"/>
    <p:sldId id="277" r:id="rId29"/>
    <p:sldId id="364" r:id="rId30"/>
    <p:sldId id="278" r:id="rId31"/>
    <p:sldId id="279" r:id="rId32"/>
    <p:sldId id="365" r:id="rId33"/>
    <p:sldId id="366" r:id="rId34"/>
    <p:sldId id="280" r:id="rId35"/>
    <p:sldId id="281" r:id="rId36"/>
    <p:sldId id="282" r:id="rId37"/>
    <p:sldId id="369" r:id="rId38"/>
    <p:sldId id="283" r:id="rId39"/>
    <p:sldId id="284" r:id="rId40"/>
    <p:sldId id="285" r:id="rId41"/>
    <p:sldId id="379" r:id="rId42"/>
    <p:sldId id="378" r:id="rId43"/>
    <p:sldId id="290" r:id="rId44"/>
    <p:sldId id="373" r:id="rId45"/>
    <p:sldId id="291" r:id="rId46"/>
    <p:sldId id="374" r:id="rId47"/>
    <p:sldId id="375" r:id="rId48"/>
    <p:sldId id="376" r:id="rId49"/>
    <p:sldId id="292" r:id="rId50"/>
    <p:sldId id="293" r:id="rId51"/>
    <p:sldId id="294" r:id="rId52"/>
    <p:sldId id="295" r:id="rId53"/>
    <p:sldId id="296" r:id="rId54"/>
    <p:sldId id="297" r:id="rId55"/>
    <p:sldId id="298" r:id="rId56"/>
    <p:sldId id="299" r:id="rId57"/>
    <p:sldId id="300" r:id="rId58"/>
    <p:sldId id="301" r:id="rId59"/>
    <p:sldId id="360" r:id="rId60"/>
    <p:sldId id="356" r:id="rId61"/>
    <p:sldId id="357" r:id="rId62"/>
    <p:sldId id="358" r:id="rId63"/>
    <p:sldId id="359" r:id="rId64"/>
    <p:sldId id="355" r:id="rId65"/>
  </p:sldIdLst>
  <p:sldSz cx="9144000" cy="6858000" type="screen4x3"/>
  <p:notesSz cx="6858000" cy="9144000"/>
  <p:custDataLst>
    <p:tags r:id="rId71"/>
  </p:custDataLst>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userDrawn="1">
          <p15:clr>
            <a:srgbClr val="A4A3A4"/>
          </p15:clr>
        </p15:guide>
        <p15:guide id="1" pos="28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06B0"/>
    <a:srgbClr val="A8C9EA"/>
    <a:srgbClr val="CCFF66"/>
    <a:srgbClr val="FFFFCC"/>
    <a:srgbClr val="F9DF9F"/>
    <a:srgbClr val="FFFF66"/>
    <a:srgbClr val="FF0000"/>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068"/>
    <p:restoredTop sz="94660"/>
  </p:normalViewPr>
  <p:slideViewPr>
    <p:cSldViewPr snapToObjects="1" showGuides="1">
      <p:cViewPr varScale="1">
        <p:scale>
          <a:sx n="75" d="100"/>
          <a:sy n="75" d="100"/>
        </p:scale>
        <p:origin x="621" y="30"/>
      </p:cViewPr>
      <p:guideLst>
        <p:guide orient="horz" pos="2159"/>
        <p:guide pos="2862"/>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1" Type="http://schemas.openxmlformats.org/officeDocument/2006/relationships/tags" Target="tags/tag1.xml"/><Relationship Id="rId70" Type="http://schemas.openxmlformats.org/officeDocument/2006/relationships/tableStyles" Target="tableStyles.xml"/><Relationship Id="rId7" Type="http://schemas.openxmlformats.org/officeDocument/2006/relationships/slide" Target="slides/slide5.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handoutMaster" Target="handoutMasters/handoutMaster1.xml"/><Relationship Id="rId66" Type="http://schemas.openxmlformats.org/officeDocument/2006/relationships/notesMaster" Target="notesMasters/notesMaster1.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noProof="1">
                <a:latin typeface="Times New Roman" panose="02020603050405020304" pitchFamily="18" charset="0"/>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D626689-FC08-423F-89B5-955A8F6D285A}" type="slidenum">
              <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6"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noProof="1">
                <a:latin typeface="Times New Roman" panose="02020603050405020304" pitchFamily="18" charset="0"/>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E15358D-E6EF-4560-9ABF-CDCAA59E7E4A}" type="slidenum">
              <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050" name="AutoShape 7"/>
          <p:cNvSpPr/>
          <p:nvPr/>
        </p:nvSpPr>
        <p:spPr>
          <a:xfrm>
            <a:off x="685800" y="2393950"/>
            <a:ext cx="7772400" cy="109538"/>
          </a:xfrm>
          <a:custGeom>
            <a:avLst/>
            <a:gdLst/>
            <a:ahLst/>
            <a:cxnLst>
              <a:cxn ang="0">
                <a:pos x="0" y="0"/>
              </a:cxn>
              <a:cxn ang="0">
                <a:pos x="2147483646" y="0"/>
              </a:cxn>
              <a:cxn ang="0">
                <a:pos x="2147483646" y="11998573"/>
              </a:cxn>
              <a:cxn ang="0">
                <a:pos x="0" y="11998573"/>
              </a:cxn>
              <a:cxn ang="0">
                <a:pos x="0" y="0"/>
              </a:cxn>
              <a:cxn ang="0">
                <a:pos x="2147483646" y="0"/>
              </a:cxn>
            </a:cxnLst>
            <a:rect l="0" t="0" r="0" b="0"/>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lstStyle/>
          <a:p>
            <a:endParaRPr lang="zh-CN" altLang="en-US"/>
          </a:p>
        </p:txBody>
      </p:sp>
      <p:sp>
        <p:nvSpPr>
          <p:cNvPr id="384002" name="Rectangle 2"/>
          <p:cNvSpPr>
            <a:spLocks noGrp="1" noChangeArrowheads="1"/>
          </p:cNvSpPr>
          <p:nvPr>
            <p:ph type="ctrTitle"/>
          </p:nvPr>
        </p:nvSpPr>
        <p:spPr>
          <a:xfrm>
            <a:off x="685800" y="990600"/>
            <a:ext cx="7772400" cy="1371600"/>
          </a:xfrm>
        </p:spPr>
        <p:txBody>
          <a:bodyPr/>
          <a:lstStyle>
            <a:lvl1pPr>
              <a:defRPr sz="4000"/>
            </a:lvl1pPr>
          </a:lstStyle>
          <a:p>
            <a:r>
              <a:rPr lang="zh-CN" altLang="en-US" noProof="1"/>
              <a:t>单击此处编辑母版标题样式</a:t>
            </a:r>
            <a:endParaRPr lang="zh-CN" altLang="en-US" noProof="1"/>
          </a:p>
        </p:txBody>
      </p:sp>
      <p:sp>
        <p:nvSpPr>
          <p:cNvPr id="384003"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zh-CN" altLang="en-US" noProof="1"/>
              <a:t>单击此处编辑母版副标题样式</a:t>
            </a:r>
            <a:endParaRPr lang="zh-CN" altLang="en-US" noProof="1"/>
          </a:p>
        </p:txBody>
      </p:sp>
      <p:sp>
        <p:nvSpPr>
          <p:cNvPr id="8" name="Rectangle 4"/>
          <p:cNvSpPr>
            <a:spLocks noGrp="1" noChangeArrowheads="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eaLnBrk="1" hangingPunct="1">
              <a:buFontTx/>
              <a:buNone/>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fld id="{5A357252-829A-46B5-BD3C-27A33B34167D}" type="datetime1">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lgn="ctr" eaLnBrk="1" hangingPunct="1">
              <a:buFontTx/>
              <a:buNone/>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UML系统建模与分析设计</a:t>
            </a: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D954B4-D139-407D-ADFB-81BB6F5B23EB}" type="slidenum">
              <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8"/>
          <p:cNvSpPr>
            <a:spLocks noGrp="1" noChangeArrowheads="1"/>
          </p:cNvSpPr>
          <p:nvPr>
            <p:ph type="sldNum" sz="quarter" idx="4"/>
          </p:nvPr>
        </p:nvSpPr>
        <p:spPr bwMode="auto">
          <a:xfrm>
            <a:off x="7162800" y="6381750"/>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3991882-320C-4F45-9447-E98CB5E1D6B1}" type="slidenum">
              <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7" name="Rectangle 8"/>
          <p:cNvSpPr>
            <a:spLocks noGrp="1" noChangeArrowheads="1"/>
          </p:cNvSpPr>
          <p:nvPr>
            <p:ph type="sldNum" sz="quarter" idx="4"/>
          </p:nvPr>
        </p:nvSpPr>
        <p:spPr bwMode="auto">
          <a:xfrm>
            <a:off x="7162800" y="6381750"/>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779439C-3F9B-4D11-91ED-C58157EB3FD6}" type="slidenum">
              <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539750" y="1773238"/>
            <a:ext cx="3924300"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16450" y="1773238"/>
            <a:ext cx="3924300"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8"/>
          <p:cNvSpPr>
            <a:spLocks noGrp="1" noChangeArrowheads="1"/>
          </p:cNvSpPr>
          <p:nvPr>
            <p:ph type="sldNum" sz="quarter" idx="4"/>
          </p:nvPr>
        </p:nvSpPr>
        <p:spPr bwMode="auto">
          <a:xfrm>
            <a:off x="7162800" y="6381750"/>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AD731D-81DE-4610-BE2A-4783C327B08A}" type="slidenum">
              <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8"/>
          <p:cNvSpPr>
            <a:spLocks noGrp="1" noChangeArrowheads="1"/>
          </p:cNvSpPr>
          <p:nvPr>
            <p:ph type="sldNum" sz="quarter" idx="14"/>
          </p:nvPr>
        </p:nvSpPr>
        <p:spPr bwMode="auto">
          <a:xfrm>
            <a:off x="7162800" y="6381750"/>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882BDA8-4A71-4383-9FBE-D46F3BEDEADF}" type="slidenum">
              <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7" name="Rectangle 8"/>
          <p:cNvSpPr>
            <a:spLocks noGrp="1" noChangeArrowheads="1"/>
          </p:cNvSpPr>
          <p:nvPr>
            <p:ph type="sldNum" sz="quarter" idx="4"/>
          </p:nvPr>
        </p:nvSpPr>
        <p:spPr bwMode="auto">
          <a:xfrm>
            <a:off x="7162800" y="6381750"/>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0DB871E-B9F0-4BB3-85DB-2B09A126732C}" type="slidenum">
              <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sz="quarter" idx="4"/>
          </p:nvPr>
        </p:nvSpPr>
        <p:spPr bwMode="auto">
          <a:xfrm>
            <a:off x="7162800" y="6381750"/>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E9CD751-1090-4C4C-ABFB-0F242E8B9DF8}" type="slidenum">
              <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7" name="Rectangle 8"/>
          <p:cNvSpPr>
            <a:spLocks noGrp="1" noChangeArrowheads="1"/>
          </p:cNvSpPr>
          <p:nvPr>
            <p:ph type="sldNum" sz="quarter" idx="4"/>
          </p:nvPr>
        </p:nvSpPr>
        <p:spPr bwMode="auto">
          <a:xfrm>
            <a:off x="7162800" y="6381750"/>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C2C9C5B-B602-41F3-A176-C6EB5F291330}" type="slidenum">
              <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7" name="Rectangle 8"/>
          <p:cNvSpPr>
            <a:spLocks noGrp="1" noChangeArrowheads="1"/>
          </p:cNvSpPr>
          <p:nvPr>
            <p:ph type="sldNum" sz="quarter" idx="4"/>
          </p:nvPr>
        </p:nvSpPr>
        <p:spPr bwMode="auto">
          <a:xfrm>
            <a:off x="7162800" y="6381750"/>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6B1380F-FCBA-4D51-8047-31E819E226E0}" type="slidenum">
              <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8"/>
          <p:cNvSpPr>
            <a:spLocks noGrp="1" noChangeArrowheads="1"/>
          </p:cNvSpPr>
          <p:nvPr>
            <p:ph type="sldNum" sz="quarter" idx="4"/>
          </p:nvPr>
        </p:nvSpPr>
        <p:spPr bwMode="auto">
          <a:xfrm>
            <a:off x="7162800" y="6381750"/>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4CCB36-82F2-42CB-8FDD-090A87B3BD3F}" type="slidenum">
              <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67488" y="304800"/>
            <a:ext cx="2008187" cy="5932488"/>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539750" y="304800"/>
            <a:ext cx="5875338" cy="5932488"/>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8"/>
          <p:cNvSpPr>
            <a:spLocks noGrp="1" noChangeArrowheads="1"/>
          </p:cNvSpPr>
          <p:nvPr>
            <p:ph type="sldNum" sz="quarter" idx="4"/>
          </p:nvPr>
        </p:nvSpPr>
        <p:spPr bwMode="auto">
          <a:xfrm>
            <a:off x="7162800" y="6381750"/>
            <a:ext cx="19812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68FC849-1AD0-4462-BE28-CF96D9E82187}" type="slidenum">
              <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574675" y="304800"/>
            <a:ext cx="8001000" cy="1216025"/>
          </a:xfrm>
          <a:prstGeom prst="rect">
            <a:avLst/>
          </a:prstGeom>
          <a:noFill/>
          <a:ln w="9525">
            <a:noFill/>
          </a:ln>
        </p:spPr>
        <p:txBody>
          <a:bodyPr anchor="b"/>
          <a:lstStyle/>
          <a:p>
            <a:pPr lvl="0"/>
            <a:r>
              <a:rPr lang="zh-CN" altLang="en-US" dirty="0"/>
              <a:t>单击此处编辑母版标题样式</a:t>
            </a:r>
            <a:endParaRPr lang="zh-CN" altLang="en-US" dirty="0"/>
          </a:p>
        </p:txBody>
      </p:sp>
      <p:sp>
        <p:nvSpPr>
          <p:cNvPr id="1027" name="Rectangle 3"/>
          <p:cNvSpPr>
            <a:spLocks noGrp="1"/>
          </p:cNvSpPr>
          <p:nvPr>
            <p:ph type="body"/>
          </p:nvPr>
        </p:nvSpPr>
        <p:spPr>
          <a:xfrm>
            <a:off x="539750" y="1773238"/>
            <a:ext cx="8001000" cy="446405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AutoShape 4"/>
          <p:cNvSpPr/>
          <p:nvPr/>
        </p:nvSpPr>
        <p:spPr>
          <a:xfrm>
            <a:off x="609600" y="1566863"/>
            <a:ext cx="7958138" cy="109537"/>
          </a:xfrm>
          <a:custGeom>
            <a:avLst/>
            <a:gdLst/>
            <a:ahLst/>
            <a:cxnLst>
              <a:cxn ang="0">
                <a:pos x="0" y="0"/>
              </a:cxn>
              <a:cxn ang="0">
                <a:pos x="2147483646" y="0"/>
              </a:cxn>
              <a:cxn ang="0">
                <a:pos x="2147483646" y="11998354"/>
              </a:cxn>
              <a:cxn ang="0">
                <a:pos x="0" y="11998354"/>
              </a:cxn>
              <a:cxn ang="0">
                <a:pos x="0" y="0"/>
              </a:cxn>
              <a:cxn ang="0">
                <a:pos x="2147483646" y="0"/>
              </a:cxn>
            </a:cxnLst>
            <a:rect l="0" t="0" r="0" b="0"/>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lstStyle/>
          <a:p>
            <a:endParaRPr lang="zh-CN" altLang="en-US"/>
          </a:p>
        </p:txBody>
      </p:sp>
      <p:sp>
        <p:nvSpPr>
          <p:cNvPr id="1029" name="Line 5"/>
          <p:cNvSpPr/>
          <p:nvPr/>
        </p:nvSpPr>
        <p:spPr>
          <a:xfrm flipV="1">
            <a:off x="611188" y="6308725"/>
            <a:ext cx="7924800" cy="0"/>
          </a:xfrm>
          <a:prstGeom prst="line">
            <a:avLst/>
          </a:prstGeom>
          <a:ln w="3175" cap="flat" cmpd="sng">
            <a:solidFill>
              <a:schemeClr val="accent2"/>
            </a:solidFill>
            <a:prstDash val="solid"/>
            <a:headEnd type="none" w="med" len="med"/>
            <a:tailEnd type="none" w="med" len="med"/>
          </a:ln>
        </p:spPr>
      </p:sp>
      <p:sp>
        <p:nvSpPr>
          <p:cNvPr id="382984" name="Rectangle 8"/>
          <p:cNvSpPr>
            <a:spLocks noGrp="1" noChangeArrowheads="1"/>
          </p:cNvSpPr>
          <p:nvPr>
            <p:ph type="sldNum" sz="quarter" idx="4"/>
          </p:nvPr>
        </p:nvSpPr>
        <p:spPr bwMode="auto">
          <a:xfrm>
            <a:off x="7162800" y="6381750"/>
            <a:ext cx="19812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buFont typeface="Arial" panose="020B0604020202020204" pitchFamily="34" charset="0"/>
              <a:buNone/>
              <a:defRPr sz="1200" noProof="1">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73C50E6-E020-45FA-B64C-CFA3DA16F1BB}" type="slidenum">
              <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jpe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jpe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335FA9-E3E5-42B4-BBCC-36FA45BA0C7F}"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17411" name="Rectangle 2"/>
          <p:cNvSpPr>
            <a:spLocks noGrp="1"/>
          </p:cNvSpPr>
          <p:nvPr>
            <p:ph type="title"/>
          </p:nvPr>
        </p:nvSpPr>
        <p:spPr>
          <a:xfrm>
            <a:off x="571500" y="714375"/>
            <a:ext cx="7773988" cy="641350"/>
          </a:xfrm>
        </p:spPr>
        <p:txBody>
          <a:bodyPr vert="horz" wrap="square" lIns="91440" tIns="45720" rIns="91440" bIns="45720" anchor="b"/>
          <a:lstStyle/>
          <a:p>
            <a:pPr eaLnBrk="1" hangingPunct="1"/>
            <a:r>
              <a:rPr lang="zh-CN" altLang="en-US" sz="4200" dirty="0">
                <a:solidFill>
                  <a:srgbClr val="FF0000"/>
                </a:solidFill>
                <a:latin typeface="黑体" panose="02010609060101010101" pitchFamily="49" charset="-122"/>
                <a:ea typeface="黑体" panose="02010609060101010101" pitchFamily="49" charset="-122"/>
              </a:rPr>
              <a:t>第三讲 统一建模语言</a:t>
            </a:r>
            <a:r>
              <a:rPr lang="en-US" altLang="zh-CN" sz="4200" dirty="0">
                <a:solidFill>
                  <a:srgbClr val="FF0000"/>
                </a:solidFill>
                <a:latin typeface="黑体" panose="02010609060101010101" pitchFamily="49" charset="-122"/>
                <a:ea typeface="黑体" panose="02010609060101010101" pitchFamily="49" charset="-122"/>
              </a:rPr>
              <a:t>UML</a:t>
            </a:r>
            <a:endParaRPr lang="en-US" altLang="zh-CN" sz="4200" dirty="0">
              <a:solidFill>
                <a:srgbClr val="FF0000"/>
              </a:solidFill>
              <a:latin typeface="黑体" panose="02010609060101010101" pitchFamily="49" charset="-122"/>
              <a:ea typeface="黑体" panose="02010609060101010101" pitchFamily="49" charset="-122"/>
            </a:endParaRPr>
          </a:p>
        </p:txBody>
      </p:sp>
      <p:sp>
        <p:nvSpPr>
          <p:cNvPr id="17412" name="Rectangle 3"/>
          <p:cNvSpPr>
            <a:spLocks noGrp="1"/>
          </p:cNvSpPr>
          <p:nvPr>
            <p:ph idx="1"/>
          </p:nvPr>
        </p:nvSpPr>
        <p:spPr>
          <a:xfrm>
            <a:off x="657225" y="1795463"/>
            <a:ext cx="7558088" cy="685800"/>
          </a:xfrm>
        </p:spPr>
        <p:txBody>
          <a:bodyPr vert="horz" wrap="square" lIns="91440" tIns="45720" rIns="91440" bIns="45720" anchor="t"/>
          <a:lstStyle/>
          <a:p>
            <a:pPr marL="0" indent="0" algn="just" eaLnBrk="1" hangingPunct="1">
              <a:buNone/>
            </a:pPr>
            <a:r>
              <a:rPr lang="zh-CN" altLang="en-US" sz="3900" b="1" dirty="0">
                <a:latin typeface="黑体" panose="02010609060101010101" pitchFamily="49" charset="-122"/>
                <a:ea typeface="黑体" panose="02010609060101010101" pitchFamily="49" charset="-122"/>
              </a:rPr>
              <a:t>本讲目的</a:t>
            </a:r>
            <a:r>
              <a:rPr lang="zh-CN" altLang="en-US"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sp>
        <p:nvSpPr>
          <p:cNvPr id="17413" name="Rectangle 5"/>
          <p:cNvSpPr/>
          <p:nvPr/>
        </p:nvSpPr>
        <p:spPr>
          <a:xfrm>
            <a:off x="684213" y="2565400"/>
            <a:ext cx="7704137" cy="3381375"/>
          </a:xfrm>
          <a:prstGeom prst="rect">
            <a:avLst/>
          </a:prstGeom>
          <a:noFill/>
          <a:ln w="9525">
            <a:noFill/>
          </a:ln>
        </p:spPr>
        <p:txBody>
          <a:bodyPr>
            <a:spAutoFit/>
          </a:bodyPr>
          <a:lstStyle/>
          <a:p>
            <a:pPr marL="900430" indent="-357505" eaLnBrk="1" hangingPunct="1">
              <a:lnSpc>
                <a:spcPct val="110000"/>
              </a:lnSpc>
              <a:buFont typeface="Wingdings" panose="05000000000000000000" pitchFamily="2" charset="2"/>
              <a:buChar char="l"/>
            </a:pPr>
            <a:r>
              <a:rPr lang="zh-CN" altLang="en-US" sz="2800" b="1" dirty="0">
                <a:latin typeface="Arial" panose="020B0604020202020204" pitchFamily="34" charset="0"/>
                <a:ea typeface="楷体_GB2312" pitchFamily="49" charset="-122"/>
              </a:rPr>
              <a:t>掌握</a:t>
            </a:r>
            <a:r>
              <a:rPr lang="en-US" altLang="zh-CN" sz="2800" b="1" dirty="0">
                <a:latin typeface="Arial" panose="020B0604020202020204" pitchFamily="34" charset="0"/>
                <a:ea typeface="楷体_GB2312" pitchFamily="49" charset="-122"/>
              </a:rPr>
              <a:t>UML</a:t>
            </a:r>
            <a:r>
              <a:rPr lang="zh-CN" altLang="en-US" sz="2800" b="1" dirty="0">
                <a:latin typeface="Arial" panose="020B0604020202020204" pitchFamily="34" charset="0"/>
                <a:ea typeface="楷体_GB2312" pitchFamily="49" charset="-122"/>
              </a:rPr>
              <a:t>特点和基本图标元素的表示符</a:t>
            </a:r>
            <a:endParaRPr lang="zh-CN" altLang="en-US" sz="2800" b="1" dirty="0">
              <a:latin typeface="Arial" panose="020B0604020202020204" pitchFamily="34" charset="0"/>
              <a:ea typeface="楷体_GB2312" pitchFamily="49" charset="-122"/>
            </a:endParaRPr>
          </a:p>
          <a:p>
            <a:pPr marL="900430" indent="-357505" eaLnBrk="1" hangingPunct="1">
              <a:lnSpc>
                <a:spcPct val="110000"/>
              </a:lnSpc>
              <a:buFont typeface="Wingdings" panose="05000000000000000000" pitchFamily="2" charset="2"/>
              <a:buChar char="l"/>
            </a:pPr>
            <a:r>
              <a:rPr lang="zh-CN" altLang="en-US" sz="2800" b="1" dirty="0">
                <a:latin typeface="Arial" panose="020B0604020202020204" pitchFamily="34" charset="0"/>
                <a:ea typeface="楷体_GB2312" pitchFamily="49" charset="-122"/>
              </a:rPr>
              <a:t>掌握</a:t>
            </a:r>
            <a:r>
              <a:rPr lang="en-US" altLang="zh-CN" sz="2800" b="1" dirty="0">
                <a:latin typeface="Arial" panose="020B0604020202020204" pitchFamily="34" charset="0"/>
                <a:ea typeface="楷体_GB2312" pitchFamily="49" charset="-122"/>
              </a:rPr>
              <a:t>UML</a:t>
            </a:r>
            <a:r>
              <a:rPr lang="zh-CN" altLang="en-US" sz="2800" b="1" dirty="0">
                <a:latin typeface="Arial" panose="020B0604020202020204" pitchFamily="34" charset="0"/>
                <a:ea typeface="楷体_GB2312" pitchFamily="49" charset="-122"/>
              </a:rPr>
              <a:t>软件系统体系结构的</a:t>
            </a:r>
            <a:r>
              <a:rPr lang="zh-CN" altLang="en-US" sz="2800" b="1" dirty="0">
                <a:solidFill>
                  <a:srgbClr val="FF0000"/>
                </a:solidFill>
                <a:latin typeface="Arial" panose="020B0604020202020204" pitchFamily="34" charset="0"/>
                <a:ea typeface="楷体_GB2312" pitchFamily="49" charset="-122"/>
              </a:rPr>
              <a:t>五种视图</a:t>
            </a:r>
            <a:r>
              <a:rPr lang="zh-CN" altLang="en-US" sz="2800" b="1" dirty="0">
                <a:latin typeface="Arial" panose="020B0604020202020204" pitchFamily="34" charset="0"/>
                <a:ea typeface="楷体_GB2312" pitchFamily="49" charset="-122"/>
              </a:rPr>
              <a:t>和</a:t>
            </a:r>
            <a:r>
              <a:rPr lang="zh-CN" altLang="en-US" sz="2800" b="1" dirty="0">
                <a:solidFill>
                  <a:srgbClr val="FF0000"/>
                </a:solidFill>
                <a:latin typeface="Arial" panose="020B0604020202020204" pitchFamily="34" charset="0"/>
                <a:ea typeface="楷体_GB2312" pitchFamily="49" charset="-122"/>
              </a:rPr>
              <a:t>九种基本图</a:t>
            </a:r>
            <a:endParaRPr lang="zh-CN" altLang="en-US" sz="2800" b="1" dirty="0">
              <a:solidFill>
                <a:srgbClr val="FF0000"/>
              </a:solidFill>
              <a:latin typeface="Arial" panose="020B0604020202020204" pitchFamily="34" charset="0"/>
              <a:ea typeface="楷体_GB2312" pitchFamily="49" charset="-122"/>
            </a:endParaRPr>
          </a:p>
          <a:p>
            <a:pPr marL="900430" indent="-357505" eaLnBrk="1" hangingPunct="1">
              <a:lnSpc>
                <a:spcPct val="110000"/>
              </a:lnSpc>
              <a:buFont typeface="Wingdings" panose="05000000000000000000" pitchFamily="2" charset="2"/>
              <a:buChar char="l"/>
            </a:pPr>
            <a:r>
              <a:rPr lang="zh-CN" altLang="en-US" sz="2800" b="1" dirty="0">
                <a:latin typeface="Arial" panose="020B0604020202020204" pitchFamily="34" charset="0"/>
                <a:ea typeface="楷体_GB2312" pitchFamily="49" charset="-122"/>
              </a:rPr>
              <a:t>了解</a:t>
            </a:r>
            <a:r>
              <a:rPr lang="en-US" altLang="zh-CN" sz="2800" b="1" dirty="0">
                <a:latin typeface="Arial" panose="020B0604020202020204" pitchFamily="34" charset="0"/>
                <a:ea typeface="楷体_GB2312" pitchFamily="49" charset="-122"/>
              </a:rPr>
              <a:t>UML</a:t>
            </a:r>
            <a:r>
              <a:rPr lang="zh-CN" altLang="en-US" sz="2800" b="1" dirty="0">
                <a:latin typeface="Arial" panose="020B0604020202020204" pitchFamily="34" charset="0"/>
                <a:ea typeface="楷体_GB2312" pitchFamily="49" charset="-122"/>
              </a:rPr>
              <a:t>的用例模型、静态模型、动态模型的简单建模方法</a:t>
            </a:r>
            <a:endParaRPr lang="zh-CN" altLang="en-US" sz="2800" b="1" dirty="0">
              <a:latin typeface="Arial" panose="020B0604020202020204" pitchFamily="34" charset="0"/>
              <a:ea typeface="楷体_GB2312" pitchFamily="49" charset="-122"/>
            </a:endParaRPr>
          </a:p>
          <a:p>
            <a:pPr marL="900430" indent="-357505" eaLnBrk="1" hangingPunct="1">
              <a:lnSpc>
                <a:spcPct val="110000"/>
              </a:lnSpc>
              <a:buFont typeface="Wingdings" panose="05000000000000000000" pitchFamily="2" charset="2"/>
              <a:buChar char="l"/>
            </a:pPr>
            <a:r>
              <a:rPr lang="zh-CN" altLang="en-US" sz="2800" b="1" dirty="0">
                <a:latin typeface="Arial" panose="020B0604020202020204" pitchFamily="34" charset="0"/>
                <a:ea typeface="楷体_GB2312" pitchFamily="49" charset="-122"/>
              </a:rPr>
              <a:t>了解</a:t>
            </a:r>
            <a:r>
              <a:rPr lang="en-US" altLang="zh-CN" sz="2800" b="1" dirty="0">
                <a:latin typeface="Arial" panose="020B0604020202020204" pitchFamily="34" charset="0"/>
                <a:ea typeface="楷体_GB2312" pitchFamily="49" charset="-122"/>
              </a:rPr>
              <a:t>UML</a:t>
            </a:r>
            <a:r>
              <a:rPr lang="zh-CN" altLang="en-US" sz="2800" b="1" dirty="0">
                <a:latin typeface="Arial" panose="020B0604020202020204" pitchFamily="34" charset="0"/>
                <a:ea typeface="楷体_GB2312" pitchFamily="49" charset="-122"/>
              </a:rPr>
              <a:t>的系统体系结构模型</a:t>
            </a:r>
            <a:endParaRPr lang="zh-CN" altLang="en-US" sz="2800" b="1" dirty="0">
              <a:latin typeface="Arial" panose="020B0604020202020204" pitchFamily="34" charset="0"/>
              <a:ea typeface="楷体_GB2312" pitchFamily="49" charset="-122"/>
            </a:endParaRPr>
          </a:p>
          <a:p>
            <a:pPr marL="900430" indent="-357505" eaLnBrk="1" hangingPunct="1">
              <a:lnSpc>
                <a:spcPct val="110000"/>
              </a:lnSpc>
              <a:buFont typeface="Wingdings" panose="05000000000000000000" pitchFamily="2" charset="2"/>
              <a:buChar char="l"/>
            </a:pPr>
            <a:r>
              <a:rPr lang="zh-CN" altLang="en-US" sz="2800" b="1" dirty="0">
                <a:latin typeface="Arial" panose="020B0604020202020204" pitchFamily="34" charset="0"/>
                <a:ea typeface="楷体_GB2312" pitchFamily="49" charset="-122"/>
              </a:rPr>
              <a:t>掌握</a:t>
            </a:r>
            <a:r>
              <a:rPr lang="en-US" altLang="zh-CN" sz="2800" b="1" dirty="0">
                <a:latin typeface="Arial" panose="020B0604020202020204" pitchFamily="34" charset="0"/>
                <a:ea typeface="楷体_GB2312" pitchFamily="49" charset="-122"/>
              </a:rPr>
              <a:t>UML</a:t>
            </a:r>
            <a:r>
              <a:rPr lang="zh-CN" altLang="en-US" sz="2800" b="1" dirty="0">
                <a:latin typeface="Arial" panose="020B0604020202020204" pitchFamily="34" charset="0"/>
                <a:ea typeface="楷体_GB2312" pitchFamily="49" charset="-122"/>
              </a:rPr>
              <a:t>与软件开发统一过程</a:t>
            </a:r>
            <a:endParaRPr lang="zh-CN" altLang="en-US" sz="2800" b="1" dirty="0">
              <a:latin typeface="Arial" panose="020B0604020202020204" pitchFamily="34" charset="0"/>
              <a:ea typeface="楷体_GB2312"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灯片编号占位符 1"/>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AA3DFC3-FF4A-48C6-94DA-8450468AEF52}"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18435" name="Rectangle 5"/>
          <p:cNvSpPr/>
          <p:nvPr/>
        </p:nvSpPr>
        <p:spPr>
          <a:xfrm>
            <a:off x="395288" y="404813"/>
            <a:ext cx="8229600" cy="1079500"/>
          </a:xfrm>
          <a:prstGeom prst="rect">
            <a:avLst/>
          </a:prstGeom>
          <a:noFill/>
          <a:ln w="9525">
            <a:noFill/>
          </a:ln>
        </p:spPr>
        <p:txBody>
          <a:bodyPr anchor="ctr"/>
          <a:lstStyle/>
          <a:p>
            <a:pPr eaLnBrk="1" hangingPunct="1">
              <a:buFont typeface="Arial" panose="020B0604020202020204" pitchFamily="34" charset="0"/>
            </a:pPr>
            <a:r>
              <a:rPr lang="en-US" altLang="zh-CN" sz="4000" b="1" dirty="0">
                <a:solidFill>
                  <a:schemeClr val="hlink"/>
                </a:solidFill>
                <a:latin typeface="Arial" panose="020B0604020202020204" pitchFamily="34" charset="0"/>
              </a:rPr>
              <a:t>3.1 UML</a:t>
            </a:r>
            <a:r>
              <a:rPr lang="zh-CN" altLang="en-US" sz="4000" b="1" dirty="0">
                <a:solidFill>
                  <a:schemeClr val="hlink"/>
                </a:solidFill>
                <a:latin typeface="Arial" panose="020B0604020202020204" pitchFamily="34" charset="0"/>
              </a:rPr>
              <a:t>模型体系结构</a:t>
            </a:r>
            <a:endParaRPr lang="zh-CN" altLang="en-US" sz="4000" b="1" dirty="0">
              <a:solidFill>
                <a:schemeClr val="hlink"/>
              </a:solidFill>
              <a:latin typeface="Arial" panose="020B0604020202020204" pitchFamily="34" charset="0"/>
            </a:endParaRPr>
          </a:p>
        </p:txBody>
      </p:sp>
      <p:sp>
        <p:nvSpPr>
          <p:cNvPr id="18436" name="Rectangle 7"/>
          <p:cNvSpPr/>
          <p:nvPr/>
        </p:nvSpPr>
        <p:spPr>
          <a:xfrm>
            <a:off x="323850" y="2420938"/>
            <a:ext cx="8280400" cy="2428875"/>
          </a:xfrm>
          <a:prstGeom prst="rect">
            <a:avLst/>
          </a:prstGeom>
          <a:noFill/>
          <a:ln w="9525">
            <a:noFill/>
          </a:ln>
        </p:spPr>
        <p:txBody>
          <a:bodyPr>
            <a:spAutoFit/>
          </a:bodyPr>
          <a:lstStyle/>
          <a:p>
            <a:pPr marL="900430" indent="-357505" eaLnBrk="1" hangingPunct="1">
              <a:lnSpc>
                <a:spcPct val="120000"/>
              </a:lnSpc>
              <a:buFont typeface="Wingdings" panose="05000000000000000000" pitchFamily="2" charset="2"/>
            </a:pPr>
            <a:r>
              <a:rPr lang="en-US" altLang="zh-CN" sz="3200" b="1" dirty="0">
                <a:latin typeface="Arial" panose="020B0604020202020204" pitchFamily="34" charset="0"/>
                <a:ea typeface="楷体_GB2312" pitchFamily="49" charset="-122"/>
              </a:rPr>
              <a:t>      UML</a:t>
            </a:r>
            <a:r>
              <a:rPr lang="zh-CN" altLang="en-US" sz="3200" b="1" dirty="0">
                <a:latin typeface="Arial" panose="020B0604020202020204" pitchFamily="34" charset="0"/>
                <a:ea typeface="楷体_GB2312" pitchFamily="49" charset="-122"/>
              </a:rPr>
              <a:t>的价值在于它</a:t>
            </a:r>
            <a:r>
              <a:rPr lang="zh-CN" altLang="en-US" sz="3200" b="1" dirty="0">
                <a:solidFill>
                  <a:srgbClr val="FF0000"/>
                </a:solidFill>
                <a:latin typeface="Arial" panose="020B0604020202020204" pitchFamily="34" charset="0"/>
                <a:ea typeface="楷体_GB2312" pitchFamily="49" charset="-122"/>
              </a:rPr>
              <a:t>综合体现了国际上</a:t>
            </a:r>
            <a:endParaRPr lang="zh-CN" altLang="en-US" sz="3200" b="1" dirty="0">
              <a:solidFill>
                <a:srgbClr val="FF0000"/>
              </a:solidFill>
              <a:latin typeface="Arial" panose="020B0604020202020204" pitchFamily="34" charset="0"/>
              <a:ea typeface="楷体_GB2312" pitchFamily="49" charset="-122"/>
            </a:endParaRPr>
          </a:p>
          <a:p>
            <a:pPr marL="900430" indent="-357505" eaLnBrk="1" hangingPunct="1">
              <a:lnSpc>
                <a:spcPct val="120000"/>
              </a:lnSpc>
              <a:buFont typeface="Wingdings" panose="05000000000000000000" pitchFamily="2" charset="2"/>
            </a:pPr>
            <a:r>
              <a:rPr lang="zh-CN" altLang="en-US" sz="3200" b="1" dirty="0">
                <a:solidFill>
                  <a:srgbClr val="FF0000"/>
                </a:solidFill>
                <a:latin typeface="Arial" panose="020B0604020202020204" pitchFamily="34" charset="0"/>
                <a:ea typeface="楷体_GB2312" pitchFamily="49" charset="-122"/>
              </a:rPr>
              <a:t>各种面向对象方法实践的最好经验</a:t>
            </a:r>
            <a:r>
              <a:rPr lang="zh-CN" altLang="en-US" sz="3200" b="1" dirty="0">
                <a:latin typeface="Arial" panose="020B0604020202020204" pitchFamily="34" charset="0"/>
                <a:ea typeface="楷体_GB2312" pitchFamily="49" charset="-122"/>
              </a:rPr>
              <a:t>，支持</a:t>
            </a:r>
            <a:endParaRPr lang="zh-CN" altLang="en-US" sz="3200" b="1" dirty="0">
              <a:latin typeface="Arial" panose="020B0604020202020204" pitchFamily="34" charset="0"/>
              <a:ea typeface="楷体_GB2312" pitchFamily="49" charset="-122"/>
            </a:endParaRPr>
          </a:p>
          <a:p>
            <a:pPr marL="900430" indent="-357505" eaLnBrk="1" hangingPunct="1">
              <a:lnSpc>
                <a:spcPct val="120000"/>
              </a:lnSpc>
              <a:buFont typeface="Wingdings" panose="05000000000000000000" pitchFamily="2" charset="2"/>
            </a:pPr>
            <a:r>
              <a:rPr lang="zh-CN" altLang="en-US" sz="3200" b="1" dirty="0">
                <a:solidFill>
                  <a:srgbClr val="FF0000"/>
                </a:solidFill>
                <a:latin typeface="Arial" panose="020B0604020202020204" pitchFamily="34" charset="0"/>
                <a:ea typeface="楷体_GB2312" pitchFamily="49" charset="-122"/>
              </a:rPr>
              <a:t>用例驱动</a:t>
            </a:r>
            <a:r>
              <a:rPr lang="zh-CN" altLang="en-US" sz="3200" b="1" dirty="0">
                <a:latin typeface="Arial" panose="020B0604020202020204" pitchFamily="34" charset="0"/>
                <a:ea typeface="楷体_GB2312" pitchFamily="49" charset="-122"/>
              </a:rPr>
              <a:t>，以</a:t>
            </a:r>
            <a:r>
              <a:rPr lang="zh-CN" altLang="en-US" sz="3200" b="1" dirty="0">
                <a:solidFill>
                  <a:srgbClr val="FF0000"/>
                </a:solidFill>
                <a:latin typeface="Arial" panose="020B0604020202020204" pitchFamily="34" charset="0"/>
                <a:ea typeface="楷体_GB2312" pitchFamily="49" charset="-122"/>
              </a:rPr>
              <a:t>体系结构为中心</a:t>
            </a:r>
            <a:r>
              <a:rPr lang="zh-CN" altLang="en-US" sz="3200" b="1" dirty="0">
                <a:latin typeface="Arial" panose="020B0604020202020204" pitchFamily="34" charset="0"/>
                <a:ea typeface="楷体_GB2312" pitchFamily="49" charset="-122"/>
              </a:rPr>
              <a:t>、以</a:t>
            </a:r>
            <a:r>
              <a:rPr lang="zh-CN" altLang="en-US" sz="3200" b="1" dirty="0">
                <a:solidFill>
                  <a:srgbClr val="FF0000"/>
                </a:solidFill>
                <a:latin typeface="Arial" panose="020B0604020202020204" pitchFamily="34" charset="0"/>
                <a:ea typeface="楷体_GB2312" pitchFamily="49" charset="-122"/>
              </a:rPr>
              <a:t>增量和</a:t>
            </a:r>
            <a:endParaRPr lang="zh-CN" altLang="en-US" sz="3200" b="1" dirty="0">
              <a:solidFill>
                <a:srgbClr val="FF0000"/>
              </a:solidFill>
              <a:latin typeface="Arial" panose="020B0604020202020204" pitchFamily="34" charset="0"/>
              <a:ea typeface="楷体_GB2312" pitchFamily="49" charset="-122"/>
            </a:endParaRPr>
          </a:p>
          <a:p>
            <a:pPr marL="900430" indent="-357505" eaLnBrk="1" hangingPunct="1">
              <a:lnSpc>
                <a:spcPct val="120000"/>
              </a:lnSpc>
              <a:buFont typeface="Wingdings" panose="05000000000000000000" pitchFamily="2" charset="2"/>
            </a:pPr>
            <a:r>
              <a:rPr lang="zh-CN" altLang="en-US" sz="3200" b="1" dirty="0">
                <a:solidFill>
                  <a:srgbClr val="FF0000"/>
                </a:solidFill>
                <a:latin typeface="Arial" panose="020B0604020202020204" pitchFamily="34" charset="0"/>
                <a:ea typeface="楷体_GB2312" pitchFamily="49" charset="-122"/>
              </a:rPr>
              <a:t>迭代</a:t>
            </a:r>
            <a:r>
              <a:rPr lang="zh-CN" altLang="en-US" sz="3200" b="1" dirty="0">
                <a:latin typeface="Arial" panose="020B0604020202020204" pitchFamily="34" charset="0"/>
                <a:ea typeface="楷体_GB2312" pitchFamily="49" charset="-122"/>
              </a:rPr>
              <a:t>的方式进行软件开发。</a:t>
            </a:r>
            <a:endParaRPr lang="zh-CN" altLang="en-US" sz="3200" b="1" dirty="0">
              <a:latin typeface="Arial" panose="020B0604020202020204" pitchFamily="34" charset="0"/>
              <a:ea typeface="楷体_GB2312" pitchFamily="49"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灯片编号占位符 1"/>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DD38E31-8922-4D31-A1F4-841CEA1460D1}"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pic>
        <p:nvPicPr>
          <p:cNvPr id="19459" name="Picture 4"/>
          <p:cNvPicPr>
            <a:picLocks noChangeAspect="1"/>
          </p:cNvPicPr>
          <p:nvPr/>
        </p:nvPicPr>
        <p:blipFill>
          <a:blip r:embed="rId1"/>
          <a:stretch>
            <a:fillRect/>
          </a:stretch>
        </p:blipFill>
        <p:spPr>
          <a:xfrm>
            <a:off x="611188" y="1895475"/>
            <a:ext cx="8078787" cy="4962525"/>
          </a:xfrm>
          <a:prstGeom prst="rect">
            <a:avLst/>
          </a:prstGeom>
          <a:noFill/>
          <a:ln w="9525">
            <a:noFill/>
          </a:ln>
        </p:spPr>
      </p:pic>
      <p:sp>
        <p:nvSpPr>
          <p:cNvPr id="19460" name="Rectangle 5"/>
          <p:cNvSpPr/>
          <p:nvPr/>
        </p:nvSpPr>
        <p:spPr>
          <a:xfrm>
            <a:off x="468313" y="404813"/>
            <a:ext cx="8229600" cy="1079500"/>
          </a:xfrm>
          <a:prstGeom prst="rect">
            <a:avLst/>
          </a:prstGeom>
          <a:noFill/>
          <a:ln w="9525">
            <a:noFill/>
          </a:ln>
        </p:spPr>
        <p:txBody>
          <a:bodyPr anchor="ctr"/>
          <a:lstStyle/>
          <a:p>
            <a:pPr eaLnBrk="1" hangingPunct="1">
              <a:buFont typeface="Arial" panose="020B0604020202020204" pitchFamily="34" charset="0"/>
            </a:pPr>
            <a:r>
              <a:rPr lang="en-US" altLang="zh-CN" sz="4000" b="1" dirty="0">
                <a:solidFill>
                  <a:schemeClr val="hlink"/>
                </a:solidFill>
                <a:latin typeface="Arial" panose="020B0604020202020204" pitchFamily="34" charset="0"/>
              </a:rPr>
              <a:t>3.1.1  </a:t>
            </a:r>
            <a:r>
              <a:rPr lang="zh-CN" altLang="en-US" sz="4000" b="1" dirty="0">
                <a:solidFill>
                  <a:schemeClr val="hlink"/>
                </a:solidFill>
                <a:latin typeface="Arial" panose="020B0604020202020204" pitchFamily="34" charset="0"/>
              </a:rPr>
              <a:t>建模的意义</a:t>
            </a:r>
            <a:endParaRPr lang="en-US" altLang="zh-CN" sz="4000" b="1" dirty="0">
              <a:solidFill>
                <a:schemeClr val="hlink"/>
              </a:solidFill>
              <a:latin typeface="Arial" panose="020B0604020202020204" pitchFamily="34" charset="0"/>
            </a:endParaRPr>
          </a:p>
        </p:txBody>
      </p:sp>
      <p:sp>
        <p:nvSpPr>
          <p:cNvPr id="499718" name="Text Box 6"/>
          <p:cNvSpPr txBox="1"/>
          <p:nvPr/>
        </p:nvSpPr>
        <p:spPr>
          <a:xfrm>
            <a:off x="611188" y="1700213"/>
            <a:ext cx="3089275" cy="519112"/>
          </a:xfrm>
          <a:prstGeom prst="rect">
            <a:avLst/>
          </a:prstGeom>
          <a:noFill/>
          <a:ln w="12700">
            <a:noFill/>
          </a:ln>
        </p:spPr>
        <p:txBody>
          <a:bodyPr wrap="none">
            <a:spAutoFit/>
          </a:bodyPr>
          <a:lstStyle/>
          <a:p>
            <a:pPr eaLnBrk="1" hangingPunct="1">
              <a:buFont typeface="Arial" panose="020B0604020202020204" pitchFamily="34" charset="0"/>
            </a:pPr>
            <a:r>
              <a:rPr lang="zh-CN" altLang="en-US" sz="2800" b="1" dirty="0">
                <a:solidFill>
                  <a:srgbClr val="CC0066"/>
                </a:solidFill>
                <a:latin typeface="Arial" panose="020B0604020202020204" pitchFamily="34" charset="0"/>
              </a:rPr>
              <a:t>为什么需要</a:t>
            </a:r>
            <a:r>
              <a:rPr lang="en-US" altLang="zh-CN" sz="2800" b="1" dirty="0">
                <a:solidFill>
                  <a:srgbClr val="CC0066"/>
                </a:solidFill>
                <a:latin typeface="Arial" panose="020B0604020202020204" pitchFamily="34" charset="0"/>
              </a:rPr>
              <a:t>UML</a:t>
            </a:r>
            <a:r>
              <a:rPr lang="zh-CN" altLang="en-US" sz="2800" b="1" dirty="0">
                <a:solidFill>
                  <a:srgbClr val="CC0066"/>
                </a:solidFill>
                <a:latin typeface="Arial" panose="020B0604020202020204" pitchFamily="34" charset="0"/>
              </a:rPr>
              <a:t>？</a:t>
            </a:r>
            <a:endParaRPr lang="zh-CN" altLang="en-US" sz="2800" b="1" dirty="0">
              <a:solidFill>
                <a:srgbClr val="CC0066"/>
              </a:solidFill>
              <a:latin typeface="Arial" panose="020B0604020202020204" pitchFamily="34" charset="0"/>
            </a:endParaRPr>
          </a:p>
        </p:txBody>
      </p:sp>
      <p:sp>
        <p:nvSpPr>
          <p:cNvPr id="2" name="Text Box 6"/>
          <p:cNvSpPr txBox="1"/>
          <p:nvPr/>
        </p:nvSpPr>
        <p:spPr>
          <a:xfrm>
            <a:off x="4140200" y="1844675"/>
            <a:ext cx="4752975" cy="366713"/>
          </a:xfrm>
          <a:prstGeom prst="rect">
            <a:avLst/>
          </a:prstGeom>
          <a:noFill/>
          <a:ln w="12700">
            <a:noFill/>
          </a:ln>
        </p:spPr>
        <p:txBody>
          <a:bodyPr>
            <a:spAutoFit/>
          </a:bodyPr>
          <a:lstStyle/>
          <a:p>
            <a:pPr eaLnBrk="1" hangingPunct="1">
              <a:buFont typeface="Arial" panose="020B0604020202020204" pitchFamily="34" charset="0"/>
            </a:pPr>
            <a:r>
              <a:rPr lang="zh-CN" altLang="en-US" b="1" dirty="0">
                <a:solidFill>
                  <a:srgbClr val="CC0066"/>
                </a:solidFill>
                <a:latin typeface="Verdana" panose="020B0604030504040204" pitchFamily="34" charset="0"/>
              </a:rPr>
              <a:t>计算机图形学 名言：一幅图顶得上一千个字</a:t>
            </a:r>
            <a:endParaRPr lang="zh-CN" altLang="en-US" b="1" dirty="0">
              <a:solidFill>
                <a:srgbClr val="CC0066"/>
              </a:solidFill>
              <a:latin typeface="Verdan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9718"/>
                                        </p:tgtEl>
                                        <p:attrNameLst>
                                          <p:attrName>style.visibility</p:attrName>
                                        </p:attrNameLst>
                                      </p:cBhvr>
                                      <p:to>
                                        <p:strVal val="visible"/>
                                      </p:to>
                                    </p:set>
                                    <p:animEffect transition="in" filter="dissolve">
                                      <p:cBhvr>
                                        <p:cTn id="7" dur="500"/>
                                        <p:tgtEl>
                                          <p:spTgt spid="4997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18"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灯片编号占位符 1"/>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E411F76-4A23-43D9-ABEF-F39EE611594D}"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500739" name="Rectangle 3"/>
          <p:cNvSpPr txBox="1">
            <a:spLocks noGrp="1"/>
          </p:cNvSpPr>
          <p:nvPr>
            <p:ph type="body" idx="4294967295"/>
          </p:nvPr>
        </p:nvSpPr>
        <p:spPr>
          <a:xfrm>
            <a:off x="469900" y="1740535"/>
            <a:ext cx="8230235" cy="4472940"/>
          </a:xfrm>
          <a:prstGeom prst="rect">
            <a:avLst/>
          </a:prstGeom>
          <a:noFill/>
          <a:ln w="0">
            <a:noFill/>
          </a:ln>
        </p:spPr>
        <p:txBody>
          <a:bodyPr vert="horz" wrap="square" lIns="91440" tIns="45720" rIns="91440" bIns="45720" numCol="1" anchor="t">
            <a:noAutofit/>
          </a:bodyPr>
          <a:lstStyle/>
          <a:p>
            <a:pPr marL="469900" indent="-469900" algn="l" defTabSz="914400" eaLnBrk="1" fontAlgn="base" latinLnBrk="0" hangingPunct="1">
              <a:lnSpc>
                <a:spcPct val="100000"/>
              </a:lnSpc>
              <a:spcBef>
                <a:spcPts val="700"/>
              </a:spcBef>
              <a:spcAft>
                <a:spcPts val="0"/>
              </a:spcAft>
              <a:buFont typeface="Wingdings" panose="05000000000000000000"/>
              <a:buChar char="o"/>
            </a:pPr>
            <a:r>
              <a:rPr lang="zh-CN" altLang="en-US" sz="3000" b="1" i="0">
                <a:latin typeface="Verdana" panose="020B0604030504040204" pitchFamily="34" charset="0"/>
                <a:ea typeface="宋体" panose="02010600030101010101" pitchFamily="2" charset="-122"/>
                <a:cs typeface="+mn-cs"/>
              </a:rPr>
              <a:t>模型是对现实的简化，建模是为了更好地理解系统。</a:t>
            </a:r>
            <a:endParaRPr lang="ko-KR" altLang="en-US" sz="3000" b="1" i="0">
              <a:latin typeface="Verdana" panose="020B0604030504040204" pitchFamily="34" charset="0"/>
              <a:ea typeface="宋体" panose="02010600030101010101" pitchFamily="2" charset="-122"/>
              <a:cs typeface="+mn-cs"/>
            </a:endParaRPr>
          </a:p>
          <a:p>
            <a:pPr marL="908050" indent="-436880" algn="l" defTabSz="914400" eaLnBrk="1" fontAlgn="base" latinLnBrk="0" hangingPunct="1">
              <a:lnSpc>
                <a:spcPct val="100000"/>
              </a:lnSpc>
              <a:spcBef>
                <a:spcPts val="600"/>
              </a:spcBef>
              <a:spcAft>
                <a:spcPts val="0"/>
              </a:spcAft>
              <a:buFont typeface="Wingdings" panose="05000000000000000000"/>
              <a:buChar char="n"/>
            </a:pPr>
            <a:r>
              <a:rPr lang="zh-CN" altLang="en-US" sz="2600" b="1" i="0">
                <a:latin typeface="Verdana" panose="020B0604030504040204" pitchFamily="34" charset="0"/>
                <a:ea typeface="宋体" panose="02010600030101010101" pitchFamily="2" charset="-122"/>
                <a:cs typeface="+mn-cs"/>
              </a:rPr>
              <a:t>模型帮助我们按照实际情况或需求对系统可视化；</a:t>
            </a:r>
            <a:r>
              <a:rPr lang="en-US" altLang="zh-CN" sz="2600" b="1" i="0">
                <a:latin typeface="Verdana" panose="020B0604030504040204" pitchFamily="34" charset="0"/>
                <a:ea typeface="宋体" panose="02010600030101010101" pitchFamily="2" charset="-122"/>
                <a:cs typeface="+mn-cs"/>
              </a:rPr>
              <a:t>(</a:t>
            </a:r>
            <a:r>
              <a:rPr lang="zh-CN" altLang="en-US" sz="2600" b="1" i="0">
                <a:latin typeface="Verdana" panose="020B0604030504040204" pitchFamily="34" charset="0"/>
                <a:ea typeface="宋体" panose="02010600030101010101" pitchFamily="2" charset="-122"/>
                <a:cs typeface="+mn-cs"/>
              </a:rPr>
              <a:t>掌握不了文字，画幅画代替</a:t>
            </a:r>
            <a:r>
              <a:rPr lang="en-US" altLang="zh-CN" sz="2600" b="1" i="0">
                <a:latin typeface="Verdana" panose="020B0604030504040204" pitchFamily="34" charset="0"/>
                <a:ea typeface="宋体" panose="02010600030101010101" pitchFamily="2" charset="-122"/>
                <a:cs typeface="+mn-cs"/>
              </a:rPr>
              <a:t>)</a:t>
            </a:r>
            <a:endParaRPr lang="ko-KR" altLang="en-US" sz="2600" b="1" i="0">
              <a:latin typeface="Verdana" panose="020B0604030504040204" pitchFamily="34" charset="0"/>
              <a:ea typeface="宋体" panose="02010600030101010101" pitchFamily="2" charset="-122"/>
              <a:cs typeface="+mn-cs"/>
            </a:endParaRPr>
          </a:p>
          <a:p>
            <a:pPr marL="908050" indent="-436880" algn="l" defTabSz="914400" eaLnBrk="1" fontAlgn="base" latinLnBrk="0" hangingPunct="1">
              <a:lnSpc>
                <a:spcPct val="100000"/>
              </a:lnSpc>
              <a:spcBef>
                <a:spcPts val="600"/>
              </a:spcBef>
              <a:spcAft>
                <a:spcPts val="0"/>
              </a:spcAft>
              <a:buFont typeface="Wingdings" panose="05000000000000000000"/>
              <a:buChar char="n"/>
            </a:pPr>
            <a:r>
              <a:rPr lang="zh-CN" altLang="en-US" sz="2600" b="1" i="0">
                <a:latin typeface="Verdana" panose="020B0604030504040204" pitchFamily="34" charset="0"/>
                <a:ea typeface="宋体" panose="02010600030101010101" pitchFamily="2" charset="-122"/>
                <a:cs typeface="+mn-cs"/>
              </a:rPr>
              <a:t>模型允许我们详细说明系统的结构、行为；</a:t>
            </a:r>
            <a:endParaRPr lang="ko-KR" altLang="en-US" sz="2600" b="1" i="0">
              <a:latin typeface="Verdana" panose="020B0604030504040204" pitchFamily="34" charset="0"/>
              <a:ea typeface="宋体" panose="02010600030101010101" pitchFamily="2" charset="-122"/>
              <a:cs typeface="+mn-cs"/>
            </a:endParaRPr>
          </a:p>
          <a:p>
            <a:pPr marL="908050" indent="-436880" algn="l" defTabSz="914400" eaLnBrk="1" fontAlgn="base" latinLnBrk="0" hangingPunct="1">
              <a:lnSpc>
                <a:spcPct val="100000"/>
              </a:lnSpc>
              <a:spcBef>
                <a:spcPts val="600"/>
              </a:spcBef>
              <a:spcAft>
                <a:spcPts val="0"/>
              </a:spcAft>
              <a:buFont typeface="Wingdings" panose="05000000000000000000"/>
              <a:buChar char="n"/>
            </a:pPr>
            <a:r>
              <a:rPr lang="zh-CN" altLang="en-US" sz="2600" b="1" i="0">
                <a:latin typeface="Verdana" panose="020B0604030504040204" pitchFamily="34" charset="0"/>
                <a:ea typeface="宋体" panose="02010600030101010101" pitchFamily="2" charset="-122"/>
                <a:cs typeface="+mn-cs"/>
              </a:rPr>
              <a:t>模型给出了一个构造系统的模板；</a:t>
            </a:r>
            <a:endParaRPr lang="ko-KR" altLang="en-US" sz="2600" b="1" i="0">
              <a:latin typeface="Verdana" panose="020B0604030504040204" pitchFamily="34" charset="0"/>
              <a:ea typeface="宋体" panose="02010600030101010101" pitchFamily="2" charset="-122"/>
              <a:cs typeface="+mn-cs"/>
            </a:endParaRPr>
          </a:p>
          <a:p>
            <a:pPr marL="908050" indent="-436880" algn="l" defTabSz="914400" eaLnBrk="1" fontAlgn="base" latinLnBrk="0" hangingPunct="1">
              <a:lnSpc>
                <a:spcPct val="100000"/>
              </a:lnSpc>
              <a:spcBef>
                <a:spcPts val="600"/>
              </a:spcBef>
              <a:spcAft>
                <a:spcPts val="0"/>
              </a:spcAft>
              <a:buFont typeface="Wingdings" panose="05000000000000000000"/>
              <a:buChar char="n"/>
            </a:pPr>
            <a:r>
              <a:rPr lang="zh-CN" altLang="en-US" sz="2600" b="1" i="0">
                <a:latin typeface="Verdana" panose="020B0604030504040204" pitchFamily="34" charset="0"/>
                <a:ea typeface="宋体" panose="02010600030101010101" pitchFamily="2" charset="-122"/>
                <a:cs typeface="+mn-cs"/>
              </a:rPr>
              <a:t>模型对我们作出的决策进行文档化。（先有文档，再有代码）</a:t>
            </a:r>
            <a:endParaRPr lang="ko-KR" altLang="en-US" sz="2600" b="1" i="0">
              <a:latin typeface="Verdana" panose="020B0604030504040204" pitchFamily="34" charset="0"/>
              <a:ea typeface="宋体" panose="02010600030101010101" pitchFamily="2" charset="-122"/>
              <a:cs typeface="+mn-cs"/>
            </a:endParaRPr>
          </a:p>
        </p:txBody>
      </p:sp>
      <p:sp>
        <p:nvSpPr>
          <p:cNvPr id="20484" name="Rectangle 5"/>
          <p:cNvSpPr/>
          <p:nvPr/>
        </p:nvSpPr>
        <p:spPr>
          <a:xfrm>
            <a:off x="468630" y="405130"/>
            <a:ext cx="8229600" cy="1079500"/>
          </a:xfrm>
          <a:prstGeom prst="rect">
            <a:avLst/>
          </a:prstGeom>
          <a:noFill/>
          <a:ln w="9525">
            <a:noFill/>
          </a:ln>
        </p:spPr>
        <p:txBody>
          <a:bodyPr anchor="ctr"/>
          <a:lstStyle/>
          <a:p>
            <a:pPr eaLnBrk="1" hangingPunct="1">
              <a:buFont typeface="Arial" panose="020B0604020202020204" pitchFamily="34" charset="0"/>
            </a:pPr>
            <a:r>
              <a:rPr lang="en-US" altLang="zh-CN" sz="4000" b="1" dirty="0">
                <a:solidFill>
                  <a:schemeClr val="hlink"/>
                </a:solidFill>
                <a:latin typeface="Arial" panose="020B0604020202020204" pitchFamily="34" charset="0"/>
              </a:rPr>
              <a:t>3.1.1  </a:t>
            </a:r>
            <a:r>
              <a:rPr lang="zh-CN" altLang="en-US" sz="4000" b="1" dirty="0">
                <a:solidFill>
                  <a:schemeClr val="hlink"/>
                </a:solidFill>
                <a:latin typeface="Arial" panose="020B0604020202020204" pitchFamily="34" charset="0"/>
              </a:rPr>
              <a:t>建模的意义</a:t>
            </a:r>
            <a:r>
              <a:rPr lang="en-US" altLang="zh-CN" sz="4000" b="1" dirty="0">
                <a:solidFill>
                  <a:schemeClr val="hlink"/>
                </a:solidFill>
                <a:latin typeface="Arial" panose="020B0604020202020204" pitchFamily="34" charset="0"/>
              </a:rPr>
              <a:t>(Cont.)</a:t>
            </a:r>
            <a:endParaRPr lang="en-US" altLang="zh-CN" sz="4000" b="1" dirty="0">
              <a:solidFill>
                <a:schemeClr val="hlink"/>
              </a:solidFill>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灯片编号占位符 1"/>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AB08F24-3177-405B-B1DD-A909D75EB1EF}"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21507" name="Rectangle 2"/>
          <p:cNvSpPr>
            <a:spLocks noGrp="1"/>
          </p:cNvSpPr>
          <p:nvPr>
            <p:ph type="title" idx="4294967295"/>
          </p:nvPr>
        </p:nvSpPr>
        <p:spPr>
          <a:xfrm>
            <a:off x="574675" y="304800"/>
            <a:ext cx="8001635" cy="1216660"/>
          </a:xfrm>
        </p:spPr>
        <p:txBody>
          <a:bodyPr vert="horz" wrap="square" lIns="91440" tIns="45720" rIns="91440" bIns="45720" anchor="ctr"/>
          <a:lstStyle/>
          <a:p>
            <a:pPr eaLnBrk="1" hangingPunct="1"/>
            <a:r>
              <a:rPr lang="en-US" altLang="zh-CN" sz="4000" b="1" dirty="0">
                <a:solidFill>
                  <a:schemeClr val="hlink"/>
                </a:solidFill>
                <a:latin typeface="Arial" panose="020B0604020202020204" pitchFamily="34" charset="0"/>
              </a:rPr>
              <a:t>3.1.2 </a:t>
            </a:r>
            <a:r>
              <a:rPr lang="zh-CN" altLang="en-US" sz="4000" b="1" dirty="0">
                <a:solidFill>
                  <a:schemeClr val="hlink"/>
                </a:solidFill>
                <a:latin typeface="Arial" panose="020B0604020202020204" pitchFamily="34" charset="0"/>
              </a:rPr>
              <a:t>建模的原理</a:t>
            </a:r>
            <a:endParaRPr lang="zh-CN" altLang="en-US" sz="4000" b="1" dirty="0">
              <a:solidFill>
                <a:schemeClr val="hlink"/>
              </a:solidFill>
              <a:latin typeface="Arial" panose="020B0604020202020204" pitchFamily="34" charset="0"/>
            </a:endParaRPr>
          </a:p>
        </p:txBody>
      </p:sp>
      <p:sp>
        <p:nvSpPr>
          <p:cNvPr id="501763" name="Rectangle 3"/>
          <p:cNvSpPr>
            <a:spLocks noGrp="1"/>
          </p:cNvSpPr>
          <p:nvPr>
            <p:ph type="body" idx="4294967295"/>
          </p:nvPr>
        </p:nvSpPr>
        <p:spPr>
          <a:xfrm>
            <a:off x="107950" y="1981200"/>
            <a:ext cx="9144000" cy="4256405"/>
          </a:xfrm>
        </p:spPr>
        <p:txBody>
          <a:bodyPr vert="horz" wrap="square" lIns="91440" tIns="45720" rIns="91440" bIns="45720" anchor="t"/>
          <a:lstStyle/>
          <a:p>
            <a:pPr eaLnBrk="1" hangingPunct="1"/>
            <a:r>
              <a:rPr lang="zh-CN" altLang="en-US" b="1" dirty="0"/>
              <a:t>选择创建什么模型对如何动手解决问题和如何形成解决方案有意义深远的影响。</a:t>
            </a:r>
            <a:endParaRPr lang="zh-CN" altLang="en-US" b="1" dirty="0"/>
          </a:p>
          <a:p>
            <a:pPr eaLnBrk="1" hangingPunct="1"/>
            <a:r>
              <a:rPr lang="zh-CN" altLang="en-US" b="1" dirty="0"/>
              <a:t>每一种模型可以在不同的精度级别上表示。</a:t>
            </a:r>
            <a:endParaRPr lang="zh-CN" altLang="en-US" b="1" dirty="0"/>
          </a:p>
          <a:p>
            <a:pPr eaLnBrk="1" hangingPunct="1"/>
            <a:r>
              <a:rPr lang="zh-CN" altLang="en-US" b="1" dirty="0"/>
              <a:t>最好的模型可以让你根据观察的角色及原因选择它的详细程度。</a:t>
            </a:r>
            <a:endParaRPr lang="zh-CN" altLang="en-US" b="1" dirty="0"/>
          </a:p>
          <a:p>
            <a:pPr eaLnBrk="1" hangingPunct="1"/>
            <a:r>
              <a:rPr lang="zh-CN" altLang="en-US" b="1" dirty="0"/>
              <a:t>对每个系统最好用一组几乎独立的模型去处理。</a:t>
            </a:r>
            <a:endParaRPr lang="zh-CN" altLang="en-US" b="1" dirty="0"/>
          </a:p>
          <a:p>
            <a:pPr eaLnBrk="1" hangingPunct="1">
              <a:buNone/>
            </a:pPr>
            <a:endParaRPr lang="zh-CN" altLang="en-US" b="1" dirty="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灯片编号占位符 1"/>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B7DCBAE-AEC9-4E22-B4B6-3B1563FA4D72}"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22531" name="Rectangle 2"/>
          <p:cNvSpPr>
            <a:spLocks noGrp="1"/>
          </p:cNvSpPr>
          <p:nvPr>
            <p:ph type="title" idx="4294967295"/>
          </p:nvPr>
        </p:nvSpPr>
        <p:spPr>
          <a:xfrm>
            <a:off x="539750" y="260350"/>
            <a:ext cx="8229600" cy="1371600"/>
          </a:xfrm>
        </p:spPr>
        <p:txBody>
          <a:bodyPr vert="horz" wrap="square" lIns="91440" tIns="45720" rIns="91440" bIns="45720" anchor="ctr"/>
          <a:lstStyle/>
          <a:p>
            <a:pPr eaLnBrk="1" hangingPunct="1"/>
            <a:r>
              <a:rPr lang="en-US" altLang="zh-CN" dirty="0"/>
              <a:t>3.1.3 </a:t>
            </a:r>
            <a:r>
              <a:rPr lang="zh-CN" altLang="en-US" dirty="0"/>
              <a:t>选择</a:t>
            </a:r>
            <a:r>
              <a:rPr lang="en-US" altLang="zh-CN" dirty="0"/>
              <a:t>UML</a:t>
            </a:r>
            <a:endParaRPr lang="en-US" altLang="zh-CN" dirty="0"/>
          </a:p>
        </p:txBody>
      </p:sp>
      <p:sp>
        <p:nvSpPr>
          <p:cNvPr id="22532" name="Rectangle 3"/>
          <p:cNvSpPr>
            <a:spLocks noGrp="1"/>
          </p:cNvSpPr>
          <p:nvPr>
            <p:ph type="body" idx="4294967295"/>
          </p:nvPr>
        </p:nvSpPr>
        <p:spPr>
          <a:xfrm>
            <a:off x="395288" y="1631950"/>
            <a:ext cx="8636000" cy="1368425"/>
          </a:xfrm>
        </p:spPr>
        <p:txBody>
          <a:bodyPr vert="horz" wrap="square" lIns="91440" tIns="45720" rIns="91440" bIns="45720" anchor="t"/>
          <a:lstStyle/>
          <a:p>
            <a:pPr eaLnBrk="1" hangingPunct="1"/>
            <a:r>
              <a:rPr lang="zh-CN" altLang="en-US" b="1" dirty="0"/>
              <a:t>使用</a:t>
            </a:r>
            <a:r>
              <a:rPr lang="en-US" altLang="zh-CN" b="1" dirty="0"/>
              <a:t>UML</a:t>
            </a:r>
            <a:r>
              <a:rPr lang="zh-CN" altLang="en-US" b="1" dirty="0"/>
              <a:t>建立对象模型来映射现实世界</a:t>
            </a:r>
            <a:endParaRPr lang="zh-CN" altLang="en-US" b="1" dirty="0"/>
          </a:p>
          <a:p>
            <a:pPr lvl="1" eaLnBrk="1" hangingPunct="1"/>
            <a:r>
              <a:rPr lang="en-US" altLang="zh-CN" b="1" dirty="0"/>
              <a:t>UML</a:t>
            </a:r>
            <a:r>
              <a:rPr lang="zh-CN" altLang="en-US" b="1" dirty="0"/>
              <a:t>实现</a:t>
            </a:r>
            <a:r>
              <a:rPr lang="zh-CN" altLang="en-US" b="1" dirty="0">
                <a:solidFill>
                  <a:srgbClr val="FF0000"/>
                </a:solidFill>
              </a:rPr>
              <a:t>业务域</a:t>
            </a:r>
            <a:r>
              <a:rPr lang="zh-CN" altLang="en-US" b="1" dirty="0"/>
              <a:t>到</a:t>
            </a:r>
            <a:r>
              <a:rPr lang="zh-CN" altLang="en-US" b="1" dirty="0">
                <a:solidFill>
                  <a:srgbClr val="FF0000"/>
                </a:solidFill>
              </a:rPr>
              <a:t>计算机世界</a:t>
            </a:r>
            <a:r>
              <a:rPr lang="zh-CN" altLang="en-US" b="1" dirty="0"/>
              <a:t>的</a:t>
            </a:r>
            <a:r>
              <a:rPr lang="zh-CN" altLang="en-US" b="1" dirty="0">
                <a:solidFill>
                  <a:srgbClr val="FF0000"/>
                </a:solidFill>
              </a:rPr>
              <a:t>完整、有序的映射</a:t>
            </a:r>
            <a:endParaRPr lang="zh-CN" altLang="en-US" b="1" dirty="0">
              <a:solidFill>
                <a:srgbClr val="FF0000"/>
              </a:solidFill>
            </a:endParaRPr>
          </a:p>
        </p:txBody>
      </p:sp>
      <p:pic>
        <p:nvPicPr>
          <p:cNvPr id="22533" name="Picture 4"/>
          <p:cNvPicPr>
            <a:picLocks noChangeAspect="1"/>
          </p:cNvPicPr>
          <p:nvPr/>
        </p:nvPicPr>
        <p:blipFill>
          <a:blip r:embed="rId1"/>
          <a:stretch>
            <a:fillRect/>
          </a:stretch>
        </p:blipFill>
        <p:spPr>
          <a:xfrm>
            <a:off x="1708785" y="2780665"/>
            <a:ext cx="6009640" cy="3573145"/>
          </a:xfrm>
          <a:prstGeom prst="rect">
            <a:avLst/>
          </a:prstGeom>
          <a:noFill/>
          <a:ln w="9525">
            <a:noFill/>
          </a:ln>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灯片编号占位符 1"/>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85F97C0-A541-434A-8B73-FE9598B6AA65}"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23555" name="Rectangle 2"/>
          <p:cNvSpPr>
            <a:spLocks noGrp="1"/>
          </p:cNvSpPr>
          <p:nvPr>
            <p:ph type="title" idx="4294967295"/>
          </p:nvPr>
        </p:nvSpPr>
        <p:spPr>
          <a:xfrm>
            <a:off x="457200" y="185738"/>
            <a:ext cx="8229600" cy="1371600"/>
          </a:xfrm>
        </p:spPr>
        <p:txBody>
          <a:bodyPr vert="horz" wrap="square" lIns="91440" tIns="45720" rIns="91440" bIns="45720" anchor="ctr"/>
          <a:lstStyle/>
          <a:p>
            <a:pPr eaLnBrk="1" hangingPunct="1"/>
            <a:r>
              <a:rPr lang="en-US" altLang="zh-CN" b="1" dirty="0"/>
              <a:t>3.1.3 </a:t>
            </a:r>
            <a:r>
              <a:rPr lang="zh-CN" altLang="en-US" b="1" dirty="0"/>
              <a:t>选择</a:t>
            </a:r>
            <a:r>
              <a:rPr lang="en-US" altLang="zh-CN" b="1" dirty="0"/>
              <a:t>UML</a:t>
            </a:r>
            <a:r>
              <a:rPr lang="en-US" altLang="zh-CN" dirty="0"/>
              <a:t>(Cont.)</a:t>
            </a:r>
            <a:endParaRPr lang="en-US" altLang="zh-CN" dirty="0"/>
          </a:p>
        </p:txBody>
      </p:sp>
      <p:sp>
        <p:nvSpPr>
          <p:cNvPr id="23556" name="Rectangle 3"/>
          <p:cNvSpPr>
            <a:spLocks noGrp="1"/>
          </p:cNvSpPr>
          <p:nvPr>
            <p:ph type="body" idx="4294967295"/>
          </p:nvPr>
        </p:nvSpPr>
        <p:spPr>
          <a:xfrm>
            <a:off x="250825" y="1557338"/>
            <a:ext cx="8642350" cy="4608512"/>
          </a:xfrm>
        </p:spPr>
        <p:txBody>
          <a:bodyPr vert="horz" wrap="square" lIns="91440" tIns="45720" rIns="91440" bIns="45720" anchor="t"/>
          <a:lstStyle/>
          <a:p>
            <a:pPr eaLnBrk="1" hangingPunct="1"/>
            <a:r>
              <a:rPr lang="en-US" altLang="zh-CN" b="1" dirty="0"/>
              <a:t>UML</a:t>
            </a:r>
            <a:r>
              <a:rPr lang="zh-CN" altLang="en-US" b="1" dirty="0"/>
              <a:t>－－</a:t>
            </a:r>
            <a:r>
              <a:rPr lang="en-US" altLang="zh-CN" b="1" dirty="0"/>
              <a:t>Unified Modeling Language</a:t>
            </a:r>
            <a:endParaRPr lang="en-US" altLang="zh-CN" b="1" dirty="0"/>
          </a:p>
          <a:p>
            <a:pPr marL="0" indent="0" eaLnBrk="1" hangingPunct="1">
              <a:buNone/>
            </a:pPr>
            <a:endParaRPr lang="zh-CN" altLang="en-US" b="1" dirty="0"/>
          </a:p>
        </p:txBody>
      </p:sp>
      <p:sp>
        <p:nvSpPr>
          <p:cNvPr id="24579" name="Rectangle 3"/>
          <p:cNvSpPr>
            <a:spLocks noGrp="1"/>
          </p:cNvSpPr>
          <p:nvPr/>
        </p:nvSpPr>
        <p:spPr>
          <a:xfrm>
            <a:off x="251460" y="2276475"/>
            <a:ext cx="8496300" cy="2954020"/>
          </a:xfrm>
          <a:prstGeom prst="rect">
            <a:avLst/>
          </a:prstGeom>
          <a:noFill/>
          <a:ln w="9525">
            <a:noFill/>
          </a:ln>
        </p:spPr>
        <p:txBody>
          <a:bodyPr vert="horz" wrap="square" lIns="91440" tIns="45720" rIns="91440" bIns="45720" anchor="t"/>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eaLnBrk="1" hangingPunct="1"/>
            <a:r>
              <a:rPr lang="en-US" altLang="zh-CN" b="1" dirty="0"/>
              <a:t>Modeling</a:t>
            </a:r>
            <a:endParaRPr lang="en-US" altLang="zh-CN" b="1" dirty="0"/>
          </a:p>
          <a:p>
            <a:pPr lvl="1" eaLnBrk="1" hangingPunct="1"/>
            <a:r>
              <a:rPr lang="zh-CN" altLang="en-US" b="1" dirty="0"/>
              <a:t>用于</a:t>
            </a:r>
            <a:r>
              <a:rPr lang="zh-CN" altLang="en-US" b="1" dirty="0">
                <a:solidFill>
                  <a:srgbClr val="FF0000"/>
                </a:solidFill>
              </a:rPr>
              <a:t>表达现实的简化视图</a:t>
            </a:r>
            <a:r>
              <a:rPr lang="zh-CN" altLang="en-US" b="1" dirty="0"/>
              <a:t>，以便于面向对象软件系统的设计与实现</a:t>
            </a:r>
            <a:endParaRPr lang="zh-CN" altLang="en-US" b="1" dirty="0"/>
          </a:p>
          <a:p>
            <a:pPr eaLnBrk="1" hangingPunct="1"/>
            <a:r>
              <a:rPr lang="en-US" altLang="zh-CN" b="1" dirty="0"/>
              <a:t>Language</a:t>
            </a:r>
            <a:endParaRPr lang="en-US" altLang="zh-CN" b="1" dirty="0"/>
          </a:p>
          <a:p>
            <a:pPr lvl="1" eaLnBrk="1" hangingPunct="1"/>
            <a:r>
              <a:rPr lang="en-US" altLang="zh-CN" b="1" dirty="0"/>
              <a:t>UML</a:t>
            </a:r>
            <a:r>
              <a:rPr lang="zh-CN" altLang="en-US" b="1" dirty="0"/>
              <a:t>主要是遵循精确语法的</a:t>
            </a:r>
            <a:r>
              <a:rPr lang="zh-CN" altLang="en-US" b="1" dirty="0">
                <a:solidFill>
                  <a:srgbClr val="FF0000"/>
                </a:solidFill>
              </a:rPr>
              <a:t>图形语言</a:t>
            </a:r>
            <a:r>
              <a:rPr lang="zh-CN" altLang="en-US" b="1" dirty="0"/>
              <a:t>（还包括</a:t>
            </a:r>
            <a:r>
              <a:rPr lang="zh-CN" altLang="en-US" b="1" dirty="0">
                <a:solidFill>
                  <a:srgbClr val="FF0000"/>
                </a:solidFill>
              </a:rPr>
              <a:t>规则 约束 扩展机制</a:t>
            </a:r>
            <a:r>
              <a:rPr lang="zh-CN" altLang="en-US" b="1" dirty="0"/>
              <a:t>）</a:t>
            </a:r>
            <a:endParaRPr lang="zh-CN" altLang="en-US" b="1" dirty="0"/>
          </a:p>
          <a:p>
            <a:pPr lvl="1" eaLnBrk="1" hangingPunct="1"/>
            <a:endParaRPr lang="zh-CN" altLang="en-US" b="1" dirty="0"/>
          </a:p>
        </p:txBody>
      </p:sp>
      <p:sp>
        <p:nvSpPr>
          <p:cNvPr id="25604" name="Rectangle 3"/>
          <p:cNvSpPr>
            <a:spLocks noGrp="1"/>
          </p:cNvSpPr>
          <p:nvPr/>
        </p:nvSpPr>
        <p:spPr>
          <a:xfrm>
            <a:off x="250825" y="5156835"/>
            <a:ext cx="8351520" cy="1450975"/>
          </a:xfrm>
          <a:prstGeom prst="rect">
            <a:avLst/>
          </a:prstGeom>
          <a:noFill/>
          <a:ln w="9525">
            <a:noFill/>
          </a:ln>
        </p:spPr>
        <p:txBody>
          <a:bodyPr vert="horz" wrap="square" lIns="91440" tIns="45720" rIns="91440" bIns="45720" numCol="1" anchor="t">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marL="469900" indent="-469900" algn="l" defTabSz="914400" eaLnBrk="1" fontAlgn="base" latinLnBrk="0" hangingPunct="1">
              <a:lnSpc>
                <a:spcPct val="100000"/>
              </a:lnSpc>
              <a:spcBef>
                <a:spcPts val="700"/>
              </a:spcBef>
              <a:spcAft>
                <a:spcPts val="0"/>
              </a:spcAft>
              <a:buClr>
                <a:srgbClr val="FF0000"/>
              </a:buClr>
              <a:buFont typeface="Wingdings" panose="05000000000000000000"/>
              <a:buChar char="o"/>
            </a:pPr>
            <a:r>
              <a:rPr sz="2800" b="1" i="0">
                <a:solidFill>
                  <a:srgbClr val="FF0000"/>
                </a:solidFill>
                <a:latin typeface="Verdana" panose="020B0604030504040204" pitchFamily="34" charset="0"/>
                <a:ea typeface="宋体" panose="02010600030101010101" pitchFamily="2" charset="-122"/>
                <a:cs typeface="+mn-cs"/>
              </a:rPr>
              <a:t>UML目标</a:t>
            </a:r>
            <a:r>
              <a:rPr lang="zh-CN" altLang="en-US" sz="2800" b="1" i="0">
                <a:latin typeface="Verdana" panose="020B0604030504040204" pitchFamily="34" charset="0"/>
                <a:ea typeface="宋体" panose="02010600030101010101" pitchFamily="2" charset="-122"/>
                <a:cs typeface="+mn-cs"/>
              </a:rPr>
              <a:t>：提供全面的建模语言（为所有事情所有人），便于开发组所有成员交流与通信。</a:t>
            </a:r>
            <a:endParaRPr lang="zh-CN" altLang="en-US" sz="2800" b="1" i="0">
              <a:latin typeface="Verdana" panose="020B0604030504040204" pitchFamily="34" charset="0"/>
              <a:ea typeface="宋体" panose="02010600030101010101" pitchFamily="2" charset="-122"/>
              <a:cs typeface="+mn-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灯片编号占位符 1"/>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384225A-9307-4417-A24C-B2570C0F09ED}"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27651" name="Rectangle 2"/>
          <p:cNvSpPr>
            <a:spLocks noGrp="1"/>
          </p:cNvSpPr>
          <p:nvPr>
            <p:ph type="title" idx="4294967295"/>
          </p:nvPr>
        </p:nvSpPr>
        <p:spPr>
          <a:xfrm>
            <a:off x="574675" y="304800"/>
            <a:ext cx="8001635" cy="1216660"/>
          </a:xfrm>
        </p:spPr>
        <p:txBody>
          <a:bodyPr vert="horz" wrap="square" lIns="91440" tIns="45720" rIns="91440" bIns="45720" numCol="1" anchor="ctr">
            <a:noAutofit/>
          </a:bodyPr>
          <a:lstStyle/>
          <a:p>
            <a:pPr marL="0" indent="0" algn="l" defTabSz="914400" eaLnBrk="1" fontAlgn="base" latinLnBrk="0" hangingPunct="1">
              <a:lnSpc>
                <a:spcPct val="100000"/>
              </a:lnSpc>
              <a:spcBef>
                <a:spcPts val="0"/>
              </a:spcBef>
              <a:spcAft>
                <a:spcPts val="0"/>
              </a:spcAft>
              <a:buFontTx/>
              <a:buNone/>
            </a:pPr>
            <a:r>
              <a:rPr sz="3800" b="0" i="0">
                <a:solidFill>
                  <a:srgbClr val="FF0000"/>
                </a:solidFill>
                <a:latin typeface="微软雅黑" panose="020B0503020204020204" charset="-122"/>
                <a:ea typeface="微软雅黑" panose="020B0503020204020204" charset="-122"/>
              </a:rPr>
              <a:t>3.1.4  UML的特点</a:t>
            </a:r>
            <a:endParaRPr lang="ko-KR" altLang="en-US" sz="3800" b="0" i="0">
              <a:solidFill>
                <a:srgbClr val="FF0000"/>
              </a:solidFill>
              <a:latin typeface="微软雅黑" panose="020B0503020204020204" charset="-122"/>
              <a:ea typeface="微软雅黑" panose="020B0503020204020204" charset="-122"/>
            </a:endParaRPr>
          </a:p>
        </p:txBody>
      </p:sp>
      <p:sp>
        <p:nvSpPr>
          <p:cNvPr id="488451" name="Rectangle 3"/>
          <p:cNvSpPr>
            <a:spLocks noGrp="1"/>
          </p:cNvSpPr>
          <p:nvPr>
            <p:ph type="body" idx="4294967295"/>
          </p:nvPr>
        </p:nvSpPr>
        <p:spPr>
          <a:xfrm>
            <a:off x="467360" y="1916430"/>
            <a:ext cx="8686800" cy="3886200"/>
          </a:xfrm>
        </p:spPr>
        <p:txBody>
          <a:bodyPr vert="horz" wrap="square" lIns="91440" tIns="45720" rIns="91440" bIns="45720" anchor="t"/>
          <a:lstStyle/>
          <a:p>
            <a:pPr eaLnBrk="1" hangingPunct="1"/>
            <a:r>
              <a:rPr lang="zh-CN" altLang="en-US" b="1" dirty="0"/>
              <a:t>统一的标准</a:t>
            </a:r>
            <a:r>
              <a:rPr lang="en-US" altLang="zh-CN" b="1" dirty="0"/>
              <a:t>, </a:t>
            </a:r>
            <a:r>
              <a:rPr lang="zh-CN" altLang="en-US" b="1" dirty="0"/>
              <a:t>已经被</a:t>
            </a:r>
            <a:r>
              <a:rPr lang="en-US" altLang="zh-CN" b="1" dirty="0"/>
              <a:t>OMG</a:t>
            </a:r>
            <a:r>
              <a:rPr lang="zh-CN" altLang="en-US" b="1" dirty="0"/>
              <a:t>（</a:t>
            </a:r>
            <a:r>
              <a:rPr lang="en-US" altLang="zh-CN" b="1" dirty="0"/>
              <a:t> Object Management Group </a:t>
            </a:r>
            <a:r>
              <a:rPr lang="zh-CN" altLang="en-US" b="1" dirty="0"/>
              <a:t>）接受为</a:t>
            </a:r>
            <a:r>
              <a:rPr lang="zh-CN" altLang="en-US" b="1" dirty="0">
                <a:solidFill>
                  <a:srgbClr val="FF0000"/>
                </a:solidFill>
              </a:rPr>
              <a:t>标准建模语言</a:t>
            </a:r>
            <a:endParaRPr lang="zh-CN" altLang="en-US" b="1" dirty="0">
              <a:solidFill>
                <a:srgbClr val="FF0000"/>
              </a:solidFill>
            </a:endParaRPr>
          </a:p>
          <a:p>
            <a:pPr eaLnBrk="1" hangingPunct="1"/>
            <a:r>
              <a:rPr lang="zh-CN" altLang="en-US" b="1" dirty="0"/>
              <a:t>面向对象</a:t>
            </a:r>
            <a:r>
              <a:rPr lang="en-US" altLang="zh-CN" b="1" dirty="0"/>
              <a:t>, </a:t>
            </a:r>
            <a:r>
              <a:rPr lang="zh-CN" altLang="en-US" b="1" dirty="0"/>
              <a:t>支持面向对象开发</a:t>
            </a:r>
            <a:endParaRPr lang="zh-CN" altLang="en-US" b="1" dirty="0"/>
          </a:p>
          <a:p>
            <a:pPr eaLnBrk="1" hangingPunct="1"/>
            <a:r>
              <a:rPr lang="zh-CN" altLang="en-US" b="1" dirty="0"/>
              <a:t>可视化</a:t>
            </a:r>
            <a:r>
              <a:rPr lang="en-US" altLang="zh-CN" b="1" dirty="0"/>
              <a:t>, </a:t>
            </a:r>
            <a:r>
              <a:rPr lang="zh-CN" altLang="en-US" b="1" dirty="0"/>
              <a:t>表示能力强</a:t>
            </a:r>
            <a:endParaRPr lang="zh-CN" altLang="en-US" b="1" dirty="0"/>
          </a:p>
          <a:p>
            <a:pPr eaLnBrk="1" hangingPunct="1"/>
            <a:r>
              <a:rPr lang="zh-CN" altLang="en-US" b="1" dirty="0"/>
              <a:t>独立于开发过程</a:t>
            </a:r>
            <a:r>
              <a:rPr lang="en-US" altLang="zh-CN" b="1" dirty="0"/>
              <a:t>, </a:t>
            </a:r>
            <a:r>
              <a:rPr lang="zh-CN" altLang="en-US" b="1" dirty="0"/>
              <a:t>可以适用于不同软件过程</a:t>
            </a:r>
            <a:endParaRPr lang="zh-CN" altLang="en-US" b="1" dirty="0"/>
          </a:p>
          <a:p>
            <a:pPr eaLnBrk="1" hangingPunct="1"/>
            <a:r>
              <a:rPr lang="zh-CN" altLang="en-US" b="1" dirty="0"/>
              <a:t>概念明确</a:t>
            </a:r>
            <a:r>
              <a:rPr lang="en-US" altLang="zh-CN" b="1" dirty="0"/>
              <a:t>, </a:t>
            </a:r>
            <a:r>
              <a:rPr lang="zh-CN" altLang="en-US" b="1" dirty="0"/>
              <a:t>表示简洁</a:t>
            </a:r>
            <a:r>
              <a:rPr lang="en-US" altLang="zh-CN" b="1" dirty="0"/>
              <a:t>, </a:t>
            </a:r>
            <a:r>
              <a:rPr lang="zh-CN" altLang="en-US" b="1" dirty="0"/>
              <a:t>结构清晰</a:t>
            </a:r>
            <a:r>
              <a:rPr lang="en-US" altLang="zh-CN" b="1" dirty="0"/>
              <a:t>, </a:t>
            </a:r>
            <a:r>
              <a:rPr lang="zh-CN" altLang="en-US" b="1" dirty="0"/>
              <a:t>容易学习掌握</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88451">
                                            <p:txEl>
                                              <p:pRg st="50" end="65"/>
                                            </p:txEl>
                                          </p:spTgt>
                                        </p:tgtEl>
                                        <p:attrNameLst>
                                          <p:attrName>style.visibility</p:attrName>
                                        </p:attrNameLst>
                                      </p:cBhvr>
                                      <p:to>
                                        <p:strVal val="visible"/>
                                      </p:to>
                                    </p:set>
                                    <p:animEffect transition="in" filter="wipe(up)">
                                      <p:cBhvr>
                                        <p:cTn id="7" dur="500"/>
                                        <p:tgtEl>
                                          <p:spTgt spid="488451">
                                            <p:txEl>
                                              <p:pRg st="50" end="6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88451">
                                            <p:txEl>
                                              <p:pRg st="65" end="76"/>
                                            </p:txEl>
                                          </p:spTgt>
                                        </p:tgtEl>
                                        <p:attrNameLst>
                                          <p:attrName>style.visibility</p:attrName>
                                        </p:attrNameLst>
                                      </p:cBhvr>
                                      <p:to>
                                        <p:strVal val="visible"/>
                                      </p:to>
                                    </p:set>
                                    <p:animEffect transition="in" filter="wipe(up)">
                                      <p:cBhvr>
                                        <p:cTn id="12" dur="500"/>
                                        <p:tgtEl>
                                          <p:spTgt spid="488451">
                                            <p:txEl>
                                              <p:pRg st="65" end="7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88451">
                                            <p:txEl>
                                              <p:pRg st="76" end="97"/>
                                            </p:txEl>
                                          </p:spTgt>
                                        </p:tgtEl>
                                        <p:attrNameLst>
                                          <p:attrName>style.visibility</p:attrName>
                                        </p:attrNameLst>
                                      </p:cBhvr>
                                      <p:to>
                                        <p:strVal val="visible"/>
                                      </p:to>
                                    </p:set>
                                    <p:animEffect transition="in" filter="wipe(up)">
                                      <p:cBhvr>
                                        <p:cTn id="17" dur="500"/>
                                        <p:tgtEl>
                                          <p:spTgt spid="488451">
                                            <p:txEl>
                                              <p:pRg st="76" end="9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88451">
                                            <p:txEl>
                                              <p:pRg st="97" end="122"/>
                                            </p:txEl>
                                          </p:spTgt>
                                        </p:tgtEl>
                                        <p:attrNameLst>
                                          <p:attrName>style.visibility</p:attrName>
                                        </p:attrNameLst>
                                      </p:cBhvr>
                                      <p:to>
                                        <p:strVal val="visible"/>
                                      </p:to>
                                    </p:set>
                                    <p:animEffect transition="in" filter="wipe(up)">
                                      <p:cBhvr>
                                        <p:cTn id="22" dur="500"/>
                                        <p:tgtEl>
                                          <p:spTgt spid="488451">
                                            <p:txEl>
                                              <p:pRg st="97" end="12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灯片编号占位符 1"/>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26FC5CD-CA82-4C08-BC9C-5D09C7AA2547}"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28675" name="Rectangle 2"/>
          <p:cNvSpPr>
            <a:spLocks noGrp="1"/>
          </p:cNvSpPr>
          <p:nvPr>
            <p:ph type="title" idx="4294967295"/>
          </p:nvPr>
        </p:nvSpPr>
        <p:spPr>
          <a:xfrm>
            <a:off x="428625" y="109220"/>
            <a:ext cx="7327900" cy="745490"/>
          </a:xfrm>
        </p:spPr>
        <p:txBody>
          <a:bodyPr vert="horz" wrap="square" lIns="91440" tIns="45720" rIns="91440" bIns="45720" numCol="1" anchor="ctr">
            <a:noAutofit/>
          </a:bodyPr>
          <a:lstStyle/>
          <a:p>
            <a:pPr marL="0" indent="0" algn="l" defTabSz="914400" eaLnBrk="1" fontAlgn="base" latinLnBrk="0" hangingPunct="1">
              <a:lnSpc>
                <a:spcPct val="100000"/>
              </a:lnSpc>
              <a:spcBef>
                <a:spcPts val="0"/>
              </a:spcBef>
              <a:spcAft>
                <a:spcPts val="0"/>
              </a:spcAft>
              <a:buFontTx/>
              <a:buNone/>
            </a:pPr>
            <a:r>
              <a:rPr lang="en-US" altLang="zh-CN" sz="3600" i="0">
                <a:solidFill>
                  <a:srgbClr val="FF0000"/>
                </a:solidFill>
                <a:latin typeface="微软雅黑" panose="020B0503020204020204" charset="-122"/>
                <a:ea typeface="微软雅黑" panose="020B0503020204020204" charset="-122"/>
                <a:cs typeface="微软雅黑" panose="020B0503020204020204" charset="-122"/>
              </a:rPr>
              <a:t> </a:t>
            </a:r>
            <a:r>
              <a:rPr lang="zh-CN" sz="3600" i="0">
                <a:solidFill>
                  <a:srgbClr val="FF0000"/>
                </a:solidFill>
                <a:latin typeface="微软雅黑" panose="020B0503020204020204" charset="-122"/>
                <a:ea typeface="微软雅黑" panose="020B0503020204020204" charset="-122"/>
                <a:cs typeface="微软雅黑" panose="020B0503020204020204" charset="-122"/>
              </a:rPr>
              <a:t>如何</a:t>
            </a:r>
            <a:r>
              <a:rPr sz="3600" i="0">
                <a:solidFill>
                  <a:srgbClr val="FF0000"/>
                </a:solidFill>
                <a:latin typeface="微软雅黑" panose="020B0503020204020204" charset="-122"/>
                <a:ea typeface="微软雅黑" panose="020B0503020204020204" charset="-122"/>
                <a:cs typeface="微软雅黑" panose="020B0503020204020204" charset="-122"/>
              </a:rPr>
              <a:t>理解UML的特点</a:t>
            </a:r>
            <a:endParaRPr lang="ko-KR" altLang="en-US" sz="3600" i="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28676" name="Rectangle 3"/>
          <p:cNvSpPr>
            <a:spLocks noGrp="1"/>
          </p:cNvSpPr>
          <p:nvPr>
            <p:ph type="body" idx="4294967295"/>
          </p:nvPr>
        </p:nvSpPr>
        <p:spPr>
          <a:xfrm>
            <a:off x="428625" y="951230"/>
            <a:ext cx="8585835" cy="5180330"/>
          </a:xfrm>
          <a:solidFill>
            <a:schemeClr val="bg1">
              <a:alpha val="100000"/>
            </a:schemeClr>
          </a:solidFill>
        </p:spPr>
        <p:txBody>
          <a:bodyPr vert="horz" wrap="square" lIns="91440" tIns="45720" rIns="91440" bIns="45720" numCol="1" anchor="t">
            <a:noAutofit/>
          </a:bodyPr>
          <a:lstStyle/>
          <a:p>
            <a:pPr marL="469900" indent="-469900" algn="l" defTabSz="914400" eaLnBrk="1" fontAlgn="base" latinLnBrk="0" hangingPunct="1">
              <a:lnSpc>
                <a:spcPct val="90000"/>
              </a:lnSpc>
              <a:spcBef>
                <a:spcPts val="600"/>
              </a:spcBef>
              <a:spcAft>
                <a:spcPts val="0"/>
              </a:spcAft>
              <a:buFont typeface="Wingdings" panose="05000000000000000000"/>
              <a:buChar char="o"/>
            </a:pPr>
            <a:r>
              <a:rPr lang="en-US" altLang="zh-CN" sz="2600" b="1" i="0">
                <a:latin typeface="Verdana" panose="020B0604030504040204" pitchFamily="34" charset="0"/>
                <a:ea typeface="宋体" panose="02010600030101010101" pitchFamily="2" charset="-122"/>
                <a:cs typeface="+mn-cs"/>
              </a:rPr>
              <a:t>UML</a:t>
            </a:r>
            <a:r>
              <a:rPr lang="zh-CN" altLang="en-US" sz="2600" b="1" i="0">
                <a:latin typeface="Verdana" panose="020B0604030504040204" pitchFamily="34" charset="0"/>
                <a:ea typeface="宋体" panose="02010600030101010101" pitchFamily="2" charset="-122"/>
                <a:cs typeface="+mn-cs"/>
              </a:rPr>
              <a:t>是一种语言</a:t>
            </a:r>
            <a:endParaRPr lang="ko-KR" altLang="en-US" sz="2600" b="1" i="0">
              <a:latin typeface="Verdana" panose="020B0604030504040204" pitchFamily="34" charset="0"/>
              <a:ea typeface="宋体" panose="02010600030101010101" pitchFamily="2" charset="-122"/>
              <a:cs typeface="+mn-cs"/>
            </a:endParaRPr>
          </a:p>
          <a:p>
            <a:pPr marL="908050" indent="-436880" algn="l" defTabSz="914400" eaLnBrk="1" fontAlgn="base" latinLnBrk="0" hangingPunct="1">
              <a:lnSpc>
                <a:spcPct val="90000"/>
              </a:lnSpc>
              <a:spcBef>
                <a:spcPts val="600"/>
              </a:spcBef>
              <a:spcAft>
                <a:spcPts val="0"/>
              </a:spcAft>
              <a:buFont typeface="Wingdings" panose="05000000000000000000"/>
              <a:buChar char="n"/>
            </a:pPr>
            <a:r>
              <a:rPr lang="zh-CN" altLang="en-US" sz="2400" b="1" i="0">
                <a:latin typeface="Verdana" panose="020B0604030504040204" pitchFamily="34" charset="0"/>
                <a:ea typeface="宋体" panose="02010600030101010101" pitchFamily="2" charset="-122"/>
                <a:cs typeface="+mn-cs"/>
              </a:rPr>
              <a:t>遵循特定的规则</a:t>
            </a:r>
            <a:endParaRPr lang="ko-KR" altLang="en-US" sz="2400" b="1" i="0">
              <a:latin typeface="Verdana" panose="020B0604030504040204" pitchFamily="34" charset="0"/>
              <a:ea typeface="宋体" panose="02010600030101010101" pitchFamily="2" charset="-122"/>
              <a:cs typeface="+mn-cs"/>
            </a:endParaRPr>
          </a:p>
          <a:p>
            <a:pPr marL="908050" indent="-436880" algn="l" defTabSz="914400" eaLnBrk="1" fontAlgn="base" latinLnBrk="0" hangingPunct="1">
              <a:lnSpc>
                <a:spcPct val="90000"/>
              </a:lnSpc>
              <a:spcBef>
                <a:spcPts val="600"/>
              </a:spcBef>
              <a:spcAft>
                <a:spcPts val="0"/>
              </a:spcAft>
              <a:buFont typeface="Wingdings" panose="05000000000000000000"/>
              <a:buChar char="n"/>
            </a:pPr>
            <a:r>
              <a:rPr lang="zh-CN" altLang="en-US" sz="2400" b="1" i="0">
                <a:latin typeface="Verdana" panose="020B0604030504040204" pitchFamily="34" charset="0"/>
                <a:ea typeface="宋体" panose="02010600030101010101" pitchFamily="2" charset="-122"/>
                <a:cs typeface="+mn-cs"/>
              </a:rPr>
              <a:t>允许创建各种模型</a:t>
            </a:r>
            <a:endParaRPr lang="ko-KR" altLang="en-US" sz="2400" b="1" i="0">
              <a:latin typeface="Verdana" panose="020B0604030504040204" pitchFamily="34" charset="0"/>
              <a:ea typeface="宋体" panose="02010600030101010101" pitchFamily="2" charset="-122"/>
              <a:cs typeface="+mn-cs"/>
            </a:endParaRPr>
          </a:p>
          <a:p>
            <a:pPr marL="469900" indent="-469900" algn="l" defTabSz="914400" eaLnBrk="1" fontAlgn="base" latinLnBrk="0" hangingPunct="1">
              <a:lnSpc>
                <a:spcPct val="90000"/>
              </a:lnSpc>
              <a:spcBef>
                <a:spcPts val="700"/>
              </a:spcBef>
              <a:spcAft>
                <a:spcPts val="0"/>
              </a:spcAft>
              <a:buFont typeface="Wingdings" panose="05000000000000000000"/>
              <a:buChar char="o"/>
            </a:pPr>
            <a:r>
              <a:rPr lang="en-US" altLang="zh-CN" sz="2800" b="1" i="0">
                <a:latin typeface="Verdana" panose="020B0604030504040204" pitchFamily="34" charset="0"/>
                <a:ea typeface="宋体" panose="02010600030101010101" pitchFamily="2" charset="-122"/>
                <a:cs typeface="+mn-cs"/>
              </a:rPr>
              <a:t>UML</a:t>
            </a:r>
            <a:r>
              <a:rPr lang="zh-CN" altLang="en-US" sz="2800" b="1" i="0">
                <a:latin typeface="Verdana" panose="020B0604030504040204" pitchFamily="34" charset="0"/>
                <a:ea typeface="宋体" panose="02010600030101010101" pitchFamily="2" charset="-122"/>
                <a:cs typeface="+mn-cs"/>
              </a:rPr>
              <a:t>是</a:t>
            </a:r>
            <a:r>
              <a:rPr sz="2800" b="1" i="0">
                <a:solidFill>
                  <a:schemeClr val="accent2"/>
                </a:solidFill>
                <a:latin typeface="Verdana" panose="020B0604030504040204" pitchFamily="34" charset="0"/>
                <a:ea typeface="宋体" panose="02010600030101010101" pitchFamily="2" charset="-122"/>
                <a:cs typeface="+mn-cs"/>
              </a:rPr>
              <a:t>可视化语言</a:t>
            </a:r>
            <a:endParaRPr lang="ko-KR" altLang="en-US" sz="2800" b="1" i="0">
              <a:latin typeface="Verdana" panose="020B0604030504040204" pitchFamily="34" charset="0"/>
              <a:ea typeface="宋体" panose="02010600030101010101" pitchFamily="2" charset="-122"/>
              <a:cs typeface="+mn-cs"/>
            </a:endParaRPr>
          </a:p>
          <a:p>
            <a:pPr marL="908050" indent="-436880" algn="l" defTabSz="914400" eaLnBrk="1" fontAlgn="base" latinLnBrk="0" hangingPunct="1">
              <a:lnSpc>
                <a:spcPct val="90000"/>
              </a:lnSpc>
              <a:spcBef>
                <a:spcPts val="600"/>
              </a:spcBef>
              <a:spcAft>
                <a:spcPts val="0"/>
              </a:spcAft>
              <a:buFont typeface="Wingdings" panose="05000000000000000000"/>
              <a:buChar char="n"/>
            </a:pPr>
            <a:r>
              <a:rPr lang="en-US" altLang="zh-CN" sz="2400" b="1" i="0">
                <a:latin typeface="Verdana" panose="020B0604030504040204" pitchFamily="34" charset="0"/>
                <a:ea typeface="宋体" panose="02010600030101010101" pitchFamily="2" charset="-122"/>
                <a:cs typeface="+mn-cs"/>
              </a:rPr>
              <a:t>UML</a:t>
            </a:r>
            <a:r>
              <a:rPr lang="zh-CN" altLang="en-US" sz="2400" b="1" i="0">
                <a:latin typeface="Verdana" panose="020B0604030504040204" pitchFamily="34" charset="0"/>
                <a:ea typeface="宋体" panose="02010600030101010101" pitchFamily="2" charset="-122"/>
                <a:cs typeface="+mn-cs"/>
              </a:rPr>
              <a:t>是</a:t>
            </a:r>
            <a:r>
              <a:rPr sz="2400" b="1" i="0">
                <a:solidFill>
                  <a:srgbClr val="FF0000"/>
                </a:solidFill>
                <a:latin typeface="Verdana" panose="020B0604030504040204" pitchFamily="34" charset="0"/>
                <a:ea typeface="宋体" panose="02010600030101010101" pitchFamily="2" charset="-122"/>
                <a:cs typeface="+mn-cs"/>
              </a:rPr>
              <a:t>图形化语言</a:t>
            </a:r>
            <a:endParaRPr lang="ko-KR" altLang="en-US" sz="2400" b="1" i="0">
              <a:latin typeface="Verdana" panose="020B0604030504040204" pitchFamily="34" charset="0"/>
              <a:ea typeface="宋体" panose="02010600030101010101" pitchFamily="2" charset="-122"/>
              <a:cs typeface="+mn-cs"/>
            </a:endParaRPr>
          </a:p>
          <a:p>
            <a:pPr marL="908050" indent="-436880" algn="l" defTabSz="914400" eaLnBrk="1" fontAlgn="base" latinLnBrk="0" hangingPunct="1">
              <a:lnSpc>
                <a:spcPct val="90000"/>
              </a:lnSpc>
              <a:spcBef>
                <a:spcPts val="600"/>
              </a:spcBef>
              <a:spcAft>
                <a:spcPts val="0"/>
              </a:spcAft>
              <a:buFont typeface="Wingdings" panose="05000000000000000000"/>
              <a:buChar char="n"/>
            </a:pPr>
            <a:r>
              <a:rPr lang="zh-CN" altLang="en-US" sz="2400" b="1" i="0">
                <a:latin typeface="Verdana" panose="020B0604030504040204" pitchFamily="34" charset="0"/>
                <a:ea typeface="宋体" panose="02010600030101010101" pitchFamily="2" charset="-122"/>
                <a:cs typeface="+mn-cs"/>
              </a:rPr>
              <a:t>图形便于交流（一幅图抵上千文字）</a:t>
            </a:r>
            <a:endParaRPr lang="ko-KR" altLang="en-US" sz="2400" b="1" i="0">
              <a:latin typeface="Verdana" panose="020B0604030504040204" pitchFamily="34" charset="0"/>
              <a:ea typeface="宋体" panose="02010600030101010101" pitchFamily="2" charset="-122"/>
              <a:cs typeface="+mn-cs"/>
            </a:endParaRPr>
          </a:p>
        </p:txBody>
      </p:sp>
      <p:sp>
        <p:nvSpPr>
          <p:cNvPr id="29700" name="Rectangle 28"/>
          <p:cNvSpPr/>
          <p:nvPr/>
        </p:nvSpPr>
        <p:spPr>
          <a:xfrm>
            <a:off x="428625" y="3644900"/>
            <a:ext cx="8506460" cy="2538095"/>
          </a:xfrm>
          <a:prstGeom prst="rect">
            <a:avLst/>
          </a:prstGeom>
          <a:noFill/>
          <a:ln w="9525">
            <a:noFill/>
          </a:ln>
        </p:spPr>
        <p:txBody>
          <a:bodyPr vert="horz" wrap="square" lIns="91440" tIns="45720" rIns="91440" bIns="45720" numCol="1" anchor="t">
            <a:noAutofit/>
          </a:bodyPr>
          <a:p>
            <a:pPr marL="457200" indent="-457200" algn="l" defTabSz="914400" eaLnBrk="1" hangingPunct="1">
              <a:lnSpc>
                <a:spcPct val="85000"/>
              </a:lnSpc>
              <a:spcBef>
                <a:spcPts val="800"/>
              </a:spcBef>
              <a:spcAft>
                <a:spcPts val="0"/>
              </a:spcAft>
              <a:buClr>
                <a:srgbClr val="C00000"/>
              </a:buClr>
              <a:buFont typeface="Wingdings" panose="05000000000000000000" charset="0"/>
              <a:buChar char="p"/>
            </a:pPr>
            <a:r>
              <a:rPr lang="en-US" altLang="zh-CN" sz="2400" b="1" i="0" kern="0"/>
              <a:t>UML</a:t>
            </a:r>
            <a:r>
              <a:rPr lang="en-US" altLang="zh-CN" sz="2400" b="1" i="0" kern="0">
                <a:ea typeface="宋体" panose="02010600030101010101" pitchFamily="2" charset="-122"/>
                <a:cs typeface="+mn-cs"/>
              </a:rPr>
              <a:t>是用于</a:t>
            </a:r>
            <a:r>
              <a:rPr lang="en-US" altLang="zh-CN" sz="2400" b="1" i="0" kern="0">
                <a:solidFill>
                  <a:srgbClr val="FF0000"/>
                </a:solidFill>
                <a:ea typeface="宋体" panose="02010600030101010101" pitchFamily="2" charset="-122"/>
                <a:cs typeface="+mn-cs"/>
              </a:rPr>
              <a:t>构造系统</a:t>
            </a:r>
            <a:r>
              <a:rPr lang="en-US" altLang="zh-CN" sz="2400" b="1" i="0" kern="0">
                <a:ea typeface="宋体" panose="02010600030101010101" pitchFamily="2" charset="-122"/>
                <a:cs typeface="+mn-cs"/>
              </a:rPr>
              <a:t>或</a:t>
            </a:r>
            <a:r>
              <a:rPr lang="en-US" altLang="zh-CN" sz="2400" b="1" i="0" kern="0">
                <a:solidFill>
                  <a:srgbClr val="FF0000"/>
                </a:solidFill>
                <a:ea typeface="宋体" panose="02010600030101010101" pitchFamily="2" charset="-122"/>
                <a:cs typeface="+mn-cs"/>
              </a:rPr>
              <a:t>理解系统</a:t>
            </a:r>
            <a:r>
              <a:rPr lang="en-US" altLang="zh-CN" sz="2400" b="1" i="0" kern="0">
                <a:ea typeface="宋体" panose="02010600030101010101" pitchFamily="2" charset="-122"/>
                <a:cs typeface="+mn-cs"/>
              </a:rPr>
              <a:t>的语言</a:t>
            </a:r>
            <a:endParaRPr lang="en-US" altLang="zh-CN" sz="2400" b="1" i="0" kern="0">
              <a:ea typeface="宋体" panose="02010600030101010101" pitchFamily="2" charset="-122"/>
              <a:cs typeface="+mn-cs"/>
            </a:endParaRPr>
          </a:p>
          <a:p>
            <a:pPr marL="800100" indent="-342900" algn="l" defTabSz="914400" eaLnBrk="1" hangingPunct="1">
              <a:lnSpc>
                <a:spcPct val="85000"/>
              </a:lnSpc>
              <a:spcBef>
                <a:spcPts val="600"/>
              </a:spcBef>
              <a:spcAft>
                <a:spcPts val="0"/>
              </a:spcAft>
              <a:buClr>
                <a:srgbClr val="C00000"/>
              </a:buClr>
              <a:buFont typeface="Wingdings" panose="05000000000000000000" charset="0"/>
              <a:buChar char="n"/>
            </a:pPr>
            <a:r>
              <a:rPr lang="en-US" altLang="zh-CN" sz="2400" b="1" i="0" kern="0"/>
              <a:t>UML</a:t>
            </a:r>
            <a:r>
              <a:rPr lang="en-US" altLang="zh-CN" sz="2400" b="1" i="0" kern="0">
                <a:ea typeface="宋体" panose="02010600030101010101" pitchFamily="2" charset="-122"/>
                <a:cs typeface="+mn-cs"/>
              </a:rPr>
              <a:t>既支持正向工程，又支持反向工程</a:t>
            </a:r>
            <a:endParaRPr lang="en-US" altLang="zh-CN" sz="2400" b="1" i="0" kern="0">
              <a:ea typeface="宋体" panose="02010600030101010101" pitchFamily="2" charset="-122"/>
              <a:cs typeface="+mn-cs"/>
            </a:endParaRPr>
          </a:p>
          <a:p>
            <a:pPr marL="457200" indent="-457200" algn="l" defTabSz="914400" eaLnBrk="1" hangingPunct="1">
              <a:lnSpc>
                <a:spcPct val="85000"/>
              </a:lnSpc>
              <a:spcBef>
                <a:spcPts val="800"/>
              </a:spcBef>
              <a:spcAft>
                <a:spcPts val="0"/>
              </a:spcAft>
              <a:buClr>
                <a:srgbClr val="C00000"/>
              </a:buClr>
              <a:buFont typeface="Wingdings" panose="05000000000000000000" charset="0"/>
              <a:buChar char="p"/>
            </a:pPr>
            <a:r>
              <a:rPr lang="en-US" altLang="zh-CN" sz="2400" b="1" i="0" kern="0"/>
              <a:t>UML</a:t>
            </a:r>
            <a:r>
              <a:rPr lang="en-US" altLang="zh-CN" sz="2400" b="1" i="0" kern="0">
                <a:ea typeface="宋体" panose="02010600030101010101" pitchFamily="2" charset="-122"/>
                <a:cs typeface="+mn-cs"/>
              </a:rPr>
              <a:t>是</a:t>
            </a:r>
            <a:r>
              <a:rPr lang="en-US" altLang="zh-CN" sz="2400" b="1" i="0" kern="0">
                <a:solidFill>
                  <a:srgbClr val="FF0000"/>
                </a:solidFill>
                <a:ea typeface="宋体" panose="02010600030101010101" pitchFamily="2" charset="-122"/>
                <a:cs typeface="+mn-cs"/>
              </a:rPr>
              <a:t>文档化语言</a:t>
            </a:r>
            <a:endParaRPr lang="en-US" altLang="zh-CN" sz="2400" b="1" i="0" kern="0">
              <a:ea typeface="宋体" panose="02010600030101010101" pitchFamily="2" charset="-122"/>
              <a:cs typeface="+mn-cs"/>
            </a:endParaRPr>
          </a:p>
          <a:p>
            <a:pPr marL="800100" indent="-342900" algn="l" defTabSz="914400" eaLnBrk="1" hangingPunct="1">
              <a:lnSpc>
                <a:spcPct val="85000"/>
              </a:lnSpc>
              <a:spcBef>
                <a:spcPts val="600"/>
              </a:spcBef>
              <a:spcAft>
                <a:spcPts val="0"/>
              </a:spcAft>
              <a:buClr>
                <a:srgbClr val="C00000"/>
              </a:buClr>
              <a:buFont typeface="Wingdings" panose="05000000000000000000" charset="0"/>
              <a:buChar char="n"/>
            </a:pPr>
            <a:r>
              <a:rPr lang="en-US" altLang="zh-CN" sz="2400" b="1" i="0" kern="0">
                <a:ea typeface="宋体" panose="02010600030101010101" pitchFamily="2" charset="-122"/>
                <a:cs typeface="+mn-cs"/>
              </a:rPr>
              <a:t>将所构造的系统用图形方式记录下来</a:t>
            </a:r>
            <a:endParaRPr lang="en-US" altLang="zh-CN" sz="2400" b="1" i="0" kern="0">
              <a:ea typeface="宋体" panose="02010600030101010101" pitchFamily="2" charset="-122"/>
              <a:cs typeface="+mn-cs"/>
            </a:endParaRPr>
          </a:p>
          <a:p>
            <a:pPr marL="800100" indent="-342900" algn="l" defTabSz="914400" eaLnBrk="1" hangingPunct="1">
              <a:lnSpc>
                <a:spcPct val="85000"/>
              </a:lnSpc>
              <a:spcBef>
                <a:spcPts val="600"/>
              </a:spcBef>
              <a:spcAft>
                <a:spcPts val="0"/>
              </a:spcAft>
              <a:buClr>
                <a:srgbClr val="C00000"/>
              </a:buClr>
              <a:buFont typeface="Wingdings" panose="05000000000000000000" charset="0"/>
              <a:buChar char="n"/>
            </a:pPr>
            <a:r>
              <a:rPr lang="en-US" altLang="zh-CN" sz="2400" b="1" i="0" kern="0">
                <a:ea typeface="宋体" panose="02010600030101010101" pitchFamily="2" charset="-122"/>
                <a:cs typeface="+mn-cs"/>
              </a:rPr>
              <a:t>便于新程序员跟进</a:t>
            </a:r>
            <a:endParaRPr lang="en-US" altLang="zh-CN" sz="2400" b="1" i="0" kern="0">
              <a:ea typeface="宋体" panose="02010600030101010101" pitchFamily="2" charset="-122"/>
              <a:cs typeface="+mn-cs"/>
            </a:endParaRPr>
          </a:p>
          <a:p>
            <a:pPr marL="800100" indent="-342900" algn="l" defTabSz="914400" eaLnBrk="1" hangingPunct="1">
              <a:lnSpc>
                <a:spcPct val="85000"/>
              </a:lnSpc>
              <a:spcBef>
                <a:spcPts val="600"/>
              </a:spcBef>
              <a:spcAft>
                <a:spcPts val="0"/>
              </a:spcAft>
              <a:buClr>
                <a:srgbClr val="C00000"/>
              </a:buClr>
              <a:buFont typeface="Wingdings" panose="05000000000000000000" charset="0"/>
              <a:buChar char="n"/>
            </a:pPr>
            <a:r>
              <a:rPr lang="en-US" altLang="zh-CN" sz="2400" b="1" i="0" kern="0">
                <a:ea typeface="宋体" panose="02010600030101010101" pitchFamily="2" charset="-122"/>
                <a:cs typeface="+mn-cs"/>
              </a:rPr>
              <a:t>开发产品新版本时很有用</a:t>
            </a:r>
            <a:endParaRPr lang="en-US" altLang="zh-CN" sz="2400" b="1" i="0" kern="0">
              <a:ea typeface="宋体" panose="02010600030101010101" pitchFamily="2" charset="-122"/>
              <a:cs typeface="+mn-cs"/>
            </a:endParaRPr>
          </a:p>
          <a:p>
            <a:pPr marL="742950" indent="-285750" algn="l" defTabSz="914400" eaLnBrk="1" fontAlgn="base" latinLnBrk="0" hangingPunct="1">
              <a:lnSpc>
                <a:spcPct val="90000"/>
              </a:lnSpc>
              <a:spcBef>
                <a:spcPts val="600"/>
              </a:spcBef>
              <a:spcAft>
                <a:spcPts val="0"/>
              </a:spcAft>
              <a:buClr>
                <a:srgbClr val="CC0000"/>
              </a:buClr>
              <a:buSzPct val="80000"/>
              <a:buFont typeface="Wingdings" panose="05000000000000000000"/>
              <a:buChar char="¨"/>
            </a:pPr>
            <a:endParaRPr lang="ko-KR" altLang="en-US" sz="1800" b="1" i="0">
              <a:latin typeface="Arial" panose="020B0604020202020204" pitchFamily="34" charset="0"/>
              <a:ea typeface="宋体" panose="02010600030101010101" pitchFamily="2" charset="-122"/>
              <a:cs typeface="+mn-cs"/>
            </a:endParaRPr>
          </a:p>
          <a:p>
            <a:pPr marL="342900" indent="-342900" algn="l" defTabSz="914400" eaLnBrk="1" fontAlgn="base" latinLnBrk="0" hangingPunct="1">
              <a:lnSpc>
                <a:spcPct val="90000"/>
              </a:lnSpc>
              <a:spcBef>
                <a:spcPts val="800"/>
              </a:spcBef>
              <a:spcAft>
                <a:spcPts val="0"/>
              </a:spcAft>
              <a:buClr>
                <a:srgbClr val="DDDDDD"/>
              </a:buClr>
              <a:buSzPct val="75000"/>
              <a:buFont typeface="Wingdings" panose="05000000000000000000"/>
              <a:buChar char="n"/>
            </a:pPr>
            <a:endParaRPr lang="ko-KR" altLang="en-US" sz="1800" b="1" i="0">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84B490A-DB3F-4B85-9AFC-64027D2D1E51}"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30723" name="Rectangle 2"/>
          <p:cNvSpPr/>
          <p:nvPr/>
        </p:nvSpPr>
        <p:spPr>
          <a:xfrm>
            <a:off x="539750" y="855345"/>
            <a:ext cx="7493635" cy="645160"/>
          </a:xfrm>
          <a:prstGeom prst="rect">
            <a:avLst/>
          </a:prstGeom>
          <a:noFill/>
          <a:ln w="9525">
            <a:noFill/>
          </a:ln>
        </p:spPr>
        <p:txBody>
          <a:bodyPr vert="horz" wrap="squar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sz="3600" b="1" i="0">
                <a:solidFill>
                  <a:srgbClr val="FF0000"/>
                </a:solidFill>
                <a:latin typeface="黑体" panose="02010609060101010101" pitchFamily="49" charset="-122"/>
                <a:ea typeface="黑体" panose="02010609060101010101" pitchFamily="49" charset="-122"/>
              </a:rPr>
              <a:t>3.1.5 软件系统体系结构的描述</a:t>
            </a:r>
            <a:endParaRPr lang="ko-KR" altLang="en-US" sz="3600" b="1" i="0">
              <a:latin typeface="黑体" panose="02010609060101010101" pitchFamily="49" charset="-122"/>
              <a:ea typeface="黑体" panose="02010609060101010101" pitchFamily="49" charset="-122"/>
            </a:endParaRPr>
          </a:p>
        </p:txBody>
      </p:sp>
      <p:sp>
        <p:nvSpPr>
          <p:cNvPr id="30724" name="Rectangle 3"/>
          <p:cNvSpPr/>
          <p:nvPr/>
        </p:nvSpPr>
        <p:spPr>
          <a:xfrm>
            <a:off x="500380" y="2565400"/>
            <a:ext cx="8232140" cy="3338195"/>
          </a:xfrm>
          <a:prstGeom prst="rect">
            <a:avLst/>
          </a:prstGeom>
          <a:noFill/>
          <a:ln w="9525">
            <a:noFill/>
          </a:ln>
        </p:spPr>
        <p:txBody>
          <a:bodyPr wrap="square">
            <a:spAutoFit/>
          </a:bodyPr>
          <a:lstStyle/>
          <a:p>
            <a:pPr marL="800100" indent="-356870" defTabSz="800100" eaLnBrk="1" hangingPunct="1">
              <a:spcBef>
                <a:spcPts val="600"/>
              </a:spcBef>
              <a:buFont typeface="Wingdings" panose="05000000000000000000" pitchFamily="2" charset="2"/>
              <a:buChar char="l"/>
            </a:pPr>
            <a:r>
              <a:rPr lang="zh-CN" altLang="en-US" sz="2800" b="1" dirty="0">
                <a:solidFill>
                  <a:schemeClr val="accent2"/>
                </a:solidFill>
                <a:latin typeface="Arial" panose="020B0604020202020204" pitchFamily="34" charset="0"/>
                <a:ea typeface="楷体_GB2312" pitchFamily="49" charset="-122"/>
              </a:rPr>
              <a:t>作用</a:t>
            </a:r>
            <a:r>
              <a:rPr lang="zh-CN" altLang="en-US" sz="2800" b="1" dirty="0">
                <a:latin typeface="Arial" panose="020B0604020202020204" pitchFamily="34" charset="0"/>
                <a:ea typeface="楷体_GB2312" pitchFamily="49" charset="-122"/>
              </a:rPr>
              <a:t>：描述系统的功能需求，找出用例和执行者；</a:t>
            </a:r>
            <a:endParaRPr lang="zh-CN" altLang="en-US" sz="2800" b="1" dirty="0">
              <a:latin typeface="Arial" panose="020B0604020202020204" pitchFamily="34" charset="0"/>
              <a:ea typeface="楷体_GB2312" pitchFamily="49" charset="-122"/>
            </a:endParaRPr>
          </a:p>
          <a:p>
            <a:pPr marL="800100" indent="-356870" defTabSz="800100" eaLnBrk="1" hangingPunct="1">
              <a:spcBef>
                <a:spcPts val="600"/>
              </a:spcBef>
              <a:buFont typeface="Wingdings" panose="05000000000000000000" pitchFamily="2" charset="2"/>
              <a:buChar char="l"/>
            </a:pPr>
            <a:r>
              <a:rPr lang="zh-CN" altLang="en-US" sz="2800" b="1" dirty="0">
                <a:solidFill>
                  <a:schemeClr val="accent2"/>
                </a:solidFill>
                <a:latin typeface="Arial" panose="020B0604020202020204" pitchFamily="34" charset="0"/>
                <a:ea typeface="楷体_GB2312" pitchFamily="49" charset="-122"/>
              </a:rPr>
              <a:t>适用对象</a:t>
            </a:r>
            <a:r>
              <a:rPr lang="zh-CN" altLang="en-US" sz="2800" b="1" dirty="0">
                <a:latin typeface="Arial" panose="020B0604020202020204" pitchFamily="34" charset="0"/>
                <a:ea typeface="楷体_GB2312" pitchFamily="49" charset="-122"/>
              </a:rPr>
              <a:t>：客户、分析者、设计者、开发者和测试者；</a:t>
            </a:r>
            <a:endParaRPr lang="zh-CN" altLang="en-US" sz="2800" b="1" dirty="0">
              <a:latin typeface="Arial" panose="020B0604020202020204" pitchFamily="34" charset="0"/>
              <a:ea typeface="楷体_GB2312" pitchFamily="49" charset="-122"/>
            </a:endParaRPr>
          </a:p>
          <a:p>
            <a:pPr marL="800100" indent="-356870" defTabSz="800100" eaLnBrk="1" hangingPunct="1">
              <a:spcBef>
                <a:spcPts val="600"/>
              </a:spcBef>
              <a:buFont typeface="Wingdings" panose="05000000000000000000" pitchFamily="2" charset="2"/>
              <a:buChar char="l"/>
            </a:pPr>
            <a:r>
              <a:rPr lang="zh-CN" altLang="en-US" sz="2800" b="1" dirty="0">
                <a:solidFill>
                  <a:schemeClr val="accent2"/>
                </a:solidFill>
                <a:latin typeface="Arial" panose="020B0604020202020204" pitchFamily="34" charset="0"/>
                <a:ea typeface="楷体_GB2312" pitchFamily="49" charset="-122"/>
              </a:rPr>
              <a:t>描述使用的图</a:t>
            </a:r>
            <a:r>
              <a:rPr lang="zh-CN" altLang="en-US" sz="2800" b="1" dirty="0">
                <a:latin typeface="Arial" panose="020B0604020202020204" pitchFamily="34" charset="0"/>
                <a:ea typeface="楷体_GB2312" pitchFamily="49" charset="-122"/>
              </a:rPr>
              <a:t>：用例图和活动图；</a:t>
            </a:r>
            <a:endParaRPr lang="zh-CN" altLang="en-US" sz="2800" b="1" dirty="0">
              <a:latin typeface="Arial" panose="020B0604020202020204" pitchFamily="34" charset="0"/>
              <a:ea typeface="楷体_GB2312" pitchFamily="49" charset="-122"/>
            </a:endParaRPr>
          </a:p>
          <a:p>
            <a:pPr marL="800100" indent="-356870" defTabSz="800100" eaLnBrk="1" hangingPunct="1">
              <a:spcBef>
                <a:spcPts val="600"/>
              </a:spcBef>
              <a:buFont typeface="Wingdings" panose="05000000000000000000" pitchFamily="2" charset="2"/>
              <a:buChar char="l"/>
            </a:pPr>
            <a:r>
              <a:rPr lang="zh-CN" altLang="en-US" sz="2800" b="1" dirty="0">
                <a:solidFill>
                  <a:schemeClr val="accent2"/>
                </a:solidFill>
                <a:latin typeface="Arial" panose="020B0604020202020204" pitchFamily="34" charset="0"/>
                <a:ea typeface="楷体_GB2312" pitchFamily="49" charset="-122"/>
              </a:rPr>
              <a:t>重要性</a:t>
            </a:r>
            <a:r>
              <a:rPr lang="zh-CN" altLang="en-US" sz="2800" b="1" dirty="0">
                <a:latin typeface="Arial" panose="020B0604020202020204" pitchFamily="34" charset="0"/>
                <a:ea typeface="楷体_GB2312" pitchFamily="49" charset="-122"/>
              </a:rPr>
              <a:t>：系统的中心，它决定了其他视图的开发，用于确认和最终验证系统。</a:t>
            </a:r>
            <a:r>
              <a:rPr lang="zh-CN" altLang="en-US" sz="2800" dirty="0">
                <a:latin typeface="Arial" panose="020B0604020202020204" pitchFamily="34" charset="0"/>
                <a:ea typeface="楷体_GB2312" pitchFamily="49" charset="-122"/>
              </a:rPr>
              <a:t> </a:t>
            </a:r>
            <a:endParaRPr lang="zh-CN" altLang="en-US" sz="2800" dirty="0">
              <a:latin typeface="Arial" panose="020B0604020202020204" pitchFamily="34" charset="0"/>
              <a:ea typeface="楷体_GB2312" pitchFamily="49" charset="-122"/>
            </a:endParaRPr>
          </a:p>
        </p:txBody>
      </p:sp>
      <p:sp>
        <p:nvSpPr>
          <p:cNvPr id="30725" name="Rectangle 4"/>
          <p:cNvSpPr/>
          <p:nvPr/>
        </p:nvSpPr>
        <p:spPr>
          <a:xfrm>
            <a:off x="468630" y="1773555"/>
            <a:ext cx="4824095" cy="518795"/>
          </a:xfrm>
          <a:prstGeom prst="rect">
            <a:avLst/>
          </a:prstGeom>
          <a:noFill/>
          <a:ln w="9525">
            <a:noFill/>
          </a:ln>
        </p:spPr>
        <p:txBody>
          <a:bodyPr>
            <a:spAutoFit/>
          </a:bodyPr>
          <a:lstStyle/>
          <a:p>
            <a:pPr eaLnBrk="1" hangingPunct="1">
              <a:buFont typeface="Arial" panose="020B0604020202020204" pitchFamily="34" charset="0"/>
            </a:pPr>
            <a:r>
              <a:rPr lang="en-US" altLang="zh-CN" sz="2800" b="1" dirty="0">
                <a:solidFill>
                  <a:schemeClr val="accent2"/>
                </a:solidFill>
                <a:latin typeface="黑体" panose="02010609060101010101" pitchFamily="49" charset="-122"/>
                <a:ea typeface="黑体" panose="02010609060101010101" pitchFamily="49" charset="-122"/>
              </a:rPr>
              <a:t>1</a:t>
            </a:r>
            <a:r>
              <a:rPr lang="zh-CN" altLang="en-US" sz="2800" b="1" dirty="0">
                <a:solidFill>
                  <a:schemeClr val="accent2"/>
                </a:solidFill>
                <a:latin typeface="黑体" panose="02010609060101010101" pitchFamily="49" charset="-122"/>
                <a:ea typeface="黑体" panose="02010609060101010101" pitchFamily="49" charset="-122"/>
              </a:rPr>
              <a:t>．用例视图</a:t>
            </a:r>
            <a:endParaRPr lang="zh-CN" altLang="en-US" sz="2800" b="1" dirty="0">
              <a:solidFill>
                <a:schemeClr val="accent2"/>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B76F6FB-47AC-45C7-8AAA-0243BE3BE30A}"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31747" name="Rectangle 2"/>
          <p:cNvSpPr/>
          <p:nvPr/>
        </p:nvSpPr>
        <p:spPr>
          <a:xfrm>
            <a:off x="539750" y="981075"/>
            <a:ext cx="4824413" cy="519113"/>
          </a:xfrm>
          <a:prstGeom prst="rect">
            <a:avLst/>
          </a:prstGeom>
          <a:noFill/>
          <a:ln w="9525">
            <a:noFill/>
          </a:ln>
        </p:spPr>
        <p:txBody>
          <a:bodyPr>
            <a:spAutoFit/>
          </a:bodyPr>
          <a:lstStyle/>
          <a:p>
            <a:pPr eaLnBrk="1" hangingPunct="1">
              <a:buFont typeface="Arial" panose="020B0604020202020204" pitchFamily="34" charset="0"/>
            </a:pPr>
            <a:r>
              <a:rPr lang="en-US" altLang="zh-CN" sz="2800" b="1" dirty="0">
                <a:solidFill>
                  <a:schemeClr val="accent2"/>
                </a:solidFill>
                <a:latin typeface="黑体" panose="02010609060101010101" pitchFamily="49" charset="-122"/>
                <a:ea typeface="黑体" panose="02010609060101010101" pitchFamily="49" charset="-122"/>
              </a:rPr>
              <a:t>2</a:t>
            </a:r>
            <a:r>
              <a:rPr lang="zh-CN" altLang="en-US" sz="2800" b="1" dirty="0">
                <a:solidFill>
                  <a:schemeClr val="accent2"/>
                </a:solidFill>
                <a:latin typeface="黑体" panose="02010609060101010101" pitchFamily="49" charset="-122"/>
                <a:ea typeface="黑体" panose="02010609060101010101" pitchFamily="49" charset="-122"/>
              </a:rPr>
              <a:t>．逻辑视图</a:t>
            </a:r>
            <a:endParaRPr lang="zh-CN" altLang="en-US" sz="2800" b="1" dirty="0">
              <a:solidFill>
                <a:schemeClr val="accent2"/>
              </a:solidFill>
              <a:latin typeface="黑体" panose="02010609060101010101" pitchFamily="49" charset="-122"/>
              <a:ea typeface="黑体" panose="02010609060101010101" pitchFamily="49" charset="-122"/>
            </a:endParaRPr>
          </a:p>
        </p:txBody>
      </p:sp>
      <p:sp>
        <p:nvSpPr>
          <p:cNvPr id="31748" name="Rectangle 3"/>
          <p:cNvSpPr/>
          <p:nvPr/>
        </p:nvSpPr>
        <p:spPr>
          <a:xfrm>
            <a:off x="683260" y="2060575"/>
            <a:ext cx="7755890" cy="3787140"/>
          </a:xfrm>
          <a:prstGeom prst="rect">
            <a:avLst/>
          </a:prstGeom>
          <a:noFill/>
          <a:ln w="9525">
            <a:noFill/>
          </a:ln>
        </p:spPr>
        <p:txBody>
          <a:bodyPr wrap="square">
            <a:noAutofit/>
          </a:bodyPr>
          <a:lstStyle/>
          <a:p>
            <a:pPr marL="800100" indent="-356870" defTabSz="800100" eaLnBrk="1" hangingPunct="1">
              <a:lnSpc>
                <a:spcPct val="125000"/>
              </a:lnSpc>
              <a:spcBef>
                <a:spcPts val="600"/>
              </a:spcBef>
              <a:buFont typeface="Wingdings" panose="05000000000000000000" pitchFamily="2" charset="2"/>
              <a:buChar char="l"/>
            </a:pPr>
            <a:r>
              <a:rPr lang="zh-CN" altLang="en-US" sz="2800" b="1" dirty="0">
                <a:solidFill>
                  <a:schemeClr val="accent2"/>
                </a:solidFill>
                <a:latin typeface="Arial" panose="020B0604020202020204" pitchFamily="34" charset="0"/>
                <a:ea typeface="楷体_GB2312" pitchFamily="49" charset="-122"/>
              </a:rPr>
              <a:t>作用</a:t>
            </a:r>
            <a:r>
              <a:rPr lang="zh-CN" altLang="en-US" sz="2800" b="1" dirty="0">
                <a:latin typeface="Arial" panose="020B0604020202020204" pitchFamily="34" charset="0"/>
                <a:ea typeface="楷体_GB2312" pitchFamily="49" charset="-122"/>
              </a:rPr>
              <a:t>：描述如何实现系统内部的功能</a:t>
            </a:r>
            <a:r>
              <a:rPr lang="zh-CN" altLang="en-US" sz="2800" dirty="0">
                <a:latin typeface="Arial" panose="020B0604020202020204" pitchFamily="34" charset="0"/>
                <a:ea typeface="楷体_GB2312" pitchFamily="49" charset="-122"/>
              </a:rPr>
              <a:t> </a:t>
            </a:r>
            <a:r>
              <a:rPr lang="zh-CN" altLang="en-US" sz="2800" b="1" dirty="0">
                <a:latin typeface="Arial" panose="020B0604020202020204" pitchFamily="34" charset="0"/>
                <a:ea typeface="楷体_GB2312" pitchFamily="49" charset="-122"/>
              </a:rPr>
              <a:t>；</a:t>
            </a:r>
            <a:endParaRPr lang="zh-CN" altLang="en-US" sz="2800" b="1" dirty="0">
              <a:latin typeface="Arial" panose="020B0604020202020204" pitchFamily="34" charset="0"/>
              <a:ea typeface="楷体_GB2312" pitchFamily="49" charset="-122"/>
            </a:endParaRPr>
          </a:p>
          <a:p>
            <a:pPr marL="800100" indent="-356870" defTabSz="800100" eaLnBrk="1" hangingPunct="1">
              <a:lnSpc>
                <a:spcPct val="125000"/>
              </a:lnSpc>
              <a:spcBef>
                <a:spcPts val="600"/>
              </a:spcBef>
              <a:buFont typeface="Wingdings" panose="05000000000000000000" pitchFamily="2" charset="2"/>
              <a:buChar char="l"/>
            </a:pPr>
            <a:r>
              <a:rPr lang="zh-CN" altLang="en-US" sz="2800" b="1" dirty="0">
                <a:solidFill>
                  <a:schemeClr val="accent2"/>
                </a:solidFill>
                <a:latin typeface="Arial" panose="020B0604020202020204" pitchFamily="34" charset="0"/>
                <a:ea typeface="楷体_GB2312" pitchFamily="49" charset="-122"/>
              </a:rPr>
              <a:t>适用对象</a:t>
            </a:r>
            <a:r>
              <a:rPr lang="zh-CN" altLang="en-US" sz="2800" b="1" dirty="0">
                <a:latin typeface="Arial" panose="020B0604020202020204" pitchFamily="34" charset="0"/>
                <a:ea typeface="楷体_GB2312" pitchFamily="49" charset="-122"/>
              </a:rPr>
              <a:t>：分析者、设计者、开发者</a:t>
            </a:r>
            <a:r>
              <a:rPr lang="zh-CN" altLang="en-US" sz="2800" dirty="0">
                <a:latin typeface="Arial" panose="020B0604020202020204" pitchFamily="34" charset="0"/>
                <a:ea typeface="楷体_GB2312" pitchFamily="49" charset="-122"/>
              </a:rPr>
              <a:t> </a:t>
            </a:r>
            <a:r>
              <a:rPr lang="zh-CN" altLang="en-US" sz="2800" b="1" dirty="0">
                <a:latin typeface="Arial" panose="020B0604020202020204" pitchFamily="34" charset="0"/>
                <a:ea typeface="楷体_GB2312" pitchFamily="49" charset="-122"/>
              </a:rPr>
              <a:t>；</a:t>
            </a:r>
            <a:endParaRPr lang="zh-CN" altLang="en-US" sz="2800" b="1" dirty="0">
              <a:latin typeface="Arial" panose="020B0604020202020204" pitchFamily="34" charset="0"/>
              <a:ea typeface="楷体_GB2312" pitchFamily="49" charset="-122"/>
            </a:endParaRPr>
          </a:p>
          <a:p>
            <a:pPr marL="800100" indent="-356870" defTabSz="800100" eaLnBrk="1" hangingPunct="1">
              <a:lnSpc>
                <a:spcPct val="125000"/>
              </a:lnSpc>
              <a:spcBef>
                <a:spcPts val="600"/>
              </a:spcBef>
              <a:buFont typeface="Wingdings" panose="05000000000000000000" pitchFamily="2" charset="2"/>
              <a:buChar char="l"/>
            </a:pPr>
            <a:r>
              <a:rPr lang="zh-CN" altLang="en-US" sz="2800" b="1" dirty="0">
                <a:solidFill>
                  <a:schemeClr val="accent2"/>
                </a:solidFill>
                <a:latin typeface="Arial" panose="020B0604020202020204" pitchFamily="34" charset="0"/>
                <a:ea typeface="楷体_GB2312" pitchFamily="49" charset="-122"/>
              </a:rPr>
              <a:t>描述使用的图</a:t>
            </a:r>
            <a:r>
              <a:rPr lang="zh-CN" altLang="en-US" sz="2800" b="1" dirty="0">
                <a:latin typeface="Arial" panose="020B0604020202020204" pitchFamily="34" charset="0"/>
                <a:ea typeface="楷体_GB2312" pitchFamily="49" charset="-122"/>
              </a:rPr>
              <a:t>：类图和对象图、状态图、顺序图、合作图和活动图</a:t>
            </a:r>
            <a:r>
              <a:rPr lang="zh-CN" altLang="en-US" sz="2800" dirty="0">
                <a:latin typeface="Arial" panose="020B0604020202020204" pitchFamily="34" charset="0"/>
                <a:ea typeface="楷体_GB2312" pitchFamily="49" charset="-122"/>
              </a:rPr>
              <a:t> </a:t>
            </a:r>
            <a:r>
              <a:rPr lang="zh-CN" altLang="en-US" sz="2800" b="1" dirty="0">
                <a:latin typeface="Arial" panose="020B0604020202020204" pitchFamily="34" charset="0"/>
                <a:ea typeface="楷体_GB2312" pitchFamily="49" charset="-122"/>
              </a:rPr>
              <a:t>；</a:t>
            </a:r>
            <a:endParaRPr lang="zh-CN" altLang="en-US" sz="2800" b="1" dirty="0">
              <a:latin typeface="Arial" panose="020B0604020202020204" pitchFamily="34" charset="0"/>
              <a:ea typeface="楷体_GB2312" pitchFamily="49" charset="-122"/>
            </a:endParaRPr>
          </a:p>
          <a:p>
            <a:pPr marL="800100" indent="-356870" defTabSz="800100" eaLnBrk="1" hangingPunct="1">
              <a:lnSpc>
                <a:spcPct val="125000"/>
              </a:lnSpc>
              <a:spcBef>
                <a:spcPts val="600"/>
              </a:spcBef>
              <a:buFont typeface="Wingdings" panose="05000000000000000000" pitchFamily="2" charset="2"/>
              <a:buChar char="l"/>
            </a:pPr>
            <a:r>
              <a:rPr lang="zh-CN" altLang="en-US" sz="2800" b="1" dirty="0">
                <a:solidFill>
                  <a:schemeClr val="accent2"/>
                </a:solidFill>
                <a:latin typeface="Arial" panose="020B0604020202020204" pitchFamily="34" charset="0"/>
                <a:ea typeface="楷体_GB2312" pitchFamily="49" charset="-122"/>
              </a:rPr>
              <a:t>重要性</a:t>
            </a:r>
            <a:r>
              <a:rPr lang="zh-CN" altLang="en-US" sz="2800" b="1" dirty="0">
                <a:latin typeface="Arial" panose="020B0604020202020204" pitchFamily="34" charset="0"/>
                <a:ea typeface="楷体_GB2312" pitchFamily="49" charset="-122"/>
              </a:rPr>
              <a:t>：描述了系统的静态结构和因发送消息而出现的动态协作关系</a:t>
            </a:r>
            <a:r>
              <a:rPr lang="zh-CN" altLang="en-US" sz="2800" dirty="0">
                <a:latin typeface="Arial" panose="020B0604020202020204" pitchFamily="34" charset="0"/>
                <a:ea typeface="楷体_GB2312" pitchFamily="49" charset="-122"/>
              </a:rPr>
              <a:t> </a:t>
            </a:r>
            <a:r>
              <a:rPr lang="zh-CN" altLang="en-US" sz="2800" b="1" dirty="0">
                <a:latin typeface="Arial" panose="020B0604020202020204" pitchFamily="34" charset="0"/>
                <a:ea typeface="楷体_GB2312" pitchFamily="49" charset="-122"/>
              </a:rPr>
              <a:t>。</a:t>
            </a:r>
            <a:r>
              <a:rPr lang="zh-CN" altLang="en-US" sz="2800" dirty="0">
                <a:latin typeface="Arial" panose="020B0604020202020204" pitchFamily="34" charset="0"/>
                <a:ea typeface="楷体_GB2312" pitchFamily="49" charset="-122"/>
              </a:rPr>
              <a:t> </a:t>
            </a:r>
            <a:endParaRPr lang="zh-CN" altLang="en-US" sz="2800" dirty="0">
              <a:latin typeface="Arial" panose="020B0604020202020204" pitchFamily="34" charset="0"/>
              <a:ea typeface="楷体_GB2312" pitchFamily="49"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909E7BF-6FBC-487A-A428-A05CDB9C37D0}"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32771" name="Rectangle 2"/>
          <p:cNvSpPr/>
          <p:nvPr/>
        </p:nvSpPr>
        <p:spPr>
          <a:xfrm>
            <a:off x="611505" y="1897380"/>
            <a:ext cx="8122920" cy="4021455"/>
          </a:xfrm>
          <a:prstGeom prst="rect">
            <a:avLst/>
          </a:prstGeom>
          <a:noFill/>
          <a:ln w="9525">
            <a:noFill/>
          </a:ln>
        </p:spPr>
        <p:txBody>
          <a:bodyPr>
            <a:noAutofit/>
          </a:bodyPr>
          <a:lstStyle/>
          <a:p>
            <a:pPr marL="800100" indent="-356870" defTabSz="800100" eaLnBrk="1" hangingPunct="1">
              <a:lnSpc>
                <a:spcPct val="125000"/>
              </a:lnSpc>
              <a:spcBef>
                <a:spcPts val="600"/>
              </a:spcBef>
              <a:buFont typeface="Wingdings" panose="05000000000000000000" pitchFamily="2" charset="2"/>
              <a:buChar char="l"/>
            </a:pPr>
            <a:r>
              <a:rPr lang="zh-CN" altLang="en-US" sz="2800" b="1" dirty="0">
                <a:solidFill>
                  <a:srgbClr val="FF0000"/>
                </a:solidFill>
                <a:latin typeface="Arial" panose="020B0604020202020204" pitchFamily="34" charset="0"/>
                <a:ea typeface="楷体_GB2312" pitchFamily="49" charset="-122"/>
              </a:rPr>
              <a:t>作用</a:t>
            </a:r>
            <a:r>
              <a:rPr lang="zh-CN" altLang="en-US" sz="2800" b="1" dirty="0">
                <a:latin typeface="Arial" panose="020B0604020202020204" pitchFamily="34" charset="0"/>
                <a:ea typeface="楷体_GB2312" pitchFamily="49" charset="-122"/>
              </a:rPr>
              <a:t>：描述系统代码构件组织和实现模块，及它们之间的依赖关系</a:t>
            </a:r>
            <a:r>
              <a:rPr lang="zh-CN" altLang="en-US" sz="2800" dirty="0">
                <a:latin typeface="Arial" panose="020B0604020202020204" pitchFamily="34" charset="0"/>
                <a:ea typeface="楷体_GB2312" pitchFamily="49" charset="-122"/>
              </a:rPr>
              <a:t> </a:t>
            </a:r>
            <a:r>
              <a:rPr lang="zh-CN" altLang="en-US" sz="2800" b="1" dirty="0">
                <a:latin typeface="Arial" panose="020B0604020202020204" pitchFamily="34" charset="0"/>
                <a:ea typeface="楷体_GB2312" pitchFamily="49" charset="-122"/>
              </a:rPr>
              <a:t>；</a:t>
            </a:r>
            <a:endParaRPr lang="zh-CN" altLang="en-US" sz="2800" b="1" dirty="0">
              <a:latin typeface="Arial" panose="020B0604020202020204" pitchFamily="34" charset="0"/>
              <a:ea typeface="楷体_GB2312" pitchFamily="49" charset="-122"/>
            </a:endParaRPr>
          </a:p>
          <a:p>
            <a:pPr marL="800100" indent="-356870" defTabSz="800100" eaLnBrk="1" hangingPunct="1">
              <a:lnSpc>
                <a:spcPct val="125000"/>
              </a:lnSpc>
              <a:spcBef>
                <a:spcPts val="600"/>
              </a:spcBef>
              <a:buFont typeface="Wingdings" panose="05000000000000000000" pitchFamily="2" charset="2"/>
              <a:buChar char="l"/>
            </a:pPr>
            <a:r>
              <a:rPr lang="zh-CN" altLang="en-US" sz="2800" b="1" dirty="0">
                <a:solidFill>
                  <a:srgbClr val="FF0000"/>
                </a:solidFill>
                <a:latin typeface="Arial" panose="020B0604020202020204" pitchFamily="34" charset="0"/>
                <a:ea typeface="楷体_GB2312" pitchFamily="49" charset="-122"/>
              </a:rPr>
              <a:t>适用对象</a:t>
            </a:r>
            <a:r>
              <a:rPr lang="zh-CN" altLang="en-US" sz="2800" b="1" dirty="0">
                <a:latin typeface="Arial" panose="020B0604020202020204" pitchFamily="34" charset="0"/>
                <a:ea typeface="楷体_GB2312" pitchFamily="49" charset="-122"/>
              </a:rPr>
              <a:t>：设计者、开发者</a:t>
            </a:r>
            <a:r>
              <a:rPr lang="zh-CN" altLang="en-US" sz="2800" dirty="0">
                <a:latin typeface="Arial" panose="020B0604020202020204" pitchFamily="34" charset="0"/>
                <a:ea typeface="楷体_GB2312" pitchFamily="49" charset="-122"/>
              </a:rPr>
              <a:t> </a:t>
            </a:r>
            <a:r>
              <a:rPr lang="zh-CN" altLang="en-US" sz="2800" b="1" dirty="0">
                <a:latin typeface="Arial" panose="020B0604020202020204" pitchFamily="34" charset="0"/>
                <a:ea typeface="楷体_GB2312" pitchFamily="49" charset="-122"/>
              </a:rPr>
              <a:t>；</a:t>
            </a:r>
            <a:endParaRPr lang="zh-CN" altLang="en-US" sz="2800" b="1" dirty="0">
              <a:latin typeface="Arial" panose="020B0604020202020204" pitchFamily="34" charset="0"/>
              <a:ea typeface="楷体_GB2312" pitchFamily="49" charset="-122"/>
            </a:endParaRPr>
          </a:p>
          <a:p>
            <a:pPr marL="800100" indent="-356870" defTabSz="800100" eaLnBrk="1" hangingPunct="1">
              <a:lnSpc>
                <a:spcPct val="125000"/>
              </a:lnSpc>
              <a:spcBef>
                <a:spcPts val="600"/>
              </a:spcBef>
              <a:buFont typeface="Wingdings" panose="05000000000000000000" pitchFamily="2" charset="2"/>
              <a:buChar char="l"/>
            </a:pPr>
            <a:r>
              <a:rPr lang="zh-CN" altLang="en-US" sz="2800" b="1" dirty="0">
                <a:solidFill>
                  <a:srgbClr val="FF0000"/>
                </a:solidFill>
                <a:latin typeface="Arial" panose="020B0604020202020204" pitchFamily="34" charset="0"/>
                <a:ea typeface="楷体_GB2312" pitchFamily="49" charset="-122"/>
              </a:rPr>
              <a:t>描述使用的图</a:t>
            </a:r>
            <a:r>
              <a:rPr lang="zh-CN" altLang="en-US" sz="2800" b="1" dirty="0">
                <a:latin typeface="Arial" panose="020B0604020202020204" pitchFamily="34" charset="0"/>
                <a:ea typeface="楷体_GB2312" pitchFamily="49" charset="-122"/>
              </a:rPr>
              <a:t>：构件图</a:t>
            </a:r>
            <a:r>
              <a:rPr lang="zh-CN" altLang="en-US" sz="2800" dirty="0">
                <a:latin typeface="Arial" panose="020B0604020202020204" pitchFamily="34" charset="0"/>
                <a:ea typeface="楷体_GB2312" pitchFamily="49" charset="-122"/>
              </a:rPr>
              <a:t> </a:t>
            </a:r>
            <a:r>
              <a:rPr lang="zh-CN" altLang="en-US" sz="2800" b="1" dirty="0">
                <a:latin typeface="Arial" panose="020B0604020202020204" pitchFamily="34" charset="0"/>
                <a:ea typeface="楷体_GB2312" pitchFamily="49" charset="-122"/>
              </a:rPr>
              <a:t>；</a:t>
            </a:r>
            <a:endParaRPr lang="zh-CN" altLang="en-US" sz="2800" b="1" dirty="0">
              <a:latin typeface="Arial" panose="020B0604020202020204" pitchFamily="34" charset="0"/>
              <a:ea typeface="楷体_GB2312" pitchFamily="49" charset="-122"/>
            </a:endParaRPr>
          </a:p>
          <a:p>
            <a:pPr marL="800100" indent="-356870" defTabSz="800100" eaLnBrk="1" hangingPunct="1">
              <a:lnSpc>
                <a:spcPct val="125000"/>
              </a:lnSpc>
              <a:spcBef>
                <a:spcPts val="600"/>
              </a:spcBef>
              <a:buFont typeface="Wingdings" panose="05000000000000000000" pitchFamily="2" charset="2"/>
              <a:buChar char="l"/>
            </a:pPr>
            <a:r>
              <a:rPr lang="zh-CN" altLang="en-US" sz="2800" b="1" dirty="0">
                <a:solidFill>
                  <a:srgbClr val="FF0000"/>
                </a:solidFill>
                <a:latin typeface="Arial" panose="020B0604020202020204" pitchFamily="34" charset="0"/>
                <a:ea typeface="楷体_GB2312" pitchFamily="49" charset="-122"/>
              </a:rPr>
              <a:t>重要性</a:t>
            </a:r>
            <a:r>
              <a:rPr lang="zh-CN" altLang="en-US" sz="2800" b="1" dirty="0">
                <a:latin typeface="Arial" panose="020B0604020202020204" pitchFamily="34" charset="0"/>
                <a:ea typeface="楷体_GB2312" pitchFamily="49" charset="-122"/>
              </a:rPr>
              <a:t>：描述系统如何划分软件构件，如何进行编程</a:t>
            </a:r>
            <a:r>
              <a:rPr lang="zh-CN" altLang="en-US" sz="2800" dirty="0">
                <a:latin typeface="Arial" panose="020B0604020202020204" pitchFamily="34" charset="0"/>
                <a:ea typeface="楷体_GB2312" pitchFamily="49" charset="-122"/>
              </a:rPr>
              <a:t> </a:t>
            </a:r>
            <a:r>
              <a:rPr lang="zh-CN" altLang="en-US" sz="2800" b="1" dirty="0">
                <a:latin typeface="Arial" panose="020B0604020202020204" pitchFamily="34" charset="0"/>
                <a:ea typeface="楷体_GB2312" pitchFamily="49" charset="-122"/>
              </a:rPr>
              <a:t>。</a:t>
            </a:r>
            <a:r>
              <a:rPr lang="zh-CN" altLang="en-US" sz="2800" dirty="0">
                <a:latin typeface="Arial" panose="020B0604020202020204" pitchFamily="34" charset="0"/>
                <a:ea typeface="楷体_GB2312" pitchFamily="49" charset="-122"/>
              </a:rPr>
              <a:t> </a:t>
            </a:r>
            <a:endParaRPr lang="zh-CN" altLang="en-US" sz="2800" dirty="0">
              <a:latin typeface="Arial" panose="020B0604020202020204" pitchFamily="34" charset="0"/>
              <a:ea typeface="楷体_GB2312" pitchFamily="49" charset="-122"/>
            </a:endParaRPr>
          </a:p>
        </p:txBody>
      </p:sp>
      <p:sp>
        <p:nvSpPr>
          <p:cNvPr id="32772" name="Rectangle 3"/>
          <p:cNvSpPr/>
          <p:nvPr/>
        </p:nvSpPr>
        <p:spPr>
          <a:xfrm>
            <a:off x="611188" y="1052513"/>
            <a:ext cx="4824412" cy="519112"/>
          </a:xfrm>
          <a:prstGeom prst="rect">
            <a:avLst/>
          </a:prstGeom>
          <a:noFill/>
          <a:ln w="9525">
            <a:noFill/>
          </a:ln>
        </p:spPr>
        <p:txBody>
          <a:bodyPr>
            <a:spAutoFit/>
          </a:bodyPr>
          <a:lstStyle/>
          <a:p>
            <a:pPr eaLnBrk="1" hangingPunct="1">
              <a:buFont typeface="Arial" panose="020B0604020202020204" pitchFamily="34" charset="0"/>
            </a:pPr>
            <a:r>
              <a:rPr lang="en-US" altLang="zh-CN" sz="2800" b="1" dirty="0">
                <a:solidFill>
                  <a:srgbClr val="FF0000"/>
                </a:solidFill>
                <a:latin typeface="黑体" panose="02010609060101010101" pitchFamily="49" charset="-122"/>
                <a:ea typeface="黑体" panose="02010609060101010101" pitchFamily="49" charset="-122"/>
              </a:rPr>
              <a:t>3</a:t>
            </a:r>
            <a:r>
              <a:rPr lang="zh-CN" altLang="en-US" sz="2800" b="1" dirty="0">
                <a:solidFill>
                  <a:srgbClr val="FF0000"/>
                </a:solidFill>
                <a:latin typeface="黑体" panose="02010609060101010101" pitchFamily="49" charset="-122"/>
                <a:ea typeface="黑体" panose="02010609060101010101" pitchFamily="49" charset="-122"/>
              </a:rPr>
              <a:t>．构件视图</a:t>
            </a:r>
            <a:r>
              <a:rPr lang="zh-CN" altLang="en-US" sz="2800" dirty="0">
                <a:latin typeface="黑体" panose="02010609060101010101" pitchFamily="49" charset="-122"/>
                <a:ea typeface="黑体" panose="02010609060101010101" pitchFamily="49" charset="-122"/>
              </a:rPr>
              <a:t> </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449256E-5DD8-472D-9FB4-E80003E1010D}"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33795" name="Rectangle 2"/>
          <p:cNvSpPr/>
          <p:nvPr/>
        </p:nvSpPr>
        <p:spPr>
          <a:xfrm>
            <a:off x="633730" y="1988820"/>
            <a:ext cx="7737475" cy="3861435"/>
          </a:xfrm>
          <a:prstGeom prst="rect">
            <a:avLst/>
          </a:prstGeom>
          <a:noFill/>
          <a:ln w="9525">
            <a:noFill/>
          </a:ln>
        </p:spPr>
        <p:txBody>
          <a:bodyPr wrap="square">
            <a:spAutoFit/>
          </a:bodyPr>
          <a:lstStyle/>
          <a:p>
            <a:pPr marL="800100" indent="-356870" defTabSz="800100" eaLnBrk="1" hangingPunct="1">
              <a:lnSpc>
                <a:spcPct val="125000"/>
              </a:lnSpc>
              <a:buFont typeface="Wingdings" panose="05000000000000000000" pitchFamily="2" charset="2"/>
              <a:buChar char="l"/>
            </a:pPr>
            <a:r>
              <a:rPr lang="zh-CN" altLang="en-US" sz="2800" b="1" dirty="0">
                <a:solidFill>
                  <a:srgbClr val="FF0000"/>
                </a:solidFill>
                <a:latin typeface="Arial" panose="020B0604020202020204" pitchFamily="34" charset="0"/>
                <a:ea typeface="楷体_GB2312" pitchFamily="49" charset="-122"/>
              </a:rPr>
              <a:t>作用</a:t>
            </a:r>
            <a:r>
              <a:rPr lang="zh-CN" altLang="en-US" sz="2800" b="1" dirty="0">
                <a:latin typeface="Arial" panose="020B0604020202020204" pitchFamily="34" charset="0"/>
                <a:ea typeface="楷体_GB2312" pitchFamily="49" charset="-122"/>
              </a:rPr>
              <a:t>：描述系统的并发性，并处理这些线程间的通信和同步</a:t>
            </a:r>
            <a:r>
              <a:rPr lang="zh-CN" altLang="en-US" sz="2800" dirty="0">
                <a:latin typeface="Arial" panose="020B0604020202020204" pitchFamily="34" charset="0"/>
                <a:ea typeface="楷体_GB2312" pitchFamily="49" charset="-122"/>
              </a:rPr>
              <a:t> </a:t>
            </a:r>
            <a:r>
              <a:rPr lang="zh-CN" altLang="en-US" sz="2800" b="1" dirty="0">
                <a:latin typeface="Arial" panose="020B0604020202020204" pitchFamily="34" charset="0"/>
                <a:ea typeface="楷体_GB2312" pitchFamily="49" charset="-122"/>
              </a:rPr>
              <a:t>；</a:t>
            </a:r>
            <a:endParaRPr lang="zh-CN" altLang="en-US" sz="2800" b="1" dirty="0">
              <a:latin typeface="Arial" panose="020B0604020202020204" pitchFamily="34" charset="0"/>
              <a:ea typeface="楷体_GB2312" pitchFamily="49" charset="-122"/>
            </a:endParaRPr>
          </a:p>
          <a:p>
            <a:pPr marL="800100" indent="-356870" defTabSz="800100" eaLnBrk="1" hangingPunct="1">
              <a:lnSpc>
                <a:spcPct val="125000"/>
              </a:lnSpc>
              <a:buFont typeface="Wingdings" panose="05000000000000000000" pitchFamily="2" charset="2"/>
              <a:buChar char="l"/>
            </a:pPr>
            <a:r>
              <a:rPr lang="zh-CN" altLang="en-US" sz="2800" b="1" dirty="0">
                <a:solidFill>
                  <a:srgbClr val="FF0000"/>
                </a:solidFill>
                <a:latin typeface="Arial" panose="020B0604020202020204" pitchFamily="34" charset="0"/>
                <a:ea typeface="楷体_GB2312" pitchFamily="49" charset="-122"/>
              </a:rPr>
              <a:t>适用对象</a:t>
            </a:r>
            <a:r>
              <a:rPr lang="zh-CN" altLang="en-US" sz="2800" b="1" dirty="0">
                <a:latin typeface="Arial" panose="020B0604020202020204" pitchFamily="34" charset="0"/>
                <a:ea typeface="楷体_GB2312" pitchFamily="49" charset="-122"/>
              </a:rPr>
              <a:t>：开发者和系统集成者</a:t>
            </a:r>
            <a:r>
              <a:rPr lang="zh-CN" altLang="en-US" sz="2800" dirty="0">
                <a:latin typeface="Arial" panose="020B0604020202020204" pitchFamily="34" charset="0"/>
                <a:ea typeface="楷体_GB2312" pitchFamily="49" charset="-122"/>
              </a:rPr>
              <a:t> </a:t>
            </a:r>
            <a:r>
              <a:rPr lang="zh-CN" altLang="en-US" sz="2800" b="1" dirty="0">
                <a:latin typeface="Arial" panose="020B0604020202020204" pitchFamily="34" charset="0"/>
                <a:ea typeface="楷体_GB2312" pitchFamily="49" charset="-122"/>
              </a:rPr>
              <a:t>；</a:t>
            </a:r>
            <a:endParaRPr lang="zh-CN" altLang="en-US" sz="2800" b="1" dirty="0">
              <a:latin typeface="Arial" panose="020B0604020202020204" pitchFamily="34" charset="0"/>
              <a:ea typeface="楷体_GB2312" pitchFamily="49" charset="-122"/>
            </a:endParaRPr>
          </a:p>
          <a:p>
            <a:pPr marL="800100" indent="-356870" defTabSz="800100" eaLnBrk="1" hangingPunct="1">
              <a:lnSpc>
                <a:spcPct val="125000"/>
              </a:lnSpc>
              <a:buFont typeface="Wingdings" panose="05000000000000000000" pitchFamily="2" charset="2"/>
              <a:buChar char="l"/>
            </a:pPr>
            <a:r>
              <a:rPr lang="zh-CN" altLang="en-US" sz="2800" b="1" dirty="0">
                <a:solidFill>
                  <a:srgbClr val="FF0000"/>
                </a:solidFill>
                <a:latin typeface="Arial" panose="020B0604020202020204" pitchFamily="34" charset="0"/>
                <a:ea typeface="楷体_GB2312" pitchFamily="49" charset="-122"/>
              </a:rPr>
              <a:t>描述使用的图</a:t>
            </a:r>
            <a:r>
              <a:rPr lang="zh-CN" altLang="en-US" sz="2800" b="1" dirty="0">
                <a:latin typeface="Arial" panose="020B0604020202020204" pitchFamily="34" charset="0"/>
                <a:ea typeface="楷体_GB2312" pitchFamily="49" charset="-122"/>
              </a:rPr>
              <a:t>：状态图、顺序图、合作图、活动图、构件图和配置图</a:t>
            </a:r>
            <a:r>
              <a:rPr lang="zh-CN" altLang="en-US" sz="2800" dirty="0">
                <a:latin typeface="Arial" panose="020B0604020202020204" pitchFamily="34" charset="0"/>
                <a:ea typeface="楷体_GB2312" pitchFamily="49" charset="-122"/>
              </a:rPr>
              <a:t> </a:t>
            </a:r>
            <a:r>
              <a:rPr lang="zh-CN" altLang="en-US" sz="2800" b="1" dirty="0">
                <a:latin typeface="Arial" panose="020B0604020202020204" pitchFamily="34" charset="0"/>
                <a:ea typeface="楷体_GB2312" pitchFamily="49" charset="-122"/>
              </a:rPr>
              <a:t>；</a:t>
            </a:r>
            <a:endParaRPr lang="zh-CN" altLang="en-US" sz="2800" b="1" dirty="0">
              <a:latin typeface="Arial" panose="020B0604020202020204" pitchFamily="34" charset="0"/>
              <a:ea typeface="楷体_GB2312" pitchFamily="49" charset="-122"/>
            </a:endParaRPr>
          </a:p>
          <a:p>
            <a:pPr marL="800100" indent="-356870" defTabSz="800100" eaLnBrk="1" hangingPunct="1">
              <a:lnSpc>
                <a:spcPct val="125000"/>
              </a:lnSpc>
              <a:buFont typeface="Wingdings" panose="05000000000000000000" pitchFamily="2" charset="2"/>
              <a:buChar char="l"/>
            </a:pPr>
            <a:r>
              <a:rPr lang="zh-CN" altLang="en-US" sz="2800" b="1" dirty="0">
                <a:solidFill>
                  <a:srgbClr val="FF0000"/>
                </a:solidFill>
                <a:latin typeface="Arial" panose="020B0604020202020204" pitchFamily="34" charset="0"/>
                <a:ea typeface="楷体_GB2312" pitchFamily="49" charset="-122"/>
              </a:rPr>
              <a:t>重要性</a:t>
            </a:r>
            <a:r>
              <a:rPr lang="zh-CN" altLang="en-US" sz="2800" b="1" dirty="0">
                <a:latin typeface="Arial" panose="020B0604020202020204" pitchFamily="34" charset="0"/>
                <a:ea typeface="楷体_GB2312" pitchFamily="49" charset="-122"/>
              </a:rPr>
              <a:t>：将系统分割成并发执行的控制线程及处理这些线程的通信和同步</a:t>
            </a:r>
            <a:r>
              <a:rPr lang="zh-CN" altLang="en-US" sz="2800" dirty="0">
                <a:latin typeface="Arial" panose="020B0604020202020204" pitchFamily="34" charset="0"/>
                <a:ea typeface="楷体_GB2312" pitchFamily="49" charset="-122"/>
              </a:rPr>
              <a:t> </a:t>
            </a:r>
            <a:r>
              <a:rPr lang="zh-CN" altLang="en-US" sz="2800" b="1" dirty="0">
                <a:latin typeface="Arial" panose="020B0604020202020204" pitchFamily="34" charset="0"/>
                <a:ea typeface="楷体_GB2312" pitchFamily="49" charset="-122"/>
              </a:rPr>
              <a:t>。</a:t>
            </a:r>
            <a:r>
              <a:rPr lang="zh-CN" altLang="en-US" sz="2800" dirty="0">
                <a:latin typeface="Arial" panose="020B0604020202020204" pitchFamily="34" charset="0"/>
                <a:ea typeface="楷体_GB2312" pitchFamily="49" charset="-122"/>
              </a:rPr>
              <a:t> </a:t>
            </a:r>
            <a:endParaRPr lang="zh-CN" altLang="en-US" sz="2800" dirty="0">
              <a:latin typeface="Arial" panose="020B0604020202020204" pitchFamily="34" charset="0"/>
              <a:ea typeface="楷体_GB2312" pitchFamily="49" charset="-122"/>
            </a:endParaRPr>
          </a:p>
        </p:txBody>
      </p:sp>
      <p:sp>
        <p:nvSpPr>
          <p:cNvPr id="33796" name="Rectangle 3"/>
          <p:cNvSpPr/>
          <p:nvPr/>
        </p:nvSpPr>
        <p:spPr>
          <a:xfrm>
            <a:off x="611188" y="1052513"/>
            <a:ext cx="4824412" cy="519112"/>
          </a:xfrm>
          <a:prstGeom prst="rect">
            <a:avLst/>
          </a:prstGeom>
          <a:noFill/>
          <a:ln w="9525">
            <a:noFill/>
          </a:ln>
        </p:spPr>
        <p:txBody>
          <a:bodyPr>
            <a:spAutoFit/>
          </a:bodyPr>
          <a:lstStyle/>
          <a:p>
            <a:pPr eaLnBrk="1" hangingPunct="1">
              <a:buFont typeface="Arial" panose="020B0604020202020204" pitchFamily="34" charset="0"/>
            </a:pPr>
            <a:r>
              <a:rPr lang="en-US" altLang="zh-CN" sz="2800" b="1" dirty="0">
                <a:solidFill>
                  <a:srgbClr val="FF0000"/>
                </a:solidFill>
                <a:latin typeface="黑体" panose="02010609060101010101" pitchFamily="49" charset="-122"/>
                <a:ea typeface="黑体" panose="02010609060101010101" pitchFamily="49" charset="-122"/>
              </a:rPr>
              <a:t>4</a:t>
            </a:r>
            <a:r>
              <a:rPr lang="zh-CN" altLang="en-US" sz="2800" b="1" dirty="0">
                <a:solidFill>
                  <a:srgbClr val="FF0000"/>
                </a:solidFill>
                <a:latin typeface="黑体" panose="02010609060101010101" pitchFamily="49" charset="-122"/>
                <a:ea typeface="黑体" panose="02010609060101010101" pitchFamily="49" charset="-122"/>
              </a:rPr>
              <a:t>．进程视图</a:t>
            </a:r>
            <a:endParaRPr lang="zh-CN" altLang="en-US" sz="28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EC17440-6800-4B27-A1D9-E982D22F540E}"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34819" name="Rectangle 2"/>
          <p:cNvSpPr/>
          <p:nvPr/>
        </p:nvSpPr>
        <p:spPr>
          <a:xfrm>
            <a:off x="684530" y="1989455"/>
            <a:ext cx="7793355" cy="3322955"/>
          </a:xfrm>
          <a:prstGeom prst="rect">
            <a:avLst/>
          </a:prstGeom>
          <a:noFill/>
          <a:ln w="9525">
            <a:noFill/>
          </a:ln>
        </p:spPr>
        <p:txBody>
          <a:bodyPr wrap="square">
            <a:spAutoFit/>
          </a:bodyPr>
          <a:lstStyle/>
          <a:p>
            <a:pPr marL="800100" indent="-356870" defTabSz="800100" eaLnBrk="1" hangingPunct="1">
              <a:lnSpc>
                <a:spcPct val="125000"/>
              </a:lnSpc>
              <a:buFont typeface="Wingdings" panose="05000000000000000000" pitchFamily="2" charset="2"/>
              <a:buChar char="l"/>
            </a:pPr>
            <a:r>
              <a:rPr lang="zh-CN" altLang="en-US" sz="2800" b="1" dirty="0">
                <a:solidFill>
                  <a:srgbClr val="FF0000"/>
                </a:solidFill>
                <a:latin typeface="Arial" panose="020B0604020202020204" pitchFamily="34" charset="0"/>
                <a:ea typeface="楷体_GB2312" pitchFamily="49" charset="-122"/>
              </a:rPr>
              <a:t>作用</a:t>
            </a:r>
            <a:r>
              <a:rPr lang="zh-CN" altLang="en-US" sz="2800" b="1" dirty="0">
                <a:latin typeface="Arial" panose="020B0604020202020204" pitchFamily="34" charset="0"/>
                <a:ea typeface="楷体_GB2312" pitchFamily="49" charset="-122"/>
              </a:rPr>
              <a:t>：描述系统的物理设备配置，如计算机、硬件设备以及它们相互间的连接</a:t>
            </a:r>
            <a:r>
              <a:rPr lang="zh-CN" altLang="en-US" sz="2800" dirty="0">
                <a:latin typeface="Arial" panose="020B0604020202020204" pitchFamily="34" charset="0"/>
                <a:ea typeface="楷体_GB2312" pitchFamily="49" charset="-122"/>
              </a:rPr>
              <a:t> </a:t>
            </a:r>
            <a:r>
              <a:rPr lang="zh-CN" altLang="en-US" sz="2800" b="1" dirty="0">
                <a:latin typeface="Arial" panose="020B0604020202020204" pitchFamily="34" charset="0"/>
                <a:ea typeface="楷体_GB2312" pitchFamily="49" charset="-122"/>
              </a:rPr>
              <a:t>；</a:t>
            </a:r>
            <a:endParaRPr lang="zh-CN" altLang="en-US" sz="2800" b="1" dirty="0">
              <a:latin typeface="Arial" panose="020B0604020202020204" pitchFamily="34" charset="0"/>
              <a:ea typeface="楷体_GB2312" pitchFamily="49" charset="-122"/>
            </a:endParaRPr>
          </a:p>
          <a:p>
            <a:pPr marL="800100" indent="-356870" defTabSz="800100" eaLnBrk="1" hangingPunct="1">
              <a:lnSpc>
                <a:spcPct val="125000"/>
              </a:lnSpc>
              <a:buFont typeface="Wingdings" panose="05000000000000000000" pitchFamily="2" charset="2"/>
              <a:buChar char="l"/>
            </a:pPr>
            <a:r>
              <a:rPr lang="zh-CN" altLang="en-US" sz="2800" b="1" dirty="0">
                <a:solidFill>
                  <a:srgbClr val="FF0000"/>
                </a:solidFill>
                <a:latin typeface="Arial" panose="020B0604020202020204" pitchFamily="34" charset="0"/>
                <a:ea typeface="楷体_GB2312" pitchFamily="49" charset="-122"/>
              </a:rPr>
              <a:t>适用对象</a:t>
            </a:r>
            <a:r>
              <a:rPr lang="zh-CN" altLang="en-US" sz="2800" b="1" dirty="0">
                <a:latin typeface="Arial" panose="020B0604020202020204" pitchFamily="34" charset="0"/>
                <a:ea typeface="楷体_GB2312" pitchFamily="49" charset="-122"/>
              </a:rPr>
              <a:t>：开发者、系统集成者和测试者</a:t>
            </a:r>
            <a:r>
              <a:rPr lang="zh-CN" altLang="en-US" sz="2800" dirty="0">
                <a:latin typeface="Arial" panose="020B0604020202020204" pitchFamily="34" charset="0"/>
                <a:ea typeface="楷体_GB2312" pitchFamily="49" charset="-122"/>
              </a:rPr>
              <a:t> </a:t>
            </a:r>
            <a:r>
              <a:rPr lang="zh-CN" altLang="en-US" sz="2800" b="1" dirty="0">
                <a:latin typeface="Arial" panose="020B0604020202020204" pitchFamily="34" charset="0"/>
                <a:ea typeface="楷体_GB2312" pitchFamily="49" charset="-122"/>
              </a:rPr>
              <a:t>；</a:t>
            </a:r>
            <a:endParaRPr lang="zh-CN" altLang="en-US" sz="2800" b="1" dirty="0">
              <a:latin typeface="Arial" panose="020B0604020202020204" pitchFamily="34" charset="0"/>
              <a:ea typeface="楷体_GB2312" pitchFamily="49" charset="-122"/>
            </a:endParaRPr>
          </a:p>
          <a:p>
            <a:pPr marL="800100" indent="-356870" defTabSz="800100" eaLnBrk="1" hangingPunct="1">
              <a:lnSpc>
                <a:spcPct val="125000"/>
              </a:lnSpc>
              <a:buFont typeface="Wingdings" panose="05000000000000000000" pitchFamily="2" charset="2"/>
              <a:buChar char="l"/>
            </a:pPr>
            <a:r>
              <a:rPr lang="zh-CN" altLang="en-US" sz="2800" b="1" dirty="0">
                <a:solidFill>
                  <a:srgbClr val="FF0000"/>
                </a:solidFill>
                <a:latin typeface="Arial" panose="020B0604020202020204" pitchFamily="34" charset="0"/>
                <a:ea typeface="楷体_GB2312" pitchFamily="49" charset="-122"/>
              </a:rPr>
              <a:t>描述使用的图</a:t>
            </a:r>
            <a:r>
              <a:rPr lang="zh-CN" altLang="en-US" sz="2800" b="1" dirty="0">
                <a:latin typeface="Arial" panose="020B0604020202020204" pitchFamily="34" charset="0"/>
                <a:ea typeface="楷体_GB2312" pitchFamily="49" charset="-122"/>
              </a:rPr>
              <a:t>：配置图</a:t>
            </a:r>
            <a:r>
              <a:rPr lang="zh-CN" altLang="en-US" sz="2800" dirty="0">
                <a:latin typeface="Arial" panose="020B0604020202020204" pitchFamily="34" charset="0"/>
                <a:ea typeface="楷体_GB2312" pitchFamily="49" charset="-122"/>
              </a:rPr>
              <a:t> </a:t>
            </a:r>
            <a:r>
              <a:rPr lang="zh-CN" altLang="en-US" sz="2800" b="1" dirty="0">
                <a:latin typeface="Arial" panose="020B0604020202020204" pitchFamily="34" charset="0"/>
                <a:ea typeface="楷体_GB2312" pitchFamily="49" charset="-122"/>
              </a:rPr>
              <a:t>；</a:t>
            </a:r>
            <a:endParaRPr lang="zh-CN" altLang="en-US" sz="2800" b="1" dirty="0">
              <a:latin typeface="Arial" panose="020B0604020202020204" pitchFamily="34" charset="0"/>
              <a:ea typeface="楷体_GB2312" pitchFamily="49" charset="-122"/>
            </a:endParaRPr>
          </a:p>
          <a:p>
            <a:pPr marL="800100" indent="-356870" defTabSz="800100" eaLnBrk="1" hangingPunct="1">
              <a:lnSpc>
                <a:spcPct val="125000"/>
              </a:lnSpc>
              <a:buFont typeface="Wingdings" panose="05000000000000000000" pitchFamily="2" charset="2"/>
              <a:buChar char="l"/>
            </a:pPr>
            <a:r>
              <a:rPr lang="zh-CN" altLang="en-US" sz="2800" b="1" dirty="0">
                <a:solidFill>
                  <a:srgbClr val="FF0000"/>
                </a:solidFill>
                <a:latin typeface="Arial" panose="020B0604020202020204" pitchFamily="34" charset="0"/>
                <a:ea typeface="楷体_GB2312" pitchFamily="49" charset="-122"/>
              </a:rPr>
              <a:t>重要性</a:t>
            </a:r>
            <a:r>
              <a:rPr lang="zh-CN" altLang="en-US" sz="2800" b="1" dirty="0">
                <a:latin typeface="Arial" panose="020B0604020202020204" pitchFamily="34" charset="0"/>
                <a:ea typeface="楷体_GB2312" pitchFamily="49" charset="-122"/>
              </a:rPr>
              <a:t>：描述硬件设备的连接和哪个程序或对象驻留在哪台计算机上执行</a:t>
            </a:r>
            <a:r>
              <a:rPr lang="zh-CN" altLang="en-US" sz="2800" dirty="0">
                <a:latin typeface="Arial" panose="020B0604020202020204" pitchFamily="34" charset="0"/>
                <a:ea typeface="楷体_GB2312" pitchFamily="49" charset="-122"/>
              </a:rPr>
              <a:t> </a:t>
            </a:r>
            <a:r>
              <a:rPr lang="zh-CN" altLang="en-US" sz="2800" b="1" dirty="0">
                <a:latin typeface="Arial" panose="020B0604020202020204" pitchFamily="34" charset="0"/>
                <a:ea typeface="楷体_GB2312" pitchFamily="49" charset="-122"/>
              </a:rPr>
              <a:t>。</a:t>
            </a:r>
            <a:r>
              <a:rPr lang="zh-CN" altLang="en-US" sz="2800" dirty="0">
                <a:latin typeface="Arial" panose="020B0604020202020204" pitchFamily="34" charset="0"/>
                <a:ea typeface="楷体_GB2312" pitchFamily="49" charset="-122"/>
              </a:rPr>
              <a:t> </a:t>
            </a:r>
            <a:endParaRPr lang="zh-CN" altLang="en-US" sz="2800" dirty="0">
              <a:latin typeface="Arial" panose="020B0604020202020204" pitchFamily="34" charset="0"/>
              <a:ea typeface="楷体_GB2312" pitchFamily="49" charset="-122"/>
            </a:endParaRPr>
          </a:p>
        </p:txBody>
      </p:sp>
      <p:sp>
        <p:nvSpPr>
          <p:cNvPr id="34820" name="Rectangle 3"/>
          <p:cNvSpPr/>
          <p:nvPr/>
        </p:nvSpPr>
        <p:spPr>
          <a:xfrm>
            <a:off x="468313" y="908050"/>
            <a:ext cx="4824412" cy="519113"/>
          </a:xfrm>
          <a:prstGeom prst="rect">
            <a:avLst/>
          </a:prstGeom>
          <a:noFill/>
          <a:ln w="9525">
            <a:noFill/>
          </a:ln>
        </p:spPr>
        <p:txBody>
          <a:bodyPr>
            <a:spAutoFit/>
          </a:bodyPr>
          <a:lstStyle/>
          <a:p>
            <a:pPr eaLnBrk="1" hangingPunct="1">
              <a:buFont typeface="Arial" panose="020B0604020202020204" pitchFamily="34" charset="0"/>
            </a:pPr>
            <a:r>
              <a:rPr lang="en-US" altLang="zh-CN" sz="2800" b="1" dirty="0">
                <a:solidFill>
                  <a:srgbClr val="FF0000"/>
                </a:solidFill>
                <a:latin typeface="黑体" panose="02010609060101010101" pitchFamily="49" charset="-122"/>
                <a:ea typeface="黑体" panose="02010609060101010101" pitchFamily="49" charset="-122"/>
              </a:rPr>
              <a:t>5</a:t>
            </a:r>
            <a:r>
              <a:rPr lang="zh-CN" altLang="en-US" sz="2800" b="1" dirty="0">
                <a:solidFill>
                  <a:srgbClr val="FF0000"/>
                </a:solidFill>
                <a:latin typeface="黑体" panose="02010609060101010101" pitchFamily="49" charset="-122"/>
                <a:ea typeface="黑体" panose="02010609060101010101" pitchFamily="49" charset="-122"/>
              </a:rPr>
              <a:t>．配置视图</a:t>
            </a:r>
            <a:endParaRPr lang="zh-CN" altLang="en-US" sz="28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3B7A330-1B8B-4168-A247-80990389D639}"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35843" name="Rectangle 2"/>
          <p:cNvSpPr/>
          <p:nvPr/>
        </p:nvSpPr>
        <p:spPr>
          <a:xfrm>
            <a:off x="323850" y="549275"/>
            <a:ext cx="7493635" cy="645795"/>
          </a:xfrm>
          <a:prstGeom prst="rect">
            <a:avLst/>
          </a:prstGeom>
          <a:noFill/>
          <a:ln w="9525">
            <a:noFill/>
          </a:ln>
        </p:spPr>
        <p:txBody>
          <a:bodyPr vert="horz" wrap="squar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sz="3600" b="1" i="0">
                <a:solidFill>
                  <a:srgbClr val="FF0000"/>
                </a:solidFill>
                <a:latin typeface="黑体" panose="02010609060101010101" pitchFamily="49" charset="-122"/>
                <a:ea typeface="黑体" panose="02010609060101010101" pitchFamily="49" charset="-122"/>
              </a:rPr>
              <a:t>3.1.6 UML模型元素</a:t>
            </a:r>
            <a:endParaRPr lang="ko-KR" altLang="en-US" sz="3600" b="1" i="0">
              <a:solidFill>
                <a:srgbClr val="FF0000"/>
              </a:solidFill>
              <a:latin typeface="黑体" panose="02010609060101010101" pitchFamily="49" charset="-122"/>
              <a:ea typeface="黑体" panose="02010609060101010101" pitchFamily="49" charset="-122"/>
            </a:endParaRPr>
          </a:p>
        </p:txBody>
      </p:sp>
      <p:pic>
        <p:nvPicPr>
          <p:cNvPr id="35844" name="Picture 3" descr="C:/Users/lenovo01/AppData/Roaming/JisuOffice/ETemp/52896_20566528/image4.jpeg"/>
          <p:cNvPicPr>
            <a:picLocks noGrp="1" noChangeAspect="1"/>
          </p:cNvPicPr>
          <p:nvPr>
            <p:ph idx="1"/>
          </p:nvPr>
        </p:nvPicPr>
        <p:blipFill rotWithShape="1">
          <a:blip r:embed="rId1" cstate="print">
            <a:extLst>
              <a:ext uri="{28A0092B-C50C-407E-A947-70E740481C1C}">
                <a14:useLocalDpi xmlns:a14="http://schemas.microsoft.com/office/drawing/2010/main" val="0"/>
              </a:ext>
            </a:extLst>
          </a:blip>
          <a:srcRect/>
          <a:stretch>
            <a:fillRect/>
          </a:stretch>
        </p:blipFill>
        <p:spPr>
          <a:xfrm>
            <a:off x="174625" y="1743075"/>
            <a:ext cx="8785860" cy="5115560"/>
          </a:xfrm>
          <a:prstGeom prst="rect">
            <a:avLst/>
          </a:prstGeom>
          <a:noFill/>
          <a:ln w="0">
            <a:noFill/>
          </a:ln>
        </p:spPr>
      </p:pic>
      <p:sp>
        <p:nvSpPr>
          <p:cNvPr id="2" name="Rectangle 2"/>
          <p:cNvSpPr/>
          <p:nvPr/>
        </p:nvSpPr>
        <p:spPr>
          <a:xfrm>
            <a:off x="3060065" y="6308725"/>
            <a:ext cx="3787140" cy="460375"/>
          </a:xfrm>
          <a:prstGeom prst="rect">
            <a:avLst/>
          </a:prstGeom>
          <a:solidFill>
            <a:schemeClr val="bg1"/>
          </a:solidFill>
          <a:ln w="9525">
            <a:noFill/>
          </a:ln>
        </p:spPr>
        <p:txBody>
          <a:bodyPr vert="horz" wrap="square" lIns="91440" tIns="45720" rIns="91440" bIns="45720" numCol="1" anchor="t">
            <a:sp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cs typeface="微软雅黑 Light" panose="020B0502040204020203" charset="-122"/>
              </a:rPr>
              <a:t>图</a:t>
            </a:r>
            <a:r>
              <a:rPr lang="en-US" alt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cs typeface="微软雅黑 Light" panose="020B0502040204020203" charset="-122"/>
              </a:rPr>
              <a:t>3-1 </a:t>
            </a:r>
            <a:r>
              <a:rPr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cs typeface="微软雅黑 Light" panose="020B0502040204020203" charset="-122"/>
              </a:rPr>
              <a:t>UML模型元素</a:t>
            </a:r>
            <a:endParaRPr lang="ko-KR"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cs typeface="微软雅黑 Light" panose="020B0502040204020203" charset="-122"/>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099DC40-A329-497B-B4F2-479DA7E5B694}"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36867" name="Text Box 2"/>
          <p:cNvSpPr txBox="1"/>
          <p:nvPr/>
        </p:nvSpPr>
        <p:spPr>
          <a:xfrm>
            <a:off x="1187450" y="1916113"/>
            <a:ext cx="5564188" cy="519112"/>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sp>
        <p:nvSpPr>
          <p:cNvPr id="36868" name="Text Box 3"/>
          <p:cNvSpPr txBox="1"/>
          <p:nvPr/>
        </p:nvSpPr>
        <p:spPr>
          <a:xfrm>
            <a:off x="539750" y="2564765"/>
            <a:ext cx="8064500" cy="3848735"/>
          </a:xfrm>
          <a:prstGeom prst="rect">
            <a:avLst/>
          </a:prstGeom>
          <a:noFill/>
          <a:ln w="9525">
            <a:noFill/>
          </a:ln>
        </p:spPr>
        <p:txBody>
          <a:bodyPr>
            <a:noAutofit/>
          </a:bodyPr>
          <a:lstStyle/>
          <a:p>
            <a:pPr marL="443230" indent="-443230" eaLnBrk="1" hangingPunct="1">
              <a:lnSpc>
                <a:spcPct val="125000"/>
              </a:lnSpc>
              <a:buFont typeface="Wingdings" panose="05000000000000000000" pitchFamily="2" charset="2"/>
              <a:buChar char="l"/>
            </a:pPr>
            <a:r>
              <a:rPr lang="zh-CN" altLang="en-US" sz="2800" b="1" dirty="0">
                <a:solidFill>
                  <a:schemeClr val="accent2"/>
                </a:solidFill>
                <a:latin typeface="Arial" panose="020B0604020202020204" pitchFamily="34" charset="0"/>
                <a:ea typeface="楷体_GB2312" pitchFamily="49" charset="-122"/>
              </a:rPr>
              <a:t>关联</a:t>
            </a:r>
            <a:r>
              <a:rPr lang="zh-CN" altLang="en-US" sz="2800" b="1" dirty="0">
                <a:latin typeface="Arial" panose="020B0604020202020204" pitchFamily="34" charset="0"/>
                <a:ea typeface="楷体_GB2312" pitchFamily="49" charset="-122"/>
              </a:rPr>
              <a:t>：连接（</a:t>
            </a:r>
            <a:r>
              <a:rPr lang="en-US" altLang="zh-CN" sz="2800" b="1" dirty="0">
                <a:latin typeface="Arial" panose="020B0604020202020204" pitchFamily="34" charset="0"/>
                <a:ea typeface="楷体_GB2312" pitchFamily="49" charset="-122"/>
              </a:rPr>
              <a:t>connect</a:t>
            </a:r>
            <a:r>
              <a:rPr lang="zh-CN" altLang="en-US" sz="2800" b="1" dirty="0">
                <a:latin typeface="Arial" panose="020B0604020202020204" pitchFamily="34" charset="0"/>
                <a:ea typeface="楷体_GB2312" pitchFamily="49" charset="-122"/>
              </a:rPr>
              <a:t>）模型元素及链接（</a:t>
            </a:r>
            <a:r>
              <a:rPr lang="en-US" altLang="zh-CN" sz="2800" b="1" dirty="0">
                <a:latin typeface="Arial" panose="020B0604020202020204" pitchFamily="34" charset="0"/>
                <a:ea typeface="楷体_GB2312" pitchFamily="49" charset="-122"/>
              </a:rPr>
              <a:t>link</a:t>
            </a:r>
            <a:r>
              <a:rPr lang="zh-CN" altLang="en-US" sz="2800" b="1" dirty="0">
                <a:latin typeface="Arial" panose="020B0604020202020204" pitchFamily="34" charset="0"/>
                <a:ea typeface="楷体_GB2312" pitchFamily="49" charset="-122"/>
              </a:rPr>
              <a:t>）实例。</a:t>
            </a:r>
            <a:endParaRPr lang="zh-CN" altLang="en-US" sz="2800" b="1" dirty="0">
              <a:latin typeface="Arial" panose="020B0604020202020204" pitchFamily="34" charset="0"/>
              <a:ea typeface="楷体_GB2312" pitchFamily="49" charset="-122"/>
            </a:endParaRPr>
          </a:p>
          <a:p>
            <a:pPr marL="443230" indent="-443230" eaLnBrk="1" hangingPunct="1">
              <a:lnSpc>
                <a:spcPct val="125000"/>
              </a:lnSpc>
              <a:buFont typeface="Wingdings" panose="05000000000000000000" pitchFamily="2" charset="2"/>
              <a:buChar char="l"/>
            </a:pPr>
            <a:r>
              <a:rPr lang="zh-CN" altLang="en-US" sz="2800" b="1" dirty="0">
                <a:solidFill>
                  <a:schemeClr val="accent2"/>
                </a:solidFill>
                <a:latin typeface="Arial" panose="020B0604020202020204" pitchFamily="34" charset="0"/>
                <a:ea typeface="楷体_GB2312" pitchFamily="49" charset="-122"/>
              </a:rPr>
              <a:t>依赖</a:t>
            </a:r>
            <a:r>
              <a:rPr lang="zh-CN" altLang="en-US" sz="2800" b="1" dirty="0">
                <a:latin typeface="Arial" panose="020B0604020202020204" pitchFamily="34" charset="0"/>
                <a:ea typeface="楷体_GB2312" pitchFamily="49" charset="-122"/>
              </a:rPr>
              <a:t>：表示一个元素以某种方式依赖于另一种元素。</a:t>
            </a:r>
            <a:endParaRPr lang="zh-CN" altLang="en-US" sz="2800" b="1" dirty="0">
              <a:latin typeface="Arial" panose="020B0604020202020204" pitchFamily="34" charset="0"/>
              <a:ea typeface="楷体_GB2312" pitchFamily="49" charset="-122"/>
            </a:endParaRPr>
          </a:p>
          <a:p>
            <a:pPr marL="443230" indent="-443230" eaLnBrk="1" hangingPunct="1">
              <a:lnSpc>
                <a:spcPct val="125000"/>
              </a:lnSpc>
              <a:buFont typeface="Wingdings" panose="05000000000000000000" pitchFamily="2" charset="2"/>
              <a:buChar char="l"/>
            </a:pPr>
            <a:r>
              <a:rPr lang="zh-CN" altLang="en-US" sz="2800" b="1" dirty="0">
                <a:solidFill>
                  <a:schemeClr val="accent2"/>
                </a:solidFill>
                <a:latin typeface="Arial" panose="020B0604020202020204" pitchFamily="34" charset="0"/>
                <a:ea typeface="楷体_GB2312" pitchFamily="49" charset="-122"/>
              </a:rPr>
              <a:t>泛化</a:t>
            </a:r>
            <a:r>
              <a:rPr lang="zh-CN" altLang="en-US" sz="2800" b="1" dirty="0">
                <a:latin typeface="Arial" panose="020B0604020202020204" pitchFamily="34" charset="0"/>
                <a:ea typeface="楷体_GB2312" pitchFamily="49" charset="-122"/>
              </a:rPr>
              <a:t>：表示一般与特殊的关系，即</a:t>
            </a:r>
            <a:r>
              <a:rPr lang="zh-CN" altLang="en-US" sz="2800" b="1" dirty="0">
                <a:latin typeface="Times New Roman" panose="02020603050405020304" pitchFamily="18" charset="0"/>
                <a:ea typeface="楷体_GB2312" pitchFamily="49" charset="-122"/>
              </a:rPr>
              <a:t>“</a:t>
            </a:r>
            <a:r>
              <a:rPr lang="zh-CN" altLang="en-US" sz="2800" b="1" dirty="0">
                <a:latin typeface="Arial" panose="020B0604020202020204" pitchFamily="34" charset="0"/>
                <a:ea typeface="楷体_GB2312" pitchFamily="49" charset="-122"/>
              </a:rPr>
              <a:t>一般</a:t>
            </a:r>
            <a:r>
              <a:rPr lang="zh-CN" altLang="en-US" sz="2800" b="1" dirty="0">
                <a:latin typeface="Times New Roman" panose="02020603050405020304" pitchFamily="18" charset="0"/>
                <a:ea typeface="楷体_GB2312" pitchFamily="49" charset="-122"/>
              </a:rPr>
              <a:t>”</a:t>
            </a:r>
            <a:r>
              <a:rPr lang="zh-CN" altLang="en-US" sz="2800" b="1" dirty="0">
                <a:latin typeface="Arial" panose="020B0604020202020204" pitchFamily="34" charset="0"/>
                <a:ea typeface="楷体_GB2312" pitchFamily="49" charset="-122"/>
              </a:rPr>
              <a:t>元素是</a:t>
            </a:r>
            <a:r>
              <a:rPr lang="zh-CN" altLang="en-US" sz="2800" b="1" dirty="0">
                <a:latin typeface="Times New Roman" panose="02020603050405020304" pitchFamily="18" charset="0"/>
                <a:ea typeface="楷体_GB2312" pitchFamily="49" charset="-122"/>
              </a:rPr>
              <a:t>“</a:t>
            </a:r>
            <a:r>
              <a:rPr lang="zh-CN" altLang="en-US" sz="2800" b="1" dirty="0">
                <a:latin typeface="Arial" panose="020B0604020202020204" pitchFamily="34" charset="0"/>
                <a:ea typeface="楷体_GB2312" pitchFamily="49" charset="-122"/>
              </a:rPr>
              <a:t>特殊</a:t>
            </a:r>
            <a:r>
              <a:rPr lang="zh-CN" altLang="en-US" sz="2800" b="1" dirty="0">
                <a:latin typeface="Times New Roman" panose="02020603050405020304" pitchFamily="18" charset="0"/>
                <a:ea typeface="楷体_GB2312" pitchFamily="49" charset="-122"/>
              </a:rPr>
              <a:t>”</a:t>
            </a:r>
            <a:r>
              <a:rPr lang="zh-CN" altLang="en-US" sz="2800" b="1" dirty="0">
                <a:latin typeface="Arial" panose="020B0604020202020204" pitchFamily="34" charset="0"/>
                <a:ea typeface="楷体_GB2312" pitchFamily="49" charset="-122"/>
              </a:rPr>
              <a:t>关系的泛化。</a:t>
            </a:r>
            <a:endParaRPr lang="zh-CN" altLang="en-US" sz="2800" b="1" dirty="0">
              <a:latin typeface="Arial" panose="020B0604020202020204" pitchFamily="34" charset="0"/>
              <a:ea typeface="楷体_GB2312" pitchFamily="49" charset="-122"/>
            </a:endParaRPr>
          </a:p>
          <a:p>
            <a:pPr marL="443230" indent="-443230" eaLnBrk="1" hangingPunct="1">
              <a:lnSpc>
                <a:spcPct val="125000"/>
              </a:lnSpc>
              <a:buFont typeface="Wingdings" panose="05000000000000000000" pitchFamily="2" charset="2"/>
              <a:buChar char="l"/>
            </a:pPr>
            <a:r>
              <a:rPr lang="zh-CN" altLang="en-US" sz="2800" b="1" dirty="0">
                <a:solidFill>
                  <a:schemeClr val="accent2"/>
                </a:solidFill>
                <a:latin typeface="Arial" panose="020B0604020202020204" pitchFamily="34" charset="0"/>
                <a:ea typeface="楷体_GB2312" pitchFamily="49" charset="-122"/>
              </a:rPr>
              <a:t>聚合</a:t>
            </a:r>
            <a:r>
              <a:rPr lang="zh-CN" altLang="en-US" sz="2800" b="1" dirty="0">
                <a:latin typeface="Arial" panose="020B0604020202020204" pitchFamily="34" charset="0"/>
                <a:ea typeface="楷体_GB2312" pitchFamily="49" charset="-122"/>
              </a:rPr>
              <a:t>：表示整体与部分的关系。</a:t>
            </a:r>
            <a:endParaRPr lang="zh-CN" altLang="en-US" sz="2800" b="1" dirty="0">
              <a:latin typeface="Arial" panose="020B0604020202020204" pitchFamily="34" charset="0"/>
              <a:ea typeface="楷体_GB2312" pitchFamily="49" charset="-122"/>
            </a:endParaRPr>
          </a:p>
        </p:txBody>
      </p:sp>
      <p:pic>
        <p:nvPicPr>
          <p:cNvPr id="36869" name="Picture 4" descr="图23"/>
          <p:cNvPicPr>
            <a:picLocks noGrp="1" noChangeAspect="1"/>
          </p:cNvPicPr>
          <p:nvPr>
            <p:ph idx="1"/>
          </p:nvPr>
        </p:nvPicPr>
        <p:blipFill>
          <a:blip r:embed="rId1"/>
          <a:srcRect/>
          <a:stretch>
            <a:fillRect/>
          </a:stretch>
        </p:blipFill>
        <p:spPr>
          <a:xfrm>
            <a:off x="468313" y="333375"/>
            <a:ext cx="8135937" cy="2116138"/>
          </a:xfrm>
        </p:spPr>
      </p:pic>
      <p:sp>
        <p:nvSpPr>
          <p:cNvPr id="2" name="Rectangle 2"/>
          <p:cNvSpPr/>
          <p:nvPr/>
        </p:nvSpPr>
        <p:spPr>
          <a:xfrm>
            <a:off x="2360930" y="1772285"/>
            <a:ext cx="5066030" cy="460375"/>
          </a:xfrm>
          <a:prstGeom prst="rect">
            <a:avLst/>
          </a:prstGeom>
          <a:solidFill>
            <a:schemeClr val="bg1"/>
          </a:solidFill>
          <a:ln w="9525">
            <a:noFill/>
          </a:ln>
        </p:spPr>
        <p:txBody>
          <a:bodyPr vert="horz" wrap="square" lIns="91440" tIns="45720" rIns="91440" bIns="45720" numCol="1" anchor="t">
            <a:sp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cs typeface="微软雅黑 Light" panose="020B0502040204020203" charset="-122"/>
              </a:rPr>
              <a:t>图</a:t>
            </a:r>
            <a:r>
              <a:rPr lang="en-US" alt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cs typeface="微软雅黑 Light" panose="020B0502040204020203" charset="-122"/>
              </a:rPr>
              <a:t>3-2 </a:t>
            </a:r>
            <a:r>
              <a:rPr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cs typeface="微软雅黑 Light" panose="020B0502040204020203" charset="-122"/>
              </a:rPr>
              <a:t>UML</a:t>
            </a: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cs typeface="微软雅黑 Light" panose="020B0502040204020203" charset="-122"/>
              </a:rPr>
              <a:t>的连接关系模型元素</a:t>
            </a:r>
            <a:endPar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cs typeface="微软雅黑 Light" panose="020B0502040204020203"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3B7951-CB08-4AD0-BF57-FEC7B391D5A6}"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37891" name="Rectangle 3"/>
          <p:cNvSpPr/>
          <p:nvPr/>
        </p:nvSpPr>
        <p:spPr>
          <a:xfrm>
            <a:off x="323850" y="692150"/>
            <a:ext cx="7493635" cy="645795"/>
          </a:xfrm>
          <a:prstGeom prst="rect">
            <a:avLst/>
          </a:prstGeom>
          <a:noFill/>
          <a:ln w="9525">
            <a:noFill/>
          </a:ln>
        </p:spPr>
        <p:txBody>
          <a:bodyPr vert="horz" wrap="squar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sz="3600" b="1" i="0">
                <a:solidFill>
                  <a:srgbClr val="FF0000"/>
                </a:solidFill>
                <a:latin typeface="黑体" panose="02010609060101010101" pitchFamily="49" charset="-122"/>
                <a:ea typeface="黑体" panose="02010609060101010101" pitchFamily="49" charset="-122"/>
              </a:rPr>
              <a:t>3.2  UML系统模型与建模</a:t>
            </a:r>
            <a:endParaRPr lang="ko-KR" altLang="en-US" sz="3600" b="1" i="0">
              <a:solidFill>
                <a:srgbClr val="FF0000"/>
              </a:solidFill>
              <a:latin typeface="黑体" panose="02010609060101010101" pitchFamily="49" charset="-122"/>
              <a:ea typeface="黑体" panose="02010609060101010101" pitchFamily="49" charset="-122"/>
            </a:endParaRPr>
          </a:p>
        </p:txBody>
      </p:sp>
      <p:sp>
        <p:nvSpPr>
          <p:cNvPr id="37892" name="Text Box 4"/>
          <p:cNvSpPr txBox="1"/>
          <p:nvPr/>
        </p:nvSpPr>
        <p:spPr>
          <a:xfrm>
            <a:off x="1187450" y="1916430"/>
            <a:ext cx="5564505" cy="518795"/>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sp>
        <p:nvSpPr>
          <p:cNvPr id="37893" name="Text Box 5"/>
          <p:cNvSpPr txBox="1"/>
          <p:nvPr/>
        </p:nvSpPr>
        <p:spPr>
          <a:xfrm>
            <a:off x="684530" y="1752600"/>
            <a:ext cx="4392930" cy="584200"/>
          </a:xfrm>
          <a:prstGeom prst="rect">
            <a:avLst/>
          </a:prstGeom>
          <a:noFill/>
          <a:ln w="9525">
            <a:noFill/>
          </a:ln>
        </p:spPr>
        <p:txBody>
          <a:bodyPr vert="horz" wrap="squar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lang="zh-CN" altLang="en-US" sz="3200" b="1" i="0">
                <a:solidFill>
                  <a:schemeClr val="accent2"/>
                </a:solidFill>
                <a:latin typeface="黑体" panose="02010609060101010101" pitchFamily="49" charset="-122"/>
                <a:ea typeface="黑体" panose="02010609060101010101" pitchFamily="49" charset="-122"/>
              </a:rPr>
              <a:t>三大</a:t>
            </a:r>
            <a:r>
              <a:rPr sz="3200" b="1" i="0">
                <a:solidFill>
                  <a:srgbClr val="0611F2"/>
                </a:solidFill>
                <a:latin typeface="黑体" panose="02010609060101010101" pitchFamily="49" charset="-122"/>
                <a:ea typeface="黑体" panose="02010609060101010101" pitchFamily="49" charset="-122"/>
              </a:rPr>
              <a:t>类</a:t>
            </a:r>
            <a:r>
              <a:rPr lang="zh-CN" altLang="en-US" sz="3200" b="1" i="0">
                <a:solidFill>
                  <a:schemeClr val="accent2"/>
                </a:solidFill>
                <a:latin typeface="黑体" panose="02010609060101010101" pitchFamily="49" charset="-122"/>
                <a:ea typeface="黑体" panose="02010609060101010101" pitchFamily="49" charset="-122"/>
              </a:rPr>
              <a:t>九种</a:t>
            </a:r>
            <a:r>
              <a:rPr sz="3200" b="1" i="0">
                <a:solidFill>
                  <a:srgbClr val="0611F2"/>
                </a:solidFill>
                <a:latin typeface="黑体" panose="02010609060101010101" pitchFamily="49" charset="-122"/>
                <a:ea typeface="黑体" panose="02010609060101010101" pitchFamily="49" charset="-122"/>
              </a:rPr>
              <a:t>图</a:t>
            </a:r>
            <a:r>
              <a:rPr lang="zh-CN" altLang="en-US" sz="3200" b="1" i="0">
                <a:latin typeface="黑体" panose="02010609060101010101" pitchFamily="49" charset="-122"/>
                <a:ea typeface="黑体" panose="02010609060101010101" pitchFamily="49" charset="-122"/>
              </a:rPr>
              <a:t>表示</a:t>
            </a:r>
            <a:endParaRPr lang="ko-KR" altLang="en-US" sz="3200" b="1" i="0">
              <a:latin typeface="黑体" panose="02010609060101010101" pitchFamily="49" charset="-122"/>
              <a:ea typeface="黑体" panose="02010609060101010101" pitchFamily="49" charset="-122"/>
            </a:endParaRPr>
          </a:p>
        </p:txBody>
      </p:sp>
      <p:sp>
        <p:nvSpPr>
          <p:cNvPr id="37894" name="Text Box 6"/>
          <p:cNvSpPr txBox="1"/>
          <p:nvPr/>
        </p:nvSpPr>
        <p:spPr>
          <a:xfrm>
            <a:off x="646430" y="2667635"/>
            <a:ext cx="8161020" cy="2676525"/>
          </a:xfrm>
          <a:prstGeom prst="rect">
            <a:avLst/>
          </a:prstGeom>
          <a:noFill/>
          <a:ln w="0">
            <a:noFill/>
          </a:ln>
        </p:spPr>
        <p:txBody>
          <a:bodyPr vert="horz" wrap="square" lIns="91440" tIns="45720" rIns="91440" bIns="45720" numCol="1" anchor="t">
            <a:spAutoFit/>
          </a:bodyPr>
          <a:lstStyle/>
          <a:p>
            <a:pPr marL="443230" indent="-443230" algn="l" defTabSz="914400" eaLnBrk="1" fontAlgn="base" latinLnBrk="0" hangingPunct="1">
              <a:lnSpc>
                <a:spcPct val="120000"/>
              </a:lnSpc>
              <a:spcBef>
                <a:spcPts val="0"/>
              </a:spcBef>
              <a:spcAft>
                <a:spcPts val="0"/>
              </a:spcAft>
              <a:buClr>
                <a:srgbClr val="0611F2"/>
              </a:buClr>
              <a:buFont typeface="Wingdings" panose="05000000000000000000"/>
              <a:buChar char="l"/>
            </a:pPr>
            <a:r>
              <a:rPr sz="2800" b="1" i="0">
                <a:solidFill>
                  <a:srgbClr val="0611F2"/>
                </a:solidFill>
                <a:latin typeface="Arial" panose="020B0604020202020204" pitchFamily="34" charset="0"/>
                <a:ea typeface="楷体_GB2312" charset="0"/>
              </a:rPr>
              <a:t>用例模型</a:t>
            </a:r>
            <a:r>
              <a:rPr lang="zh-CN" altLang="en-US" sz="2800" b="1" i="0">
                <a:latin typeface="Arial" panose="020B0604020202020204" pitchFamily="34" charset="0"/>
                <a:ea typeface="楷体_GB2312" charset="0"/>
              </a:rPr>
              <a:t>图：由用例图组成。</a:t>
            </a:r>
            <a:endParaRPr lang="ko-KR" altLang="en-US" sz="2800" b="1" i="0">
              <a:latin typeface="Arial" panose="020B0604020202020204" pitchFamily="34" charset="0"/>
              <a:ea typeface="楷体_GB2312" charset="0"/>
            </a:endParaRPr>
          </a:p>
          <a:p>
            <a:pPr marL="443230" indent="-443230" algn="l" defTabSz="914400" eaLnBrk="1" fontAlgn="base" latinLnBrk="0" hangingPunct="1">
              <a:lnSpc>
                <a:spcPct val="120000"/>
              </a:lnSpc>
              <a:spcBef>
                <a:spcPts val="0"/>
              </a:spcBef>
              <a:spcAft>
                <a:spcPts val="0"/>
              </a:spcAft>
              <a:buClr>
                <a:srgbClr val="0611F2"/>
              </a:buClr>
              <a:buFont typeface="Wingdings" panose="05000000000000000000"/>
              <a:buChar char="l"/>
            </a:pPr>
            <a:r>
              <a:rPr sz="2800" b="1" i="0">
                <a:solidFill>
                  <a:srgbClr val="0611F2"/>
                </a:solidFill>
                <a:latin typeface="Arial" panose="020B0604020202020204" pitchFamily="34" charset="0"/>
                <a:ea typeface="楷体_GB2312" charset="0"/>
              </a:rPr>
              <a:t>静态模型</a:t>
            </a:r>
            <a:r>
              <a:rPr lang="zh-CN" altLang="en-US" sz="2800" b="1" i="0">
                <a:latin typeface="Arial" panose="020B0604020202020204" pitchFamily="34" charset="0"/>
                <a:ea typeface="楷体_GB2312" charset="0"/>
              </a:rPr>
              <a:t>图：由类图、对象图、包图、构件图和配置图组成。</a:t>
            </a:r>
            <a:endParaRPr lang="ko-KR" altLang="en-US" sz="2800" b="1" i="0">
              <a:latin typeface="Arial" panose="020B0604020202020204" pitchFamily="34" charset="0"/>
              <a:ea typeface="楷体_GB2312" charset="0"/>
            </a:endParaRPr>
          </a:p>
          <a:p>
            <a:pPr marL="443230" indent="-443230" algn="l" defTabSz="914400" eaLnBrk="1" fontAlgn="base" latinLnBrk="0" hangingPunct="1">
              <a:lnSpc>
                <a:spcPct val="120000"/>
              </a:lnSpc>
              <a:spcBef>
                <a:spcPts val="0"/>
              </a:spcBef>
              <a:spcAft>
                <a:spcPts val="0"/>
              </a:spcAft>
              <a:buClr>
                <a:srgbClr val="0611F2"/>
              </a:buClr>
              <a:buFont typeface="Wingdings" panose="05000000000000000000"/>
              <a:buChar char="l"/>
            </a:pPr>
            <a:r>
              <a:rPr sz="2800" b="1" i="0">
                <a:solidFill>
                  <a:srgbClr val="0611F2"/>
                </a:solidFill>
                <a:latin typeface="Arial" panose="020B0604020202020204" pitchFamily="34" charset="0"/>
                <a:ea typeface="楷体_GB2312" charset="0"/>
              </a:rPr>
              <a:t>动态模型</a:t>
            </a:r>
            <a:r>
              <a:rPr lang="zh-CN" altLang="en-US" sz="2800" b="1" i="0">
                <a:latin typeface="Arial" panose="020B0604020202020204" pitchFamily="34" charset="0"/>
                <a:ea typeface="楷体_GB2312" charset="0"/>
              </a:rPr>
              <a:t>图：由活动图、顺序图、状态图和合作图组成。</a:t>
            </a:r>
            <a:endParaRPr lang="ko-KR" altLang="en-US" sz="2800" b="1" i="0">
              <a:latin typeface="Arial" panose="020B0604020202020204" pitchFamily="34" charset="0"/>
              <a:ea typeface="楷体_GB2312" charset="0"/>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750B4DA-863D-47B2-BCA9-66048DE30F46}"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38915" name="Rectangle 2"/>
          <p:cNvSpPr/>
          <p:nvPr/>
        </p:nvSpPr>
        <p:spPr>
          <a:xfrm>
            <a:off x="31750" y="71438"/>
            <a:ext cx="8064500" cy="641350"/>
          </a:xfrm>
          <a:prstGeom prst="rect">
            <a:avLst/>
          </a:prstGeom>
          <a:noFill/>
          <a:ln w="9525">
            <a:noFill/>
          </a:ln>
        </p:spPr>
        <p:txBody>
          <a:bodyPr>
            <a:spAutoFit/>
          </a:bodyPr>
          <a:lstStyle/>
          <a:p>
            <a:pPr eaLnBrk="1" hangingPunct="1">
              <a:buFont typeface="Arial" panose="020B0604020202020204" pitchFamily="34" charset="0"/>
            </a:pPr>
            <a:r>
              <a:rPr lang="zh-CN" altLang="en-US" sz="3600" b="1" dirty="0">
                <a:latin typeface="黑体" panose="02010609060101010101" pitchFamily="49" charset="-122"/>
                <a:ea typeface="黑体" panose="02010609060101010101" pitchFamily="49" charset="-122"/>
              </a:rPr>
              <a:t>模型可由</a:t>
            </a:r>
            <a:r>
              <a:rPr lang="en-US" altLang="zh-CN" sz="3600" b="1" dirty="0">
                <a:latin typeface="黑体" panose="02010609060101010101" pitchFamily="49" charset="-122"/>
                <a:ea typeface="黑体" panose="02010609060101010101" pitchFamily="49" charset="-122"/>
              </a:rPr>
              <a:t>9</a:t>
            </a:r>
            <a:r>
              <a:rPr lang="zh-CN" altLang="en-US" sz="3600" b="1" dirty="0">
                <a:latin typeface="黑体" panose="02010609060101010101" pitchFamily="49" charset="-122"/>
                <a:ea typeface="黑体" panose="02010609060101010101" pitchFamily="49" charset="-122"/>
              </a:rPr>
              <a:t>个图来展现：</a:t>
            </a:r>
            <a:endParaRPr lang="zh-CN" altLang="en-US" sz="3600" b="1" dirty="0">
              <a:latin typeface="黑体" panose="02010609060101010101" pitchFamily="49" charset="-122"/>
              <a:ea typeface="黑体" panose="02010609060101010101" pitchFamily="49" charset="-122"/>
            </a:endParaRPr>
          </a:p>
        </p:txBody>
      </p:sp>
      <p:sp>
        <p:nvSpPr>
          <p:cNvPr id="38916" name="Text Box 3"/>
          <p:cNvSpPr txBox="1"/>
          <p:nvPr/>
        </p:nvSpPr>
        <p:spPr>
          <a:xfrm>
            <a:off x="1187450" y="1916113"/>
            <a:ext cx="5564188" cy="519112"/>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sp>
        <p:nvSpPr>
          <p:cNvPr id="38917" name="Text Box 7"/>
          <p:cNvSpPr txBox="1"/>
          <p:nvPr/>
        </p:nvSpPr>
        <p:spPr>
          <a:xfrm>
            <a:off x="323850" y="4941888"/>
            <a:ext cx="8578850" cy="1406525"/>
          </a:xfrm>
          <a:prstGeom prst="rect">
            <a:avLst/>
          </a:prstGeom>
          <a:noFill/>
          <a:ln w="9525">
            <a:noFill/>
          </a:ln>
        </p:spPr>
        <p:txBody>
          <a:bodyPr>
            <a:spAutoFit/>
          </a:bodyPr>
          <a:lstStyle/>
          <a:p>
            <a:pPr marL="443230" indent="-443230" eaLnBrk="1" hangingPunct="1">
              <a:lnSpc>
                <a:spcPct val="120000"/>
              </a:lnSpc>
              <a:buFont typeface="Wingdings" panose="05000000000000000000" pitchFamily="2" charset="2"/>
              <a:buChar char="l"/>
            </a:pPr>
            <a:r>
              <a:rPr lang="zh-CN" altLang="en-US" sz="2400" b="1" dirty="0">
                <a:latin typeface="Arial" panose="020B0604020202020204" pitchFamily="34" charset="0"/>
                <a:ea typeface="楷体_GB2312" pitchFamily="49" charset="-122"/>
              </a:rPr>
              <a:t>静态建模是对系统中对象之间互相进行的联系构建模型，而这些关系不随时间发生变化。</a:t>
            </a:r>
            <a:r>
              <a:rPr lang="en-US" altLang="zh-CN" sz="2400" b="1" dirty="0">
                <a:latin typeface="Arial" panose="020B0604020202020204" pitchFamily="34" charset="0"/>
                <a:ea typeface="楷体_GB2312" pitchFamily="49" charset="-122"/>
              </a:rPr>
              <a:t>UML</a:t>
            </a:r>
            <a:r>
              <a:rPr lang="zh-CN" altLang="en-US" sz="2400" b="1" dirty="0">
                <a:latin typeface="Arial" panose="020B0604020202020204" pitchFamily="34" charset="0"/>
                <a:ea typeface="楷体_GB2312" pitchFamily="49" charset="-122"/>
              </a:rPr>
              <a:t>静态模型用于</a:t>
            </a:r>
            <a:r>
              <a:rPr lang="zh-CN" altLang="en-US" sz="2400" b="1" dirty="0">
                <a:solidFill>
                  <a:schemeClr val="accent2"/>
                </a:solidFill>
                <a:latin typeface="Arial" panose="020B0604020202020204" pitchFamily="34" charset="0"/>
                <a:ea typeface="楷体_GB2312" pitchFamily="49" charset="-122"/>
              </a:rPr>
              <a:t>描述系统的体系结构</a:t>
            </a:r>
            <a:r>
              <a:rPr lang="zh-CN" altLang="en-US" sz="2400" b="1" dirty="0">
                <a:latin typeface="Arial" panose="020B0604020202020204" pitchFamily="34" charset="0"/>
                <a:ea typeface="楷体_GB2312" pitchFamily="49" charset="-122"/>
              </a:rPr>
              <a:t>。</a:t>
            </a:r>
            <a:endParaRPr lang="zh-CN" altLang="en-US" sz="2400" b="1" dirty="0">
              <a:latin typeface="Arial" panose="020B0604020202020204" pitchFamily="34" charset="0"/>
              <a:ea typeface="楷体_GB2312" pitchFamily="49" charset="-122"/>
            </a:endParaRPr>
          </a:p>
        </p:txBody>
      </p:sp>
      <p:pic>
        <p:nvPicPr>
          <p:cNvPr id="38918" name="图片 1"/>
          <p:cNvPicPr>
            <a:picLocks noChangeAspect="1"/>
          </p:cNvPicPr>
          <p:nvPr/>
        </p:nvPicPr>
        <p:blipFill>
          <a:blip r:embed="rId1"/>
          <a:stretch>
            <a:fillRect/>
          </a:stretch>
        </p:blipFill>
        <p:spPr>
          <a:xfrm>
            <a:off x="31750" y="836613"/>
            <a:ext cx="9163050" cy="5886450"/>
          </a:xfrm>
          <a:prstGeom prst="rect">
            <a:avLst/>
          </a:prstGeom>
          <a:noFill/>
          <a:ln w="9525">
            <a:noFill/>
          </a:ln>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90CF22B-BE6E-403E-B602-E0D8773A67D2}"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39939" name="Rectangle 3"/>
          <p:cNvSpPr/>
          <p:nvPr/>
        </p:nvSpPr>
        <p:spPr>
          <a:xfrm>
            <a:off x="107950" y="621030"/>
            <a:ext cx="7493635" cy="645795"/>
          </a:xfrm>
          <a:prstGeom prst="rect">
            <a:avLst/>
          </a:prstGeom>
          <a:noFill/>
          <a:ln w="9525">
            <a:noFill/>
          </a:ln>
        </p:spPr>
        <p:txBody>
          <a:bodyPr vert="horz" wrap="squar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lang="en-US" altLang="zh-CN" sz="3600" b="1" i="0">
                <a:latin typeface="黑体" panose="02010609060101010101" pitchFamily="49" charset="-122"/>
                <a:ea typeface="黑体" panose="02010609060101010101" pitchFamily="49" charset="-122"/>
              </a:rPr>
              <a:t>3.2.1  </a:t>
            </a:r>
            <a:r>
              <a:rPr sz="3600" b="1" i="0">
                <a:solidFill>
                  <a:srgbClr val="FF0000"/>
                </a:solidFill>
                <a:latin typeface="黑体" panose="02010609060101010101" pitchFamily="49" charset="-122"/>
                <a:ea typeface="黑体" panose="02010609060101010101" pitchFamily="49" charset="-122"/>
              </a:rPr>
              <a:t>用例模型及组成成分</a:t>
            </a:r>
            <a:endParaRPr lang="ko-KR" altLang="en-US" sz="3600" b="1" i="0">
              <a:latin typeface="黑体" panose="02010609060101010101" pitchFamily="49" charset="-122"/>
              <a:ea typeface="黑体" panose="02010609060101010101" pitchFamily="49" charset="-122"/>
            </a:endParaRPr>
          </a:p>
        </p:txBody>
      </p:sp>
      <p:sp>
        <p:nvSpPr>
          <p:cNvPr id="39940" name="Text Box 4"/>
          <p:cNvSpPr txBox="1"/>
          <p:nvPr/>
        </p:nvSpPr>
        <p:spPr>
          <a:xfrm>
            <a:off x="1187450" y="1916430"/>
            <a:ext cx="5564505" cy="518795"/>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sp>
        <p:nvSpPr>
          <p:cNvPr id="39941" name="Text Box 7"/>
          <p:cNvSpPr txBox="1"/>
          <p:nvPr/>
        </p:nvSpPr>
        <p:spPr>
          <a:xfrm>
            <a:off x="395605" y="1700530"/>
            <a:ext cx="7849235" cy="1864995"/>
          </a:xfrm>
          <a:prstGeom prst="rect">
            <a:avLst/>
          </a:prstGeom>
          <a:noFill/>
          <a:ln w="9525">
            <a:noFill/>
          </a:ln>
        </p:spPr>
        <p:txBody>
          <a:bodyPr vert="horz" wrap="square" lIns="91440" tIns="45720" rIns="91440" bIns="45720" numCol="1" anchor="t">
            <a:spAutoFit/>
          </a:bodyPr>
          <a:lstStyle/>
          <a:p>
            <a:pPr marL="443230" indent="-443230" algn="l" defTabSz="914400" eaLnBrk="1" fontAlgn="base" latinLnBrk="0" hangingPunct="1">
              <a:lnSpc>
                <a:spcPct val="120000"/>
              </a:lnSpc>
              <a:spcBef>
                <a:spcPts val="0"/>
              </a:spcBef>
              <a:spcAft>
                <a:spcPts val="0"/>
              </a:spcAft>
              <a:buClr>
                <a:srgbClr val="0611F2"/>
              </a:buClr>
              <a:buFont typeface="Wingdings" panose="05000000000000000000"/>
              <a:buChar char="l"/>
            </a:pPr>
            <a:r>
              <a:rPr sz="2400" b="1" i="0">
                <a:solidFill>
                  <a:srgbClr val="0611F2"/>
                </a:solidFill>
                <a:latin typeface="Arial" panose="020B0604020202020204" pitchFamily="34" charset="0"/>
                <a:ea typeface="楷体_GB2312" charset="0"/>
              </a:rPr>
              <a:t>用例模型</a:t>
            </a:r>
            <a:r>
              <a:rPr lang="zh-CN" altLang="en-US" sz="2400" b="1" i="0">
                <a:latin typeface="Arial" panose="020B0604020202020204" pitchFamily="34" charset="0"/>
                <a:ea typeface="楷体_GB2312" charset="0"/>
              </a:rPr>
              <a:t>描述的是外部执行者所理解的系统功能。由若干用例图组成，主要用于需求分析阶段，它的建立时系统开发者和用户反复讨论的结果，表面了开发者和用户对需求规格说明达成的共识。</a:t>
            </a:r>
            <a:endParaRPr lang="ko-KR" altLang="en-US" sz="2400" b="1" i="0">
              <a:latin typeface="Arial" panose="020B0604020202020204" pitchFamily="34" charset="0"/>
              <a:ea typeface="楷体_GB2312" charset="0"/>
            </a:endParaRPr>
          </a:p>
        </p:txBody>
      </p:sp>
      <p:sp>
        <p:nvSpPr>
          <p:cNvPr id="39942" name="Text Box 9"/>
          <p:cNvSpPr txBox="1"/>
          <p:nvPr/>
        </p:nvSpPr>
        <p:spPr>
          <a:xfrm>
            <a:off x="468630" y="3860800"/>
            <a:ext cx="7849235" cy="1864995"/>
          </a:xfrm>
          <a:prstGeom prst="rect">
            <a:avLst/>
          </a:prstGeom>
          <a:noFill/>
          <a:ln w="9525">
            <a:noFill/>
          </a:ln>
        </p:spPr>
        <p:txBody>
          <a:bodyPr vert="horz" wrap="square" lIns="91440" tIns="45720" rIns="91440" bIns="45720" numCol="1" anchor="t">
            <a:spAutoFit/>
          </a:bodyPr>
          <a:lstStyle/>
          <a:p>
            <a:pPr marL="443230" indent="-443230" algn="l" defTabSz="914400" eaLnBrk="1" fontAlgn="base" latinLnBrk="0" hangingPunct="1">
              <a:lnSpc>
                <a:spcPct val="120000"/>
              </a:lnSpc>
              <a:spcBef>
                <a:spcPts val="0"/>
              </a:spcBef>
              <a:spcAft>
                <a:spcPts val="0"/>
              </a:spcAft>
              <a:buFont typeface="Wingdings" panose="05000000000000000000"/>
              <a:buChar char="l"/>
            </a:pPr>
            <a:r>
              <a:rPr lang="zh-CN" altLang="en-US" sz="2400" b="1" i="0">
                <a:latin typeface="Arial" panose="020B0604020202020204" pitchFamily="34" charset="0"/>
                <a:ea typeface="楷体_GB2312" charset="0"/>
              </a:rPr>
              <a:t>用例模型</a:t>
            </a:r>
            <a:r>
              <a:rPr sz="2400" b="1" i="0">
                <a:solidFill>
                  <a:srgbClr val="0611F2"/>
                </a:solidFill>
                <a:latin typeface="Arial" panose="020B0604020202020204" pitchFamily="34" charset="0"/>
                <a:ea typeface="楷体_GB2312" charset="0"/>
              </a:rPr>
              <a:t>驱动了需求分析之后各阶段的开发工作</a:t>
            </a:r>
            <a:r>
              <a:rPr lang="zh-CN" altLang="en-US" sz="2400" b="1" i="0">
                <a:latin typeface="Arial" panose="020B0604020202020204" pitchFamily="34" charset="0"/>
                <a:ea typeface="楷体_GB2312" charset="0"/>
              </a:rPr>
              <a:t>，不仅在开发过程中保证了系统所有功能的实现，而且被用于验证和检测所开发的系统，从而影响到开发工作的各个阶段和</a:t>
            </a:r>
            <a:r>
              <a:rPr lang="en-US" altLang="zh-CN" sz="2400" b="1" i="0">
                <a:latin typeface="Arial" panose="020B0604020202020204" pitchFamily="34" charset="0"/>
                <a:ea typeface="楷体_GB2312" charset="0"/>
              </a:rPr>
              <a:t>UML</a:t>
            </a:r>
            <a:r>
              <a:rPr lang="zh-CN" altLang="en-US" sz="2400" b="1" i="0">
                <a:latin typeface="Arial" panose="020B0604020202020204" pitchFamily="34" charset="0"/>
                <a:ea typeface="楷体_GB2312" charset="0"/>
              </a:rPr>
              <a:t>的各个模型。</a:t>
            </a:r>
            <a:endParaRPr lang="ko-KR" altLang="en-US" sz="2400" b="1" i="0">
              <a:latin typeface="Arial" panose="020B0604020202020204" pitchFamily="34" charset="0"/>
              <a:ea typeface="楷体_GB2312" charset="0"/>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DAD69F-F5F9-467F-997B-FA3B2A07B304}"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40963" name="Rectangle 2"/>
          <p:cNvSpPr/>
          <p:nvPr/>
        </p:nvSpPr>
        <p:spPr>
          <a:xfrm>
            <a:off x="107950" y="115888"/>
            <a:ext cx="9036050" cy="519112"/>
          </a:xfrm>
          <a:prstGeom prst="rect">
            <a:avLst/>
          </a:prstGeom>
          <a:noFill/>
          <a:ln w="9525">
            <a:noFill/>
          </a:ln>
        </p:spPr>
        <p:txBody>
          <a:bodyPr>
            <a:spAutoFit/>
          </a:bodyPr>
          <a:lstStyle/>
          <a:p>
            <a:pPr eaLnBrk="1" hangingPunct="1">
              <a:buFont typeface="Arial" panose="020B0604020202020204" pitchFamily="34" charset="0"/>
            </a:pPr>
            <a:r>
              <a:rPr lang="zh-CN" altLang="en-US" sz="2800" b="1" dirty="0">
                <a:solidFill>
                  <a:schemeClr val="accent2"/>
                </a:solidFill>
                <a:latin typeface="黑体" panose="02010609060101010101" pitchFamily="49" charset="-122"/>
                <a:ea typeface="黑体" panose="02010609060101010101" pitchFamily="49" charset="-122"/>
              </a:rPr>
              <a:t>用例模型举例</a:t>
            </a:r>
            <a:r>
              <a:rPr lang="zh-CN" altLang="en-US" sz="2800" b="1" dirty="0">
                <a:latin typeface="黑体" panose="02010609060101010101" pitchFamily="49" charset="-122"/>
                <a:ea typeface="黑体" panose="02010609060101010101" pitchFamily="49" charset="-122"/>
              </a:rPr>
              <a:t>：一个保险业务管理系统的用例图</a:t>
            </a:r>
            <a:endParaRPr lang="zh-CN" altLang="en-US" sz="2800" b="1" dirty="0">
              <a:latin typeface="黑体" panose="02010609060101010101" pitchFamily="49" charset="-122"/>
              <a:ea typeface="黑体" panose="02010609060101010101" pitchFamily="49" charset="-122"/>
            </a:endParaRPr>
          </a:p>
        </p:txBody>
      </p:sp>
      <p:sp>
        <p:nvSpPr>
          <p:cNvPr id="40964" name="Text Box 3"/>
          <p:cNvSpPr txBox="1"/>
          <p:nvPr/>
        </p:nvSpPr>
        <p:spPr>
          <a:xfrm>
            <a:off x="1187450" y="1916113"/>
            <a:ext cx="5564188" cy="519112"/>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pic>
        <p:nvPicPr>
          <p:cNvPr id="40965" name="Picture 4" descr="图3"/>
          <p:cNvPicPr>
            <a:picLocks noGrp="1" noChangeAspect="1"/>
          </p:cNvPicPr>
          <p:nvPr>
            <p:ph idx="1"/>
          </p:nvPr>
        </p:nvPicPr>
        <p:blipFill>
          <a:blip r:embed="rId1"/>
          <a:srcRect/>
          <a:stretch>
            <a:fillRect/>
          </a:stretch>
        </p:blipFill>
        <p:spPr>
          <a:xfrm>
            <a:off x="346710" y="887095"/>
            <a:ext cx="8326755" cy="4255770"/>
          </a:xfrm>
        </p:spPr>
      </p:pic>
      <p:sp>
        <p:nvSpPr>
          <p:cNvPr id="40966" name="Text Box 5"/>
          <p:cNvSpPr txBox="1"/>
          <p:nvPr/>
        </p:nvSpPr>
        <p:spPr>
          <a:xfrm>
            <a:off x="179705" y="5278120"/>
            <a:ext cx="8529955" cy="977265"/>
          </a:xfrm>
          <a:prstGeom prst="rect">
            <a:avLst/>
          </a:prstGeom>
          <a:noFill/>
          <a:ln w="9525">
            <a:noFill/>
          </a:ln>
        </p:spPr>
        <p:txBody>
          <a:bodyPr wrap="square">
            <a:spAutoFit/>
          </a:bodyPr>
          <a:lstStyle/>
          <a:p>
            <a:pPr marL="443230" indent="-443230" eaLnBrk="1" hangingPunct="1">
              <a:lnSpc>
                <a:spcPct val="120000"/>
              </a:lnSpc>
              <a:buFont typeface="Wingdings" panose="05000000000000000000" pitchFamily="2" charset="2"/>
            </a:pPr>
            <a:r>
              <a:rPr lang="zh-CN" altLang="en-US" sz="2400" b="1" dirty="0">
                <a:solidFill>
                  <a:srgbClr val="FF0000"/>
                </a:solidFill>
                <a:latin typeface="微软雅黑" panose="020B0503020204020204" charset="-122"/>
                <a:ea typeface="微软雅黑" panose="020B0503020204020204" charset="-122"/>
              </a:rPr>
              <a:t>注：</a:t>
            </a:r>
            <a:r>
              <a:rPr lang="zh-CN" altLang="en-US" sz="2400" b="1" dirty="0">
                <a:latin typeface="Arial" panose="020B0604020202020204" pitchFamily="34" charset="0"/>
                <a:ea typeface="楷体_GB2312" pitchFamily="49" charset="-122"/>
              </a:rPr>
              <a:t>方框表示系统，椭圆符号表示用例，人形符号表示执行者，</a:t>
            </a:r>
            <a:endParaRPr lang="zh-CN" altLang="en-US" sz="2400" b="1" dirty="0">
              <a:latin typeface="Arial" panose="020B0604020202020204" pitchFamily="34" charset="0"/>
              <a:ea typeface="楷体_GB2312" pitchFamily="49" charset="-122"/>
            </a:endParaRPr>
          </a:p>
          <a:p>
            <a:pPr marL="443230" indent="-443230" eaLnBrk="1" hangingPunct="1">
              <a:lnSpc>
                <a:spcPct val="120000"/>
              </a:lnSpc>
              <a:buFont typeface="Wingdings" panose="05000000000000000000" pitchFamily="2" charset="2"/>
            </a:pPr>
            <a:r>
              <a:rPr lang="zh-CN" altLang="en-US" sz="2400" b="1" dirty="0">
                <a:latin typeface="Arial" panose="020B0604020202020204" pitchFamily="34" charset="0"/>
                <a:ea typeface="楷体_GB2312" pitchFamily="49" charset="-122"/>
              </a:rPr>
              <a:t>他们之间的关系由连接线表示，其关系由链接线上的文字标明。</a:t>
            </a:r>
            <a:endParaRPr lang="zh-CN" altLang="en-US" sz="2400" b="1" dirty="0">
              <a:latin typeface="Arial" panose="020B0604020202020204" pitchFamily="34" charset="0"/>
              <a:ea typeface="楷体_GB2312" pitchFamily="49" charset="-122"/>
            </a:endParaRPr>
          </a:p>
        </p:txBody>
      </p:sp>
      <p:sp>
        <p:nvSpPr>
          <p:cNvPr id="2" name="Rectangle 2"/>
          <p:cNvSpPr/>
          <p:nvPr/>
        </p:nvSpPr>
        <p:spPr>
          <a:xfrm>
            <a:off x="1403350" y="4580890"/>
            <a:ext cx="6388100" cy="460375"/>
          </a:xfrm>
          <a:prstGeom prst="rect">
            <a:avLst/>
          </a:prstGeom>
          <a:solidFill>
            <a:schemeClr val="bg1"/>
          </a:solidFill>
          <a:ln w="9525">
            <a:noFill/>
          </a:ln>
        </p:spPr>
        <p:txBody>
          <a:bodyPr vert="horz" wrap="square" lIns="91440" tIns="45720" rIns="91440" bIns="45720" numCol="1" anchor="t">
            <a:sp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图</a:t>
            </a:r>
            <a:r>
              <a:rPr lang="en-US" alt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3-3  </a:t>
            </a: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一个保险业务管理系统的用例图</a:t>
            </a:r>
            <a:endPar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4D19B6E-1B58-48B9-A4A1-A229EE06CB6F}"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41987" name="Rectangle 2"/>
          <p:cNvSpPr/>
          <p:nvPr/>
        </p:nvSpPr>
        <p:spPr>
          <a:xfrm>
            <a:off x="323850" y="692150"/>
            <a:ext cx="8064500" cy="641350"/>
          </a:xfrm>
          <a:prstGeom prst="rect">
            <a:avLst/>
          </a:prstGeom>
          <a:noFill/>
          <a:ln w="9525">
            <a:noFill/>
          </a:ln>
        </p:spPr>
        <p:txBody>
          <a:bodyPr>
            <a:spAutoFit/>
          </a:bodyPr>
          <a:lstStyle/>
          <a:p>
            <a:pPr eaLnBrk="1" hangingPunct="1">
              <a:buFont typeface="Arial" panose="020B0604020202020204" pitchFamily="34" charset="0"/>
            </a:pPr>
            <a:r>
              <a:rPr lang="en-US" altLang="zh-CN" sz="3600" b="1" dirty="0">
                <a:latin typeface="黑体" panose="02010609060101010101" pitchFamily="49" charset="-122"/>
                <a:ea typeface="黑体" panose="02010609060101010101" pitchFamily="49" charset="-122"/>
              </a:rPr>
              <a:t>3.2.2  </a:t>
            </a:r>
            <a:r>
              <a:rPr lang="zh-CN" altLang="en-US" sz="3600" b="1" dirty="0">
                <a:latin typeface="黑体" panose="02010609060101010101" pitchFamily="49" charset="-122"/>
                <a:ea typeface="黑体" panose="02010609060101010101" pitchFamily="49" charset="-122"/>
              </a:rPr>
              <a:t>静态模型与系统体系结构建模</a:t>
            </a:r>
            <a:endParaRPr lang="zh-CN" altLang="en-US" sz="3600" b="1" dirty="0">
              <a:latin typeface="黑体" panose="02010609060101010101" pitchFamily="49" charset="-122"/>
              <a:ea typeface="黑体" panose="02010609060101010101" pitchFamily="49" charset="-122"/>
            </a:endParaRPr>
          </a:p>
        </p:txBody>
      </p:sp>
      <p:sp>
        <p:nvSpPr>
          <p:cNvPr id="41988" name="Text Box 3"/>
          <p:cNvSpPr txBox="1"/>
          <p:nvPr/>
        </p:nvSpPr>
        <p:spPr>
          <a:xfrm>
            <a:off x="1187450" y="1916113"/>
            <a:ext cx="5564188" cy="519112"/>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sp>
        <p:nvSpPr>
          <p:cNvPr id="41989" name="Text Box 4"/>
          <p:cNvSpPr txBox="1"/>
          <p:nvPr/>
        </p:nvSpPr>
        <p:spPr>
          <a:xfrm>
            <a:off x="323850" y="1773238"/>
            <a:ext cx="8578850" cy="3159125"/>
          </a:xfrm>
          <a:prstGeom prst="rect">
            <a:avLst/>
          </a:prstGeom>
          <a:noFill/>
          <a:ln w="9525">
            <a:noFill/>
          </a:ln>
        </p:spPr>
        <p:txBody>
          <a:bodyPr>
            <a:spAutoFit/>
          </a:bodyPr>
          <a:lstStyle/>
          <a:p>
            <a:pPr marL="443230" indent="-443230" eaLnBrk="1" hangingPunct="1">
              <a:lnSpc>
                <a:spcPct val="120000"/>
              </a:lnSpc>
              <a:buFont typeface="Wingdings" panose="05000000000000000000" pitchFamily="2" charset="2"/>
              <a:buChar char="l"/>
            </a:pPr>
            <a:r>
              <a:rPr lang="zh-CN" altLang="en-US" sz="2400" b="1" dirty="0">
                <a:latin typeface="Arial" panose="020B0604020202020204" pitchFamily="34" charset="0"/>
                <a:ea typeface="楷体_GB2312" pitchFamily="49" charset="-122"/>
              </a:rPr>
              <a:t>构成客观事物的各类之间的关系往往既不是单一的泛化关系，也不是单一的聚合关系，而是同时含有泛化、聚合和关联</a:t>
            </a:r>
            <a:r>
              <a:rPr lang="en-US" altLang="zh-CN" sz="2400" b="1" dirty="0">
                <a:latin typeface="Arial" panose="020B0604020202020204" pitchFamily="34" charset="0"/>
                <a:ea typeface="楷体_GB2312" pitchFamily="49" charset="-122"/>
              </a:rPr>
              <a:t>3</a:t>
            </a:r>
            <a:r>
              <a:rPr lang="zh-CN" altLang="en-US" sz="2400" b="1" dirty="0">
                <a:latin typeface="Arial" panose="020B0604020202020204" pitchFamily="34" charset="0"/>
                <a:ea typeface="楷体_GB2312" pitchFamily="49" charset="-122"/>
              </a:rPr>
              <a:t>种关系，这些关系在一定时间范围内是保持相对固定不变的，它们将客观事物的各个组成部分（对象）相对固定地连结在一起，构成整个客观事物，因此说类及类间关系刻画了客观事物的静态结构，因此将其称为客观事物的</a:t>
            </a:r>
            <a:r>
              <a:rPr lang="zh-CN" altLang="en-US" sz="2400" b="1" dirty="0">
                <a:solidFill>
                  <a:schemeClr val="accent2"/>
                </a:solidFill>
                <a:latin typeface="Arial" panose="020B0604020202020204" pitchFamily="34" charset="0"/>
                <a:ea typeface="楷体_GB2312" pitchFamily="49" charset="-122"/>
              </a:rPr>
              <a:t>静态结构模型</a:t>
            </a:r>
            <a:r>
              <a:rPr lang="zh-CN" altLang="en-US" sz="2400" b="1" dirty="0">
                <a:latin typeface="Arial" panose="020B0604020202020204" pitchFamily="34" charset="0"/>
                <a:ea typeface="楷体_GB2312" pitchFamily="49" charset="-122"/>
              </a:rPr>
              <a:t>。</a:t>
            </a:r>
            <a:endParaRPr lang="zh-CN" altLang="en-US" sz="2400" b="1" dirty="0">
              <a:latin typeface="Arial" panose="020B0604020202020204" pitchFamily="34" charset="0"/>
              <a:ea typeface="楷体_GB2312" pitchFamily="49" charset="-122"/>
            </a:endParaRPr>
          </a:p>
        </p:txBody>
      </p:sp>
      <p:sp>
        <p:nvSpPr>
          <p:cNvPr id="41990" name="Text Box 7"/>
          <p:cNvSpPr txBox="1"/>
          <p:nvPr/>
        </p:nvSpPr>
        <p:spPr>
          <a:xfrm>
            <a:off x="323850" y="4941888"/>
            <a:ext cx="8578850" cy="1406525"/>
          </a:xfrm>
          <a:prstGeom prst="rect">
            <a:avLst/>
          </a:prstGeom>
          <a:noFill/>
          <a:ln w="9525">
            <a:noFill/>
          </a:ln>
        </p:spPr>
        <p:txBody>
          <a:bodyPr>
            <a:spAutoFit/>
          </a:bodyPr>
          <a:lstStyle/>
          <a:p>
            <a:pPr marL="443230" indent="-443230" eaLnBrk="1" hangingPunct="1">
              <a:lnSpc>
                <a:spcPct val="120000"/>
              </a:lnSpc>
              <a:buFont typeface="Wingdings" panose="05000000000000000000" pitchFamily="2" charset="2"/>
              <a:buChar char="l"/>
            </a:pPr>
            <a:r>
              <a:rPr lang="zh-CN" altLang="en-US" sz="2400" b="1" dirty="0">
                <a:latin typeface="Arial" panose="020B0604020202020204" pitchFamily="34" charset="0"/>
                <a:ea typeface="楷体_GB2312" pitchFamily="49" charset="-122"/>
              </a:rPr>
              <a:t>静态建模是对系统中对象之间互相进行的联系构建模型，而这些关系不随时间发生变化。</a:t>
            </a:r>
            <a:r>
              <a:rPr lang="en-US" altLang="zh-CN" sz="2400" b="1" dirty="0">
                <a:latin typeface="Arial" panose="020B0604020202020204" pitchFamily="34" charset="0"/>
                <a:ea typeface="楷体_GB2312" pitchFamily="49" charset="-122"/>
              </a:rPr>
              <a:t>UML</a:t>
            </a:r>
            <a:r>
              <a:rPr lang="zh-CN" altLang="en-US" sz="2400" b="1" dirty="0">
                <a:latin typeface="Arial" panose="020B0604020202020204" pitchFamily="34" charset="0"/>
                <a:ea typeface="楷体_GB2312" pitchFamily="49" charset="-122"/>
              </a:rPr>
              <a:t>静态模型用于</a:t>
            </a:r>
            <a:r>
              <a:rPr lang="zh-CN" altLang="en-US" sz="2400" b="1" dirty="0">
                <a:solidFill>
                  <a:schemeClr val="accent2"/>
                </a:solidFill>
                <a:latin typeface="Arial" panose="020B0604020202020204" pitchFamily="34" charset="0"/>
                <a:ea typeface="楷体_GB2312" pitchFamily="49" charset="-122"/>
              </a:rPr>
              <a:t>描述系统的体系结构</a:t>
            </a:r>
            <a:r>
              <a:rPr lang="zh-CN" altLang="en-US" sz="2400" b="1" dirty="0">
                <a:latin typeface="Arial" panose="020B0604020202020204" pitchFamily="34" charset="0"/>
                <a:ea typeface="楷体_GB2312" pitchFamily="49" charset="-122"/>
              </a:rPr>
              <a:t>。</a:t>
            </a:r>
            <a:endParaRPr lang="zh-CN" altLang="en-US" sz="2400" b="1" dirty="0">
              <a:latin typeface="Arial" panose="020B0604020202020204" pitchFamily="34" charset="0"/>
              <a:ea typeface="楷体_GB2312" pitchFamily="49"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8EB8182-E841-4CB6-866E-91A45FAFF27F}"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43011" name="Rectangle 3"/>
          <p:cNvSpPr/>
          <p:nvPr/>
        </p:nvSpPr>
        <p:spPr>
          <a:xfrm>
            <a:off x="250825" y="549275"/>
            <a:ext cx="8064500" cy="946150"/>
          </a:xfrm>
          <a:prstGeom prst="rect">
            <a:avLst/>
          </a:prstGeom>
          <a:noFill/>
          <a:ln w="9525">
            <a:noFill/>
          </a:ln>
        </p:spPr>
        <p:txBody>
          <a:bodyPr>
            <a:spAutoFit/>
          </a:bodyPr>
          <a:lstStyle/>
          <a:p>
            <a:pPr eaLnBrk="1" hangingPunct="1">
              <a:buFont typeface="Arial" panose="020B0604020202020204" pitchFamily="34" charset="0"/>
              <a:buChar char="•"/>
            </a:pPr>
            <a:r>
              <a:rPr lang="en-US" altLang="zh-CN" sz="2800" b="1" dirty="0">
                <a:solidFill>
                  <a:schemeClr val="accent2"/>
                </a:solidFill>
                <a:latin typeface="黑体" panose="02010609060101010101" pitchFamily="49" charset="-122"/>
                <a:ea typeface="黑体" panose="02010609060101010101" pitchFamily="49" charset="-122"/>
              </a:rPr>
              <a:t>UML</a:t>
            </a:r>
            <a:r>
              <a:rPr lang="zh-CN" altLang="en-US" sz="2800" b="1" dirty="0">
                <a:solidFill>
                  <a:schemeClr val="accent2"/>
                </a:solidFill>
                <a:latin typeface="黑体" panose="02010609060101010101" pitchFamily="49" charset="-122"/>
                <a:ea typeface="黑体" panose="02010609060101010101" pitchFamily="49" charset="-122"/>
              </a:rPr>
              <a:t>静态建模机制包括</a:t>
            </a:r>
            <a:r>
              <a:rPr lang="zh-CN" altLang="en-US" sz="2800" b="1" dirty="0">
                <a:latin typeface="黑体" panose="02010609060101010101" pitchFamily="49" charset="-122"/>
                <a:ea typeface="黑体" panose="02010609060101010101" pitchFamily="49" charset="-122"/>
              </a:rPr>
              <a:t>：类图、对象图、包图、构件图、配置图。</a:t>
            </a:r>
            <a:endParaRPr lang="zh-CN" altLang="en-US" sz="2800" b="1" dirty="0">
              <a:latin typeface="黑体" panose="02010609060101010101" pitchFamily="49" charset="-122"/>
              <a:ea typeface="黑体" panose="02010609060101010101" pitchFamily="49" charset="-122"/>
            </a:endParaRPr>
          </a:p>
        </p:txBody>
      </p:sp>
      <p:sp>
        <p:nvSpPr>
          <p:cNvPr id="43012" name="Text Box 4"/>
          <p:cNvSpPr txBox="1"/>
          <p:nvPr/>
        </p:nvSpPr>
        <p:spPr>
          <a:xfrm>
            <a:off x="1187450" y="1916430"/>
            <a:ext cx="5564505" cy="518795"/>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sp>
        <p:nvSpPr>
          <p:cNvPr id="43013" name="Text Box 5"/>
          <p:cNvSpPr txBox="1"/>
          <p:nvPr/>
        </p:nvSpPr>
        <p:spPr>
          <a:xfrm>
            <a:off x="179705" y="1773555"/>
            <a:ext cx="4451985" cy="645795"/>
          </a:xfrm>
          <a:prstGeom prst="rect">
            <a:avLst/>
          </a:prstGeom>
          <a:noFill/>
          <a:ln w="9525">
            <a:noFill/>
          </a:ln>
        </p:spPr>
        <p:txBody>
          <a:bodyPr vert="horz" wrap="non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lang="en-US" altLang="zh-CN" sz="3600" b="0" i="0">
                <a:solidFill>
                  <a:schemeClr val="accent2"/>
                </a:solidFill>
                <a:latin typeface="黑体" panose="02010609060101010101" pitchFamily="49" charset="-122"/>
                <a:ea typeface="黑体" panose="02010609060101010101" pitchFamily="49" charset="-122"/>
              </a:rPr>
              <a:t>1</a:t>
            </a:r>
            <a:r>
              <a:rPr lang="zh-CN" altLang="en-US" sz="3600" b="0" i="0">
                <a:solidFill>
                  <a:schemeClr val="accent2"/>
                </a:solidFill>
                <a:latin typeface="黑体" panose="02010609060101010101" pitchFamily="49" charset="-122"/>
                <a:ea typeface="黑体" panose="02010609060101010101" pitchFamily="49" charset="-122"/>
              </a:rPr>
              <a:t>．类图</a:t>
            </a:r>
            <a:r>
              <a:rPr lang="zh-CN" altLang="en-US" sz="2800" b="0" i="0">
                <a:latin typeface="黑体" panose="02010609060101010101" pitchFamily="49" charset="-122"/>
                <a:ea typeface="黑体" panose="02010609060101010101" pitchFamily="49" charset="-122"/>
              </a:rPr>
              <a:t>（</a:t>
            </a:r>
            <a:r>
              <a:rPr lang="en-US" altLang="zh-CN" sz="2800" b="0" i="0">
                <a:latin typeface="黑体" panose="02010609060101010101" pitchFamily="49" charset="-122"/>
                <a:ea typeface="黑体" panose="02010609060101010101" pitchFamily="49" charset="-122"/>
              </a:rPr>
              <a:t>Class diagram</a:t>
            </a:r>
            <a:r>
              <a:rPr lang="zh-CN" altLang="en-US" sz="2800" b="0" i="0">
                <a:latin typeface="黑体" panose="02010609060101010101" pitchFamily="49" charset="-122"/>
                <a:ea typeface="黑体" panose="02010609060101010101" pitchFamily="49" charset="-122"/>
              </a:rPr>
              <a:t>）</a:t>
            </a:r>
            <a:endParaRPr lang="ko-KR" altLang="en-US" sz="2800" b="0" i="0">
              <a:latin typeface="黑体" panose="02010609060101010101" pitchFamily="49" charset="-122"/>
              <a:ea typeface="黑体" panose="02010609060101010101" pitchFamily="49" charset="-122"/>
            </a:endParaRPr>
          </a:p>
        </p:txBody>
      </p:sp>
      <p:pic>
        <p:nvPicPr>
          <p:cNvPr id="43014" name="Picture 6"/>
          <p:cNvPicPr>
            <a:picLocks noGrp="1" noChangeAspect="1"/>
          </p:cNvPicPr>
          <p:nvPr>
            <p:ph idx="1"/>
          </p:nvPr>
        </p:nvPicPr>
        <p:blipFill>
          <a:blip r:embed="rId1"/>
          <a:srcRect/>
          <a:stretch>
            <a:fillRect/>
          </a:stretch>
        </p:blipFill>
        <p:spPr>
          <a:xfrm>
            <a:off x="179705" y="3644900"/>
            <a:ext cx="8999220" cy="2890520"/>
          </a:xfrm>
        </p:spPr>
      </p:pic>
      <p:sp>
        <p:nvSpPr>
          <p:cNvPr id="43015" name="Rectangle 8"/>
          <p:cNvSpPr/>
          <p:nvPr/>
        </p:nvSpPr>
        <p:spPr>
          <a:xfrm>
            <a:off x="251460" y="2435225"/>
            <a:ext cx="8714105" cy="1570355"/>
          </a:xfrm>
          <a:prstGeom prst="rect">
            <a:avLst/>
          </a:prstGeom>
          <a:noFill/>
          <a:ln w="9525">
            <a:noFill/>
          </a:ln>
        </p:spPr>
        <p:txBody>
          <a:bodyPr>
            <a:spAutoFit/>
          </a:bodyPr>
          <a:lstStyle/>
          <a:p>
            <a:pPr eaLnBrk="1" hangingPunct="1">
              <a:buFont typeface="Arial" panose="020B0604020202020204" pitchFamily="34" charset="0"/>
            </a:pPr>
            <a:r>
              <a:rPr lang="zh-CN" altLang="en-US" sz="2400" b="1" dirty="0">
                <a:latin typeface="黑体" panose="02010609060101010101" pitchFamily="49" charset="-122"/>
                <a:ea typeface="黑体" panose="02010609060101010101" pitchFamily="49" charset="-122"/>
              </a:rPr>
              <a:t>   类图是由用类和它们之间的关系描述系统的一种图示，展示了系统中类的静态结构和类与类之间的相互联系，表示一个系统的逻辑结构。类图的目的是描述系统的构成方式。</a:t>
            </a:r>
            <a:endParaRPr lang="zh-CN" altLang="en-US" sz="2400" b="1" dirty="0">
              <a:latin typeface="黑体" panose="02010609060101010101" pitchFamily="49" charset="-122"/>
              <a:ea typeface="黑体" panose="02010609060101010101" pitchFamily="49" charset="-122"/>
            </a:endParaRPr>
          </a:p>
          <a:p>
            <a:pPr eaLnBrk="1" hangingPunct="1">
              <a:buFont typeface="Arial" panose="020B0604020202020204" pitchFamily="34" charset="0"/>
            </a:pPr>
            <a:endParaRPr lang="zh-CN" altLang="en-US" sz="2400" b="1" dirty="0">
              <a:latin typeface="黑体" panose="02010609060101010101" pitchFamily="49" charset="-122"/>
              <a:ea typeface="黑体" panose="02010609060101010101" pitchFamily="49" charset="-122"/>
            </a:endParaRPr>
          </a:p>
        </p:txBody>
      </p:sp>
      <p:sp>
        <p:nvSpPr>
          <p:cNvPr id="2" name="Rectangle 2"/>
          <p:cNvSpPr/>
          <p:nvPr/>
        </p:nvSpPr>
        <p:spPr>
          <a:xfrm>
            <a:off x="1475740" y="6075045"/>
            <a:ext cx="6388100" cy="460375"/>
          </a:xfrm>
          <a:prstGeom prst="rect">
            <a:avLst/>
          </a:prstGeom>
          <a:solidFill>
            <a:schemeClr val="bg1"/>
          </a:solidFill>
          <a:ln w="9525">
            <a:noFill/>
          </a:ln>
        </p:spPr>
        <p:txBody>
          <a:bodyPr vert="horz" wrap="square" lIns="91440" tIns="45720" rIns="91440" bIns="45720" numCol="1" anchor="t">
            <a:sp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图</a:t>
            </a:r>
            <a:r>
              <a:rPr lang="en-US" alt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3-4 </a:t>
            </a: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类和对象的图示符</a:t>
            </a:r>
            <a:endPar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E576030-14A4-4556-900D-1FA428787523}"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44035" name="Rectangle 8"/>
          <p:cNvSpPr/>
          <p:nvPr/>
        </p:nvSpPr>
        <p:spPr>
          <a:xfrm>
            <a:off x="179705" y="549275"/>
            <a:ext cx="8785225" cy="1422400"/>
          </a:xfrm>
          <a:prstGeom prst="rect">
            <a:avLst/>
          </a:prstGeom>
          <a:solidFill>
            <a:schemeClr val="bg1"/>
          </a:solidFill>
          <a:ln w="9525">
            <a:noFill/>
          </a:ln>
        </p:spPr>
        <p:txBody>
          <a:bodyPr>
            <a:spAutoFit/>
          </a:bodyPr>
          <a:lstStyle/>
          <a:p>
            <a:pPr eaLnBrk="1" hangingPunct="1">
              <a:lnSpc>
                <a:spcPct val="90000"/>
              </a:lnSpc>
              <a:buFont typeface="Arial" panose="020B0604020202020204" pitchFamily="34" charset="0"/>
            </a:pPr>
            <a:r>
              <a:rPr lang="zh-CN" altLang="en-US" sz="2400" b="1" dirty="0">
                <a:latin typeface="黑体" panose="02010609060101010101" pitchFamily="49" charset="-122"/>
                <a:ea typeface="黑体" panose="02010609060101010101" pitchFamily="49" charset="-122"/>
              </a:rPr>
              <a:t>    对象是类的实例，</a:t>
            </a:r>
            <a:r>
              <a:rPr lang="en-US" altLang="zh-CN" sz="2400" b="1" dirty="0">
                <a:latin typeface="黑体" panose="02010609060101010101" pitchFamily="49" charset="-122"/>
                <a:ea typeface="黑体" panose="02010609060101010101" pitchFamily="49" charset="-122"/>
              </a:rPr>
              <a:t>UML</a:t>
            </a:r>
            <a:r>
              <a:rPr lang="zh-CN" altLang="en-US" sz="2400" b="1" dirty="0">
                <a:latin typeface="黑体" panose="02010609060101010101" pitchFamily="49" charset="-122"/>
                <a:ea typeface="黑体" panose="02010609060101010101" pitchFamily="49" charset="-122"/>
              </a:rPr>
              <a:t>用对象图来描述系统中对象及对象之间的联系。对象图是类图的变体，两者差别在于对象图表示的是类图的一个实例。它及时具体地反映了系统执行到某处时系统的工作状况。</a:t>
            </a:r>
            <a:endParaRPr lang="zh-CN" altLang="en-US" sz="2400" b="1" dirty="0">
              <a:latin typeface="黑体" panose="02010609060101010101" pitchFamily="49" charset="-122"/>
              <a:ea typeface="黑体" panose="02010609060101010101" pitchFamily="49" charset="-122"/>
            </a:endParaRPr>
          </a:p>
        </p:txBody>
      </p:sp>
      <p:sp>
        <p:nvSpPr>
          <p:cNvPr id="44036" name="Text Box 3"/>
          <p:cNvSpPr txBox="1"/>
          <p:nvPr/>
        </p:nvSpPr>
        <p:spPr>
          <a:xfrm>
            <a:off x="1187450" y="1916430"/>
            <a:ext cx="5564505" cy="518795"/>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sp>
        <p:nvSpPr>
          <p:cNvPr id="44037" name="Text Box 4"/>
          <p:cNvSpPr txBox="1"/>
          <p:nvPr/>
        </p:nvSpPr>
        <p:spPr>
          <a:xfrm>
            <a:off x="0" y="0"/>
            <a:ext cx="5019040" cy="522604"/>
          </a:xfrm>
          <a:prstGeom prst="rect">
            <a:avLst/>
          </a:prstGeom>
          <a:noFill/>
          <a:ln w="9525">
            <a:noFill/>
          </a:ln>
        </p:spPr>
        <p:txBody>
          <a:bodyPr vert="horz" wrap="non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sz="2800" b="1" i="0">
                <a:solidFill>
                  <a:srgbClr val="FF0000"/>
                </a:solidFill>
                <a:latin typeface="黑体" panose="02010609060101010101" pitchFamily="49" charset="-122"/>
                <a:ea typeface="黑体" panose="02010609060101010101" pitchFamily="49" charset="-122"/>
              </a:rPr>
              <a:t>2．对象图</a:t>
            </a:r>
            <a:r>
              <a:rPr lang="zh-CN" altLang="en-US" sz="2800" b="1" i="0">
                <a:latin typeface="黑体" panose="02010609060101010101" pitchFamily="49" charset="-122"/>
                <a:ea typeface="黑体" panose="02010609060101010101" pitchFamily="49" charset="-122"/>
              </a:rPr>
              <a:t>（</a:t>
            </a:r>
            <a:r>
              <a:rPr lang="en-US" altLang="zh-CN" sz="2800" b="1" i="0">
                <a:latin typeface="黑体" panose="02010609060101010101" pitchFamily="49" charset="-122"/>
                <a:ea typeface="黑体" panose="02010609060101010101" pitchFamily="49" charset="-122"/>
              </a:rPr>
              <a:t>Object diagram</a:t>
            </a:r>
            <a:r>
              <a:rPr lang="zh-CN" altLang="en-US" sz="2800" b="1" i="0">
                <a:latin typeface="黑体" panose="02010609060101010101" pitchFamily="49" charset="-122"/>
                <a:ea typeface="黑体" panose="02010609060101010101" pitchFamily="49" charset="-122"/>
              </a:rPr>
              <a:t>）</a:t>
            </a:r>
            <a:endParaRPr lang="ko-KR" altLang="en-US" sz="2800" b="1" i="0">
              <a:latin typeface="黑体" panose="02010609060101010101" pitchFamily="49" charset="-122"/>
              <a:ea typeface="黑体" panose="02010609060101010101" pitchFamily="49" charset="-122"/>
            </a:endParaRPr>
          </a:p>
        </p:txBody>
      </p:sp>
      <p:pic>
        <p:nvPicPr>
          <p:cNvPr id="44038" name="Picture 5" descr="C:/Users/lenovo01/AppData/Roaming/JisuOffice/ETemp/52896_20566528/image9.jpeg"/>
          <p:cNvPicPr>
            <a:picLocks noGrp="1" noChangeAspect="1"/>
          </p:cNvPicPr>
          <p:nvPr>
            <p:ph idx="1"/>
          </p:nvPr>
        </p:nvPicPr>
        <p:blipFill rotWithShape="1">
          <a:blip r:embed="rId1" cstate="print">
            <a:extLst>
              <a:ext uri="{28A0092B-C50C-407E-A947-70E740481C1C}">
                <a14:useLocalDpi xmlns:a14="http://schemas.microsoft.com/office/drawing/2010/main" val="0"/>
              </a:ext>
            </a:extLst>
          </a:blip>
          <a:srcRect/>
          <a:stretch>
            <a:fillRect/>
          </a:stretch>
        </p:blipFill>
        <p:spPr>
          <a:xfrm>
            <a:off x="508000" y="1844675"/>
            <a:ext cx="6949440" cy="4775835"/>
          </a:xfrm>
          <a:prstGeom prst="rect">
            <a:avLst/>
          </a:prstGeom>
          <a:noFill/>
          <a:ln w="0">
            <a:noFill/>
          </a:ln>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9A8368-3608-4E5A-99DD-600A493ACAE1}"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45059" name="Text Box 4"/>
          <p:cNvSpPr txBox="1"/>
          <p:nvPr/>
        </p:nvSpPr>
        <p:spPr>
          <a:xfrm>
            <a:off x="0" y="0"/>
            <a:ext cx="4550410" cy="522604"/>
          </a:xfrm>
          <a:prstGeom prst="rect">
            <a:avLst/>
          </a:prstGeom>
          <a:noFill/>
          <a:ln w="9525">
            <a:noFill/>
          </a:ln>
        </p:spPr>
        <p:txBody>
          <a:bodyPr vert="horz" wrap="non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sz="2800" b="0" i="0">
                <a:solidFill>
                  <a:srgbClr val="FF0000"/>
                </a:solidFill>
                <a:latin typeface="黑体" panose="02010609060101010101" pitchFamily="49" charset="-122"/>
                <a:ea typeface="黑体" panose="02010609060101010101" pitchFamily="49" charset="-122"/>
              </a:rPr>
              <a:t>3．包图</a:t>
            </a:r>
            <a:r>
              <a:rPr lang="en-US" altLang="zh-CN" sz="2800" b="0" i="0">
                <a:latin typeface="黑体" panose="02010609060101010101" pitchFamily="49" charset="-122"/>
                <a:ea typeface="黑体" panose="02010609060101010101" pitchFamily="49" charset="-122"/>
              </a:rPr>
              <a:t>(Package diagram)</a:t>
            </a:r>
            <a:r>
              <a:rPr lang="en-US" altLang="zh-CN" sz="2800" b="0" i="0">
                <a:latin typeface="Arial" panose="020B0604020202020204" pitchFamily="34" charset="0"/>
                <a:ea typeface="楷体_GB2312" charset="0"/>
              </a:rPr>
              <a:t> </a:t>
            </a:r>
            <a:endParaRPr lang="ko-KR" altLang="en-US" sz="2800" b="0" i="0">
              <a:latin typeface="Arial" panose="020B0604020202020204" pitchFamily="34" charset="0"/>
              <a:ea typeface="楷体_GB2312" charset="0"/>
            </a:endParaRPr>
          </a:p>
        </p:txBody>
      </p:sp>
      <p:pic>
        <p:nvPicPr>
          <p:cNvPr id="45060" name="Picture 5"/>
          <p:cNvPicPr>
            <a:picLocks noGrp="1" noChangeAspect="1"/>
          </p:cNvPicPr>
          <p:nvPr>
            <p:ph idx="1"/>
          </p:nvPr>
        </p:nvPicPr>
        <p:blipFill>
          <a:blip r:embed="rId1"/>
          <a:srcRect/>
          <a:stretch>
            <a:fillRect/>
          </a:stretch>
        </p:blipFill>
        <p:spPr>
          <a:xfrm>
            <a:off x="69850" y="1773555"/>
            <a:ext cx="9074150" cy="4454525"/>
          </a:xfrm>
        </p:spPr>
      </p:pic>
      <p:sp>
        <p:nvSpPr>
          <p:cNvPr id="45061" name="Rectangle 7"/>
          <p:cNvSpPr/>
          <p:nvPr/>
        </p:nvSpPr>
        <p:spPr>
          <a:xfrm>
            <a:off x="179705" y="549275"/>
            <a:ext cx="8785225" cy="757555"/>
          </a:xfrm>
          <a:prstGeom prst="rect">
            <a:avLst/>
          </a:prstGeom>
          <a:solidFill>
            <a:schemeClr val="bg1"/>
          </a:solidFill>
          <a:ln w="9525">
            <a:noFill/>
          </a:ln>
        </p:spPr>
        <p:txBody>
          <a:bodyPr>
            <a:spAutoFit/>
          </a:bodyPr>
          <a:lstStyle/>
          <a:p>
            <a:pPr eaLnBrk="1" hangingPunct="1">
              <a:lnSpc>
                <a:spcPct val="90000"/>
              </a:lnSpc>
              <a:buFont typeface="Arial" panose="020B0604020202020204" pitchFamily="34" charset="0"/>
            </a:pPr>
            <a:r>
              <a:rPr lang="en-US" altLang="zh-CN" sz="2400" dirty="0">
                <a:latin typeface="黑体" panose="02010609060101010101" pitchFamily="49" charset="-122"/>
                <a:ea typeface="黑体" panose="02010609060101010101" pitchFamily="49" charset="-122"/>
              </a:rPr>
              <a:t>   UML</a:t>
            </a:r>
            <a:r>
              <a:rPr lang="zh-CN" altLang="en-US" sz="2400" dirty="0">
                <a:latin typeface="黑体" panose="02010609060101010101" pitchFamily="49" charset="-122"/>
                <a:ea typeface="黑体" panose="02010609060101010101" pitchFamily="49" charset="-122"/>
              </a:rPr>
              <a:t>中的包是一种组合机制，包由关系密切的一组模型元素构成，包还可以由其他包嵌套构成。</a:t>
            </a:r>
            <a:endParaRPr lang="zh-CN" altLang="en-US" sz="2400" dirty="0">
              <a:latin typeface="黑体" panose="02010609060101010101" pitchFamily="49" charset="-122"/>
              <a:ea typeface="黑体" panose="02010609060101010101" pitchFamily="49" charset="-122"/>
            </a:endParaRPr>
          </a:p>
        </p:txBody>
      </p:sp>
      <p:sp>
        <p:nvSpPr>
          <p:cNvPr id="45062" name="Rectangle 8"/>
          <p:cNvSpPr/>
          <p:nvPr/>
        </p:nvSpPr>
        <p:spPr>
          <a:xfrm>
            <a:off x="0" y="6381750"/>
            <a:ext cx="8785225" cy="421005"/>
          </a:xfrm>
          <a:prstGeom prst="rect">
            <a:avLst/>
          </a:prstGeom>
          <a:solidFill>
            <a:schemeClr val="bg1"/>
          </a:solidFill>
          <a:ln w="9525">
            <a:noFill/>
          </a:ln>
        </p:spPr>
        <p:txBody>
          <a:bodyPr>
            <a:spAutoFit/>
          </a:bodyPr>
          <a:lstStyle/>
          <a:p>
            <a:pPr eaLnBrk="1" hangingPunct="1">
              <a:lnSpc>
                <a:spcPct val="90000"/>
              </a:lnSpc>
              <a:buFont typeface="Arial" panose="020B0604020202020204" pitchFamily="34" charset="0"/>
            </a:pPr>
            <a:r>
              <a:rPr lang="zh-CN" altLang="en-US" sz="2400" b="1" dirty="0">
                <a:latin typeface="黑体" panose="02010609060101010101" pitchFamily="49" charset="-122"/>
                <a:ea typeface="黑体" panose="02010609060101010101" pitchFamily="49" charset="-122"/>
              </a:rPr>
              <a:t>    包又称为子系统。拥有自己的模型元素。</a:t>
            </a:r>
            <a:endParaRPr lang="zh-CN" altLang="en-US" sz="2400" b="1" dirty="0">
              <a:latin typeface="黑体" panose="02010609060101010101" pitchFamily="49" charset="-122"/>
              <a:ea typeface="黑体" panose="02010609060101010101" pitchFamily="49" charset="-122"/>
            </a:endParaRPr>
          </a:p>
        </p:txBody>
      </p:sp>
      <p:sp>
        <p:nvSpPr>
          <p:cNvPr id="2" name="Rectangle 2"/>
          <p:cNvSpPr/>
          <p:nvPr/>
        </p:nvSpPr>
        <p:spPr>
          <a:xfrm>
            <a:off x="2051685" y="5732780"/>
            <a:ext cx="3282950" cy="460375"/>
          </a:xfrm>
          <a:prstGeom prst="rect">
            <a:avLst/>
          </a:prstGeom>
          <a:solidFill>
            <a:schemeClr val="bg1"/>
          </a:solidFill>
          <a:ln w="9525">
            <a:noFill/>
          </a:ln>
        </p:spPr>
        <p:txBody>
          <a:bodyPr vert="horz" wrap="square" lIns="91440" tIns="45720" rIns="91440" bIns="45720" numCol="1" anchor="t">
            <a:sp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图</a:t>
            </a:r>
            <a:r>
              <a:rPr lang="en-US" alt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3-5 </a:t>
            </a: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包图的元素</a:t>
            </a:r>
            <a:endPar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3D7D7F2-2990-43C8-B536-713802F0A4D6}"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46083" name="Text Box 3"/>
          <p:cNvSpPr txBox="1"/>
          <p:nvPr/>
        </p:nvSpPr>
        <p:spPr>
          <a:xfrm>
            <a:off x="1187450" y="1916430"/>
            <a:ext cx="5564505" cy="518795"/>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sp>
        <p:nvSpPr>
          <p:cNvPr id="46084" name="Text Box 4"/>
          <p:cNvSpPr txBox="1"/>
          <p:nvPr/>
        </p:nvSpPr>
        <p:spPr>
          <a:xfrm>
            <a:off x="0" y="0"/>
            <a:ext cx="5766435" cy="522604"/>
          </a:xfrm>
          <a:prstGeom prst="rect">
            <a:avLst/>
          </a:prstGeom>
          <a:noFill/>
          <a:ln w="9525">
            <a:noFill/>
          </a:ln>
        </p:spPr>
        <p:txBody>
          <a:bodyPr vert="horz" wrap="non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sz="2800" b="0" i="0">
                <a:solidFill>
                  <a:srgbClr val="FF0000"/>
                </a:solidFill>
                <a:latin typeface="黑体" panose="02010609060101010101" pitchFamily="49" charset="-122"/>
                <a:ea typeface="黑体" panose="02010609060101010101" pitchFamily="49" charset="-122"/>
              </a:rPr>
              <a:t>4．构件图</a:t>
            </a:r>
            <a:r>
              <a:rPr lang="zh-CN" altLang="en-US" sz="2800" b="0" i="0">
                <a:latin typeface="黑体" panose="02010609060101010101" pitchFamily="49" charset="-122"/>
                <a:ea typeface="黑体" panose="02010609060101010101" pitchFamily="49" charset="-122"/>
              </a:rPr>
              <a:t> </a:t>
            </a:r>
            <a:r>
              <a:rPr lang="en-US" altLang="zh-CN" sz="2800" b="0" i="0">
                <a:latin typeface="黑体" panose="02010609060101010101" pitchFamily="49" charset="-122"/>
                <a:ea typeface="黑体" panose="02010609060101010101" pitchFamily="49" charset="-122"/>
              </a:rPr>
              <a:t>(</a:t>
            </a:r>
            <a:r>
              <a:rPr lang="en-US" altLang="zh-CN" sz="2800" b="0" i="0">
                <a:latin typeface="Arial" panose="020B0604020202020204" pitchFamily="34" charset="0"/>
                <a:ea typeface="楷体_GB2312" charset="0"/>
              </a:rPr>
              <a:t>Component  diagram)</a:t>
            </a:r>
            <a:r>
              <a:rPr lang="en-US" altLang="zh-CN" sz="2800" b="0" i="0">
                <a:latin typeface="黑体" panose="02010609060101010101" pitchFamily="49" charset="-122"/>
                <a:ea typeface="黑体" panose="02010609060101010101" pitchFamily="49" charset="-122"/>
              </a:rPr>
              <a:t> </a:t>
            </a:r>
            <a:endParaRPr lang="ko-KR" altLang="en-US" sz="2800" b="0" i="0">
              <a:latin typeface="黑体" panose="02010609060101010101" pitchFamily="49" charset="-122"/>
              <a:ea typeface="黑体" panose="02010609060101010101" pitchFamily="49" charset="-122"/>
            </a:endParaRPr>
          </a:p>
        </p:txBody>
      </p:sp>
      <p:pic>
        <p:nvPicPr>
          <p:cNvPr id="46085" name="Picture 5"/>
          <p:cNvPicPr>
            <a:picLocks noGrp="1" noChangeAspect="1"/>
          </p:cNvPicPr>
          <p:nvPr>
            <p:ph idx="1"/>
          </p:nvPr>
        </p:nvPicPr>
        <p:blipFill>
          <a:blip r:embed="rId1"/>
          <a:srcRect/>
          <a:stretch>
            <a:fillRect/>
          </a:stretch>
        </p:blipFill>
        <p:spPr>
          <a:xfrm>
            <a:off x="323850" y="2133600"/>
            <a:ext cx="8353425" cy="3511550"/>
          </a:xfrm>
        </p:spPr>
      </p:pic>
      <p:sp>
        <p:nvSpPr>
          <p:cNvPr id="46086" name="Rectangle 7"/>
          <p:cNvSpPr/>
          <p:nvPr/>
        </p:nvSpPr>
        <p:spPr>
          <a:xfrm>
            <a:off x="179705" y="549275"/>
            <a:ext cx="8785225" cy="1089025"/>
          </a:xfrm>
          <a:prstGeom prst="rect">
            <a:avLst/>
          </a:prstGeom>
          <a:solidFill>
            <a:schemeClr val="bg1"/>
          </a:solidFill>
          <a:ln w="9525">
            <a:noFill/>
          </a:ln>
        </p:spPr>
        <p:txBody>
          <a:bodyPr>
            <a:spAutoFit/>
          </a:bodyPr>
          <a:lstStyle/>
          <a:p>
            <a:pPr eaLnBrk="1" hangingPunct="1">
              <a:lnSpc>
                <a:spcPct val="90000"/>
              </a:lnSpc>
              <a:buFont typeface="Arial" panose="020B0604020202020204" pitchFamily="34" charset="0"/>
            </a:pP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构件图又称为组件图，显示代码本身的逻辑结构，它描述系统中存在的软件构件以及它们之间的依赖关系。其元素有构件、依赖关系和界面。</a:t>
            </a:r>
            <a:endParaRPr lang="zh-CN" altLang="en-US" sz="2400" b="1" dirty="0">
              <a:latin typeface="黑体" panose="02010609060101010101" pitchFamily="49" charset="-122"/>
              <a:ea typeface="黑体" panose="02010609060101010101" pitchFamily="49" charset="-122"/>
            </a:endParaRPr>
          </a:p>
        </p:txBody>
      </p:sp>
      <p:sp>
        <p:nvSpPr>
          <p:cNvPr id="46087" name="Rectangle 8"/>
          <p:cNvSpPr/>
          <p:nvPr/>
        </p:nvSpPr>
        <p:spPr>
          <a:xfrm>
            <a:off x="107950" y="5805170"/>
            <a:ext cx="8785225" cy="749300"/>
          </a:xfrm>
          <a:prstGeom prst="rect">
            <a:avLst/>
          </a:prstGeom>
          <a:solidFill>
            <a:schemeClr val="bg1"/>
          </a:solidFill>
          <a:ln w="9525">
            <a:noFill/>
          </a:ln>
        </p:spPr>
        <p:txBody>
          <a:bodyPr>
            <a:spAutoFit/>
          </a:bodyPr>
          <a:lstStyle/>
          <a:p>
            <a:pPr eaLnBrk="1" hangingPunct="1">
              <a:lnSpc>
                <a:spcPct val="90000"/>
              </a:lnSpc>
              <a:buFont typeface="Arial" panose="020B0604020202020204" pitchFamily="34" charset="0"/>
            </a:pPr>
            <a:r>
              <a:rPr lang="zh-CN" altLang="en-US" sz="2400" b="1" dirty="0">
                <a:latin typeface="黑体" panose="02010609060101010101" pitchFamily="49" charset="-122"/>
                <a:ea typeface="黑体" panose="02010609060101010101" pitchFamily="49" charset="-122"/>
              </a:rPr>
              <a:t>    构件可以看作包与类对应的物理代码模块，逻辑上与包、类对应，实际上是一个文件。</a:t>
            </a:r>
            <a:endParaRPr lang="zh-CN" altLang="en-US" sz="2400" b="1" dirty="0">
              <a:latin typeface="黑体" panose="02010609060101010101" pitchFamily="49" charset="-122"/>
              <a:ea typeface="黑体" panose="02010609060101010101" pitchFamily="49" charset="-122"/>
            </a:endParaRPr>
          </a:p>
        </p:txBody>
      </p:sp>
      <p:sp>
        <p:nvSpPr>
          <p:cNvPr id="2" name="Rectangle 2"/>
          <p:cNvSpPr/>
          <p:nvPr/>
        </p:nvSpPr>
        <p:spPr>
          <a:xfrm>
            <a:off x="2483485" y="5272405"/>
            <a:ext cx="3282950" cy="460375"/>
          </a:xfrm>
          <a:prstGeom prst="rect">
            <a:avLst/>
          </a:prstGeom>
          <a:solidFill>
            <a:schemeClr val="bg1"/>
          </a:solidFill>
          <a:ln w="9525">
            <a:noFill/>
          </a:ln>
        </p:spPr>
        <p:txBody>
          <a:bodyPr vert="horz" wrap="square" lIns="91440" tIns="45720" rIns="91440" bIns="45720" numCol="1" anchor="t">
            <a:sp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图</a:t>
            </a:r>
            <a:r>
              <a:rPr lang="en-US" alt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3-6 </a:t>
            </a: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构件图实例</a:t>
            </a:r>
            <a:endPar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B8DE48-CBC5-40F1-85F0-9E3B5F1E4AA5}"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47107" name="Text Box 3"/>
          <p:cNvSpPr txBox="1"/>
          <p:nvPr/>
        </p:nvSpPr>
        <p:spPr>
          <a:xfrm>
            <a:off x="1187450" y="1916430"/>
            <a:ext cx="5564505" cy="518795"/>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sp>
        <p:nvSpPr>
          <p:cNvPr id="47108" name="Text Box 4"/>
          <p:cNvSpPr txBox="1"/>
          <p:nvPr/>
        </p:nvSpPr>
        <p:spPr>
          <a:xfrm>
            <a:off x="0" y="0"/>
            <a:ext cx="1904365" cy="522604"/>
          </a:xfrm>
          <a:prstGeom prst="rect">
            <a:avLst/>
          </a:prstGeom>
          <a:noFill/>
          <a:ln w="9525">
            <a:noFill/>
          </a:ln>
        </p:spPr>
        <p:txBody>
          <a:bodyPr vert="horz" wrap="non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sz="2800" b="1" i="0">
                <a:solidFill>
                  <a:srgbClr val="FF0000"/>
                </a:solidFill>
                <a:latin typeface="Arial" panose="020B0604020202020204" pitchFamily="34" charset="0"/>
                <a:ea typeface="楷体_GB2312" charset="0"/>
              </a:rPr>
              <a:t>5．配置图 </a:t>
            </a:r>
            <a:endParaRPr lang="ko-KR" altLang="en-US" sz="2800" b="1" i="0">
              <a:solidFill>
                <a:srgbClr val="FF0000"/>
              </a:solidFill>
              <a:latin typeface="Arial" panose="020B0604020202020204" pitchFamily="34" charset="0"/>
              <a:ea typeface="楷体_GB2312" charset="0"/>
            </a:endParaRPr>
          </a:p>
        </p:txBody>
      </p:sp>
      <p:pic>
        <p:nvPicPr>
          <p:cNvPr id="47109" name="Picture 5"/>
          <p:cNvPicPr>
            <a:picLocks noGrp="1" noChangeAspect="1"/>
          </p:cNvPicPr>
          <p:nvPr>
            <p:ph idx="1"/>
          </p:nvPr>
        </p:nvPicPr>
        <p:blipFill>
          <a:blip r:embed="rId1"/>
          <a:srcRect/>
          <a:stretch>
            <a:fillRect/>
          </a:stretch>
        </p:blipFill>
        <p:spPr>
          <a:xfrm>
            <a:off x="323850" y="1989455"/>
            <a:ext cx="8712200" cy="3744595"/>
          </a:xfrm>
        </p:spPr>
      </p:pic>
      <p:sp>
        <p:nvSpPr>
          <p:cNvPr id="47110" name="Rectangle 7"/>
          <p:cNvSpPr/>
          <p:nvPr/>
        </p:nvSpPr>
        <p:spPr>
          <a:xfrm>
            <a:off x="179705" y="549275"/>
            <a:ext cx="8785225" cy="749300"/>
          </a:xfrm>
          <a:prstGeom prst="rect">
            <a:avLst/>
          </a:prstGeom>
          <a:solidFill>
            <a:schemeClr val="bg1"/>
          </a:solidFill>
          <a:ln w="9525">
            <a:noFill/>
          </a:ln>
        </p:spPr>
        <p:txBody>
          <a:bodyPr>
            <a:spAutoFit/>
          </a:bodyPr>
          <a:lstStyle/>
          <a:p>
            <a:pPr eaLnBrk="1" hangingPunct="1">
              <a:lnSpc>
                <a:spcPct val="90000"/>
              </a:lnSpc>
              <a:buFont typeface="Arial" panose="020B0604020202020204" pitchFamily="34" charset="0"/>
            </a:pP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配置图描述了系统中硬件和软件的物理配置情况和系统体系结构，显示系统运行时刻的结构。</a:t>
            </a:r>
            <a:endParaRPr lang="zh-CN" altLang="en-US" sz="2400" dirty="0">
              <a:latin typeface="黑体" panose="02010609060101010101" pitchFamily="49" charset="-122"/>
              <a:ea typeface="黑体" panose="02010609060101010101" pitchFamily="49" charset="-122"/>
            </a:endParaRPr>
          </a:p>
        </p:txBody>
      </p:sp>
      <p:sp>
        <p:nvSpPr>
          <p:cNvPr id="2" name="Rectangle 2"/>
          <p:cNvSpPr/>
          <p:nvPr/>
        </p:nvSpPr>
        <p:spPr>
          <a:xfrm>
            <a:off x="2051685" y="5272405"/>
            <a:ext cx="4140200" cy="460375"/>
          </a:xfrm>
          <a:prstGeom prst="rect">
            <a:avLst/>
          </a:prstGeom>
          <a:solidFill>
            <a:schemeClr val="bg1"/>
          </a:solidFill>
          <a:ln w="9525">
            <a:noFill/>
          </a:ln>
        </p:spPr>
        <p:txBody>
          <a:bodyPr vert="horz" wrap="square" lIns="91440" tIns="45720" rIns="91440" bIns="45720" numCol="1" anchor="t">
            <a:sp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图</a:t>
            </a:r>
            <a:r>
              <a:rPr lang="en-US" alt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3-7 </a:t>
            </a: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保险系统的配置图</a:t>
            </a:r>
            <a:endPar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9CE3A49-6AB6-4FB9-BD74-ADAA54F4C15D}"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48131" name="Rectangle 3"/>
          <p:cNvSpPr/>
          <p:nvPr/>
        </p:nvSpPr>
        <p:spPr>
          <a:xfrm>
            <a:off x="323850" y="692150"/>
            <a:ext cx="8065135" cy="645795"/>
          </a:xfrm>
          <a:prstGeom prst="rect">
            <a:avLst/>
          </a:prstGeom>
          <a:noFill/>
          <a:ln w="9525">
            <a:noFill/>
          </a:ln>
        </p:spPr>
        <p:txBody>
          <a:bodyPr vert="horz" wrap="squar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sz="3600" b="1" i="0">
                <a:solidFill>
                  <a:srgbClr val="FF0000"/>
                </a:solidFill>
                <a:latin typeface="黑体" panose="02010609060101010101" pitchFamily="49" charset="-122"/>
                <a:ea typeface="黑体" panose="02010609060101010101" pitchFamily="49" charset="-122"/>
              </a:rPr>
              <a:t>3.2.3 动态模型与行为控制流建模</a:t>
            </a:r>
            <a:r>
              <a:rPr lang="zh-CN" altLang="en-US" sz="2800" b="0" i="0">
                <a:latin typeface="Arial" panose="020B0604020202020204" pitchFamily="34" charset="0"/>
                <a:ea typeface="楷体_GB2312" charset="0"/>
              </a:rPr>
              <a:t> </a:t>
            </a:r>
            <a:endParaRPr lang="ko-KR" altLang="en-US" sz="2800" b="0" i="0">
              <a:latin typeface="Arial" panose="020B0604020202020204" pitchFamily="34" charset="0"/>
              <a:ea typeface="楷体_GB2312" charset="0"/>
            </a:endParaRPr>
          </a:p>
        </p:txBody>
      </p:sp>
      <p:sp>
        <p:nvSpPr>
          <p:cNvPr id="48132" name="Text Box 4"/>
          <p:cNvSpPr txBox="1"/>
          <p:nvPr/>
        </p:nvSpPr>
        <p:spPr>
          <a:xfrm>
            <a:off x="1187450" y="1916430"/>
            <a:ext cx="5564505" cy="518795"/>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sp>
        <p:nvSpPr>
          <p:cNvPr id="48133" name="Text Box 5"/>
          <p:cNvSpPr txBox="1"/>
          <p:nvPr/>
        </p:nvSpPr>
        <p:spPr>
          <a:xfrm>
            <a:off x="395605" y="1844675"/>
            <a:ext cx="7992745" cy="3322955"/>
          </a:xfrm>
          <a:prstGeom prst="rect">
            <a:avLst/>
          </a:prstGeom>
          <a:noFill/>
          <a:ln w="9525">
            <a:noFill/>
          </a:ln>
        </p:spPr>
        <p:txBody>
          <a:bodyPr wrap="square">
            <a:spAutoFit/>
          </a:bodyPr>
          <a:lstStyle/>
          <a:p>
            <a:pPr indent="357505" eaLnBrk="1" hangingPunct="1">
              <a:lnSpc>
                <a:spcPct val="125000"/>
              </a:lnSpc>
              <a:buFont typeface="Arial" panose="020B0604020202020204" pitchFamily="34" charset="0"/>
            </a:pPr>
            <a:r>
              <a:rPr lang="zh-CN" altLang="en-US" sz="2800" dirty="0">
                <a:solidFill>
                  <a:schemeClr val="accent2"/>
                </a:solidFill>
                <a:latin typeface="黑体" panose="02010609060101010101" pitchFamily="49" charset="-122"/>
                <a:ea typeface="黑体" panose="02010609060101010101" pitchFamily="49" charset="-122"/>
              </a:rPr>
              <a:t>动态模型</a:t>
            </a:r>
            <a:r>
              <a:rPr lang="zh-CN" altLang="en-US" sz="2800" dirty="0">
                <a:latin typeface="黑体" panose="02010609060101010101" pitchFamily="49" charset="-122"/>
                <a:ea typeface="黑体" panose="02010609060101010101" pitchFamily="49" charset="-122"/>
              </a:rPr>
              <a:t>主要是描述系统的动态行为和控制结构。动态行为包括系统中对象生存周期内可能的状态以及事件发生时状态的变迁，还可包括对象之间动态合作关系，显示对象之间的交互过程以及交互顺序，同时描述了为满足用例要求所进行的活动以及活动间的约束关系。</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BEBFB65-CDD9-424A-ABA8-027FC14BAB8C}"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49155" name="Rectangle 2"/>
          <p:cNvSpPr/>
          <p:nvPr/>
        </p:nvSpPr>
        <p:spPr>
          <a:xfrm>
            <a:off x="323850" y="692150"/>
            <a:ext cx="8064500" cy="641350"/>
          </a:xfrm>
          <a:prstGeom prst="rect">
            <a:avLst/>
          </a:prstGeom>
          <a:noFill/>
          <a:ln w="9525">
            <a:noFill/>
          </a:ln>
        </p:spPr>
        <p:txBody>
          <a:bodyPr>
            <a:spAutoFit/>
          </a:bodyPr>
          <a:lstStyle/>
          <a:p>
            <a:pPr eaLnBrk="1" hangingPunct="1">
              <a:buFont typeface="Arial" panose="020B0604020202020204" pitchFamily="34" charset="0"/>
            </a:pPr>
            <a:r>
              <a:rPr lang="en-US" altLang="zh-CN" sz="3600" b="1" dirty="0">
                <a:latin typeface="黑体" panose="02010609060101010101" pitchFamily="49" charset="-122"/>
                <a:ea typeface="黑体" panose="02010609060101010101" pitchFamily="49" charset="-122"/>
              </a:rPr>
              <a:t>3.2.3  </a:t>
            </a:r>
            <a:r>
              <a:rPr lang="zh-CN" altLang="en-US" sz="3600" b="1" dirty="0">
                <a:latin typeface="黑体" panose="02010609060101010101" pitchFamily="49" charset="-122"/>
                <a:ea typeface="黑体" panose="02010609060101010101" pitchFamily="49" charset="-122"/>
              </a:rPr>
              <a:t>动态模型与行为控制流建模</a:t>
            </a:r>
            <a:r>
              <a:rPr lang="zh-CN" altLang="en-US" sz="2800" dirty="0">
                <a:latin typeface="Arial" panose="020B0604020202020204" pitchFamily="34" charset="0"/>
                <a:ea typeface="楷体_GB2312" pitchFamily="49" charset="-122"/>
              </a:rPr>
              <a:t> </a:t>
            </a:r>
            <a:endParaRPr lang="zh-CN" altLang="en-US" sz="2800" dirty="0">
              <a:latin typeface="Arial" panose="020B0604020202020204" pitchFamily="34" charset="0"/>
              <a:ea typeface="楷体_GB2312" pitchFamily="49" charset="-122"/>
            </a:endParaRPr>
          </a:p>
        </p:txBody>
      </p:sp>
      <p:sp>
        <p:nvSpPr>
          <p:cNvPr id="49156" name="Text Box 3"/>
          <p:cNvSpPr txBox="1"/>
          <p:nvPr/>
        </p:nvSpPr>
        <p:spPr>
          <a:xfrm>
            <a:off x="1187450" y="1916430"/>
            <a:ext cx="5564505" cy="518795"/>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sp>
        <p:nvSpPr>
          <p:cNvPr id="49157" name="Text Box 4"/>
          <p:cNvSpPr txBox="1"/>
          <p:nvPr/>
        </p:nvSpPr>
        <p:spPr>
          <a:xfrm>
            <a:off x="539750" y="1844675"/>
            <a:ext cx="7968615" cy="522604"/>
          </a:xfrm>
          <a:prstGeom prst="rect">
            <a:avLst/>
          </a:prstGeom>
          <a:noFill/>
          <a:ln w="9525">
            <a:noFill/>
          </a:ln>
        </p:spPr>
        <p:txBody>
          <a:bodyPr vert="horz" wrap="square" lIns="91440" tIns="45720" rIns="91440" bIns="45720" numCol="1" anchor="t">
            <a:spAutoFit/>
          </a:bodyPr>
          <a:lstStyle/>
          <a:p>
            <a:pPr marL="0" indent="357505" algn="l" defTabSz="914400" eaLnBrk="1" fontAlgn="base" latinLnBrk="0" hangingPunct="1">
              <a:lnSpc>
                <a:spcPct val="100000"/>
              </a:lnSpc>
              <a:spcBef>
                <a:spcPts val="0"/>
              </a:spcBef>
              <a:spcAft>
                <a:spcPts val="0"/>
              </a:spcAft>
              <a:buFontTx/>
              <a:buNone/>
            </a:pPr>
            <a:r>
              <a:rPr sz="2800" b="0" i="0">
                <a:solidFill>
                  <a:srgbClr val="0611F2"/>
                </a:solidFill>
                <a:latin typeface="黑体" panose="02010609060101010101" pitchFamily="49" charset="-122"/>
                <a:ea typeface="黑体" panose="02010609060101010101" pitchFamily="49" charset="-122"/>
              </a:rPr>
              <a:t>1．顺序图</a:t>
            </a:r>
            <a:endParaRPr lang="ko-KR" altLang="en-US" sz="2800" b="0" i="0">
              <a:solidFill>
                <a:srgbClr val="0611F2"/>
              </a:solidFill>
              <a:latin typeface="黑体" panose="02010609060101010101" pitchFamily="49" charset="-122"/>
              <a:ea typeface="黑体" panose="02010609060101010101" pitchFamily="49" charset="-122"/>
            </a:endParaRPr>
          </a:p>
        </p:txBody>
      </p:sp>
      <p:sp>
        <p:nvSpPr>
          <p:cNvPr id="49158" name="Text Box 5"/>
          <p:cNvSpPr txBox="1"/>
          <p:nvPr/>
        </p:nvSpPr>
        <p:spPr>
          <a:xfrm>
            <a:off x="971550" y="2565400"/>
            <a:ext cx="7345680" cy="1403985"/>
          </a:xfrm>
          <a:prstGeom prst="rect">
            <a:avLst/>
          </a:prstGeom>
          <a:noFill/>
          <a:ln w="9525">
            <a:noFill/>
          </a:ln>
        </p:spPr>
        <p:txBody>
          <a:bodyPr>
            <a:noAutofit/>
          </a:bodyPr>
          <a:lstStyle/>
          <a:p>
            <a:pPr eaLnBrk="1" hangingPunct="1">
              <a:buFont typeface="Arial" panose="020B0604020202020204" pitchFamily="34" charset="0"/>
            </a:pPr>
            <a:r>
              <a:rPr lang="zh-CN" altLang="en-US" sz="2800" b="1" dirty="0">
                <a:latin typeface="Arial" panose="020B0604020202020204" pitchFamily="34" charset="0"/>
                <a:ea typeface="楷体_GB2312" pitchFamily="49" charset="-122"/>
              </a:rPr>
              <a:t>       </a:t>
            </a:r>
            <a:r>
              <a:rPr lang="zh-CN" altLang="en-US" sz="2800" b="1" dirty="0">
                <a:solidFill>
                  <a:srgbClr val="FF0000"/>
                </a:solidFill>
                <a:latin typeface="Arial" panose="020B0604020202020204" pitchFamily="34" charset="0"/>
                <a:ea typeface="楷体_GB2312" pitchFamily="49" charset="-122"/>
              </a:rPr>
              <a:t>顺序图</a:t>
            </a:r>
            <a:r>
              <a:rPr lang="zh-CN" altLang="en-US" sz="2800" b="1" dirty="0">
                <a:latin typeface="Arial" panose="020B0604020202020204" pitchFamily="34" charset="0"/>
                <a:ea typeface="楷体_GB2312" pitchFamily="49" charset="-122"/>
              </a:rPr>
              <a:t>（</a:t>
            </a:r>
            <a:r>
              <a:rPr lang="en-US" altLang="zh-CN" sz="2800" b="1" dirty="0">
                <a:latin typeface="Arial" panose="020B0604020202020204" pitchFamily="34" charset="0"/>
                <a:ea typeface="楷体_GB2312" pitchFamily="49" charset="-122"/>
              </a:rPr>
              <a:t>Sequence Diagram</a:t>
            </a:r>
            <a:r>
              <a:rPr lang="zh-CN" altLang="en-US" sz="2800" b="1" dirty="0">
                <a:latin typeface="Arial" panose="020B0604020202020204" pitchFamily="34" charset="0"/>
                <a:ea typeface="楷体_GB2312" pitchFamily="49" charset="-122"/>
              </a:rPr>
              <a:t>）用来描述对象之间</a:t>
            </a:r>
            <a:r>
              <a:rPr lang="zh-CN" altLang="en-US" sz="2800" b="1" dirty="0">
                <a:solidFill>
                  <a:srgbClr val="FF0000"/>
                </a:solidFill>
                <a:latin typeface="Arial" panose="020B0604020202020204" pitchFamily="34" charset="0"/>
                <a:ea typeface="楷体_GB2312" pitchFamily="49" charset="-122"/>
              </a:rPr>
              <a:t>动态的交互关系</a:t>
            </a:r>
            <a:r>
              <a:rPr lang="zh-CN" altLang="en-US" sz="2800" b="1" dirty="0">
                <a:latin typeface="Arial" panose="020B0604020202020204" pitchFamily="34" charset="0"/>
                <a:ea typeface="楷体_GB2312" pitchFamily="49" charset="-122"/>
              </a:rPr>
              <a:t>，着重体现对象间消息传递的时间顺序。</a:t>
            </a:r>
            <a:endParaRPr lang="zh-CN" altLang="en-US" sz="2800" b="1" dirty="0">
              <a:latin typeface="Arial" panose="020B0604020202020204" pitchFamily="34" charset="0"/>
              <a:ea typeface="楷体_GB2312" pitchFamily="49" charset="-122"/>
            </a:endParaRPr>
          </a:p>
        </p:txBody>
      </p:sp>
      <p:sp>
        <p:nvSpPr>
          <p:cNvPr id="49159" name="Text Box 6"/>
          <p:cNvSpPr txBox="1"/>
          <p:nvPr/>
        </p:nvSpPr>
        <p:spPr>
          <a:xfrm>
            <a:off x="899795" y="4220845"/>
            <a:ext cx="7345045" cy="1020445"/>
          </a:xfrm>
          <a:prstGeom prst="rect">
            <a:avLst/>
          </a:prstGeom>
          <a:noFill/>
          <a:ln w="9525">
            <a:noFill/>
          </a:ln>
        </p:spPr>
        <p:txBody>
          <a:bodyPr>
            <a:noAutofit/>
          </a:bodyPr>
          <a:lstStyle/>
          <a:p>
            <a:pPr eaLnBrk="1" hangingPunct="1">
              <a:buFont typeface="Arial" panose="020B0604020202020204" pitchFamily="34" charset="0"/>
            </a:pPr>
            <a:r>
              <a:rPr lang="zh-CN" altLang="en-US" sz="2800" b="1" dirty="0">
                <a:latin typeface="Arial" panose="020B0604020202020204" pitchFamily="34" charset="0"/>
                <a:ea typeface="楷体_GB2312" pitchFamily="49" charset="-122"/>
              </a:rPr>
              <a:t>       顺序图存在两个轴：水平轴表示不同的对象，垂直轴表示时间。</a:t>
            </a:r>
            <a:endParaRPr lang="zh-CN" altLang="en-US" sz="2800" b="1" dirty="0">
              <a:latin typeface="Arial" panose="020B0604020202020204" pitchFamily="34" charset="0"/>
              <a:ea typeface="楷体_GB2312" pitchFamily="49" charset="-122"/>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2B9C4A0-E85A-4ACA-99B5-FEAF68EF514A}"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50179" name="Text Box 3"/>
          <p:cNvSpPr txBox="1"/>
          <p:nvPr/>
        </p:nvSpPr>
        <p:spPr>
          <a:xfrm>
            <a:off x="1187450" y="1916113"/>
            <a:ext cx="5564188" cy="519112"/>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pic>
        <p:nvPicPr>
          <p:cNvPr id="50180" name="Picture 4" descr="图9"/>
          <p:cNvPicPr>
            <a:picLocks noGrp="1" noChangeAspect="1"/>
          </p:cNvPicPr>
          <p:nvPr>
            <p:ph idx="1"/>
          </p:nvPr>
        </p:nvPicPr>
        <p:blipFill>
          <a:blip r:embed="rId1"/>
          <a:srcRect/>
          <a:stretch>
            <a:fillRect/>
          </a:stretch>
        </p:blipFill>
        <p:spPr>
          <a:xfrm>
            <a:off x="107950" y="188913"/>
            <a:ext cx="8820150" cy="6272212"/>
          </a:xfrm>
        </p:spPr>
      </p:pic>
      <p:sp>
        <p:nvSpPr>
          <p:cNvPr id="50181" name="TextBox 4"/>
          <p:cNvSpPr txBox="1"/>
          <p:nvPr/>
        </p:nvSpPr>
        <p:spPr>
          <a:xfrm>
            <a:off x="6643688" y="285750"/>
            <a:ext cx="2286000" cy="1477963"/>
          </a:xfrm>
          <a:prstGeom prst="rect">
            <a:avLst/>
          </a:prstGeom>
          <a:noFill/>
          <a:ln w="9525">
            <a:noFill/>
          </a:ln>
        </p:spPr>
        <p:txBody>
          <a:bodyPr>
            <a:spAutoFit/>
          </a:bodyPr>
          <a:lstStyle/>
          <a:p>
            <a:pPr eaLnBrk="1" hangingPunct="1">
              <a:buFont typeface="Arial" panose="020B0604020202020204" pitchFamily="34" charset="0"/>
            </a:pPr>
            <a:r>
              <a:rPr lang="zh-CN" altLang="en-US" b="1" dirty="0">
                <a:latin typeface="Verdana" panose="020B0604030504040204" pitchFamily="34" charset="0"/>
              </a:rPr>
              <a:t>水平轴表示对象，</a:t>
            </a:r>
            <a:endParaRPr lang="en-US" altLang="zh-CN" b="1" dirty="0">
              <a:latin typeface="Verdana" panose="020B0604030504040204" pitchFamily="34" charset="0"/>
            </a:endParaRPr>
          </a:p>
          <a:p>
            <a:pPr eaLnBrk="1" hangingPunct="1">
              <a:buFont typeface="Arial" panose="020B0604020202020204" pitchFamily="34" charset="0"/>
            </a:pPr>
            <a:r>
              <a:rPr lang="zh-CN" altLang="en-US" b="1" dirty="0">
                <a:latin typeface="Verdana" panose="020B0604030504040204" pitchFamily="34" charset="0"/>
              </a:rPr>
              <a:t>垂直轴表示时间；</a:t>
            </a:r>
            <a:endParaRPr lang="en-US" altLang="zh-CN" b="1" dirty="0">
              <a:latin typeface="Verdana" panose="020B0604030504040204" pitchFamily="34" charset="0"/>
            </a:endParaRPr>
          </a:p>
          <a:p>
            <a:pPr eaLnBrk="1" hangingPunct="1">
              <a:buFont typeface="Arial" panose="020B0604020202020204" pitchFamily="34" charset="0"/>
            </a:pPr>
            <a:r>
              <a:rPr lang="zh-CN" altLang="en-US" b="1" dirty="0">
                <a:solidFill>
                  <a:srgbClr val="FF0000"/>
                </a:solidFill>
                <a:latin typeface="Verdana" panose="020B0604030504040204" pitchFamily="34" charset="0"/>
              </a:rPr>
              <a:t>对象（</a:t>
            </a:r>
            <a:r>
              <a:rPr lang="en-US" altLang="zh-CN" b="1" dirty="0">
                <a:solidFill>
                  <a:srgbClr val="FF0000"/>
                </a:solidFill>
                <a:latin typeface="Verdana" panose="020B0604030504040204" pitchFamily="34" charset="0"/>
              </a:rPr>
              <a:t>6</a:t>
            </a:r>
            <a:r>
              <a:rPr lang="zh-CN" altLang="en-US" b="1" dirty="0">
                <a:solidFill>
                  <a:srgbClr val="FF0000"/>
                </a:solidFill>
                <a:latin typeface="Verdana" panose="020B0604030504040204" pitchFamily="34" charset="0"/>
              </a:rPr>
              <a:t>个）</a:t>
            </a:r>
            <a:r>
              <a:rPr lang="zh-CN" altLang="en-US" b="1" dirty="0">
                <a:latin typeface="Verdana" panose="020B0604030504040204" pitchFamily="34" charset="0"/>
              </a:rPr>
              <a:t>用带有垂直虚线的矩形框表示；</a:t>
            </a:r>
            <a:endParaRPr lang="zh-CN" altLang="en-US" b="1" dirty="0">
              <a:latin typeface="Verdana" panose="020B0604030504040204" pitchFamily="34" charset="0"/>
            </a:endParaRPr>
          </a:p>
        </p:txBody>
      </p:sp>
      <p:sp>
        <p:nvSpPr>
          <p:cNvPr id="50182" name="矩形 5"/>
          <p:cNvSpPr/>
          <p:nvPr/>
        </p:nvSpPr>
        <p:spPr>
          <a:xfrm>
            <a:off x="142875" y="285750"/>
            <a:ext cx="6215063" cy="642938"/>
          </a:xfrm>
          <a:prstGeom prst="rect">
            <a:avLst/>
          </a:prstGeom>
          <a:noFill/>
          <a:ln w="9525" cap="flat" cmpd="sng">
            <a:solidFill>
              <a:srgbClr val="FF0000"/>
            </a:solidFill>
            <a:prstDash val="solid"/>
            <a:round/>
            <a:headEnd type="none" w="med" len="med"/>
            <a:tailEnd type="none" w="med" len="med"/>
          </a:ln>
        </p:spPr>
        <p:txBody>
          <a:bodyPr wrap="none"/>
          <a:lstStyle/>
          <a:p>
            <a:pPr eaLnBrk="1" hangingPunct="1">
              <a:buFont typeface="Arial" panose="020B0604020202020204" pitchFamily="34" charset="0"/>
            </a:pPr>
            <a:endParaRPr lang="zh-CN" altLang="en-US" dirty="0">
              <a:latin typeface="Verdana" panose="020B0604030504040204" pitchFamily="34" charset="0"/>
            </a:endParaRPr>
          </a:p>
        </p:txBody>
      </p:sp>
      <p:sp>
        <p:nvSpPr>
          <p:cNvPr id="50183" name="矩形 6"/>
          <p:cNvSpPr/>
          <p:nvPr/>
        </p:nvSpPr>
        <p:spPr>
          <a:xfrm>
            <a:off x="6215063" y="3571875"/>
            <a:ext cx="1285875" cy="571500"/>
          </a:xfrm>
          <a:prstGeom prst="rect">
            <a:avLst/>
          </a:prstGeom>
          <a:noFill/>
          <a:ln w="9525" cap="flat" cmpd="sng">
            <a:solidFill>
              <a:srgbClr val="FF0000"/>
            </a:solidFill>
            <a:prstDash val="solid"/>
            <a:round/>
            <a:headEnd type="none" w="med" len="med"/>
            <a:tailEnd type="none" w="med" len="med"/>
          </a:ln>
        </p:spPr>
        <p:txBody>
          <a:bodyPr wrap="none"/>
          <a:lstStyle/>
          <a:p>
            <a:pPr eaLnBrk="1" hangingPunct="1">
              <a:buFont typeface="Arial" panose="020B0604020202020204" pitchFamily="34" charset="0"/>
            </a:pPr>
            <a:endParaRPr lang="zh-CN" altLang="en-US" dirty="0">
              <a:latin typeface="Verdana" panose="020B0604030504040204" pitchFamily="34" charset="0"/>
            </a:endParaRPr>
          </a:p>
        </p:txBody>
      </p:sp>
      <p:sp>
        <p:nvSpPr>
          <p:cNvPr id="50184" name="矩形 7"/>
          <p:cNvSpPr/>
          <p:nvPr/>
        </p:nvSpPr>
        <p:spPr>
          <a:xfrm>
            <a:off x="7429500" y="4214813"/>
            <a:ext cx="1285875" cy="571500"/>
          </a:xfrm>
          <a:prstGeom prst="rect">
            <a:avLst/>
          </a:prstGeom>
          <a:noFill/>
          <a:ln w="9525" cap="flat" cmpd="sng">
            <a:solidFill>
              <a:srgbClr val="FF0000"/>
            </a:solidFill>
            <a:prstDash val="solid"/>
            <a:round/>
            <a:headEnd type="none" w="med" len="med"/>
            <a:tailEnd type="none" w="med" len="med"/>
          </a:ln>
        </p:spPr>
        <p:txBody>
          <a:bodyPr wrap="none"/>
          <a:lstStyle/>
          <a:p>
            <a:pPr eaLnBrk="1" hangingPunct="1">
              <a:buFont typeface="Arial" panose="020B0604020202020204" pitchFamily="34" charset="0"/>
            </a:pPr>
            <a:endParaRPr lang="zh-CN" altLang="en-US" dirty="0">
              <a:latin typeface="Verdana" panose="020B0604030504040204" pitchFamily="34" charset="0"/>
            </a:endParaRPr>
          </a:p>
        </p:txBody>
      </p:sp>
      <p:cxnSp>
        <p:nvCxnSpPr>
          <p:cNvPr id="50185" name="直接连接符 9"/>
          <p:cNvCxnSpPr/>
          <p:nvPr/>
        </p:nvCxnSpPr>
        <p:spPr>
          <a:xfrm rot="5400000">
            <a:off x="1890713" y="604838"/>
            <a:ext cx="500062" cy="0"/>
          </a:xfrm>
          <a:prstGeom prst="line">
            <a:avLst/>
          </a:prstGeom>
          <a:ln w="9525" cap="flat" cmpd="sng">
            <a:solidFill>
              <a:schemeClr val="tx1"/>
            </a:solidFill>
            <a:prstDash val="solid"/>
            <a:headEnd type="none" w="med" len="med"/>
            <a:tailEnd type="none" w="med" len="med"/>
          </a:ln>
        </p:spPr>
      </p:cxnSp>
      <p:sp>
        <p:nvSpPr>
          <p:cNvPr id="50186" name="圆角矩形 10"/>
          <p:cNvSpPr/>
          <p:nvPr/>
        </p:nvSpPr>
        <p:spPr>
          <a:xfrm>
            <a:off x="1357313" y="1857375"/>
            <a:ext cx="500062" cy="4214813"/>
          </a:xfrm>
          <a:prstGeom prst="roundRect">
            <a:avLst>
              <a:gd name="adj" fmla="val 0"/>
            </a:avLst>
          </a:prstGeom>
          <a:noFill/>
          <a:ln w="9525" cap="flat" cmpd="sng">
            <a:solidFill>
              <a:schemeClr val="tx1"/>
            </a:solidFill>
            <a:prstDash val="sysDot"/>
            <a:headEnd type="none" w="med" len="med"/>
            <a:tailEnd type="none" w="med" len="med"/>
          </a:ln>
        </p:spPr>
        <p:txBody>
          <a:bodyPr wrap="none"/>
          <a:lstStyle/>
          <a:p>
            <a:pPr eaLnBrk="1" hangingPunct="1">
              <a:buFont typeface="Arial" panose="020B0604020202020204" pitchFamily="34" charset="0"/>
            </a:pPr>
            <a:r>
              <a:rPr lang="zh-CN" altLang="en-US" b="1" dirty="0">
                <a:latin typeface="Verdana" panose="020B0604030504040204" pitchFamily="34" charset="0"/>
              </a:rPr>
              <a:t>细</a:t>
            </a:r>
            <a:endParaRPr lang="en-US" altLang="zh-CN" b="1" dirty="0">
              <a:latin typeface="Verdana" panose="020B0604030504040204" pitchFamily="34" charset="0"/>
            </a:endParaRPr>
          </a:p>
          <a:p>
            <a:pPr eaLnBrk="1" hangingPunct="1">
              <a:buFont typeface="Arial" panose="020B0604020202020204" pitchFamily="34" charset="0"/>
            </a:pPr>
            <a:r>
              <a:rPr lang="zh-CN" altLang="en-US" b="1" dirty="0">
                <a:latin typeface="Verdana" panose="020B0604030504040204" pitchFamily="34" charset="0"/>
              </a:rPr>
              <a:t>长</a:t>
            </a:r>
            <a:endParaRPr lang="en-US" altLang="zh-CN" b="1" dirty="0">
              <a:latin typeface="Verdana" panose="020B0604030504040204" pitchFamily="34" charset="0"/>
            </a:endParaRPr>
          </a:p>
          <a:p>
            <a:pPr eaLnBrk="1" hangingPunct="1">
              <a:buFont typeface="Arial" panose="020B0604020202020204" pitchFamily="34" charset="0"/>
            </a:pPr>
            <a:r>
              <a:rPr lang="zh-CN" altLang="en-US" b="1" dirty="0">
                <a:latin typeface="Verdana" panose="020B0604030504040204" pitchFamily="34" charset="0"/>
              </a:rPr>
              <a:t>矩</a:t>
            </a:r>
            <a:endParaRPr lang="en-US" altLang="zh-CN" b="1" dirty="0">
              <a:latin typeface="Verdana" panose="020B0604030504040204" pitchFamily="34" charset="0"/>
            </a:endParaRPr>
          </a:p>
          <a:p>
            <a:pPr eaLnBrk="1" hangingPunct="1">
              <a:buFont typeface="Arial" panose="020B0604020202020204" pitchFamily="34" charset="0"/>
            </a:pPr>
            <a:r>
              <a:rPr lang="zh-CN" altLang="en-US" b="1" dirty="0">
                <a:latin typeface="Verdana" panose="020B0604030504040204" pitchFamily="34" charset="0"/>
              </a:rPr>
              <a:t>形</a:t>
            </a:r>
            <a:endParaRPr lang="en-US" altLang="zh-CN" b="1" dirty="0">
              <a:latin typeface="Verdana" panose="020B0604030504040204" pitchFamily="34" charset="0"/>
            </a:endParaRPr>
          </a:p>
          <a:p>
            <a:pPr eaLnBrk="1" hangingPunct="1">
              <a:buFont typeface="Arial" panose="020B0604020202020204" pitchFamily="34" charset="0"/>
            </a:pPr>
            <a:r>
              <a:rPr lang="zh-CN" altLang="en-US" b="1" dirty="0">
                <a:latin typeface="Verdana" panose="020B0604030504040204" pitchFamily="34" charset="0"/>
              </a:rPr>
              <a:t>框</a:t>
            </a:r>
            <a:endParaRPr lang="en-US" altLang="zh-CN" b="1" dirty="0">
              <a:latin typeface="Verdana" panose="020B0604030504040204" pitchFamily="34" charset="0"/>
            </a:endParaRPr>
          </a:p>
          <a:p>
            <a:pPr eaLnBrk="1" hangingPunct="1">
              <a:buFont typeface="Arial" panose="020B0604020202020204" pitchFamily="34" charset="0"/>
            </a:pPr>
            <a:r>
              <a:rPr lang="zh-CN" altLang="en-US" b="1" dirty="0">
                <a:latin typeface="Verdana" panose="020B0604030504040204" pitchFamily="34" charset="0"/>
              </a:rPr>
              <a:t>表</a:t>
            </a:r>
            <a:endParaRPr lang="en-US" altLang="zh-CN" b="1" dirty="0">
              <a:latin typeface="Verdana" panose="020B0604030504040204" pitchFamily="34" charset="0"/>
            </a:endParaRPr>
          </a:p>
          <a:p>
            <a:pPr eaLnBrk="1" hangingPunct="1">
              <a:buFont typeface="Arial" panose="020B0604020202020204" pitchFamily="34" charset="0"/>
            </a:pPr>
            <a:r>
              <a:rPr lang="zh-CN" altLang="en-US" b="1" dirty="0">
                <a:latin typeface="Verdana" panose="020B0604030504040204" pitchFamily="34" charset="0"/>
              </a:rPr>
              <a:t>示</a:t>
            </a:r>
            <a:endParaRPr lang="en-US" altLang="zh-CN" b="1" dirty="0">
              <a:latin typeface="Verdana" panose="020B0604030504040204" pitchFamily="34" charset="0"/>
            </a:endParaRPr>
          </a:p>
          <a:p>
            <a:pPr eaLnBrk="1" hangingPunct="1">
              <a:buFont typeface="Arial" panose="020B0604020202020204" pitchFamily="34" charset="0"/>
            </a:pPr>
            <a:r>
              <a:rPr lang="zh-CN" altLang="en-US" b="1" dirty="0">
                <a:latin typeface="Verdana" panose="020B0604030504040204" pitchFamily="34" charset="0"/>
              </a:rPr>
              <a:t>对</a:t>
            </a:r>
            <a:endParaRPr lang="en-US" altLang="zh-CN" b="1" dirty="0">
              <a:latin typeface="Verdana" panose="020B0604030504040204" pitchFamily="34" charset="0"/>
            </a:endParaRPr>
          </a:p>
          <a:p>
            <a:pPr eaLnBrk="1" hangingPunct="1">
              <a:buFont typeface="Arial" panose="020B0604020202020204" pitchFamily="34" charset="0"/>
            </a:pPr>
            <a:r>
              <a:rPr lang="zh-CN" altLang="en-US" b="1" dirty="0">
                <a:latin typeface="Verdana" panose="020B0604030504040204" pitchFamily="34" charset="0"/>
              </a:rPr>
              <a:t>象</a:t>
            </a:r>
            <a:endParaRPr lang="en-US" altLang="zh-CN" b="1" dirty="0">
              <a:latin typeface="Verdana" panose="020B0604030504040204" pitchFamily="34" charset="0"/>
            </a:endParaRPr>
          </a:p>
          <a:p>
            <a:pPr eaLnBrk="1" hangingPunct="1">
              <a:buFont typeface="Arial" panose="020B0604020202020204" pitchFamily="34" charset="0"/>
            </a:pPr>
            <a:r>
              <a:rPr lang="zh-CN" altLang="en-US" b="1" dirty="0">
                <a:latin typeface="Verdana" panose="020B0604030504040204" pitchFamily="34" charset="0"/>
              </a:rPr>
              <a:t>的</a:t>
            </a:r>
            <a:endParaRPr lang="en-US" altLang="zh-CN" b="1" dirty="0">
              <a:latin typeface="Verdana" panose="020B0604030504040204" pitchFamily="34" charset="0"/>
            </a:endParaRPr>
          </a:p>
          <a:p>
            <a:pPr eaLnBrk="1" hangingPunct="1">
              <a:buFont typeface="Arial" panose="020B0604020202020204" pitchFamily="34" charset="0"/>
            </a:pPr>
            <a:r>
              <a:rPr lang="zh-CN" altLang="en-US" b="1" dirty="0">
                <a:solidFill>
                  <a:srgbClr val="FF0000"/>
                </a:solidFill>
                <a:latin typeface="Verdana" panose="020B0604030504040204" pitchFamily="34" charset="0"/>
              </a:rPr>
              <a:t>激</a:t>
            </a:r>
            <a:endParaRPr lang="en-US" altLang="zh-CN" b="1" dirty="0">
              <a:solidFill>
                <a:srgbClr val="FF0000"/>
              </a:solidFill>
              <a:latin typeface="Verdana" panose="020B0604030504040204" pitchFamily="34" charset="0"/>
            </a:endParaRPr>
          </a:p>
          <a:p>
            <a:pPr eaLnBrk="1" hangingPunct="1">
              <a:buFont typeface="Arial" panose="020B0604020202020204" pitchFamily="34" charset="0"/>
            </a:pPr>
            <a:r>
              <a:rPr lang="zh-CN" altLang="en-US" b="1" dirty="0">
                <a:solidFill>
                  <a:srgbClr val="FF0000"/>
                </a:solidFill>
                <a:latin typeface="Verdana" panose="020B0604030504040204" pitchFamily="34" charset="0"/>
              </a:rPr>
              <a:t>活</a:t>
            </a:r>
            <a:endParaRPr lang="en-US" altLang="zh-CN" b="1" dirty="0">
              <a:solidFill>
                <a:srgbClr val="FF0000"/>
              </a:solidFill>
              <a:latin typeface="Verdana" panose="020B0604030504040204" pitchFamily="34" charset="0"/>
            </a:endParaRPr>
          </a:p>
          <a:p>
            <a:pPr eaLnBrk="1" hangingPunct="1">
              <a:buFont typeface="Arial" panose="020B0604020202020204" pitchFamily="34" charset="0"/>
            </a:pPr>
            <a:r>
              <a:rPr lang="zh-CN" altLang="en-US" b="1" dirty="0">
                <a:solidFill>
                  <a:srgbClr val="FF0000"/>
                </a:solidFill>
                <a:latin typeface="Verdana" panose="020B0604030504040204" pitchFamily="34" charset="0"/>
              </a:rPr>
              <a:t>状</a:t>
            </a:r>
            <a:endParaRPr lang="en-US" altLang="zh-CN" b="1" dirty="0">
              <a:solidFill>
                <a:srgbClr val="FF0000"/>
              </a:solidFill>
              <a:latin typeface="Verdana" panose="020B0604030504040204" pitchFamily="34" charset="0"/>
            </a:endParaRPr>
          </a:p>
          <a:p>
            <a:pPr eaLnBrk="1" hangingPunct="1">
              <a:buFont typeface="Arial" panose="020B0604020202020204" pitchFamily="34" charset="0"/>
            </a:pPr>
            <a:r>
              <a:rPr lang="zh-CN" altLang="en-US" b="1" dirty="0">
                <a:solidFill>
                  <a:srgbClr val="FF0000"/>
                </a:solidFill>
                <a:latin typeface="Verdana" panose="020B0604030504040204" pitchFamily="34" charset="0"/>
              </a:rPr>
              <a:t>态</a:t>
            </a:r>
            <a:endParaRPr lang="zh-CN" altLang="en-US" b="1" dirty="0">
              <a:solidFill>
                <a:srgbClr val="FF0000"/>
              </a:solidFill>
              <a:latin typeface="Verdana" panose="020B0604030504040204" pitchFamily="34" charset="0"/>
            </a:endParaRPr>
          </a:p>
        </p:txBody>
      </p:sp>
      <p:sp>
        <p:nvSpPr>
          <p:cNvPr id="2" name="Rectangle 2"/>
          <p:cNvSpPr/>
          <p:nvPr/>
        </p:nvSpPr>
        <p:spPr>
          <a:xfrm>
            <a:off x="2411730" y="5948680"/>
            <a:ext cx="4114165" cy="460375"/>
          </a:xfrm>
          <a:prstGeom prst="rect">
            <a:avLst/>
          </a:prstGeom>
          <a:solidFill>
            <a:schemeClr val="bg1"/>
          </a:solidFill>
          <a:ln w="9525">
            <a:noFill/>
          </a:ln>
        </p:spPr>
        <p:txBody>
          <a:bodyPr vert="horz" wrap="square" lIns="91440" tIns="45720" rIns="91440" bIns="45720" numCol="1" anchor="t">
            <a:sp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图</a:t>
            </a:r>
            <a:r>
              <a:rPr lang="en-US" alt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3-8 </a:t>
            </a:r>
            <a:r>
              <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订单系统的顺序图</a:t>
            </a:r>
            <a:endPar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35BA407-648F-4D8F-86A8-A64260627EFC}"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51203" name="Text Box 3"/>
          <p:cNvSpPr txBox="1"/>
          <p:nvPr/>
        </p:nvSpPr>
        <p:spPr>
          <a:xfrm>
            <a:off x="1187450" y="1916113"/>
            <a:ext cx="5564188" cy="519112"/>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sp>
        <p:nvSpPr>
          <p:cNvPr id="51204" name="Text Box 4"/>
          <p:cNvSpPr txBox="1"/>
          <p:nvPr/>
        </p:nvSpPr>
        <p:spPr>
          <a:xfrm>
            <a:off x="611188" y="765175"/>
            <a:ext cx="1784350" cy="519113"/>
          </a:xfrm>
          <a:prstGeom prst="rect">
            <a:avLst/>
          </a:prstGeom>
          <a:noFill/>
          <a:ln w="9525">
            <a:noFill/>
          </a:ln>
        </p:spPr>
        <p:txBody>
          <a:bodyPr wrap="none">
            <a:spAutoFit/>
          </a:bodyPr>
          <a:lstStyle/>
          <a:p>
            <a:pPr eaLnBrk="1" hangingPunct="1">
              <a:buFont typeface="Arial" panose="020B0604020202020204" pitchFamily="34" charset="0"/>
            </a:pPr>
            <a:r>
              <a:rPr lang="en-US" altLang="zh-CN" sz="2800" dirty="0">
                <a:solidFill>
                  <a:srgbClr val="FF0000"/>
                </a:solidFill>
                <a:latin typeface="黑体" panose="02010609060101010101" pitchFamily="49" charset="-122"/>
                <a:ea typeface="黑体" panose="02010609060101010101" pitchFamily="49" charset="-122"/>
              </a:rPr>
              <a:t>2</a:t>
            </a:r>
            <a:r>
              <a:rPr lang="zh-CN" altLang="en-US" sz="2800" dirty="0">
                <a:solidFill>
                  <a:srgbClr val="FF0000"/>
                </a:solidFill>
                <a:latin typeface="黑体" panose="02010609060101010101" pitchFamily="49" charset="-122"/>
                <a:ea typeface="黑体" panose="02010609060101010101" pitchFamily="49" charset="-122"/>
              </a:rPr>
              <a:t>．合作图</a:t>
            </a:r>
            <a:endParaRPr lang="en-US" altLang="zh-CN" sz="2800" dirty="0">
              <a:solidFill>
                <a:srgbClr val="FF0000"/>
              </a:solidFill>
              <a:latin typeface="黑体" panose="02010609060101010101" pitchFamily="49" charset="-122"/>
              <a:ea typeface="黑体" panose="02010609060101010101" pitchFamily="49" charset="-122"/>
            </a:endParaRPr>
          </a:p>
        </p:txBody>
      </p:sp>
      <p:sp>
        <p:nvSpPr>
          <p:cNvPr id="51205" name="Text Box 7"/>
          <p:cNvSpPr txBox="1"/>
          <p:nvPr/>
        </p:nvSpPr>
        <p:spPr>
          <a:xfrm>
            <a:off x="684213" y="1844675"/>
            <a:ext cx="7345362" cy="2227263"/>
          </a:xfrm>
          <a:prstGeom prst="rect">
            <a:avLst/>
          </a:prstGeom>
          <a:noFill/>
          <a:ln w="9525">
            <a:noFill/>
          </a:ln>
        </p:spPr>
        <p:txBody>
          <a:bodyPr>
            <a:spAutoFit/>
          </a:bodyPr>
          <a:lstStyle/>
          <a:p>
            <a:pPr eaLnBrk="1" hangingPunct="1">
              <a:buFont typeface="Arial" panose="020B0604020202020204" pitchFamily="34" charset="0"/>
            </a:pPr>
            <a:r>
              <a:rPr lang="zh-CN" altLang="en-US" sz="2800" b="1" dirty="0">
                <a:latin typeface="Arial" panose="020B0604020202020204" pitchFamily="34" charset="0"/>
                <a:ea typeface="楷体_GB2312" pitchFamily="49" charset="-122"/>
              </a:rPr>
              <a:t>       合作图也称为</a:t>
            </a:r>
            <a:r>
              <a:rPr lang="zh-CN" altLang="en-US" sz="2800" b="1" dirty="0">
                <a:solidFill>
                  <a:schemeClr val="accent2"/>
                </a:solidFill>
                <a:latin typeface="Arial" panose="020B0604020202020204" pitchFamily="34" charset="0"/>
                <a:ea typeface="楷体_GB2312" pitchFamily="49" charset="-122"/>
              </a:rPr>
              <a:t>协作图</a:t>
            </a:r>
            <a:r>
              <a:rPr lang="zh-CN" altLang="en-US" sz="2800" b="1" dirty="0">
                <a:latin typeface="Arial" panose="020B0604020202020204" pitchFamily="34" charset="0"/>
                <a:ea typeface="楷体_GB2312" pitchFamily="49" charset="-122"/>
              </a:rPr>
              <a:t>，用于描述相互合作的对象间的交互关系和连接关系。合作图也展示了对象间的动态协作关系。它除了说明消息的交互外，还显示对象之间的连接关系，描述信息在连接对象之间的传递。</a:t>
            </a:r>
            <a:endParaRPr lang="zh-CN" altLang="en-US" sz="2800" b="1" dirty="0">
              <a:latin typeface="Arial" panose="020B0604020202020204" pitchFamily="34" charset="0"/>
              <a:ea typeface="楷体_GB2312" pitchFamily="49" charset="-122"/>
            </a:endParaRPr>
          </a:p>
        </p:txBody>
      </p:sp>
      <p:sp>
        <p:nvSpPr>
          <p:cNvPr id="51206" name="Text Box 9"/>
          <p:cNvSpPr txBox="1"/>
          <p:nvPr/>
        </p:nvSpPr>
        <p:spPr>
          <a:xfrm>
            <a:off x="755333" y="4292600"/>
            <a:ext cx="7345362" cy="1384300"/>
          </a:xfrm>
          <a:prstGeom prst="rect">
            <a:avLst/>
          </a:prstGeom>
          <a:noFill/>
          <a:ln w="9525">
            <a:noFill/>
          </a:ln>
        </p:spPr>
        <p:txBody>
          <a:bodyPr>
            <a:spAutoFit/>
          </a:bodyPr>
          <a:lstStyle/>
          <a:p>
            <a:pPr eaLnBrk="1" hangingPunct="1">
              <a:buFont typeface="Arial" panose="020B0604020202020204" pitchFamily="34" charset="0"/>
            </a:pPr>
            <a:r>
              <a:rPr lang="zh-CN" altLang="en-US" sz="2800" b="1" dirty="0">
                <a:latin typeface="Arial" panose="020B0604020202020204" pitchFamily="34" charset="0"/>
                <a:ea typeface="楷体_GB2312" pitchFamily="49" charset="-122"/>
              </a:rPr>
              <a:t>       顺序图或合作图都可用来表示对象间的协作关系：</a:t>
            </a:r>
            <a:r>
              <a:rPr lang="zh-CN" altLang="en-US" sz="2800" b="1" dirty="0">
                <a:solidFill>
                  <a:srgbClr val="FF0000"/>
                </a:solidFill>
                <a:latin typeface="Arial" panose="020B0604020202020204" pitchFamily="34" charset="0"/>
                <a:ea typeface="楷体_GB2312" pitchFamily="49" charset="-122"/>
              </a:rPr>
              <a:t>如果强调时间和顺序，就使用顺序图，如果强调对象间的相互关系，则选择合作图</a:t>
            </a:r>
            <a:r>
              <a:rPr lang="zh-CN" altLang="en-US" sz="2800" b="1" dirty="0">
                <a:latin typeface="Arial" panose="020B0604020202020204" pitchFamily="34" charset="0"/>
                <a:ea typeface="楷体_GB2312" pitchFamily="49" charset="-122"/>
              </a:rPr>
              <a:t>。</a:t>
            </a:r>
            <a:endParaRPr lang="zh-CN" altLang="en-US" sz="2800" b="1" dirty="0">
              <a:latin typeface="Arial" panose="020B0604020202020204" pitchFamily="34" charset="0"/>
              <a:ea typeface="楷体_GB2312" pitchFamily="49"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26BB95E-B827-4487-9EF6-4518A59AC2CD}"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52227" name="Text Box 2"/>
          <p:cNvSpPr txBox="1"/>
          <p:nvPr/>
        </p:nvSpPr>
        <p:spPr>
          <a:xfrm>
            <a:off x="1187450" y="1916113"/>
            <a:ext cx="5564188" cy="519112"/>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sp>
        <p:nvSpPr>
          <p:cNvPr id="52228" name="Text Box 3"/>
          <p:cNvSpPr txBox="1"/>
          <p:nvPr/>
        </p:nvSpPr>
        <p:spPr>
          <a:xfrm>
            <a:off x="295275" y="260350"/>
            <a:ext cx="1784350" cy="519113"/>
          </a:xfrm>
          <a:prstGeom prst="rect">
            <a:avLst/>
          </a:prstGeom>
          <a:noFill/>
          <a:ln w="9525">
            <a:noFill/>
          </a:ln>
        </p:spPr>
        <p:txBody>
          <a:bodyPr wrap="none">
            <a:spAutoFit/>
          </a:bodyPr>
          <a:lstStyle/>
          <a:p>
            <a:pPr eaLnBrk="1" hangingPunct="1">
              <a:buFont typeface="Arial" panose="020B0604020202020204" pitchFamily="34" charset="0"/>
            </a:pPr>
            <a:r>
              <a:rPr lang="en-US" altLang="zh-CN" sz="2800" dirty="0">
                <a:latin typeface="黑体" panose="02010609060101010101" pitchFamily="49" charset="-122"/>
                <a:ea typeface="黑体" panose="02010609060101010101" pitchFamily="49" charset="-122"/>
              </a:rPr>
              <a:t>2</a:t>
            </a:r>
            <a:r>
              <a:rPr lang="zh-CN" altLang="en-US" sz="2800" dirty="0">
                <a:latin typeface="黑体" panose="02010609060101010101" pitchFamily="49" charset="-122"/>
                <a:ea typeface="黑体" panose="02010609060101010101" pitchFamily="49" charset="-122"/>
              </a:rPr>
              <a:t>．合作图</a:t>
            </a:r>
            <a:endParaRPr lang="en-US" altLang="zh-CN" sz="2800" dirty="0">
              <a:latin typeface="黑体" panose="02010609060101010101" pitchFamily="49" charset="-122"/>
              <a:ea typeface="黑体" panose="02010609060101010101" pitchFamily="49" charset="-122"/>
            </a:endParaRPr>
          </a:p>
        </p:txBody>
      </p:sp>
      <p:pic>
        <p:nvPicPr>
          <p:cNvPr id="52229" name="Picture 4" descr="图10"/>
          <p:cNvPicPr>
            <a:picLocks noGrp="1" noChangeAspect="1"/>
          </p:cNvPicPr>
          <p:nvPr>
            <p:ph idx="1"/>
          </p:nvPr>
        </p:nvPicPr>
        <p:blipFill>
          <a:blip r:embed="rId1"/>
          <a:srcRect/>
          <a:stretch>
            <a:fillRect/>
          </a:stretch>
        </p:blipFill>
        <p:spPr>
          <a:xfrm>
            <a:off x="14288" y="1182688"/>
            <a:ext cx="9180512" cy="5199062"/>
          </a:xfrm>
        </p:spPr>
      </p:pic>
      <p:sp>
        <p:nvSpPr>
          <p:cNvPr id="2" name="Rectangle 2"/>
          <p:cNvSpPr/>
          <p:nvPr/>
        </p:nvSpPr>
        <p:spPr>
          <a:xfrm>
            <a:off x="2032000" y="5671820"/>
            <a:ext cx="5094605" cy="688340"/>
          </a:xfrm>
          <a:prstGeom prst="rect">
            <a:avLst/>
          </a:prstGeom>
          <a:solidFill>
            <a:schemeClr val="bg1"/>
          </a:solidFill>
          <a:ln w="9525">
            <a:noFill/>
          </a:ln>
        </p:spPr>
        <p:txBody>
          <a:bodyPr vert="horz" wrap="square" lIns="91440" tIns="45720" rIns="91440" bIns="45720" numCol="1" anchor="t">
            <a:no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图</a:t>
            </a:r>
            <a:r>
              <a:rPr lang="en-US" alt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3-9 </a:t>
            </a:r>
            <a:r>
              <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打印文件的合作</a:t>
            </a:r>
            <a:r>
              <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图</a:t>
            </a:r>
            <a:endPar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B591FFA-33CC-4656-B31D-ECE234D5E570}"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53251" name="Text Box 2"/>
          <p:cNvSpPr txBox="1"/>
          <p:nvPr/>
        </p:nvSpPr>
        <p:spPr>
          <a:xfrm>
            <a:off x="1187450" y="1916430"/>
            <a:ext cx="5564505" cy="518795"/>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sp>
        <p:nvSpPr>
          <p:cNvPr id="53252" name="Text Box 3"/>
          <p:cNvSpPr txBox="1"/>
          <p:nvPr/>
        </p:nvSpPr>
        <p:spPr>
          <a:xfrm>
            <a:off x="500380" y="714375"/>
            <a:ext cx="1908810" cy="522604"/>
          </a:xfrm>
          <a:prstGeom prst="rect">
            <a:avLst/>
          </a:prstGeom>
          <a:noFill/>
          <a:ln w="9525">
            <a:noFill/>
          </a:ln>
        </p:spPr>
        <p:txBody>
          <a:bodyPr vert="horz" wrap="non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sz="2800" b="1" i="0">
                <a:solidFill>
                  <a:srgbClr val="0611F2"/>
                </a:solidFill>
                <a:latin typeface="黑体" panose="02010609060101010101" pitchFamily="49" charset="-122"/>
                <a:ea typeface="黑体" panose="02010609060101010101" pitchFamily="49" charset="-122"/>
              </a:rPr>
              <a:t>3．状态图</a:t>
            </a:r>
            <a:r>
              <a:rPr lang="zh-CN" altLang="en-US" sz="2800" b="1" i="0">
                <a:latin typeface="Arial" panose="020B0604020202020204" pitchFamily="34" charset="0"/>
                <a:ea typeface="楷体_GB2312" charset="0"/>
              </a:rPr>
              <a:t> </a:t>
            </a:r>
            <a:endParaRPr lang="ko-KR" altLang="en-US" sz="2800" b="1" i="0">
              <a:latin typeface="Arial" panose="020B0604020202020204" pitchFamily="34" charset="0"/>
              <a:ea typeface="楷体_GB2312" charset="0"/>
            </a:endParaRPr>
          </a:p>
        </p:txBody>
      </p:sp>
      <p:sp>
        <p:nvSpPr>
          <p:cNvPr id="53253" name="Text Box 4"/>
          <p:cNvSpPr txBox="1"/>
          <p:nvPr/>
        </p:nvSpPr>
        <p:spPr>
          <a:xfrm>
            <a:off x="684530" y="1773555"/>
            <a:ext cx="7345045" cy="2226945"/>
          </a:xfrm>
          <a:prstGeom prst="rect">
            <a:avLst/>
          </a:prstGeom>
          <a:noFill/>
          <a:ln w="9525">
            <a:noFill/>
          </a:ln>
        </p:spPr>
        <p:txBody>
          <a:bodyPr>
            <a:spAutoFit/>
          </a:bodyPr>
          <a:lstStyle/>
          <a:p>
            <a:pPr eaLnBrk="1" hangingPunct="1">
              <a:buFont typeface="Arial" panose="020B0604020202020204" pitchFamily="34" charset="0"/>
            </a:pPr>
            <a:r>
              <a:rPr lang="zh-CN" altLang="en-US" sz="2800" b="1" dirty="0">
                <a:solidFill>
                  <a:srgbClr val="FF0000"/>
                </a:solidFill>
                <a:latin typeface="Arial" panose="020B0604020202020204" pitchFamily="34" charset="0"/>
                <a:ea typeface="楷体_GB2312" pitchFamily="49" charset="-122"/>
              </a:rPr>
              <a:t>       状态图</a:t>
            </a:r>
            <a:r>
              <a:rPr lang="zh-CN" altLang="en-US" sz="2800" b="1" dirty="0">
                <a:latin typeface="Arial" panose="020B0604020202020204" pitchFamily="34" charset="0"/>
                <a:ea typeface="楷体_GB2312" pitchFamily="49" charset="-122"/>
              </a:rPr>
              <a:t>用来描述一个特定对象的所有可能的状态及其引起状态变迁的事件。</a:t>
            </a:r>
            <a:r>
              <a:rPr lang="zh-CN" altLang="en-US" sz="2800" b="1" dirty="0">
                <a:solidFill>
                  <a:srgbClr val="FF0000"/>
                </a:solidFill>
                <a:latin typeface="Arial" panose="020B0604020202020204" pitchFamily="34" charset="0"/>
                <a:ea typeface="楷体_GB2312" pitchFamily="49" charset="-122"/>
              </a:rPr>
              <a:t>一个状态图包括一系列的状态以及状态之间的迁移</a:t>
            </a:r>
            <a:r>
              <a:rPr lang="zh-CN" altLang="en-US" sz="2800" b="1" dirty="0">
                <a:latin typeface="Arial" panose="020B0604020202020204" pitchFamily="34" charset="0"/>
                <a:ea typeface="楷体_GB2312" pitchFamily="49" charset="-122"/>
              </a:rPr>
              <a:t>。状态图是对行为描述的补充，说明该类对象所有可能的状态以及那些事件导致了状态的改变。</a:t>
            </a:r>
            <a:endParaRPr lang="zh-CN" altLang="en-US" sz="2800" b="1" dirty="0">
              <a:latin typeface="Arial" panose="020B0604020202020204" pitchFamily="34" charset="0"/>
              <a:ea typeface="楷体_GB2312" pitchFamily="49" charset="-122"/>
            </a:endParaRPr>
          </a:p>
        </p:txBody>
      </p:sp>
      <p:sp>
        <p:nvSpPr>
          <p:cNvPr id="53254" name="Text Box 5"/>
          <p:cNvSpPr txBox="1"/>
          <p:nvPr/>
        </p:nvSpPr>
        <p:spPr>
          <a:xfrm>
            <a:off x="643255" y="4215130"/>
            <a:ext cx="7848600" cy="1800225"/>
          </a:xfrm>
          <a:prstGeom prst="rect">
            <a:avLst/>
          </a:prstGeom>
          <a:noFill/>
          <a:ln w="9525">
            <a:noFill/>
          </a:ln>
        </p:spPr>
        <p:txBody>
          <a:bodyPr>
            <a:spAutoFit/>
          </a:bodyPr>
          <a:lstStyle/>
          <a:p>
            <a:pPr eaLnBrk="1" hangingPunct="1">
              <a:buFont typeface="Arial" panose="020B0604020202020204" pitchFamily="34" charset="0"/>
              <a:buChar char="•"/>
            </a:pPr>
            <a:r>
              <a:rPr lang="zh-CN" altLang="en-US" sz="2800" b="1" dirty="0">
                <a:solidFill>
                  <a:srgbClr val="FF0000"/>
                </a:solidFill>
                <a:latin typeface="Arial" panose="020B0604020202020204" pitchFamily="34" charset="0"/>
                <a:ea typeface="楷体_GB2312" pitchFamily="49" charset="-122"/>
              </a:rPr>
              <a:t>事件</a:t>
            </a:r>
            <a:r>
              <a:rPr lang="zh-CN" altLang="en-US" sz="2800" b="1" dirty="0">
                <a:latin typeface="Arial" panose="020B0604020202020204" pitchFamily="34" charset="0"/>
                <a:ea typeface="楷体_GB2312" pitchFamily="49" charset="-122"/>
              </a:rPr>
              <a:t>：一条消息或者是满足了某些条件。</a:t>
            </a:r>
            <a:endParaRPr lang="zh-CN" altLang="en-US" sz="2800" b="1" dirty="0">
              <a:latin typeface="Arial" panose="020B0604020202020204" pitchFamily="34" charset="0"/>
              <a:ea typeface="楷体_GB2312" pitchFamily="49" charset="-122"/>
            </a:endParaRPr>
          </a:p>
          <a:p>
            <a:pPr eaLnBrk="1" hangingPunct="1">
              <a:buFont typeface="Arial" panose="020B0604020202020204" pitchFamily="34" charset="0"/>
              <a:buChar char="•"/>
            </a:pPr>
            <a:r>
              <a:rPr lang="zh-CN" altLang="en-US" sz="2800" b="1" dirty="0">
                <a:solidFill>
                  <a:srgbClr val="FF0000"/>
                </a:solidFill>
                <a:latin typeface="Arial" panose="020B0604020202020204" pitchFamily="34" charset="0"/>
                <a:ea typeface="楷体_GB2312" pitchFamily="49" charset="-122"/>
              </a:rPr>
              <a:t>状态迁移</a:t>
            </a:r>
            <a:r>
              <a:rPr lang="zh-CN" altLang="en-US" sz="2800" b="1" dirty="0">
                <a:latin typeface="Arial" panose="020B0604020202020204" pitchFamily="34" charset="0"/>
                <a:ea typeface="楷体_GB2312" pitchFamily="49" charset="-122"/>
              </a:rPr>
              <a:t>：状态的改变称为迁移。</a:t>
            </a:r>
            <a:endParaRPr lang="zh-CN" altLang="en-US" sz="2800" b="1" dirty="0">
              <a:latin typeface="Arial" panose="020B0604020202020204" pitchFamily="34" charset="0"/>
              <a:ea typeface="楷体_GB2312" pitchFamily="49" charset="-122"/>
            </a:endParaRPr>
          </a:p>
          <a:p>
            <a:pPr eaLnBrk="1" hangingPunct="1">
              <a:buFont typeface="Arial" panose="020B0604020202020204" pitchFamily="34" charset="0"/>
              <a:buChar char="•"/>
            </a:pPr>
            <a:r>
              <a:rPr lang="zh-CN" altLang="en-US" sz="2800" b="1" dirty="0">
                <a:solidFill>
                  <a:srgbClr val="FF0000"/>
                </a:solidFill>
                <a:latin typeface="Arial" panose="020B0604020202020204" pitchFamily="34" charset="0"/>
                <a:ea typeface="楷体_GB2312" pitchFamily="49" charset="-122"/>
              </a:rPr>
              <a:t>迁移动作</a:t>
            </a:r>
            <a:r>
              <a:rPr lang="zh-CN" altLang="en-US" sz="2800" b="1" dirty="0">
                <a:latin typeface="Arial" panose="020B0604020202020204" pitchFamily="34" charset="0"/>
                <a:ea typeface="楷体_GB2312" pitchFamily="49" charset="-122"/>
              </a:rPr>
              <a:t>：与状态迁移相关的动作，指出状态迁 </a:t>
            </a:r>
            <a:endParaRPr lang="zh-CN" altLang="en-US" sz="2800" b="1" dirty="0">
              <a:latin typeface="Arial" panose="020B0604020202020204" pitchFamily="34" charset="0"/>
              <a:ea typeface="楷体_GB2312" pitchFamily="49" charset="-122"/>
            </a:endParaRPr>
          </a:p>
          <a:p>
            <a:pPr eaLnBrk="1" hangingPunct="1">
              <a:buFont typeface="Arial" panose="020B0604020202020204" pitchFamily="34" charset="0"/>
            </a:pPr>
            <a:r>
              <a:rPr lang="zh-CN" altLang="en-US" sz="2800" b="1" dirty="0">
                <a:latin typeface="Arial" panose="020B0604020202020204" pitchFamily="34" charset="0"/>
                <a:ea typeface="楷体_GB2312" pitchFamily="49" charset="-122"/>
              </a:rPr>
              <a:t>                    移时应作什么。</a:t>
            </a:r>
            <a:endParaRPr lang="zh-CN" altLang="en-US" sz="2800" b="1" dirty="0">
              <a:latin typeface="Arial" panose="020B0604020202020204" pitchFamily="34" charset="0"/>
              <a:ea typeface="楷体_GB2312" pitchFamily="49" charset="-122"/>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6BBD3F1-31E7-48D6-8A7D-11465B489912}"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54275" name="Text Box 3"/>
          <p:cNvSpPr txBox="1"/>
          <p:nvPr/>
        </p:nvSpPr>
        <p:spPr>
          <a:xfrm>
            <a:off x="1187450" y="1916113"/>
            <a:ext cx="5564188" cy="519112"/>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sp>
        <p:nvSpPr>
          <p:cNvPr id="54276" name="Text Box 4"/>
          <p:cNvSpPr txBox="1"/>
          <p:nvPr/>
        </p:nvSpPr>
        <p:spPr>
          <a:xfrm>
            <a:off x="539750" y="981075"/>
            <a:ext cx="2149475" cy="519113"/>
          </a:xfrm>
          <a:prstGeom prst="rect">
            <a:avLst/>
          </a:prstGeom>
          <a:noFill/>
          <a:ln w="9525">
            <a:noFill/>
          </a:ln>
        </p:spPr>
        <p:txBody>
          <a:bodyPr wrap="none">
            <a:spAutoFit/>
          </a:bodyPr>
          <a:lstStyle/>
          <a:p>
            <a:pPr eaLnBrk="1" hangingPunct="1">
              <a:buFont typeface="Arial" panose="020B0604020202020204" pitchFamily="34" charset="0"/>
            </a:pPr>
            <a:r>
              <a:rPr lang="en-US" altLang="zh-CN" sz="2800" dirty="0">
                <a:latin typeface="黑体" panose="02010609060101010101" pitchFamily="49" charset="-122"/>
                <a:ea typeface="黑体" panose="02010609060101010101" pitchFamily="49" charset="-122"/>
              </a:rPr>
              <a:t>3</a:t>
            </a:r>
            <a:r>
              <a:rPr lang="zh-CN" altLang="en-US" sz="2800" dirty="0">
                <a:latin typeface="黑体" panose="02010609060101010101" pitchFamily="49" charset="-122"/>
                <a:ea typeface="黑体" panose="02010609060101010101" pitchFamily="49" charset="-122"/>
              </a:rPr>
              <a:t>．状态图</a:t>
            </a:r>
            <a:r>
              <a:rPr lang="zh-CN" altLang="en-US" sz="2800" dirty="0">
                <a:latin typeface="Arial" panose="020B0604020202020204" pitchFamily="34" charset="0"/>
                <a:ea typeface="楷体_GB2312" pitchFamily="49" charset="-122"/>
              </a:rPr>
              <a:t> </a:t>
            </a:r>
            <a:endParaRPr lang="en-US" altLang="zh-CN" sz="2800" dirty="0">
              <a:latin typeface="Arial" panose="020B0604020202020204" pitchFamily="34" charset="0"/>
              <a:ea typeface="楷体_GB2312" pitchFamily="49" charset="-122"/>
            </a:endParaRPr>
          </a:p>
        </p:txBody>
      </p:sp>
      <p:pic>
        <p:nvPicPr>
          <p:cNvPr id="54277" name="Picture 5" descr="图11"/>
          <p:cNvPicPr>
            <a:picLocks noGrp="1" noChangeAspect="1"/>
          </p:cNvPicPr>
          <p:nvPr>
            <p:ph idx="1"/>
          </p:nvPr>
        </p:nvPicPr>
        <p:blipFill>
          <a:blip r:embed="rId1"/>
          <a:srcRect/>
          <a:stretch>
            <a:fillRect/>
          </a:stretch>
        </p:blipFill>
        <p:spPr>
          <a:xfrm>
            <a:off x="395288" y="1916113"/>
            <a:ext cx="8459787" cy="3495675"/>
          </a:xfrm>
        </p:spPr>
      </p:pic>
      <p:sp>
        <p:nvSpPr>
          <p:cNvPr id="2" name="Rectangle 2"/>
          <p:cNvSpPr/>
          <p:nvPr/>
        </p:nvSpPr>
        <p:spPr>
          <a:xfrm>
            <a:off x="2195830" y="4795520"/>
            <a:ext cx="4727575" cy="617220"/>
          </a:xfrm>
          <a:prstGeom prst="rect">
            <a:avLst/>
          </a:prstGeom>
          <a:solidFill>
            <a:schemeClr val="bg1"/>
          </a:solidFill>
          <a:ln w="9525">
            <a:noFill/>
          </a:ln>
        </p:spPr>
        <p:txBody>
          <a:bodyPr vert="horz" wrap="square" lIns="91440" tIns="45720" rIns="91440" bIns="45720" numCol="1" anchor="t">
            <a:no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图</a:t>
            </a:r>
            <a:r>
              <a:rPr lang="en-US" alt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3-10  </a:t>
            </a:r>
            <a:r>
              <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状态图的基本图符元素</a:t>
            </a:r>
            <a:endPar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8160FB-F3CC-4E80-9B0A-74784120D90A}"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56323" name="Text Box 3"/>
          <p:cNvSpPr txBox="1"/>
          <p:nvPr/>
        </p:nvSpPr>
        <p:spPr>
          <a:xfrm>
            <a:off x="1187450" y="1916430"/>
            <a:ext cx="5564505" cy="518795"/>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sp>
        <p:nvSpPr>
          <p:cNvPr id="56324" name="Text Box 4"/>
          <p:cNvSpPr txBox="1"/>
          <p:nvPr/>
        </p:nvSpPr>
        <p:spPr>
          <a:xfrm>
            <a:off x="611505" y="981075"/>
            <a:ext cx="1981835" cy="522604"/>
          </a:xfrm>
          <a:prstGeom prst="rect">
            <a:avLst/>
          </a:prstGeom>
          <a:noFill/>
          <a:ln w="9525">
            <a:noFill/>
          </a:ln>
        </p:spPr>
        <p:txBody>
          <a:bodyPr vert="horz" wrap="non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sz="2800" b="0" i="0">
                <a:solidFill>
                  <a:srgbClr val="0611F2"/>
                </a:solidFill>
                <a:latin typeface="黑体" panose="02010609060101010101" pitchFamily="49" charset="-122"/>
                <a:ea typeface="黑体" panose="02010609060101010101" pitchFamily="49" charset="-122"/>
              </a:rPr>
              <a:t>4．活动图</a:t>
            </a:r>
            <a:r>
              <a:rPr lang="zh-CN" altLang="en-US" sz="2800" b="0" i="0">
                <a:latin typeface="Arial" panose="020B0604020202020204" pitchFamily="34" charset="0"/>
                <a:ea typeface="楷体_GB2312" charset="0"/>
              </a:rPr>
              <a:t>  </a:t>
            </a:r>
            <a:endParaRPr lang="ko-KR" altLang="en-US" sz="2800" b="0" i="0">
              <a:latin typeface="Arial" panose="020B0604020202020204" pitchFamily="34" charset="0"/>
              <a:ea typeface="楷体_GB2312" charset="0"/>
            </a:endParaRPr>
          </a:p>
        </p:txBody>
      </p:sp>
      <p:sp>
        <p:nvSpPr>
          <p:cNvPr id="56325" name="Text Box 8"/>
          <p:cNvSpPr txBox="1"/>
          <p:nvPr/>
        </p:nvSpPr>
        <p:spPr>
          <a:xfrm>
            <a:off x="683260" y="1772285"/>
            <a:ext cx="7705725" cy="1800225"/>
          </a:xfrm>
          <a:prstGeom prst="rect">
            <a:avLst/>
          </a:prstGeom>
          <a:noFill/>
          <a:ln w="9525">
            <a:noFill/>
          </a:ln>
        </p:spPr>
        <p:txBody>
          <a:bodyPr>
            <a:spAutoFit/>
          </a:bodyPr>
          <a:lstStyle/>
          <a:p>
            <a:pPr eaLnBrk="1" hangingPunct="1">
              <a:buFont typeface="Arial" panose="020B0604020202020204" pitchFamily="34" charset="0"/>
            </a:pPr>
            <a:r>
              <a:rPr lang="zh-CN" altLang="en-US" sz="2800" dirty="0">
                <a:latin typeface="黑体" panose="02010609060101010101" pitchFamily="49" charset="-122"/>
                <a:ea typeface="黑体" panose="02010609060101010101" pitchFamily="49" charset="-122"/>
              </a:rPr>
              <a:t>     活动图由状态图变化而来，它们各自用于不同的目的。</a:t>
            </a:r>
            <a:r>
              <a:rPr lang="zh-CN" altLang="en-US" sz="2800" dirty="0">
                <a:solidFill>
                  <a:srgbClr val="FF0000"/>
                </a:solidFill>
                <a:latin typeface="黑体" panose="02010609060101010101" pitchFamily="49" charset="-122"/>
                <a:ea typeface="黑体" panose="02010609060101010101" pitchFamily="49" charset="-122"/>
              </a:rPr>
              <a:t>活动图描述系统中各种活动的执行顺序，刻画一个方法中所要进行的各项活动的执行流程</a:t>
            </a:r>
            <a:r>
              <a:rPr lang="zh-CN" altLang="en-US" sz="2800" dirty="0">
                <a:latin typeface="黑体" panose="02010609060101010101" pitchFamily="49" charset="-122"/>
                <a:ea typeface="黑体" panose="02010609060101010101" pitchFamily="49" charset="-122"/>
              </a:rPr>
              <a:t>。</a:t>
            </a:r>
            <a:endParaRPr lang="zh-CN" altLang="en-US" sz="2800" dirty="0">
              <a:latin typeface="Arial" panose="020B0604020202020204" pitchFamily="34" charset="0"/>
              <a:ea typeface="楷体_GB2312" pitchFamily="49" charset="-122"/>
            </a:endParaRPr>
          </a:p>
        </p:txBody>
      </p:sp>
      <p:pic>
        <p:nvPicPr>
          <p:cNvPr id="57349" name="Picture 4" descr="图12"/>
          <p:cNvPicPr>
            <a:picLocks noGrp="1" noChangeAspect="1"/>
          </p:cNvPicPr>
          <p:nvPr>
            <p:ph idx="1"/>
          </p:nvPr>
        </p:nvPicPr>
        <p:blipFill>
          <a:blip r:embed="rId1"/>
          <a:srcRect/>
          <a:stretch>
            <a:fillRect/>
          </a:stretch>
        </p:blipFill>
        <p:spPr>
          <a:xfrm>
            <a:off x="467360" y="3644900"/>
            <a:ext cx="7779385" cy="2593975"/>
          </a:xfrm>
        </p:spPr>
      </p:pic>
      <p:sp>
        <p:nvSpPr>
          <p:cNvPr id="2" name="Rectangle 2"/>
          <p:cNvSpPr/>
          <p:nvPr/>
        </p:nvSpPr>
        <p:spPr>
          <a:xfrm>
            <a:off x="2411730" y="5661025"/>
            <a:ext cx="4114165" cy="460375"/>
          </a:xfrm>
          <a:prstGeom prst="rect">
            <a:avLst/>
          </a:prstGeom>
          <a:solidFill>
            <a:schemeClr val="bg1"/>
          </a:solidFill>
          <a:ln w="9525">
            <a:noFill/>
          </a:ln>
        </p:spPr>
        <p:txBody>
          <a:bodyPr vert="horz" wrap="square" lIns="91440" tIns="45720" rIns="91440" bIns="45720" numCol="1" anchor="t">
            <a:sp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图</a:t>
            </a:r>
            <a:r>
              <a:rPr lang="en-US" alt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3-11 </a:t>
            </a:r>
            <a:r>
              <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活动图的图标元素</a:t>
            </a:r>
            <a:endPar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C36309F-0E17-42E6-9742-836C2171C1E8}"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58371" name="Text Box 3"/>
          <p:cNvSpPr txBox="1"/>
          <p:nvPr/>
        </p:nvSpPr>
        <p:spPr>
          <a:xfrm>
            <a:off x="1187450" y="1916113"/>
            <a:ext cx="5564188" cy="519112"/>
          </a:xfrm>
          <a:prstGeom prst="rect">
            <a:avLst/>
          </a:prstGeom>
          <a:noFill/>
          <a:ln w="9525">
            <a:noFill/>
          </a:ln>
        </p:spPr>
        <p:txBody>
          <a:bodyPr>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pic>
        <p:nvPicPr>
          <p:cNvPr id="58372" name="Picture 4" descr="图13"/>
          <p:cNvPicPr>
            <a:picLocks noGrp="1" noChangeAspect="1"/>
          </p:cNvPicPr>
          <p:nvPr>
            <p:ph idx="1"/>
          </p:nvPr>
        </p:nvPicPr>
        <p:blipFill>
          <a:blip r:embed="rId1"/>
          <a:srcRect/>
          <a:stretch>
            <a:fillRect/>
          </a:stretch>
        </p:blipFill>
        <p:spPr>
          <a:xfrm>
            <a:off x="214313" y="928688"/>
            <a:ext cx="8929687" cy="5065712"/>
          </a:xfrm>
        </p:spPr>
      </p:pic>
      <p:sp>
        <p:nvSpPr>
          <p:cNvPr id="58373" name="Text Box 4"/>
          <p:cNvSpPr txBox="1"/>
          <p:nvPr/>
        </p:nvSpPr>
        <p:spPr>
          <a:xfrm>
            <a:off x="357188" y="357188"/>
            <a:ext cx="2500312" cy="523875"/>
          </a:xfrm>
          <a:prstGeom prst="rect">
            <a:avLst/>
          </a:prstGeom>
          <a:noFill/>
          <a:ln w="9525">
            <a:noFill/>
          </a:ln>
        </p:spPr>
        <p:txBody>
          <a:bodyPr>
            <a:spAutoFit/>
          </a:bodyPr>
          <a:lstStyle/>
          <a:p>
            <a:pPr eaLnBrk="1" hangingPunct="1">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活动图示例</a:t>
            </a:r>
            <a:r>
              <a:rPr lang="zh-CN" altLang="en-US" sz="2800" dirty="0">
                <a:latin typeface="Arial" panose="020B0604020202020204" pitchFamily="34" charset="0"/>
                <a:ea typeface="楷体_GB2312" pitchFamily="49" charset="-122"/>
              </a:rPr>
              <a:t> </a:t>
            </a:r>
            <a:endParaRPr lang="en-US" altLang="zh-CN" sz="2800" dirty="0">
              <a:latin typeface="Arial" panose="020B0604020202020204" pitchFamily="34" charset="0"/>
              <a:ea typeface="楷体_GB2312" pitchFamily="49" charset="-122"/>
            </a:endParaRPr>
          </a:p>
        </p:txBody>
      </p:sp>
      <p:sp>
        <p:nvSpPr>
          <p:cNvPr id="2" name="Rectangle 2"/>
          <p:cNvSpPr/>
          <p:nvPr/>
        </p:nvSpPr>
        <p:spPr>
          <a:xfrm>
            <a:off x="1187450" y="5516880"/>
            <a:ext cx="6986905" cy="503555"/>
          </a:xfrm>
          <a:prstGeom prst="rect">
            <a:avLst/>
          </a:prstGeom>
          <a:solidFill>
            <a:schemeClr val="bg1"/>
          </a:solidFill>
          <a:ln w="9525">
            <a:noFill/>
          </a:ln>
        </p:spPr>
        <p:txBody>
          <a:bodyPr vert="horz" wrap="square" lIns="91440" tIns="45720" rIns="91440" bIns="45720" numCol="1" anchor="t">
            <a:no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图</a:t>
            </a:r>
            <a:r>
              <a:rPr lang="en-US" alt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3-12 </a:t>
            </a:r>
            <a:r>
              <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查询系统中有关访问数据文件的活动图</a:t>
            </a:r>
            <a:endPar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7ECA241-9386-49B0-95C8-FA4F8B76A4E9}"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59395" name="Rectangle 5"/>
          <p:cNvSpPr/>
          <p:nvPr/>
        </p:nvSpPr>
        <p:spPr>
          <a:xfrm>
            <a:off x="500063" y="736600"/>
            <a:ext cx="7672387" cy="739775"/>
          </a:xfrm>
          <a:prstGeom prst="rect">
            <a:avLst/>
          </a:prstGeom>
          <a:noFill/>
          <a:ln w="9525">
            <a:noFill/>
          </a:ln>
        </p:spPr>
        <p:txBody>
          <a:bodyPr anchor="ctr">
            <a:spAutoFit/>
          </a:bodyPr>
          <a:lstStyle/>
          <a:p>
            <a:pPr eaLnBrk="1" hangingPunct="1">
              <a:buFont typeface="Arial" panose="020B0604020202020204" pitchFamily="34" charset="0"/>
            </a:pPr>
            <a:r>
              <a:rPr lang="en-US" altLang="zh-CN" sz="4200" dirty="0">
                <a:latin typeface="黑体" panose="02010609060101010101" pitchFamily="49" charset="-122"/>
                <a:ea typeface="黑体" panose="02010609060101010101" pitchFamily="49" charset="-122"/>
              </a:rPr>
              <a:t>3.3 UML</a:t>
            </a:r>
            <a:r>
              <a:rPr lang="zh-CN" altLang="en-US" sz="4200" dirty="0">
                <a:latin typeface="黑体" panose="02010609060101010101" pitchFamily="49" charset="-122"/>
                <a:ea typeface="黑体" panose="02010609060101010101" pitchFamily="49" charset="-122"/>
              </a:rPr>
              <a:t>系统体系结构模型</a:t>
            </a:r>
            <a:r>
              <a:rPr lang="zh-CN" altLang="en-US" sz="3800" dirty="0">
                <a:solidFill>
                  <a:schemeClr val="tx2"/>
                </a:solidFill>
                <a:latin typeface="Verdana" panose="020B0604030504040204" pitchFamily="34" charset="0"/>
              </a:rPr>
              <a:t> </a:t>
            </a:r>
            <a:endParaRPr lang="zh-CN" altLang="en-US" sz="3800" dirty="0">
              <a:solidFill>
                <a:schemeClr val="tx2"/>
              </a:solidFill>
              <a:latin typeface="Verdana" panose="020B0604030504040204" pitchFamily="34" charset="0"/>
            </a:endParaRPr>
          </a:p>
        </p:txBody>
      </p:sp>
      <p:sp>
        <p:nvSpPr>
          <p:cNvPr id="59396" name="内容占位符 5"/>
          <p:cNvSpPr>
            <a:spLocks noGrp="1"/>
          </p:cNvSpPr>
          <p:nvPr>
            <p:ph idx="1"/>
          </p:nvPr>
        </p:nvSpPr>
        <p:spPr>
          <a:xfrm>
            <a:off x="571500" y="1857375"/>
            <a:ext cx="8001000" cy="3441700"/>
          </a:xfrm>
        </p:spPr>
        <p:txBody>
          <a:bodyPr vert="horz" wrap="square" lIns="91440" tIns="45720" rIns="91440" bIns="45720" anchor="t"/>
          <a:lstStyle/>
          <a:p>
            <a:r>
              <a:rPr lang="zh-CN" altLang="en-US" sz="2800" b="1" dirty="0"/>
              <a:t>一个复杂的面向对象系统由很多子系统组成，子系统可以由一组模型来描述，一个模型可以由若干个视图表达，而一个视图可以由一组相关的模型图进行描述。</a:t>
            </a:r>
            <a:endParaRPr lang="en-US" altLang="zh-CN" sz="2800" b="1" dirty="0"/>
          </a:p>
          <a:p>
            <a:r>
              <a:rPr lang="zh-CN" altLang="en-US" sz="2800" b="1" dirty="0"/>
              <a:t>将子系统和模型按软件体系结层次有机地组织起来，形成一个结构合理、层次清晰的系统分析和设计模型是非常重要的工作。</a:t>
            </a:r>
            <a:endParaRPr lang="zh-CN" altLang="en-US" sz="2800" b="1"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37475E7-599F-492A-82F6-3420302F9594}"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60419" name="Rectangle 3"/>
          <p:cNvSpPr/>
          <p:nvPr/>
        </p:nvSpPr>
        <p:spPr>
          <a:xfrm>
            <a:off x="500063" y="142875"/>
            <a:ext cx="7416800" cy="519113"/>
          </a:xfrm>
          <a:prstGeom prst="rect">
            <a:avLst/>
          </a:prstGeom>
          <a:noFill/>
          <a:ln w="9525">
            <a:noFill/>
          </a:ln>
        </p:spPr>
        <p:txBody>
          <a:bodyPr>
            <a:spAutoFit/>
          </a:bodyPr>
          <a:lstStyle/>
          <a:p>
            <a:pPr eaLnBrk="1" hangingPunct="1">
              <a:buFont typeface="Arial" panose="020B0604020202020204" pitchFamily="34" charset="0"/>
            </a:pPr>
            <a:r>
              <a:rPr lang="en-US" altLang="zh-CN" sz="2800" b="1" dirty="0">
                <a:latin typeface="黑体" panose="02010609060101010101" pitchFamily="49" charset="-122"/>
                <a:ea typeface="黑体" panose="02010609060101010101" pitchFamily="49" charset="-122"/>
              </a:rPr>
              <a:t>3.3.1  </a:t>
            </a:r>
            <a:r>
              <a:rPr lang="zh-CN" altLang="en-US" sz="2800" b="1" dirty="0">
                <a:latin typeface="黑体" panose="02010609060101010101" pitchFamily="49" charset="-122"/>
                <a:ea typeface="黑体" panose="02010609060101010101" pitchFamily="49" charset="-122"/>
              </a:rPr>
              <a:t>子系统组织的系统体系结构 </a:t>
            </a:r>
            <a:endParaRPr lang="zh-CN" altLang="en-US" sz="2800" b="1" dirty="0">
              <a:latin typeface="黑体" panose="02010609060101010101" pitchFamily="49" charset="-122"/>
              <a:ea typeface="黑体" panose="02010609060101010101" pitchFamily="49" charset="-122"/>
            </a:endParaRPr>
          </a:p>
        </p:txBody>
      </p:sp>
      <p:pic>
        <p:nvPicPr>
          <p:cNvPr id="60420" name="Picture 4" descr="图14"/>
          <p:cNvPicPr>
            <a:picLocks noGrp="1" noChangeAspect="1"/>
          </p:cNvPicPr>
          <p:nvPr>
            <p:ph idx="1"/>
          </p:nvPr>
        </p:nvPicPr>
        <p:blipFill>
          <a:blip r:embed="rId1"/>
          <a:srcRect/>
          <a:stretch>
            <a:fillRect/>
          </a:stretch>
        </p:blipFill>
        <p:spPr>
          <a:xfrm>
            <a:off x="214313" y="1357313"/>
            <a:ext cx="6357937" cy="4646612"/>
          </a:xfrm>
        </p:spPr>
      </p:pic>
      <p:sp>
        <p:nvSpPr>
          <p:cNvPr id="60421" name="Rectangle 3"/>
          <p:cNvSpPr/>
          <p:nvPr/>
        </p:nvSpPr>
        <p:spPr>
          <a:xfrm>
            <a:off x="6643688" y="1643063"/>
            <a:ext cx="2143125" cy="3786187"/>
          </a:xfrm>
          <a:prstGeom prst="rect">
            <a:avLst/>
          </a:prstGeom>
          <a:solidFill>
            <a:schemeClr val="bg1"/>
          </a:solidFill>
          <a:ln w="9525">
            <a:noFill/>
          </a:ln>
        </p:spPr>
        <p:txBody>
          <a:bodyPr>
            <a:spAutoFit/>
          </a:bodyPr>
          <a:lstStyle/>
          <a:p>
            <a:pPr eaLnBrk="1" hangingPunct="1">
              <a:buFont typeface="Arial" panose="020B0604020202020204" pitchFamily="34" charset="0"/>
            </a:pPr>
            <a:r>
              <a:rPr lang="zh-CN" altLang="en-US" sz="2400" dirty="0">
                <a:solidFill>
                  <a:srgbClr val="FF0000"/>
                </a:solidFill>
                <a:latin typeface="黑体" panose="02010609060101010101" pitchFamily="49" charset="-122"/>
                <a:ea typeface="黑体" panose="02010609060101010101" pitchFamily="49" charset="-122"/>
              </a:rPr>
              <a:t>子系统</a:t>
            </a:r>
            <a:r>
              <a:rPr lang="zh-CN" altLang="en-US" sz="2400" dirty="0">
                <a:latin typeface="黑体" panose="02010609060101010101" pitchFamily="49" charset="-122"/>
                <a:ea typeface="黑体" panose="02010609060101010101" pitchFamily="49" charset="-122"/>
              </a:rPr>
              <a:t>是描述系统某个行为的相对独立的抽象单位。每个子系统都有一个接口，通过接口各个子系统相互交换信息，协同工作。 </a:t>
            </a:r>
            <a:endParaRPr lang="zh-CN" altLang="en-US" sz="2400" dirty="0">
              <a:latin typeface="黑体" panose="02010609060101010101" pitchFamily="49" charset="-122"/>
              <a:ea typeface="黑体" panose="02010609060101010101" pitchFamily="49" charset="-122"/>
            </a:endParaRPr>
          </a:p>
        </p:txBody>
      </p:sp>
      <p:sp>
        <p:nvSpPr>
          <p:cNvPr id="2" name="Rectangle 2"/>
          <p:cNvSpPr/>
          <p:nvPr/>
        </p:nvSpPr>
        <p:spPr>
          <a:xfrm>
            <a:off x="1187450" y="5588635"/>
            <a:ext cx="6986905" cy="503555"/>
          </a:xfrm>
          <a:prstGeom prst="rect">
            <a:avLst/>
          </a:prstGeom>
          <a:solidFill>
            <a:schemeClr val="bg1"/>
          </a:solidFill>
          <a:ln w="9525">
            <a:noFill/>
          </a:ln>
        </p:spPr>
        <p:txBody>
          <a:bodyPr vert="horz" wrap="square" lIns="91440" tIns="45720" rIns="91440" bIns="45720" numCol="1" anchor="t">
            <a:no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图</a:t>
            </a:r>
            <a:r>
              <a:rPr lang="en-US" alt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3-13 </a:t>
            </a:r>
            <a:r>
              <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查询系统中有关访问数据文件的活动图</a:t>
            </a:r>
            <a:endPar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FCE0474-A75D-43A9-9A29-05FA5AE95F8B}"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61443" name="Rectangle 3"/>
          <p:cNvSpPr/>
          <p:nvPr/>
        </p:nvSpPr>
        <p:spPr>
          <a:xfrm>
            <a:off x="323850" y="1052513"/>
            <a:ext cx="7493000" cy="519112"/>
          </a:xfrm>
          <a:prstGeom prst="rect">
            <a:avLst/>
          </a:prstGeom>
          <a:noFill/>
          <a:ln w="9525">
            <a:noFill/>
          </a:ln>
        </p:spPr>
        <p:txBody>
          <a:bodyPr>
            <a:spAutoFit/>
          </a:bodyPr>
          <a:lstStyle/>
          <a:p>
            <a:pPr eaLnBrk="1" hangingPunct="1">
              <a:buFont typeface="Arial" panose="020B0604020202020204" pitchFamily="34" charset="0"/>
            </a:pPr>
            <a:r>
              <a:rPr lang="en-US" altLang="zh-CN" sz="2800" b="1" dirty="0">
                <a:latin typeface="黑体" panose="02010609060101010101" pitchFamily="49" charset="-122"/>
                <a:ea typeface="黑体" panose="02010609060101010101" pitchFamily="49" charset="-122"/>
              </a:rPr>
              <a:t>3.3.2  </a:t>
            </a:r>
            <a:r>
              <a:rPr lang="zh-CN" altLang="en-US" sz="2800" b="1" dirty="0">
                <a:latin typeface="黑体" panose="02010609060101010101" pitchFamily="49" charset="-122"/>
                <a:ea typeface="黑体" panose="02010609060101010101" pitchFamily="49" charset="-122"/>
              </a:rPr>
              <a:t>系统模型组织的系统体系结构</a:t>
            </a:r>
            <a:r>
              <a:rPr lang="zh-CN" altLang="en-US" sz="2800" dirty="0">
                <a:latin typeface="Arial" panose="020B0604020202020204" pitchFamily="34" charset="0"/>
                <a:ea typeface="楷体_GB2312" pitchFamily="49" charset="-122"/>
              </a:rPr>
              <a:t> </a:t>
            </a:r>
            <a:endParaRPr lang="zh-CN" altLang="en-US" sz="2800" dirty="0">
              <a:latin typeface="Arial" panose="020B0604020202020204" pitchFamily="34" charset="0"/>
              <a:ea typeface="楷体_GB2312" pitchFamily="49" charset="-122"/>
            </a:endParaRPr>
          </a:p>
        </p:txBody>
      </p:sp>
      <p:sp>
        <p:nvSpPr>
          <p:cNvPr id="2" name="Rectangle 2"/>
          <p:cNvSpPr/>
          <p:nvPr/>
        </p:nvSpPr>
        <p:spPr>
          <a:xfrm>
            <a:off x="1331595" y="4869180"/>
            <a:ext cx="6500495" cy="503555"/>
          </a:xfrm>
          <a:prstGeom prst="rect">
            <a:avLst/>
          </a:prstGeom>
          <a:solidFill>
            <a:schemeClr val="bg1"/>
          </a:solidFill>
          <a:ln w="9525">
            <a:noFill/>
          </a:ln>
        </p:spPr>
        <p:txBody>
          <a:bodyPr vert="horz" wrap="square" lIns="91440" tIns="45720" rIns="91440" bIns="45720" numCol="1" anchor="t">
            <a:no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图</a:t>
            </a:r>
            <a:r>
              <a:rPr lang="en-US" alt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3-14    </a:t>
            </a:r>
            <a:r>
              <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包含</a:t>
            </a:r>
            <a:r>
              <a:rPr lang="en-US" alt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3</a:t>
            </a:r>
            <a:r>
              <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个子包的包系统模型</a:t>
            </a:r>
            <a:endPar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endParaRPr>
          </a:p>
        </p:txBody>
      </p:sp>
      <p:pic>
        <p:nvPicPr>
          <p:cNvPr id="4" name="图片 3"/>
          <p:cNvPicPr>
            <a:picLocks noChangeAspect="1"/>
          </p:cNvPicPr>
          <p:nvPr/>
        </p:nvPicPr>
        <p:blipFill>
          <a:blip r:embed="rId1"/>
          <a:stretch>
            <a:fillRect/>
          </a:stretch>
        </p:blipFill>
        <p:spPr>
          <a:xfrm>
            <a:off x="467360" y="1988820"/>
            <a:ext cx="8338185" cy="2628265"/>
          </a:xfrm>
          <a:prstGeom prst="rect">
            <a:avLst/>
          </a:prstGeom>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9AA7A4-6BDA-4ECA-ACE1-C633D2E51CB5}"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62467" name="Rectangle 3"/>
          <p:cNvSpPr/>
          <p:nvPr/>
        </p:nvSpPr>
        <p:spPr>
          <a:xfrm>
            <a:off x="571500" y="774700"/>
            <a:ext cx="8001000" cy="523875"/>
          </a:xfrm>
          <a:prstGeom prst="rect">
            <a:avLst/>
          </a:prstGeom>
          <a:noFill/>
          <a:ln w="9525">
            <a:noFill/>
          </a:ln>
        </p:spPr>
        <p:txBody>
          <a:bodyPr>
            <a:spAutoFit/>
          </a:bodyPr>
          <a:lstStyle/>
          <a:p>
            <a:pPr eaLnBrk="1" hangingPunct="1">
              <a:buFont typeface="Arial" panose="020B0604020202020204" pitchFamily="34" charset="0"/>
            </a:pPr>
            <a:r>
              <a:rPr lang="en-US" altLang="zh-CN" sz="2800" b="1" dirty="0">
                <a:latin typeface="黑体" panose="02010609060101010101" pitchFamily="49" charset="-122"/>
                <a:ea typeface="黑体" panose="02010609060101010101" pitchFamily="49" charset="-122"/>
              </a:rPr>
              <a:t>3.3.3  </a:t>
            </a:r>
            <a:r>
              <a:rPr lang="zh-CN" altLang="en-US" sz="2800" b="1" dirty="0">
                <a:latin typeface="黑体" panose="02010609060101010101" pitchFamily="49" charset="-122"/>
                <a:ea typeface="黑体" panose="02010609060101010101" pitchFamily="49" charset="-122"/>
              </a:rPr>
              <a:t>系统体系结构模型的描述方式</a:t>
            </a:r>
            <a:endParaRPr lang="zh-CN" altLang="en-US" sz="2800" b="1" dirty="0">
              <a:latin typeface="黑体" panose="02010609060101010101" pitchFamily="49" charset="-122"/>
              <a:ea typeface="黑体" panose="02010609060101010101" pitchFamily="49" charset="-122"/>
            </a:endParaRPr>
          </a:p>
        </p:txBody>
      </p:sp>
      <p:sp>
        <p:nvSpPr>
          <p:cNvPr id="62468" name="内容占位符 5"/>
          <p:cNvSpPr>
            <a:spLocks noGrp="1"/>
          </p:cNvSpPr>
          <p:nvPr>
            <p:ph idx="1"/>
          </p:nvPr>
        </p:nvSpPr>
        <p:spPr>
          <a:xfrm>
            <a:off x="571500" y="1857375"/>
            <a:ext cx="8001000" cy="3441700"/>
          </a:xfrm>
        </p:spPr>
        <p:txBody>
          <a:bodyPr vert="horz" wrap="square" lIns="91440" tIns="45720" rIns="91440" bIns="45720" anchor="t"/>
          <a:lstStyle/>
          <a:p>
            <a:pPr latinLnBrk="0">
              <a:lnSpc>
                <a:spcPct val="125000"/>
              </a:lnSpc>
              <a:spcBef>
                <a:spcPts val="0"/>
              </a:spcBef>
            </a:pPr>
            <a:r>
              <a:rPr lang="zh-CN" altLang="en-US" sz="2800" b="1" dirty="0"/>
              <a:t>基于模型的系统体系结构层次。系统体系结构层次中的所有元素都由系统模型组成。</a:t>
            </a:r>
            <a:endParaRPr lang="en-US" altLang="zh-CN" sz="2800" b="1" dirty="0"/>
          </a:p>
          <a:p>
            <a:pPr latinLnBrk="0">
              <a:lnSpc>
                <a:spcPct val="125000"/>
              </a:lnSpc>
              <a:spcBef>
                <a:spcPts val="0"/>
              </a:spcBef>
            </a:pPr>
            <a:r>
              <a:rPr lang="zh-CN" altLang="en-US" sz="2800" b="1" dirty="0"/>
              <a:t>基于</a:t>
            </a:r>
            <a:r>
              <a:rPr lang="zh-CN" altLang="en-US" sz="2800" b="1" dirty="0">
                <a:solidFill>
                  <a:srgbClr val="FF0000"/>
                </a:solidFill>
              </a:rPr>
              <a:t>子系统</a:t>
            </a:r>
            <a:r>
              <a:rPr lang="zh-CN" altLang="en-US" sz="2800" b="1" dirty="0"/>
              <a:t>的系统体系结构层次。系统结构中的元素由子系统组成，但</a:t>
            </a:r>
            <a:r>
              <a:rPr lang="zh-CN" altLang="en-US" sz="2800" b="1" dirty="0">
                <a:solidFill>
                  <a:srgbClr val="FF0000"/>
                </a:solidFill>
              </a:rPr>
              <a:t>最低层的元素必须由系统模型组成</a:t>
            </a:r>
            <a:r>
              <a:rPr lang="zh-CN" altLang="en-US" sz="2800" b="1" dirty="0"/>
              <a:t>。</a:t>
            </a:r>
            <a:endParaRPr lang="zh-CN" altLang="en-US" sz="2800" b="1"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BA61FF2-5807-44C3-AEFE-3BB751DA0877}"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cxnSp>
        <p:nvCxnSpPr>
          <p:cNvPr id="15" name="直接连接符 14"/>
          <p:cNvCxnSpPr/>
          <p:nvPr/>
        </p:nvCxnSpPr>
        <p:spPr>
          <a:xfrm>
            <a:off x="5949315" y="1861185"/>
            <a:ext cx="0" cy="0"/>
          </a:xfrm>
          <a:prstGeom prst="line">
            <a:avLst/>
          </a:prstGeom>
          <a:ln>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17" name="Rectangle 2"/>
          <p:cNvSpPr/>
          <p:nvPr/>
        </p:nvSpPr>
        <p:spPr>
          <a:xfrm>
            <a:off x="6228080" y="2204720"/>
            <a:ext cx="360045" cy="287020"/>
          </a:xfrm>
          <a:prstGeom prst="rect">
            <a:avLst/>
          </a:prstGeom>
          <a:solidFill>
            <a:schemeClr val="bg1"/>
          </a:solidFill>
          <a:ln w="9525">
            <a:noFill/>
          </a:ln>
        </p:spPr>
        <p:txBody>
          <a:bodyPr vert="horz" wrap="square" lIns="91440" tIns="45720" rIns="91440" bIns="45720" numCol="1" anchor="t">
            <a:no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endParaRPr lang="zh-CN" altLang="en-US" sz="18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endParaRPr>
          </a:p>
        </p:txBody>
      </p:sp>
      <p:pic>
        <p:nvPicPr>
          <p:cNvPr id="3" name="图片 2"/>
          <p:cNvPicPr>
            <a:picLocks noChangeAspect="1"/>
          </p:cNvPicPr>
          <p:nvPr/>
        </p:nvPicPr>
        <p:blipFill>
          <a:blip r:embed="rId1"/>
          <a:stretch>
            <a:fillRect/>
          </a:stretch>
        </p:blipFill>
        <p:spPr>
          <a:xfrm>
            <a:off x="492125" y="986790"/>
            <a:ext cx="7471410" cy="5104765"/>
          </a:xfrm>
          <a:prstGeom prst="rect">
            <a:avLst/>
          </a:prstGeom>
        </p:spPr>
      </p:pic>
      <p:sp>
        <p:nvSpPr>
          <p:cNvPr id="63491" name="Rectangle 3"/>
          <p:cNvSpPr/>
          <p:nvPr/>
        </p:nvSpPr>
        <p:spPr>
          <a:xfrm>
            <a:off x="214313" y="142875"/>
            <a:ext cx="7493000" cy="519113"/>
          </a:xfrm>
          <a:prstGeom prst="rect">
            <a:avLst/>
          </a:prstGeom>
          <a:noFill/>
          <a:ln w="9525">
            <a:noFill/>
          </a:ln>
        </p:spPr>
        <p:txBody>
          <a:bodyPr>
            <a:spAutoFit/>
          </a:bodyPr>
          <a:p>
            <a:pPr eaLnBrk="1" hangingPunct="1">
              <a:buFont typeface="Arial" panose="020B0604020202020204" pitchFamily="34" charset="0"/>
            </a:pPr>
            <a:r>
              <a:rPr lang="en-US" altLang="zh-CN" sz="2800" b="1" dirty="0">
                <a:latin typeface="黑体" panose="02010609060101010101" pitchFamily="49" charset="-122"/>
                <a:ea typeface="黑体" panose="02010609060101010101" pitchFamily="49" charset="-122"/>
              </a:rPr>
              <a:t>3.3.3  </a:t>
            </a:r>
            <a:r>
              <a:rPr lang="zh-CN" altLang="en-US" sz="2800" b="1" dirty="0">
                <a:latin typeface="黑体" panose="02010609060101010101" pitchFamily="49" charset="-122"/>
                <a:ea typeface="黑体" panose="02010609060101010101" pitchFamily="49" charset="-122"/>
              </a:rPr>
              <a:t>系统体系结构模型的描述方式</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BA61FF2-5807-44C3-AEFE-3BB751DA0877}"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2" name="Rectangle 2"/>
          <p:cNvSpPr/>
          <p:nvPr/>
        </p:nvSpPr>
        <p:spPr>
          <a:xfrm>
            <a:off x="827405" y="5228590"/>
            <a:ext cx="6986905" cy="503555"/>
          </a:xfrm>
          <a:prstGeom prst="rect">
            <a:avLst/>
          </a:prstGeom>
          <a:solidFill>
            <a:schemeClr val="bg1"/>
          </a:solidFill>
          <a:ln w="9525">
            <a:noFill/>
          </a:ln>
        </p:spPr>
        <p:txBody>
          <a:bodyPr vert="horz" wrap="square" lIns="91440" tIns="45720" rIns="91440" bIns="45720" numCol="1" anchor="t">
            <a:no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r>
              <a:rPr 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图</a:t>
            </a:r>
            <a:r>
              <a:rPr lang="en-US" altLang="zh-CN"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3-14 </a:t>
            </a:r>
            <a:r>
              <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rPr>
              <a:t>一个查询系统的系统体系结构层次</a:t>
            </a:r>
            <a:endParaRPr lang="zh-CN" altLang="en-US" sz="24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endParaRPr>
          </a:p>
        </p:txBody>
      </p:sp>
      <p:cxnSp>
        <p:nvCxnSpPr>
          <p:cNvPr id="15" name="直接连接符 14"/>
          <p:cNvCxnSpPr/>
          <p:nvPr/>
        </p:nvCxnSpPr>
        <p:spPr>
          <a:xfrm>
            <a:off x="5949315" y="1861185"/>
            <a:ext cx="0" cy="0"/>
          </a:xfrm>
          <a:prstGeom prst="line">
            <a:avLst/>
          </a:prstGeom>
          <a:ln>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17" name="Rectangle 2"/>
          <p:cNvSpPr/>
          <p:nvPr/>
        </p:nvSpPr>
        <p:spPr>
          <a:xfrm>
            <a:off x="6228080" y="2204720"/>
            <a:ext cx="360045" cy="287020"/>
          </a:xfrm>
          <a:prstGeom prst="rect">
            <a:avLst/>
          </a:prstGeom>
          <a:solidFill>
            <a:schemeClr val="bg1"/>
          </a:solidFill>
          <a:ln w="9525">
            <a:noFill/>
          </a:ln>
        </p:spPr>
        <p:txBody>
          <a:bodyPr vert="horz" wrap="square" lIns="91440" tIns="45720" rIns="91440" bIns="45720" numCol="1" anchor="t">
            <a:noAutofit/>
            <a:scene3d>
              <a:camera prst="orthographicFront"/>
              <a:lightRig rig="threePt" dir="t"/>
            </a:scene3d>
          </a:bodyPr>
          <a:p>
            <a:pPr marL="0" indent="0" algn="ctr" defTabSz="914400" eaLnBrk="1" fontAlgn="base" latinLnBrk="0" hangingPunct="1">
              <a:lnSpc>
                <a:spcPct val="100000"/>
              </a:lnSpc>
              <a:spcBef>
                <a:spcPts val="0"/>
              </a:spcBef>
              <a:spcAft>
                <a:spcPts val="0"/>
              </a:spcAft>
              <a:buFontTx/>
              <a:buNone/>
            </a:pPr>
            <a:endParaRPr lang="zh-CN" altLang="en-US" sz="1800" i="0">
              <a:solidFill>
                <a:schemeClr val="tx1"/>
              </a:solidFill>
              <a:effectLst>
                <a:outerShdw blurRad="38100" dist="19050" dir="2700000" algn="tl" rotWithShape="0">
                  <a:schemeClr val="dk1">
                    <a:alpha val="40000"/>
                  </a:schemeClr>
                </a:outerShdw>
              </a:effectLst>
              <a:latin typeface="微软雅黑 Light" panose="020B0502040204020203" charset="-122"/>
              <a:ea typeface="微软雅黑 Light" panose="020B0502040204020203" charset="-122"/>
            </a:endParaRPr>
          </a:p>
        </p:txBody>
      </p:sp>
      <p:pic>
        <p:nvPicPr>
          <p:cNvPr id="7" name="图片 6"/>
          <p:cNvPicPr>
            <a:picLocks noChangeAspect="1"/>
          </p:cNvPicPr>
          <p:nvPr/>
        </p:nvPicPr>
        <p:blipFill>
          <a:blip r:embed="rId1"/>
          <a:stretch>
            <a:fillRect/>
          </a:stretch>
        </p:blipFill>
        <p:spPr>
          <a:xfrm>
            <a:off x="398145" y="584835"/>
            <a:ext cx="7094855" cy="4266565"/>
          </a:xfrm>
          <a:prstGeom prst="rect">
            <a:avLst/>
          </a:prstGeo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EA3F9E2-6CC0-41EE-9F31-035B9CB7511C}"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70659" name="Rectangle 3"/>
          <p:cNvSpPr/>
          <p:nvPr/>
        </p:nvSpPr>
        <p:spPr>
          <a:xfrm>
            <a:off x="179388" y="476250"/>
            <a:ext cx="7493000" cy="641350"/>
          </a:xfrm>
          <a:prstGeom prst="rect">
            <a:avLst/>
          </a:prstGeom>
          <a:noFill/>
          <a:ln w="9525">
            <a:noFill/>
          </a:ln>
        </p:spPr>
        <p:txBody>
          <a:bodyPr>
            <a:spAutoFit/>
          </a:bodyPr>
          <a:lstStyle/>
          <a:p>
            <a:pPr eaLnBrk="1" hangingPunct="1">
              <a:buFont typeface="Arial" panose="020B0604020202020204" pitchFamily="34" charset="0"/>
            </a:pPr>
            <a:r>
              <a:rPr lang="en-US" altLang="zh-CN" sz="3600" b="1" dirty="0">
                <a:latin typeface="黑体" panose="02010609060101010101" pitchFamily="49" charset="-122"/>
                <a:ea typeface="黑体" panose="02010609060101010101" pitchFamily="49" charset="-122"/>
              </a:rPr>
              <a:t>3.5  UML</a:t>
            </a:r>
            <a:r>
              <a:rPr lang="zh-CN" altLang="en-US" sz="3600" b="1" dirty="0">
                <a:latin typeface="黑体" panose="02010609060101010101" pitchFamily="49" charset="-122"/>
                <a:ea typeface="黑体" panose="02010609060101010101" pitchFamily="49" charset="-122"/>
              </a:rPr>
              <a:t>与软件开发统一过程</a:t>
            </a:r>
            <a:r>
              <a:rPr lang="zh-CN" altLang="en-US" sz="3600" dirty="0">
                <a:latin typeface="黑体" panose="02010609060101010101" pitchFamily="49" charset="-122"/>
                <a:ea typeface="黑体" panose="02010609060101010101" pitchFamily="49" charset="-122"/>
              </a:rPr>
              <a:t> </a:t>
            </a:r>
            <a:endParaRPr lang="zh-CN" altLang="en-US" sz="3600" dirty="0">
              <a:latin typeface="黑体" panose="02010609060101010101" pitchFamily="49" charset="-122"/>
              <a:ea typeface="黑体" panose="02010609060101010101" pitchFamily="49" charset="-122"/>
            </a:endParaRPr>
          </a:p>
        </p:txBody>
      </p:sp>
      <p:sp>
        <p:nvSpPr>
          <p:cNvPr id="70660" name="内容占位符 4"/>
          <p:cNvSpPr>
            <a:spLocks noGrp="1"/>
          </p:cNvSpPr>
          <p:nvPr>
            <p:ph idx="1"/>
          </p:nvPr>
        </p:nvSpPr>
        <p:spPr>
          <a:xfrm>
            <a:off x="403225" y="1714500"/>
            <a:ext cx="8296275" cy="4464050"/>
          </a:xfrm>
        </p:spPr>
        <p:txBody>
          <a:bodyPr vert="horz" wrap="square" lIns="91440" tIns="45720" rIns="91440" bIns="45720" anchor="t"/>
          <a:lstStyle/>
          <a:p>
            <a:r>
              <a:rPr lang="en-US" altLang="zh-CN" sz="2800" b="1" dirty="0"/>
              <a:t>UML</a:t>
            </a:r>
            <a:r>
              <a:rPr lang="zh-CN" altLang="en-US" sz="2800" b="1" dirty="0"/>
              <a:t>与</a:t>
            </a:r>
            <a:r>
              <a:rPr lang="en-US" altLang="zh-CN" sz="2800" b="1" dirty="0"/>
              <a:t>UP</a:t>
            </a:r>
            <a:r>
              <a:rPr lang="zh-CN" altLang="en-US" sz="2800" b="1" dirty="0"/>
              <a:t>（</a:t>
            </a:r>
            <a:r>
              <a:rPr lang="en-US" altLang="zh-CN" sz="2800" b="1" dirty="0"/>
              <a:t>Unified Process</a:t>
            </a:r>
            <a:r>
              <a:rPr lang="zh-CN" altLang="en-US" sz="2800" b="1" dirty="0"/>
              <a:t>，</a:t>
            </a:r>
            <a:r>
              <a:rPr lang="en-US" altLang="zh-CN" sz="2800" b="1" dirty="0"/>
              <a:t>UP</a:t>
            </a:r>
            <a:r>
              <a:rPr lang="zh-CN" altLang="en-US" sz="2800" b="1" dirty="0"/>
              <a:t>）相结合的软件开发过程是基于面向对象技术的，它所建立的模型是对象模型。</a:t>
            </a:r>
            <a:endParaRPr lang="en-US" altLang="zh-CN" sz="2800" b="1" dirty="0"/>
          </a:p>
          <a:p>
            <a:r>
              <a:rPr lang="zh-CN" altLang="en-US" sz="2800" b="1" dirty="0"/>
              <a:t>软件开发过程实际上是一种二维结构的软件开发过程。横轴是时间，将软件的开发过程即声明周期划分为开始、详细规划、系统构造和移交四个阶段及一系列的循环重复（迭代）。纵轴是过程包含的成分，即项目开发过程包括的具体工作内容，从中可以获得软件开发的产物。</a:t>
            </a:r>
            <a:endParaRPr lang="zh-CN" altLang="en-US" sz="2800" b="1"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DDEF068-E497-4B52-AE2D-AB2F2581F5AB}"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71683" name="Rectangle 3"/>
          <p:cNvSpPr/>
          <p:nvPr/>
        </p:nvSpPr>
        <p:spPr>
          <a:xfrm>
            <a:off x="0" y="0"/>
            <a:ext cx="7493000" cy="641350"/>
          </a:xfrm>
          <a:prstGeom prst="rect">
            <a:avLst/>
          </a:prstGeom>
          <a:noFill/>
          <a:ln w="9525">
            <a:noFill/>
          </a:ln>
        </p:spPr>
        <p:txBody>
          <a:bodyPr>
            <a:spAutoFit/>
          </a:bodyPr>
          <a:lstStyle/>
          <a:p>
            <a:pPr eaLnBrk="1" hangingPunct="1">
              <a:buFont typeface="Arial" panose="020B0604020202020204" pitchFamily="34" charset="0"/>
            </a:pPr>
            <a:r>
              <a:rPr lang="en-US" altLang="zh-CN" sz="3600" b="1" dirty="0">
                <a:latin typeface="黑体" panose="02010609060101010101" pitchFamily="49" charset="-122"/>
                <a:ea typeface="黑体" panose="02010609060101010101" pitchFamily="49" charset="-122"/>
              </a:rPr>
              <a:t>3.5  UML</a:t>
            </a:r>
            <a:r>
              <a:rPr lang="zh-CN" altLang="en-US" sz="3600" b="1" dirty="0">
                <a:latin typeface="黑体" panose="02010609060101010101" pitchFamily="49" charset="-122"/>
                <a:ea typeface="黑体" panose="02010609060101010101" pitchFamily="49" charset="-122"/>
              </a:rPr>
              <a:t>与软件开发统一过程</a:t>
            </a:r>
            <a:r>
              <a:rPr lang="zh-CN" altLang="en-US" sz="3600" dirty="0">
                <a:latin typeface="黑体" panose="02010609060101010101" pitchFamily="49" charset="-122"/>
                <a:ea typeface="黑体" panose="02010609060101010101" pitchFamily="49" charset="-122"/>
              </a:rPr>
              <a:t> </a:t>
            </a:r>
            <a:endParaRPr lang="zh-CN" altLang="en-US" sz="3600" dirty="0">
              <a:latin typeface="黑体" panose="02010609060101010101" pitchFamily="49" charset="-122"/>
              <a:ea typeface="黑体" panose="02010609060101010101" pitchFamily="49" charset="-122"/>
            </a:endParaRPr>
          </a:p>
        </p:txBody>
      </p:sp>
      <p:pic>
        <p:nvPicPr>
          <p:cNvPr id="71684" name="Picture 4" descr="图20"/>
          <p:cNvPicPr>
            <a:picLocks noGrp="1" noChangeAspect="1"/>
          </p:cNvPicPr>
          <p:nvPr>
            <p:ph idx="1"/>
          </p:nvPr>
        </p:nvPicPr>
        <p:blipFill>
          <a:blip r:embed="rId1"/>
          <a:srcRect/>
          <a:stretch>
            <a:fillRect/>
          </a:stretch>
        </p:blipFill>
        <p:spPr>
          <a:xfrm>
            <a:off x="0" y="714375"/>
            <a:ext cx="6072188" cy="5387975"/>
          </a:xfrm>
        </p:spPr>
      </p:pic>
      <p:sp>
        <p:nvSpPr>
          <p:cNvPr id="5" name="内容占位符 4"/>
          <p:cNvSpPr txBox="1"/>
          <p:nvPr/>
        </p:nvSpPr>
        <p:spPr bwMode="auto">
          <a:xfrm>
            <a:off x="5655945" y="786130"/>
            <a:ext cx="3345815" cy="5660390"/>
          </a:xfrm>
          <a:prstGeom prst="rect">
            <a:avLst/>
          </a:prstGeom>
          <a:noFill/>
          <a:ln w="9525">
            <a:noFill/>
            <a:miter lim="800000"/>
          </a:ln>
        </p:spPr>
        <p:txBody>
          <a:bodyPr/>
          <a:lstStyle/>
          <a:p>
            <a:pPr marL="469900" marR="0" indent="-469900" defTabSz="914400">
              <a:spcBef>
                <a:spcPct val="20000"/>
              </a:spcBef>
              <a:buClr>
                <a:schemeClr val="accent2"/>
              </a:buClr>
              <a:buSzTx/>
              <a:buFont typeface="Wingdings" panose="05000000000000000000" pitchFamily="2" charset="2"/>
              <a:buChar char="o"/>
              <a:defRPr/>
            </a:pPr>
            <a:r>
              <a:rPr kumimoji="0" lang="zh-CN" altLang="en-US" sz="2400" b="1" kern="0" cap="none" spc="0" normalizeH="0" baseline="0" noProof="0" dirty="0">
                <a:solidFill>
                  <a:srgbClr val="FF0000"/>
                </a:solidFill>
                <a:latin typeface="+mn-lt"/>
                <a:ea typeface="+mn-ea"/>
                <a:cs typeface="+mn-cs"/>
              </a:rPr>
              <a:t>软件开发过程实际上是一种二维结构的软件开发过程。</a:t>
            </a:r>
            <a:r>
              <a:rPr kumimoji="0" lang="zh-CN" altLang="en-US" sz="2400" b="1" kern="0" cap="none" spc="0" normalizeH="0" baseline="0" noProof="0" dirty="0">
                <a:solidFill>
                  <a:srgbClr val="0A06B0"/>
                </a:solidFill>
                <a:latin typeface="+mn-lt"/>
                <a:ea typeface="+mn-ea"/>
                <a:cs typeface="+mn-cs"/>
              </a:rPr>
              <a:t>横轴</a:t>
            </a:r>
            <a:r>
              <a:rPr kumimoji="0" lang="zh-CN" altLang="en-US" sz="2400" b="1" kern="0" cap="none" spc="0" normalizeH="0" baseline="0" noProof="0" dirty="0">
                <a:solidFill>
                  <a:srgbClr val="FF0000"/>
                </a:solidFill>
                <a:latin typeface="+mn-lt"/>
                <a:ea typeface="+mn-ea"/>
                <a:cs typeface="+mn-cs"/>
              </a:rPr>
              <a:t>是时间，将软件的开发过程即声明周期划分为开始、详细规划、系统构造和移交四个阶段及一系列的循环重复（迭代）。</a:t>
            </a:r>
            <a:r>
              <a:rPr kumimoji="0" lang="zh-CN" altLang="en-US" sz="2400" b="1" kern="0" cap="none" spc="0" normalizeH="0" baseline="0" noProof="0" dirty="0">
                <a:solidFill>
                  <a:srgbClr val="0A06B0"/>
                </a:solidFill>
                <a:latin typeface="+mn-lt"/>
                <a:ea typeface="+mn-ea"/>
                <a:cs typeface="+mn-cs"/>
              </a:rPr>
              <a:t>纵轴</a:t>
            </a:r>
            <a:r>
              <a:rPr kumimoji="0" lang="zh-CN" altLang="en-US" sz="2400" b="1" kern="0" cap="none" spc="0" normalizeH="0" baseline="0" noProof="0" dirty="0">
                <a:solidFill>
                  <a:srgbClr val="FF0000"/>
                </a:solidFill>
                <a:latin typeface="+mn-lt"/>
                <a:ea typeface="+mn-ea"/>
                <a:cs typeface="+mn-cs"/>
              </a:rPr>
              <a:t>是过程包含的成分，即项目开发过程包括的具体工作内容，从中可以获得软件开发的产物</a:t>
            </a:r>
            <a:r>
              <a:rPr kumimoji="0" lang="zh-CN" altLang="en-US" sz="2400" b="1" kern="0" cap="none" spc="0" normalizeH="0" baseline="0" noProof="0" dirty="0">
                <a:latin typeface="+mn-lt"/>
                <a:ea typeface="+mn-ea"/>
                <a:cs typeface="+mn-cs"/>
              </a:rPr>
              <a:t>。</a:t>
            </a:r>
            <a:endParaRPr kumimoji="0" lang="zh-CN" altLang="en-US" sz="2400" b="1" kern="0" cap="none" spc="0" normalizeH="0" baseline="0" noProof="0" dirty="0">
              <a:latin typeface="+mn-lt"/>
              <a:ea typeface="+mn-ea"/>
              <a:cs typeface="+mn-cs"/>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2970C7A-7AF3-47BD-904F-371555AF880C}"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72707" name="Rectangle 3"/>
          <p:cNvSpPr/>
          <p:nvPr/>
        </p:nvSpPr>
        <p:spPr>
          <a:xfrm>
            <a:off x="357188" y="214313"/>
            <a:ext cx="8177212" cy="646112"/>
          </a:xfrm>
          <a:prstGeom prst="rect">
            <a:avLst/>
          </a:prstGeom>
          <a:noFill/>
          <a:ln w="9525">
            <a:noFill/>
          </a:ln>
        </p:spPr>
        <p:txBody>
          <a:bodyPr>
            <a:spAutoFit/>
          </a:bodyPr>
          <a:lstStyle/>
          <a:p>
            <a:pPr eaLnBrk="1" hangingPunct="1">
              <a:buFont typeface="Arial" panose="020B0604020202020204" pitchFamily="34" charset="0"/>
            </a:pPr>
            <a:r>
              <a:rPr lang="en-US" altLang="zh-CN" sz="3600" b="1" dirty="0">
                <a:latin typeface="黑体" panose="02010609060101010101" pitchFamily="49" charset="-122"/>
                <a:ea typeface="黑体" panose="02010609060101010101" pitchFamily="49" charset="-122"/>
              </a:rPr>
              <a:t>3.5.1  UML</a:t>
            </a:r>
            <a:r>
              <a:rPr lang="zh-CN" altLang="en-US" sz="3600" b="1" dirty="0">
                <a:latin typeface="黑体" panose="02010609060101010101" pitchFamily="49" charset="-122"/>
                <a:ea typeface="黑体" panose="02010609060101010101" pitchFamily="49" charset="-122"/>
              </a:rPr>
              <a:t>迭代、渐增式的开发过程</a:t>
            </a:r>
            <a:r>
              <a:rPr lang="zh-CN" altLang="en-US" sz="2800" dirty="0">
                <a:latin typeface="Arial" panose="020B0604020202020204" pitchFamily="34" charset="0"/>
                <a:ea typeface="楷体_GB2312" pitchFamily="49" charset="-122"/>
              </a:rPr>
              <a:t> </a:t>
            </a:r>
            <a:endParaRPr lang="zh-CN" altLang="en-US" sz="2800" dirty="0">
              <a:latin typeface="Arial" panose="020B0604020202020204" pitchFamily="34" charset="0"/>
              <a:ea typeface="楷体_GB2312" pitchFamily="49" charset="-122"/>
            </a:endParaRPr>
          </a:p>
        </p:txBody>
      </p:sp>
      <p:sp>
        <p:nvSpPr>
          <p:cNvPr id="72708" name="Rectangle 5"/>
          <p:cNvSpPr/>
          <p:nvPr/>
        </p:nvSpPr>
        <p:spPr>
          <a:xfrm>
            <a:off x="571500" y="1000125"/>
            <a:ext cx="4824413" cy="519113"/>
          </a:xfrm>
          <a:prstGeom prst="rect">
            <a:avLst/>
          </a:prstGeom>
          <a:noFill/>
          <a:ln w="9525">
            <a:noFill/>
          </a:ln>
        </p:spPr>
        <p:txBody>
          <a:bodyPr>
            <a:spAutoFit/>
          </a:bodyPr>
          <a:lstStyle/>
          <a:p>
            <a:pPr eaLnBrk="1" hangingPunct="1">
              <a:buFont typeface="Arial" panose="020B0604020202020204" pitchFamily="34" charset="0"/>
            </a:pPr>
            <a:r>
              <a:rPr lang="en-US" altLang="zh-CN" sz="2800" b="1"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．开始阶段</a:t>
            </a:r>
            <a:r>
              <a:rPr lang="zh-CN" altLang="en-US" sz="2800" dirty="0">
                <a:latin typeface="Arial" panose="020B0604020202020204" pitchFamily="34" charset="0"/>
                <a:ea typeface="楷体_GB2312" pitchFamily="49" charset="-122"/>
              </a:rPr>
              <a:t> </a:t>
            </a:r>
            <a:endParaRPr lang="zh-CN" altLang="en-US" sz="2800" dirty="0">
              <a:latin typeface="Arial" panose="020B0604020202020204" pitchFamily="34" charset="0"/>
              <a:ea typeface="楷体_GB2312" pitchFamily="49" charset="-122"/>
            </a:endParaRPr>
          </a:p>
        </p:txBody>
      </p:sp>
      <p:sp>
        <p:nvSpPr>
          <p:cNvPr id="72709" name="Rectangle 5"/>
          <p:cNvSpPr/>
          <p:nvPr/>
        </p:nvSpPr>
        <p:spPr>
          <a:xfrm>
            <a:off x="571500" y="2357438"/>
            <a:ext cx="8072438" cy="1816100"/>
          </a:xfrm>
          <a:prstGeom prst="rect">
            <a:avLst/>
          </a:prstGeom>
          <a:noFill/>
          <a:ln w="9525">
            <a:noFill/>
          </a:ln>
        </p:spPr>
        <p:txBody>
          <a:bodyPr>
            <a:spAutoFit/>
          </a:bodyPr>
          <a:lstStyle/>
          <a:p>
            <a:pPr eaLnBrk="1" hangingPunct="1">
              <a:buFont typeface="Wingdings" panose="05000000000000000000" pitchFamily="2" charset="2"/>
              <a:buChar char="p"/>
            </a:pPr>
            <a:r>
              <a:rPr lang="zh-CN" altLang="en-US" sz="2800" b="1" dirty="0">
                <a:latin typeface="Arial" panose="020B0604020202020204" pitchFamily="34" charset="0"/>
                <a:ea typeface="楷体_GB2312" pitchFamily="49" charset="-122"/>
              </a:rPr>
              <a:t>理解问题领域的各种业务过程及其之间的关系；</a:t>
            </a:r>
            <a:endParaRPr lang="en-US" altLang="zh-CN" sz="2800" b="1" dirty="0">
              <a:latin typeface="Arial" panose="020B0604020202020204" pitchFamily="34" charset="0"/>
              <a:ea typeface="楷体_GB2312" pitchFamily="49" charset="-122"/>
            </a:endParaRPr>
          </a:p>
          <a:p>
            <a:pPr eaLnBrk="1" hangingPunct="1">
              <a:buFont typeface="Wingdings" panose="05000000000000000000" pitchFamily="2" charset="2"/>
              <a:buChar char="p"/>
            </a:pPr>
            <a:r>
              <a:rPr lang="zh-CN" altLang="en-US" sz="2800" b="1" dirty="0">
                <a:latin typeface="Arial" panose="020B0604020202020204" pitchFamily="34" charset="0"/>
                <a:ea typeface="楷体_GB2312" pitchFamily="49" charset="-122"/>
              </a:rPr>
              <a:t>考虑和分析项目的成本及可能得到的效益和风险；</a:t>
            </a:r>
            <a:endParaRPr lang="en-US" altLang="zh-CN" sz="2800" b="1" dirty="0">
              <a:latin typeface="Arial" panose="020B0604020202020204" pitchFamily="34" charset="0"/>
              <a:ea typeface="楷体_GB2312" pitchFamily="49" charset="-122"/>
            </a:endParaRPr>
          </a:p>
          <a:p>
            <a:pPr eaLnBrk="1" hangingPunct="1">
              <a:buFont typeface="Wingdings" panose="05000000000000000000" pitchFamily="2" charset="2"/>
              <a:buChar char="p"/>
            </a:pPr>
            <a:r>
              <a:rPr lang="zh-CN" altLang="en-US" sz="2800" b="1" dirty="0">
                <a:latin typeface="Arial" panose="020B0604020202020204" pitchFamily="34" charset="0"/>
                <a:ea typeface="楷体_GB2312" pitchFamily="49" charset="-122"/>
              </a:rPr>
              <a:t>明确待开发项目的意义和价值；</a:t>
            </a:r>
            <a:endParaRPr lang="en-US" altLang="zh-CN" sz="2800" b="1" dirty="0">
              <a:latin typeface="Arial" panose="020B0604020202020204" pitchFamily="34" charset="0"/>
              <a:ea typeface="楷体_GB2312" pitchFamily="49" charset="-122"/>
            </a:endParaRPr>
          </a:p>
          <a:p>
            <a:pPr eaLnBrk="1" hangingPunct="1">
              <a:buFont typeface="Wingdings" panose="05000000000000000000" pitchFamily="2" charset="2"/>
              <a:buChar char="p"/>
            </a:pPr>
            <a:r>
              <a:rPr lang="zh-CN" altLang="en-US" sz="2800" b="1" dirty="0">
                <a:latin typeface="Arial" panose="020B0604020202020204" pitchFamily="34" charset="0"/>
                <a:ea typeface="楷体_GB2312" pitchFamily="49" charset="-122"/>
              </a:rPr>
              <a:t>确定是否要开发此项目</a:t>
            </a:r>
            <a:endParaRPr lang="zh-CN" altLang="en-US" sz="2800" b="1" dirty="0">
              <a:latin typeface="Arial" panose="020B0604020202020204" pitchFamily="34" charset="0"/>
              <a:ea typeface="楷体_GB2312" pitchFamily="49" charset="-122"/>
            </a:endParaRPr>
          </a:p>
        </p:txBody>
      </p:sp>
      <p:sp>
        <p:nvSpPr>
          <p:cNvPr id="72710" name="Rectangle 5"/>
          <p:cNvSpPr/>
          <p:nvPr/>
        </p:nvSpPr>
        <p:spPr>
          <a:xfrm>
            <a:off x="571500" y="1785938"/>
            <a:ext cx="4824413" cy="519112"/>
          </a:xfrm>
          <a:prstGeom prst="rect">
            <a:avLst/>
          </a:prstGeom>
          <a:noFill/>
          <a:ln w="9525">
            <a:noFill/>
          </a:ln>
        </p:spPr>
        <p:txBody>
          <a:bodyPr>
            <a:spAutoFit/>
          </a:bodyPr>
          <a:lstStyle/>
          <a:p>
            <a:pPr eaLnBrk="1" hangingPunct="1">
              <a:buFont typeface="Arial" panose="020B0604020202020204" pitchFamily="34" charset="0"/>
            </a:pPr>
            <a:r>
              <a:rPr lang="zh-CN" altLang="en-US" sz="2800" b="1" dirty="0">
                <a:solidFill>
                  <a:srgbClr val="0A06B0"/>
                </a:solidFill>
                <a:latin typeface="Arial" panose="020B0604020202020204" pitchFamily="34" charset="0"/>
                <a:ea typeface="楷体_GB2312" pitchFamily="49" charset="-122"/>
              </a:rPr>
              <a:t>主要工作</a:t>
            </a:r>
            <a:r>
              <a:rPr lang="zh-CN" altLang="en-US" sz="2800" dirty="0">
                <a:latin typeface="Arial" panose="020B0604020202020204" pitchFamily="34" charset="0"/>
                <a:ea typeface="楷体_GB2312" pitchFamily="49" charset="-122"/>
              </a:rPr>
              <a:t> </a:t>
            </a:r>
            <a:endParaRPr lang="zh-CN" altLang="en-US" sz="2800" dirty="0">
              <a:latin typeface="Arial" panose="020B0604020202020204" pitchFamily="34" charset="0"/>
              <a:ea typeface="楷体_GB2312" pitchFamily="49"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72A788A-1AD9-4C8D-AB10-16D890C71227}"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73731" name="Rectangle 4"/>
          <p:cNvSpPr/>
          <p:nvPr/>
        </p:nvSpPr>
        <p:spPr>
          <a:xfrm>
            <a:off x="285750" y="4214813"/>
            <a:ext cx="8358188" cy="954087"/>
          </a:xfrm>
          <a:prstGeom prst="rect">
            <a:avLst/>
          </a:prstGeom>
          <a:noFill/>
          <a:ln w="9525">
            <a:noFill/>
          </a:ln>
        </p:spPr>
        <p:txBody>
          <a:bodyPr>
            <a:spAutoFit/>
          </a:bodyPr>
          <a:lstStyle/>
          <a:p>
            <a:pPr marL="800100" indent="-356870" defTabSz="800100" eaLnBrk="1" hangingPunct="1">
              <a:buFont typeface="Arial" panose="020B0604020202020204" pitchFamily="34" charset="0"/>
            </a:pPr>
            <a:r>
              <a:rPr lang="zh-CN" altLang="en-US" sz="2800" b="1" dirty="0">
                <a:latin typeface="宋体" panose="02010600030101010101" pitchFamily="2" charset="-122"/>
              </a:rPr>
              <a:t>   制定开发计划包括用例分类，</a:t>
            </a:r>
            <a:r>
              <a:rPr lang="zh-CN" altLang="en-US" sz="2800" b="1" dirty="0">
                <a:solidFill>
                  <a:srgbClr val="0A06B0"/>
                </a:solidFill>
                <a:latin typeface="宋体" panose="02010600030101010101" pitchFamily="2" charset="-122"/>
              </a:rPr>
              <a:t>确定每次迭代的</a:t>
            </a:r>
            <a:endParaRPr lang="en-US" altLang="zh-CN" sz="2800" b="1" dirty="0">
              <a:solidFill>
                <a:srgbClr val="0A06B0"/>
              </a:solidFill>
              <a:latin typeface="宋体" panose="02010600030101010101" pitchFamily="2" charset="-122"/>
            </a:endParaRPr>
          </a:p>
          <a:p>
            <a:pPr marL="800100" indent="-356870" defTabSz="800100" eaLnBrk="1" hangingPunct="1">
              <a:buFont typeface="Arial" panose="020B0604020202020204" pitchFamily="34" charset="0"/>
            </a:pPr>
            <a:r>
              <a:rPr lang="zh-CN" altLang="en-US" sz="2800" b="1" dirty="0">
                <a:solidFill>
                  <a:srgbClr val="0A06B0"/>
                </a:solidFill>
                <a:latin typeface="宋体" panose="02010600030101010101" pitchFamily="2" charset="-122"/>
              </a:rPr>
              <a:t>开发周期</a:t>
            </a:r>
            <a:r>
              <a:rPr lang="zh-CN" altLang="en-US" sz="2800" b="1" dirty="0">
                <a:latin typeface="宋体" panose="02010600030101010101" pitchFamily="2" charset="-122"/>
              </a:rPr>
              <a:t>，</a:t>
            </a:r>
            <a:r>
              <a:rPr lang="zh-CN" altLang="en-US" sz="2800" b="1" dirty="0">
                <a:solidFill>
                  <a:srgbClr val="0A06B0"/>
                </a:solidFill>
                <a:latin typeface="宋体" panose="02010600030101010101" pitchFamily="2" charset="-122"/>
              </a:rPr>
              <a:t>将用例分配到各次迭代中</a:t>
            </a:r>
            <a:r>
              <a:rPr lang="zh-CN" altLang="en-US" sz="2800" b="1" dirty="0">
                <a:latin typeface="宋体" panose="02010600030101010101" pitchFamily="2" charset="-122"/>
              </a:rPr>
              <a:t>。</a:t>
            </a:r>
            <a:endParaRPr lang="zh-CN" altLang="en-US" sz="2800" b="1" dirty="0">
              <a:latin typeface="宋体" panose="02010600030101010101" pitchFamily="2" charset="-122"/>
            </a:endParaRPr>
          </a:p>
        </p:txBody>
      </p:sp>
      <p:sp>
        <p:nvSpPr>
          <p:cNvPr id="73732" name="Rectangle 5"/>
          <p:cNvSpPr/>
          <p:nvPr/>
        </p:nvSpPr>
        <p:spPr>
          <a:xfrm>
            <a:off x="571500" y="857250"/>
            <a:ext cx="5368925" cy="584200"/>
          </a:xfrm>
          <a:prstGeom prst="rect">
            <a:avLst/>
          </a:prstGeom>
          <a:noFill/>
          <a:ln w="9525">
            <a:noFill/>
          </a:ln>
        </p:spPr>
        <p:txBody>
          <a:bodyPr>
            <a:spAutoFit/>
          </a:bodyPr>
          <a:lstStyle/>
          <a:p>
            <a:pPr eaLnBrk="1" hangingPunct="1">
              <a:buFont typeface="Arial" panose="020B0604020202020204" pitchFamily="34" charset="0"/>
            </a:pPr>
            <a:r>
              <a:rPr lang="en-US" altLang="zh-CN" sz="3200" b="1" dirty="0">
                <a:solidFill>
                  <a:srgbClr val="FF0000"/>
                </a:solidFill>
                <a:latin typeface="黑体" panose="02010609060101010101" pitchFamily="49" charset="-122"/>
                <a:ea typeface="黑体" panose="02010609060101010101" pitchFamily="49" charset="-122"/>
              </a:rPr>
              <a:t>2</a:t>
            </a:r>
            <a:r>
              <a:rPr lang="zh-CN" altLang="en-US" sz="3200" b="1" dirty="0">
                <a:solidFill>
                  <a:srgbClr val="FF0000"/>
                </a:solidFill>
                <a:latin typeface="黑体" panose="02010609060101010101" pitchFamily="49" charset="-122"/>
                <a:ea typeface="黑体" panose="02010609060101010101" pitchFamily="49" charset="-122"/>
              </a:rPr>
              <a:t>．</a:t>
            </a:r>
            <a:r>
              <a:rPr lang="zh-CN" altLang="en-US" sz="3200" dirty="0">
                <a:solidFill>
                  <a:srgbClr val="FF0000"/>
                </a:solidFill>
                <a:latin typeface="黑体" panose="02010609060101010101" pitchFamily="49" charset="-122"/>
                <a:ea typeface="黑体" panose="02010609060101010101" pitchFamily="49" charset="-122"/>
              </a:rPr>
              <a:t>详细规划阶段</a:t>
            </a:r>
            <a:endParaRPr lang="zh-CN" altLang="en-US" sz="3200" dirty="0">
              <a:solidFill>
                <a:srgbClr val="FF0000"/>
              </a:solidFill>
              <a:latin typeface="黑体" panose="02010609060101010101" pitchFamily="49" charset="-122"/>
              <a:ea typeface="黑体" panose="02010609060101010101" pitchFamily="49" charset="-122"/>
            </a:endParaRPr>
          </a:p>
        </p:txBody>
      </p:sp>
      <p:sp>
        <p:nvSpPr>
          <p:cNvPr id="73733" name="Rectangle 5"/>
          <p:cNvSpPr/>
          <p:nvPr/>
        </p:nvSpPr>
        <p:spPr>
          <a:xfrm>
            <a:off x="571500" y="1785938"/>
            <a:ext cx="8215313" cy="2246312"/>
          </a:xfrm>
          <a:prstGeom prst="rect">
            <a:avLst/>
          </a:prstGeom>
          <a:solidFill>
            <a:schemeClr val="bg1"/>
          </a:solidFill>
          <a:ln w="9525" cap="flat" cmpd="sng">
            <a:solidFill>
              <a:schemeClr val="bg1"/>
            </a:solidFill>
            <a:prstDash val="solid"/>
            <a:miter/>
            <a:headEnd type="none" w="med" len="med"/>
            <a:tailEnd type="none" w="med" len="med"/>
          </a:ln>
        </p:spPr>
        <p:txBody>
          <a:bodyPr>
            <a:spAutoFit/>
          </a:bodyPr>
          <a:lstStyle/>
          <a:p>
            <a:pPr eaLnBrk="1" hangingPunct="1">
              <a:buFont typeface="Wingdings" panose="05000000000000000000" pitchFamily="2" charset="2"/>
              <a:buChar char="p"/>
            </a:pPr>
            <a:r>
              <a:rPr lang="zh-CN" altLang="en-US" sz="2800" b="1" dirty="0">
                <a:latin typeface="Arial" panose="020B0604020202020204" pitchFamily="34" charset="0"/>
                <a:ea typeface="楷体_GB2312" pitchFamily="49" charset="-122"/>
              </a:rPr>
              <a:t>对开发项目的问题领域和功能作详细分析，画出用例图；</a:t>
            </a:r>
            <a:endParaRPr lang="en-US" altLang="zh-CN" sz="2800" b="1" dirty="0">
              <a:latin typeface="Arial" panose="020B0604020202020204" pitchFamily="34" charset="0"/>
              <a:ea typeface="楷体_GB2312" pitchFamily="49" charset="-122"/>
            </a:endParaRPr>
          </a:p>
          <a:p>
            <a:pPr eaLnBrk="1" hangingPunct="1">
              <a:buFont typeface="Wingdings" panose="05000000000000000000" pitchFamily="2" charset="2"/>
              <a:buChar char="p"/>
            </a:pPr>
            <a:r>
              <a:rPr lang="zh-CN" altLang="en-US" sz="2800" b="1" dirty="0">
                <a:latin typeface="Arial" panose="020B0604020202020204" pitchFamily="34" charset="0"/>
                <a:ea typeface="楷体_GB2312" pitchFamily="49" charset="-122"/>
              </a:rPr>
              <a:t>建立系统的基础体系结构；</a:t>
            </a:r>
            <a:endParaRPr lang="en-US" altLang="zh-CN" sz="2800" b="1" dirty="0">
              <a:latin typeface="Arial" panose="020B0604020202020204" pitchFamily="34" charset="0"/>
              <a:ea typeface="楷体_GB2312" pitchFamily="49" charset="-122"/>
            </a:endParaRPr>
          </a:p>
          <a:p>
            <a:pPr eaLnBrk="1" hangingPunct="1">
              <a:buFont typeface="Wingdings" panose="05000000000000000000" pitchFamily="2" charset="2"/>
              <a:buChar char="p"/>
            </a:pPr>
            <a:r>
              <a:rPr lang="zh-CN" altLang="en-US" sz="2800" b="1" dirty="0">
                <a:latin typeface="Arial" panose="020B0604020202020204" pitchFamily="34" charset="0"/>
                <a:ea typeface="楷体_GB2312" pitchFamily="49" charset="-122"/>
              </a:rPr>
              <a:t>进行风险分析，并制定相应的对策；</a:t>
            </a:r>
            <a:endParaRPr lang="en-US" altLang="zh-CN" sz="2800" b="1" dirty="0">
              <a:latin typeface="Arial" panose="020B0604020202020204" pitchFamily="34" charset="0"/>
              <a:ea typeface="楷体_GB2312" pitchFamily="49" charset="-122"/>
            </a:endParaRPr>
          </a:p>
          <a:p>
            <a:pPr eaLnBrk="1" hangingPunct="1">
              <a:buFont typeface="Wingdings" panose="05000000000000000000" pitchFamily="2" charset="2"/>
              <a:buChar char="p"/>
            </a:pPr>
            <a:r>
              <a:rPr lang="zh-CN" altLang="en-US" sz="2800" b="1" dirty="0">
                <a:latin typeface="Arial" panose="020B0604020202020204" pitchFamily="34" charset="0"/>
                <a:ea typeface="楷体_GB2312" pitchFamily="49" charset="-122"/>
              </a:rPr>
              <a:t>制定开发计划</a:t>
            </a:r>
            <a:endParaRPr lang="zh-CN" altLang="en-US" sz="2800" b="1" dirty="0">
              <a:latin typeface="Arial" panose="020B0604020202020204" pitchFamily="34" charset="0"/>
              <a:ea typeface="楷体_GB2312" pitchFamily="49"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BCFBA2-F731-4B26-9BA6-839F949E3568}"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74755" name="Rectangle 4"/>
          <p:cNvSpPr/>
          <p:nvPr/>
        </p:nvSpPr>
        <p:spPr>
          <a:xfrm>
            <a:off x="107950" y="214313"/>
            <a:ext cx="8928100" cy="6124575"/>
          </a:xfrm>
          <a:prstGeom prst="rect">
            <a:avLst/>
          </a:prstGeom>
          <a:solidFill>
            <a:schemeClr val="bg1"/>
          </a:solidFill>
          <a:ln w="9525">
            <a:noFill/>
          </a:ln>
        </p:spPr>
        <p:txBody>
          <a:bodyPr>
            <a:spAutoFit/>
          </a:bodyPr>
          <a:lstStyle/>
          <a:p>
            <a:pPr marL="800100" indent="-356870" defTabSz="800100" eaLnBrk="1" hangingPunct="1">
              <a:buFont typeface="Arial" panose="020B0604020202020204" pitchFamily="34" charset="0"/>
            </a:pPr>
            <a:r>
              <a:rPr lang="zh-CN" altLang="en-US" sz="2800" b="1" dirty="0">
                <a:solidFill>
                  <a:srgbClr val="FF0000"/>
                </a:solidFill>
                <a:latin typeface="黑体" panose="02010609060101010101" pitchFamily="49" charset="-122"/>
                <a:ea typeface="黑体" panose="02010609060101010101" pitchFamily="49" charset="-122"/>
              </a:rPr>
              <a:t>（</a:t>
            </a:r>
            <a:r>
              <a:rPr lang="en-US" altLang="zh-CN" sz="2800" b="1" dirty="0">
                <a:solidFill>
                  <a:srgbClr val="FF0000"/>
                </a:solidFill>
                <a:latin typeface="黑体" panose="02010609060101010101" pitchFamily="49" charset="-122"/>
                <a:ea typeface="黑体" panose="02010609060101010101" pitchFamily="49" charset="-122"/>
              </a:rPr>
              <a:t>1</a:t>
            </a:r>
            <a:r>
              <a:rPr lang="zh-CN" altLang="en-US" sz="2800" b="1" dirty="0">
                <a:solidFill>
                  <a:srgbClr val="FF0000"/>
                </a:solidFill>
                <a:latin typeface="黑体" panose="02010609060101010101" pitchFamily="49" charset="-122"/>
                <a:ea typeface="黑体" panose="02010609060101010101" pitchFamily="49" charset="-122"/>
              </a:rPr>
              <a:t>）用例分类</a:t>
            </a:r>
            <a:endParaRPr lang="zh-CN" altLang="en-US" sz="2800" b="1" dirty="0">
              <a:solidFill>
                <a:srgbClr val="FF0000"/>
              </a:solidFill>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en-US" altLang="zh-CN" sz="2800" b="1" dirty="0">
                <a:latin typeface="黑体" panose="02010609060101010101" pitchFamily="49" charset="-122"/>
                <a:ea typeface="黑体" panose="02010609060101010101" pitchFamily="49" charset="-122"/>
              </a:rPr>
              <a:t> 1</a:t>
            </a:r>
            <a:r>
              <a:rPr lang="zh-CN" altLang="en-US" sz="2800" b="1" dirty="0">
                <a:latin typeface="黑体" panose="02010609060101010101" pitchFamily="49" charset="-122"/>
                <a:ea typeface="黑体" panose="02010609060101010101" pitchFamily="49" charset="-122"/>
              </a:rPr>
              <a:t>）将用例的优先级分为三级：</a:t>
            </a:r>
            <a:endParaRPr lang="en-US" altLang="zh-CN" sz="2800" b="1"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zh-CN" altLang="en-US" sz="2800" b="1" dirty="0">
                <a:latin typeface="黑体" panose="02010609060101010101" pitchFamily="49" charset="-122"/>
                <a:ea typeface="黑体" panose="02010609060101010101" pitchFamily="49" charset="-122"/>
              </a:rPr>
              <a:t>一级：首先必须要实现功能；</a:t>
            </a:r>
            <a:endParaRPr lang="en-US" altLang="zh-CN" sz="2800" b="1"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zh-CN" altLang="en-US" sz="2800" b="1" dirty="0">
                <a:latin typeface="黑体" panose="02010609060101010101" pitchFamily="49" charset="-122"/>
                <a:ea typeface="黑体" panose="02010609060101010101" pitchFamily="49" charset="-122"/>
              </a:rPr>
              <a:t>二级：短期内可以没有的功能；</a:t>
            </a:r>
            <a:endParaRPr lang="en-US" altLang="zh-CN" sz="2800" b="1"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zh-CN" altLang="en-US" sz="2800" b="1" dirty="0">
                <a:latin typeface="黑体" panose="02010609060101010101" pitchFamily="49" charset="-122"/>
                <a:ea typeface="黑体" panose="02010609060101010101" pitchFamily="49" charset="-122"/>
              </a:rPr>
              <a:t>三级：较长时间内可以没有的功能。</a:t>
            </a:r>
            <a:endParaRPr lang="zh-CN" altLang="en-US" sz="2800" b="1"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en-US" altLang="zh-CN" sz="2800" b="1" dirty="0">
                <a:latin typeface="黑体" panose="02010609060101010101" pitchFamily="49" charset="-122"/>
                <a:ea typeface="黑体" panose="02010609060101010101" pitchFamily="49" charset="-122"/>
              </a:rPr>
              <a:t>2</a:t>
            </a:r>
            <a:r>
              <a:rPr lang="zh-CN" altLang="en-US" sz="2800" b="1" dirty="0">
                <a:latin typeface="黑体" panose="02010609060101010101" pitchFamily="49" charset="-122"/>
                <a:ea typeface="黑体" panose="02010609060101010101" pitchFamily="49" charset="-122"/>
              </a:rPr>
              <a:t>）体系结构方面的风险的风险。</a:t>
            </a:r>
            <a:endParaRPr lang="en-US" altLang="zh-CN" sz="2800" b="1"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zh-CN" altLang="en-US" sz="2800" b="1" dirty="0">
                <a:latin typeface="黑体" panose="02010609060101010101" pitchFamily="49" charset="-122"/>
                <a:ea typeface="黑体" panose="02010609060101010101" pitchFamily="49" charset="-122"/>
              </a:rPr>
              <a:t>一级：高风险</a:t>
            </a:r>
            <a:endParaRPr lang="en-US" altLang="zh-CN" sz="2800" b="1"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zh-CN" altLang="en-US" sz="2800" b="1" dirty="0">
                <a:latin typeface="黑体" panose="02010609060101010101" pitchFamily="49" charset="-122"/>
                <a:ea typeface="黑体" panose="02010609060101010101" pitchFamily="49" charset="-122"/>
              </a:rPr>
              <a:t>二级：可能的风险</a:t>
            </a:r>
            <a:endParaRPr lang="en-US" altLang="zh-CN" sz="2800" b="1"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zh-CN" altLang="en-US" sz="2800" b="1" dirty="0">
                <a:latin typeface="黑体" panose="02010609060101010101" pitchFamily="49" charset="-122"/>
                <a:ea typeface="黑体" panose="02010609060101010101" pitchFamily="49" charset="-122"/>
              </a:rPr>
              <a:t>三级：几乎乎 不可能的风险</a:t>
            </a:r>
            <a:endParaRPr lang="en-US" altLang="zh-CN" sz="2800" b="1"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en-US" altLang="zh-CN" sz="2800" b="1" dirty="0">
                <a:latin typeface="黑体" panose="02010609060101010101" pitchFamily="49" charset="-122"/>
                <a:ea typeface="黑体" panose="02010609060101010101" pitchFamily="49" charset="-122"/>
              </a:rPr>
              <a:t>3</a:t>
            </a:r>
            <a:r>
              <a:rPr lang="zh-CN" altLang="en-US" sz="2800" b="1" dirty="0">
                <a:latin typeface="黑体" panose="02010609060101010101" pitchFamily="49" charset="-122"/>
                <a:ea typeface="黑体" panose="02010609060101010101" pitchFamily="49" charset="-122"/>
              </a:rPr>
              <a:t>）进度风险（对实现每个用例所需工作</a:t>
            </a:r>
            <a:endParaRPr lang="zh-CN" altLang="en-US" sz="2800" b="1"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zh-CN" altLang="en-US" sz="2800" b="1" dirty="0">
                <a:latin typeface="黑体" panose="02010609060101010101" pitchFamily="49" charset="-122"/>
                <a:ea typeface="黑体" panose="02010609060101010101" pitchFamily="49" charset="-122"/>
              </a:rPr>
              <a:t>       量估算的评价）分为三级：</a:t>
            </a:r>
            <a:endParaRPr lang="en-US" altLang="zh-CN" sz="2800" b="1"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zh-CN" altLang="en-US" sz="2800" b="1" dirty="0">
                <a:latin typeface="黑体" panose="02010609060101010101" pitchFamily="49" charset="-122"/>
                <a:ea typeface="黑体" panose="02010609060101010101" pitchFamily="49" charset="-122"/>
              </a:rPr>
              <a:t>一级：无法估算</a:t>
            </a:r>
            <a:endParaRPr lang="en-US" altLang="zh-CN" sz="2800" b="1"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zh-CN" altLang="en-US" sz="2800" b="1" dirty="0">
                <a:latin typeface="黑体" panose="02010609060101010101" pitchFamily="49" charset="-122"/>
                <a:ea typeface="黑体" panose="02010609060101010101" pitchFamily="49" charset="-122"/>
              </a:rPr>
              <a:t>二级：只能估算到人</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月</a:t>
            </a:r>
            <a:endParaRPr lang="en-US" altLang="zh-CN" sz="2800" b="1"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zh-CN" altLang="en-US" sz="2800" b="1" dirty="0">
                <a:latin typeface="黑体" panose="02010609060101010101" pitchFamily="49" charset="-122"/>
                <a:ea typeface="黑体" panose="02010609060101010101" pitchFamily="49" charset="-122"/>
              </a:rPr>
              <a:t>三级：确信自己对时间的估算  </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20DB28B-166C-4782-B8D3-96C411E59AB0}"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75779" name="Rectangle 4"/>
          <p:cNvSpPr/>
          <p:nvPr/>
        </p:nvSpPr>
        <p:spPr>
          <a:xfrm>
            <a:off x="323850" y="404813"/>
            <a:ext cx="8572500" cy="3108325"/>
          </a:xfrm>
          <a:prstGeom prst="rect">
            <a:avLst/>
          </a:prstGeom>
          <a:solidFill>
            <a:schemeClr val="bg1"/>
          </a:solidFill>
          <a:ln w="9525">
            <a:noFill/>
          </a:ln>
        </p:spPr>
        <p:txBody>
          <a:bodyPr>
            <a:spAutoFit/>
          </a:bodyPr>
          <a:lstStyle/>
          <a:p>
            <a:pPr marL="800100" indent="-356870" defTabSz="800100" eaLnBrk="1" hangingPunct="1">
              <a:buFont typeface="Arial" panose="020B0604020202020204" pitchFamily="34" charset="0"/>
            </a:pPr>
            <a:r>
              <a:rPr lang="zh-CN" altLang="en-US" sz="2800" b="1" dirty="0">
                <a:solidFill>
                  <a:srgbClr val="FF0000"/>
                </a:solidFill>
                <a:latin typeface="黑体" panose="02010609060101010101" pitchFamily="49" charset="-122"/>
                <a:ea typeface="黑体" panose="02010609060101010101" pitchFamily="49" charset="-122"/>
              </a:rPr>
              <a:t>（</a:t>
            </a:r>
            <a:r>
              <a:rPr lang="en-US" altLang="zh-CN" sz="2800" b="1" dirty="0">
                <a:solidFill>
                  <a:srgbClr val="FF0000"/>
                </a:solidFill>
                <a:latin typeface="黑体" panose="02010609060101010101" pitchFamily="49" charset="-122"/>
                <a:ea typeface="黑体" panose="02010609060101010101" pitchFamily="49" charset="-122"/>
              </a:rPr>
              <a:t>2</a:t>
            </a:r>
            <a:r>
              <a:rPr lang="zh-CN" altLang="en-US" sz="2800" b="1" dirty="0">
                <a:solidFill>
                  <a:srgbClr val="FF0000"/>
                </a:solidFill>
                <a:latin typeface="黑体" panose="02010609060101010101" pitchFamily="49" charset="-122"/>
                <a:ea typeface="黑体" panose="02010609060101010101" pitchFamily="49" charset="-122"/>
              </a:rPr>
              <a:t>）确定每次迭代的开发周期</a:t>
            </a:r>
            <a:endParaRPr lang="en-US" altLang="zh-CN" sz="2800" b="1" dirty="0">
              <a:latin typeface="黑体" panose="02010609060101010101" pitchFamily="49" charset="-122"/>
              <a:ea typeface="黑体" panose="02010609060101010101" pitchFamily="49" charset="-122"/>
            </a:endParaRPr>
          </a:p>
          <a:p>
            <a:pPr marL="800100" indent="-356870" defTabSz="800100" eaLnBrk="1" hangingPunct="1">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迭代周期：对整个项目可制定固定的迭代周期，以便能定期提交产品；</a:t>
            </a:r>
            <a:endParaRPr lang="en-US" altLang="zh-CN" sz="2800" dirty="0">
              <a:latin typeface="黑体" panose="02010609060101010101" pitchFamily="49" charset="-122"/>
              <a:ea typeface="黑体" panose="02010609060101010101" pitchFamily="49" charset="-122"/>
            </a:endParaRPr>
          </a:p>
          <a:p>
            <a:pPr marL="800100" indent="-356870" defTabSz="800100" eaLnBrk="1" hangingPunct="1">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迭代周期的长短：由项目的大小、开发的要求以及开发人员的多少和经验等因素决定。</a:t>
            </a:r>
            <a:endParaRPr lang="en-US" altLang="zh-CN" sz="2800" dirty="0">
              <a:latin typeface="黑体" panose="02010609060101010101" pitchFamily="49" charset="-122"/>
              <a:ea typeface="黑体" panose="02010609060101010101" pitchFamily="49" charset="-122"/>
            </a:endParaRPr>
          </a:p>
          <a:p>
            <a:pPr marL="800100" indent="-356870" defTabSz="800100" eaLnBrk="1" hangingPunct="1">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迭代次数：整个项目的迭代次数不宜过多，通常以</a:t>
            </a:r>
            <a:r>
              <a:rPr lang="en-US" altLang="zh-CN" sz="2800" dirty="0">
                <a:latin typeface="黑体" panose="02010609060101010101" pitchFamily="49" charset="-122"/>
                <a:ea typeface="黑体" panose="02010609060101010101" pitchFamily="49" charset="-122"/>
              </a:rPr>
              <a:t>3-5</a:t>
            </a:r>
            <a:r>
              <a:rPr lang="zh-CN" altLang="en-US" sz="2800" dirty="0">
                <a:latin typeface="黑体" panose="02010609060101010101" pitchFamily="49" charset="-122"/>
                <a:ea typeface="黑体" panose="02010609060101010101" pitchFamily="49" charset="-122"/>
              </a:rPr>
              <a:t>次为宜。  </a:t>
            </a:r>
            <a:endParaRPr lang="zh-CN" altLang="en-US" sz="2800" dirty="0">
              <a:latin typeface="黑体" panose="02010609060101010101" pitchFamily="49" charset="-122"/>
              <a:ea typeface="黑体" panose="02010609060101010101" pitchFamily="49" charset="-122"/>
            </a:endParaRPr>
          </a:p>
        </p:txBody>
      </p:sp>
      <p:sp>
        <p:nvSpPr>
          <p:cNvPr id="75780" name="Rectangle 4"/>
          <p:cNvSpPr/>
          <p:nvPr/>
        </p:nvSpPr>
        <p:spPr>
          <a:xfrm>
            <a:off x="323850" y="3749675"/>
            <a:ext cx="8572500" cy="1385888"/>
          </a:xfrm>
          <a:prstGeom prst="rect">
            <a:avLst/>
          </a:prstGeom>
          <a:solidFill>
            <a:schemeClr val="bg1"/>
          </a:solidFill>
          <a:ln w="9525">
            <a:noFill/>
          </a:ln>
        </p:spPr>
        <p:txBody>
          <a:bodyPr>
            <a:spAutoFit/>
          </a:bodyPr>
          <a:lstStyle/>
          <a:p>
            <a:pPr marL="800100" indent="-356870" defTabSz="800100" eaLnBrk="1" hangingPunct="1">
              <a:buFont typeface="Arial" panose="020B0604020202020204" pitchFamily="34" charset="0"/>
            </a:pPr>
            <a:r>
              <a:rPr lang="zh-CN" altLang="en-US" sz="2800" b="1" dirty="0">
                <a:latin typeface="黑体" panose="02010609060101010101" pitchFamily="49" charset="-122"/>
                <a:ea typeface="黑体" panose="02010609060101010101" pitchFamily="49" charset="-122"/>
              </a:rPr>
              <a:t>（</a:t>
            </a:r>
            <a:r>
              <a:rPr lang="en-US" altLang="zh-CN" sz="2800" b="1" dirty="0">
                <a:solidFill>
                  <a:srgbClr val="FF0000"/>
                </a:solidFill>
                <a:latin typeface="黑体" panose="02010609060101010101" pitchFamily="49" charset="-122"/>
                <a:ea typeface="黑体" panose="02010609060101010101" pitchFamily="49" charset="-122"/>
              </a:rPr>
              <a:t>3</a:t>
            </a:r>
            <a:r>
              <a:rPr lang="zh-CN" altLang="en-US" sz="2800" b="1" dirty="0">
                <a:solidFill>
                  <a:srgbClr val="FF0000"/>
                </a:solidFill>
                <a:latin typeface="黑体" panose="02010609060101010101" pitchFamily="49" charset="-122"/>
                <a:ea typeface="黑体" panose="02010609060101010101" pitchFamily="49" charset="-122"/>
              </a:rPr>
              <a:t>）将用例分配到各次迭代中</a:t>
            </a:r>
            <a:endParaRPr lang="en-US" altLang="zh-CN" sz="2800" b="1" dirty="0">
              <a:solidFill>
                <a:srgbClr val="FF0000"/>
              </a:solidFill>
              <a:latin typeface="黑体" panose="02010609060101010101" pitchFamily="49" charset="-122"/>
              <a:ea typeface="黑体" panose="02010609060101010101" pitchFamily="49" charset="-122"/>
            </a:endParaRPr>
          </a:p>
          <a:p>
            <a:pPr marL="800100" indent="-356870" defTabSz="800100" eaLnBrk="1" hangingPunct="1">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通常具有高优先级、高体系结构风险和高进度风险的用例应尽早实现，不要将风险留到最后。</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80ADB37-C897-4190-A07F-814B2CF8D827}"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76803" name="Rectangle 3"/>
          <p:cNvSpPr/>
          <p:nvPr/>
        </p:nvSpPr>
        <p:spPr>
          <a:xfrm>
            <a:off x="500063" y="4500563"/>
            <a:ext cx="7345362" cy="519112"/>
          </a:xfrm>
          <a:prstGeom prst="rect">
            <a:avLst/>
          </a:prstGeom>
          <a:noFill/>
          <a:ln w="9525">
            <a:noFill/>
          </a:ln>
        </p:spPr>
        <p:txBody>
          <a:bodyPr>
            <a:spAutoFit/>
          </a:bodyPr>
          <a:lstStyle/>
          <a:p>
            <a:pPr defTabSz="800100" eaLnBrk="1" hangingPunct="1">
              <a:buFont typeface="Arial" panose="020B0604020202020204" pitchFamily="34" charset="0"/>
            </a:pPr>
            <a:r>
              <a:rPr lang="en-US" altLang="zh-CN" sz="2800" dirty="0">
                <a:solidFill>
                  <a:srgbClr val="FF0000"/>
                </a:solidFill>
                <a:latin typeface="黑体" panose="02010609060101010101" pitchFamily="49" charset="-122"/>
                <a:ea typeface="黑体" panose="02010609060101010101" pitchFamily="49" charset="-122"/>
              </a:rPr>
              <a:t>4</a:t>
            </a:r>
            <a:r>
              <a:rPr lang="zh-CN" altLang="en-US" sz="2800" dirty="0">
                <a:solidFill>
                  <a:srgbClr val="FF0000"/>
                </a:solidFill>
                <a:latin typeface="黑体" panose="02010609060101010101" pitchFamily="49" charset="-122"/>
                <a:ea typeface="黑体" panose="02010609060101010101" pitchFamily="49" charset="-122"/>
              </a:rPr>
              <a:t>．移交阶段</a:t>
            </a:r>
            <a:r>
              <a:rPr lang="zh-CN" altLang="en-US" sz="2800" dirty="0">
                <a:latin typeface="Arial" panose="020B0604020202020204" pitchFamily="34" charset="0"/>
                <a:ea typeface="楷体_GB2312" pitchFamily="49" charset="-122"/>
              </a:rPr>
              <a:t> </a:t>
            </a:r>
            <a:endParaRPr lang="zh-CN" altLang="en-US" sz="2800" dirty="0">
              <a:latin typeface="Arial" panose="020B0604020202020204" pitchFamily="34" charset="0"/>
              <a:ea typeface="楷体_GB2312" pitchFamily="49" charset="-122"/>
            </a:endParaRPr>
          </a:p>
        </p:txBody>
      </p:sp>
      <p:sp>
        <p:nvSpPr>
          <p:cNvPr id="76804" name="Rectangle 4"/>
          <p:cNvSpPr/>
          <p:nvPr/>
        </p:nvSpPr>
        <p:spPr>
          <a:xfrm>
            <a:off x="458788" y="139700"/>
            <a:ext cx="4824412" cy="519113"/>
          </a:xfrm>
          <a:prstGeom prst="rect">
            <a:avLst/>
          </a:prstGeom>
          <a:noFill/>
          <a:ln w="9525">
            <a:noFill/>
          </a:ln>
        </p:spPr>
        <p:txBody>
          <a:bodyPr>
            <a:spAutoFit/>
          </a:bodyPr>
          <a:lstStyle/>
          <a:p>
            <a:pPr eaLnBrk="1" hangingPunct="1">
              <a:buFont typeface="Arial" panose="020B0604020202020204" pitchFamily="34" charset="0"/>
            </a:pPr>
            <a:r>
              <a:rPr lang="en-US" altLang="zh-CN" sz="2800" dirty="0">
                <a:solidFill>
                  <a:srgbClr val="FF0000"/>
                </a:solidFill>
                <a:latin typeface="黑体" panose="02010609060101010101" pitchFamily="49" charset="-122"/>
                <a:ea typeface="黑体" panose="02010609060101010101" pitchFamily="49" charset="-122"/>
              </a:rPr>
              <a:t>3</a:t>
            </a:r>
            <a:r>
              <a:rPr lang="zh-CN" altLang="en-US" sz="2800" dirty="0">
                <a:solidFill>
                  <a:srgbClr val="FF0000"/>
                </a:solidFill>
                <a:latin typeface="黑体" panose="02010609060101010101" pitchFamily="49" charset="-122"/>
                <a:ea typeface="黑体" panose="02010609060101010101" pitchFamily="49" charset="-122"/>
              </a:rPr>
              <a:t>．系统构造阶段</a:t>
            </a:r>
            <a:endParaRPr lang="zh-CN" altLang="en-US" sz="2800" dirty="0">
              <a:solidFill>
                <a:srgbClr val="FF0000"/>
              </a:solidFill>
              <a:latin typeface="黑体" panose="02010609060101010101" pitchFamily="49" charset="-122"/>
              <a:ea typeface="黑体" panose="02010609060101010101" pitchFamily="49" charset="-122"/>
            </a:endParaRPr>
          </a:p>
        </p:txBody>
      </p:sp>
      <p:sp>
        <p:nvSpPr>
          <p:cNvPr id="76805" name="Rectangle 5"/>
          <p:cNvSpPr/>
          <p:nvPr/>
        </p:nvSpPr>
        <p:spPr>
          <a:xfrm>
            <a:off x="430213" y="815975"/>
            <a:ext cx="8143875" cy="3540125"/>
          </a:xfrm>
          <a:prstGeom prst="rect">
            <a:avLst/>
          </a:prstGeom>
          <a:solidFill>
            <a:schemeClr val="bg1"/>
          </a:solidFill>
          <a:ln w="9525">
            <a:noFill/>
          </a:ln>
        </p:spPr>
        <p:txBody>
          <a:bodyPr>
            <a:spAutoFit/>
          </a:bodyPr>
          <a:lstStyle/>
          <a:p>
            <a:pPr defTabSz="800100" eaLnBrk="1" hangingPunct="1">
              <a:buFont typeface="Wingdings" panose="05000000000000000000" pitchFamily="2" charset="2"/>
              <a:buChar char="l"/>
            </a:pPr>
            <a:r>
              <a:rPr lang="zh-CN" altLang="en-US" sz="2800" b="1" dirty="0">
                <a:solidFill>
                  <a:srgbClr val="FF0000"/>
                </a:solidFill>
                <a:latin typeface="Arial" panose="020B0604020202020204" pitchFamily="34" charset="0"/>
                <a:ea typeface="楷体_GB2312" pitchFamily="49" charset="-122"/>
              </a:rPr>
              <a:t>渐增式</a:t>
            </a:r>
            <a:r>
              <a:rPr lang="zh-CN" altLang="en-US" sz="2800" b="1" dirty="0">
                <a:latin typeface="Arial" panose="020B0604020202020204" pitchFamily="34" charset="0"/>
                <a:ea typeface="楷体_GB2312" pitchFamily="49" charset="-122"/>
              </a:rPr>
              <a:t>：每次迭代都是在前次迭代的基础上增加另外一些新用例的开发；</a:t>
            </a:r>
            <a:endParaRPr lang="zh-CN" altLang="en-US" sz="2800" b="1" dirty="0">
              <a:latin typeface="Arial" panose="020B0604020202020204" pitchFamily="34" charset="0"/>
              <a:ea typeface="楷体_GB2312" pitchFamily="49" charset="-122"/>
            </a:endParaRPr>
          </a:p>
          <a:p>
            <a:pPr defTabSz="800100" eaLnBrk="1" hangingPunct="1">
              <a:buFont typeface="Wingdings" panose="05000000000000000000" pitchFamily="2" charset="2"/>
              <a:buChar char="l"/>
            </a:pPr>
            <a:r>
              <a:rPr lang="zh-CN" altLang="en-US" sz="2800" b="1" dirty="0">
                <a:solidFill>
                  <a:srgbClr val="FF0000"/>
                </a:solidFill>
                <a:latin typeface="Arial" panose="020B0604020202020204" pitchFamily="34" charset="0"/>
                <a:ea typeface="楷体_GB2312" pitchFamily="49" charset="-122"/>
              </a:rPr>
              <a:t>集成测试</a:t>
            </a:r>
            <a:r>
              <a:rPr lang="zh-CN" altLang="en-US" sz="2800" b="1" dirty="0">
                <a:latin typeface="Arial" panose="020B0604020202020204" pitchFamily="34" charset="0"/>
                <a:ea typeface="楷体_GB2312" pitchFamily="49" charset="-122"/>
              </a:rPr>
              <a:t>：新用例开发完成后与前次迭代结果集成，进行系统测试；</a:t>
            </a:r>
            <a:endParaRPr lang="zh-CN" altLang="en-US" sz="2800" b="1" dirty="0">
              <a:latin typeface="Arial" panose="020B0604020202020204" pitchFamily="34" charset="0"/>
              <a:ea typeface="楷体_GB2312" pitchFamily="49" charset="-122"/>
            </a:endParaRPr>
          </a:p>
          <a:p>
            <a:pPr defTabSz="800100" eaLnBrk="1" hangingPunct="1">
              <a:buFont typeface="Wingdings" panose="05000000000000000000" pitchFamily="2" charset="2"/>
              <a:buChar char="l"/>
            </a:pPr>
            <a:r>
              <a:rPr lang="zh-CN" altLang="en-US" sz="2800" b="1" dirty="0">
                <a:latin typeface="Arial" panose="020B0604020202020204" pitchFamily="34" charset="0"/>
                <a:ea typeface="楷体_GB2312" pitchFamily="49" charset="-122"/>
              </a:rPr>
              <a:t> </a:t>
            </a:r>
            <a:r>
              <a:rPr lang="zh-CN" altLang="en-US" sz="2800" b="1" dirty="0">
                <a:solidFill>
                  <a:srgbClr val="FF0000"/>
                </a:solidFill>
                <a:latin typeface="Arial" panose="020B0604020202020204" pitchFamily="34" charset="0"/>
                <a:ea typeface="楷体_GB2312" pitchFamily="49" charset="-122"/>
              </a:rPr>
              <a:t>测试演示</a:t>
            </a:r>
            <a:r>
              <a:rPr lang="zh-CN" altLang="en-US" sz="2800" b="1" dirty="0">
                <a:latin typeface="Arial" panose="020B0604020202020204" pitchFamily="34" charset="0"/>
                <a:ea typeface="楷体_GB2312" pitchFamily="49" charset="-122"/>
              </a:rPr>
              <a:t>：向用户演示测试过程及结果，以表面相关的用例已被正确实现；</a:t>
            </a:r>
            <a:endParaRPr lang="zh-CN" altLang="en-US" sz="2800" b="1" dirty="0">
              <a:latin typeface="Arial" panose="020B0604020202020204" pitchFamily="34" charset="0"/>
              <a:ea typeface="楷体_GB2312" pitchFamily="49" charset="-122"/>
            </a:endParaRPr>
          </a:p>
          <a:p>
            <a:pPr defTabSz="800100" eaLnBrk="1" hangingPunct="1">
              <a:buFont typeface="Wingdings" panose="05000000000000000000" pitchFamily="2" charset="2"/>
              <a:buChar char="l"/>
            </a:pPr>
            <a:r>
              <a:rPr lang="zh-CN" altLang="en-US" sz="2800" b="1" dirty="0">
                <a:latin typeface="Arial" panose="020B0604020202020204" pitchFamily="34" charset="0"/>
                <a:ea typeface="楷体_GB2312" pitchFamily="49" charset="-122"/>
              </a:rPr>
              <a:t> </a:t>
            </a:r>
            <a:r>
              <a:rPr lang="zh-CN" altLang="en-US" sz="2800" b="1" dirty="0">
                <a:solidFill>
                  <a:srgbClr val="FF0000"/>
                </a:solidFill>
                <a:latin typeface="Arial" panose="020B0604020202020204" pitchFamily="34" charset="0"/>
                <a:ea typeface="楷体_GB2312" pitchFamily="49" charset="-122"/>
              </a:rPr>
              <a:t>保存测试案例</a:t>
            </a:r>
            <a:r>
              <a:rPr lang="zh-CN" altLang="en-US" sz="2800" b="1" dirty="0">
                <a:latin typeface="Arial" panose="020B0604020202020204" pitchFamily="34" charset="0"/>
                <a:ea typeface="楷体_GB2312" pitchFamily="49" charset="-122"/>
              </a:rPr>
              <a:t>：所用测试案例都应保存，以便在以后的迭代中进行回归测试。</a:t>
            </a:r>
            <a:endParaRPr lang="zh-CN" altLang="en-US" sz="2800" b="1" dirty="0">
              <a:latin typeface="Arial" panose="020B0604020202020204" pitchFamily="34" charset="0"/>
              <a:ea typeface="楷体_GB2312" pitchFamily="49" charset="-122"/>
            </a:endParaRPr>
          </a:p>
        </p:txBody>
      </p:sp>
      <p:sp>
        <p:nvSpPr>
          <p:cNvPr id="76806" name="Rectangle 5"/>
          <p:cNvSpPr/>
          <p:nvPr/>
        </p:nvSpPr>
        <p:spPr>
          <a:xfrm>
            <a:off x="500063" y="5087938"/>
            <a:ext cx="8143875" cy="954087"/>
          </a:xfrm>
          <a:prstGeom prst="rect">
            <a:avLst/>
          </a:prstGeom>
          <a:solidFill>
            <a:schemeClr val="bg1"/>
          </a:solidFill>
          <a:ln w="9525">
            <a:noFill/>
          </a:ln>
        </p:spPr>
        <p:txBody>
          <a:bodyPr>
            <a:spAutoFit/>
          </a:bodyPr>
          <a:lstStyle/>
          <a:p>
            <a:pPr defTabSz="800100" eaLnBrk="1" hangingPunct="1">
              <a:buFont typeface="Wingdings" panose="05000000000000000000" pitchFamily="2" charset="2"/>
              <a:buChar char="l"/>
            </a:pPr>
            <a:r>
              <a:rPr lang="zh-CN" altLang="en-US" sz="2800" b="1" dirty="0">
                <a:latin typeface="Arial" panose="020B0604020202020204" pitchFamily="34" charset="0"/>
                <a:ea typeface="楷体_GB2312" pitchFamily="49" charset="-122"/>
              </a:rPr>
              <a:t>移交阶段一般不再开发新的功能，该阶段的工作主要是有系统测试、产品包装、用户培训等。</a:t>
            </a:r>
            <a:endParaRPr lang="zh-CN" altLang="en-US" sz="2800" b="1" dirty="0">
              <a:latin typeface="Arial" panose="020B0604020202020204" pitchFamily="34" charset="0"/>
              <a:ea typeface="楷体_GB2312" pitchFamily="49"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A29138B-0E1B-40EF-96B4-182E0582F8D1}"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77827" name="Rectangle 3"/>
          <p:cNvSpPr/>
          <p:nvPr/>
        </p:nvSpPr>
        <p:spPr>
          <a:xfrm>
            <a:off x="467360" y="908685"/>
            <a:ext cx="8351838" cy="641350"/>
          </a:xfrm>
          <a:prstGeom prst="rect">
            <a:avLst/>
          </a:prstGeom>
          <a:noFill/>
          <a:ln w="9525">
            <a:noFill/>
          </a:ln>
        </p:spPr>
        <p:txBody>
          <a:bodyPr>
            <a:spAutoFit/>
          </a:bodyPr>
          <a:lstStyle/>
          <a:p>
            <a:pPr eaLnBrk="1" hangingPunct="1">
              <a:buFont typeface="Arial" panose="020B0604020202020204" pitchFamily="34" charset="0"/>
            </a:pPr>
            <a:r>
              <a:rPr lang="en-US" altLang="zh-CN" sz="3600" b="1" dirty="0">
                <a:latin typeface="黑体" panose="02010609060101010101" pitchFamily="49" charset="-122"/>
                <a:ea typeface="黑体" panose="02010609060101010101" pitchFamily="49" charset="-122"/>
              </a:rPr>
              <a:t>3.5.2  </a:t>
            </a:r>
            <a:r>
              <a:rPr lang="zh-CN" altLang="en-US" sz="3600" b="1" dirty="0">
                <a:latin typeface="黑体" panose="02010609060101010101" pitchFamily="49" charset="-122"/>
                <a:ea typeface="黑体" panose="02010609060101010101" pitchFamily="49" charset="-122"/>
              </a:rPr>
              <a:t>软件开发步骤及核心支持活动</a:t>
            </a:r>
            <a:r>
              <a:rPr lang="zh-CN" altLang="en-US" sz="2800" dirty="0">
                <a:latin typeface="Arial" panose="020B0604020202020204" pitchFamily="34" charset="0"/>
                <a:ea typeface="楷体_GB2312" pitchFamily="49" charset="-122"/>
              </a:rPr>
              <a:t> </a:t>
            </a:r>
            <a:endParaRPr lang="zh-CN" altLang="en-US" sz="2800" dirty="0">
              <a:latin typeface="Arial" panose="020B0604020202020204" pitchFamily="34" charset="0"/>
              <a:ea typeface="楷体_GB2312" pitchFamily="49" charset="-122"/>
            </a:endParaRPr>
          </a:p>
        </p:txBody>
      </p:sp>
      <p:sp>
        <p:nvSpPr>
          <p:cNvPr id="77828" name="Rectangle 4"/>
          <p:cNvSpPr/>
          <p:nvPr/>
        </p:nvSpPr>
        <p:spPr>
          <a:xfrm>
            <a:off x="1187450" y="1916113"/>
            <a:ext cx="5976938" cy="3935412"/>
          </a:xfrm>
          <a:prstGeom prst="rect">
            <a:avLst/>
          </a:prstGeom>
          <a:noFill/>
          <a:ln w="9525">
            <a:noFill/>
          </a:ln>
        </p:spPr>
        <p:txBody>
          <a:bodyPr>
            <a:spAutoFit/>
          </a:bodyPr>
          <a:lstStyle/>
          <a:p>
            <a:pPr marL="800100" indent="-356870" defTabSz="800100" eaLnBrk="1" hangingPunct="1">
              <a:buFont typeface="Arial" panose="020B0604020202020204" pitchFamily="34" charset="0"/>
            </a:pPr>
            <a:r>
              <a:rPr lang="en-US" altLang="zh-CN" sz="28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．需求分析</a:t>
            </a:r>
            <a:endParaRPr lang="zh-CN" altLang="en-US" sz="2800"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endParaRPr lang="zh-CN" altLang="en-US" sz="2800"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en-US" altLang="zh-CN" sz="2800" dirty="0">
                <a:latin typeface="黑体" panose="02010609060101010101" pitchFamily="49" charset="-122"/>
                <a:ea typeface="黑体" panose="02010609060101010101" pitchFamily="49" charset="-122"/>
              </a:rPr>
              <a:t>2</a:t>
            </a:r>
            <a:r>
              <a:rPr lang="zh-CN" altLang="en-US" sz="2800" dirty="0">
                <a:latin typeface="黑体" panose="02010609060101010101" pitchFamily="49" charset="-122"/>
                <a:ea typeface="黑体" panose="02010609060101010101" pitchFamily="49" charset="-122"/>
              </a:rPr>
              <a:t>．系统设计</a:t>
            </a:r>
            <a:endParaRPr lang="zh-CN" altLang="en-US" sz="2800"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endParaRPr lang="zh-CN" altLang="en-US" sz="2800"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en-US" altLang="zh-CN" sz="2800" dirty="0">
                <a:latin typeface="黑体" panose="02010609060101010101" pitchFamily="49" charset="-122"/>
                <a:ea typeface="黑体" panose="02010609060101010101" pitchFamily="49" charset="-122"/>
              </a:rPr>
              <a:t>3</a:t>
            </a:r>
            <a:r>
              <a:rPr lang="zh-CN" altLang="en-US" sz="2800" dirty="0">
                <a:latin typeface="黑体" panose="02010609060101010101" pitchFamily="49" charset="-122"/>
                <a:ea typeface="黑体" panose="02010609060101010101" pitchFamily="49" charset="-122"/>
              </a:rPr>
              <a:t>．实现</a:t>
            </a:r>
            <a:endParaRPr lang="zh-CN" altLang="en-US" sz="2800"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endParaRPr lang="zh-CN" altLang="en-US" sz="2800"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en-US" altLang="zh-CN" sz="2800" dirty="0">
                <a:latin typeface="黑体" panose="02010609060101010101" pitchFamily="49" charset="-122"/>
                <a:ea typeface="黑体" panose="02010609060101010101" pitchFamily="49" charset="-122"/>
              </a:rPr>
              <a:t>4</a:t>
            </a:r>
            <a:r>
              <a:rPr lang="zh-CN" altLang="en-US" sz="2800" dirty="0">
                <a:latin typeface="黑体" panose="02010609060101010101" pitchFamily="49" charset="-122"/>
                <a:ea typeface="黑体" panose="02010609060101010101" pitchFamily="49" charset="-122"/>
              </a:rPr>
              <a:t>．测试</a:t>
            </a:r>
            <a:endParaRPr lang="zh-CN" altLang="en-US" sz="2800"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endParaRPr lang="zh-CN" altLang="en-US" sz="2800" dirty="0">
              <a:latin typeface="黑体" panose="02010609060101010101" pitchFamily="49" charset="-122"/>
              <a:ea typeface="黑体" panose="02010609060101010101" pitchFamily="49" charset="-122"/>
            </a:endParaRPr>
          </a:p>
          <a:p>
            <a:pPr marL="800100" indent="-356870" defTabSz="800100" eaLnBrk="1" hangingPunct="1">
              <a:buFont typeface="Arial" panose="020B0604020202020204" pitchFamily="34" charset="0"/>
            </a:pPr>
            <a:r>
              <a:rPr lang="en-US" altLang="zh-CN" sz="2800" dirty="0">
                <a:latin typeface="黑体" panose="02010609060101010101" pitchFamily="49" charset="-122"/>
                <a:ea typeface="黑体" panose="02010609060101010101" pitchFamily="49" charset="-122"/>
              </a:rPr>
              <a:t>5</a:t>
            </a:r>
            <a:r>
              <a:rPr lang="zh-CN" altLang="en-US" sz="2800" dirty="0">
                <a:latin typeface="黑体" panose="02010609060101010101" pitchFamily="49" charset="-122"/>
                <a:ea typeface="黑体" panose="02010609060101010101" pitchFamily="49" charset="-122"/>
              </a:rPr>
              <a:t>．配置</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91FC1F-4AD7-468D-BE88-CDA8CF17D268}"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78851" name="Rectangle 3"/>
          <p:cNvSpPr/>
          <p:nvPr/>
        </p:nvSpPr>
        <p:spPr>
          <a:xfrm>
            <a:off x="611188" y="981075"/>
            <a:ext cx="8351837" cy="519113"/>
          </a:xfrm>
          <a:prstGeom prst="rect">
            <a:avLst/>
          </a:prstGeom>
          <a:noFill/>
          <a:ln w="9525">
            <a:noFill/>
          </a:ln>
        </p:spPr>
        <p:txBody>
          <a:bodyPr>
            <a:spAutoFit/>
          </a:bodyPr>
          <a:lstStyle/>
          <a:p>
            <a:pPr eaLnBrk="1" hangingPunct="1">
              <a:buFont typeface="Arial" panose="020B0604020202020204" pitchFamily="34" charset="0"/>
            </a:pPr>
            <a:r>
              <a:rPr lang="en-US" altLang="zh-CN" sz="2800" dirty="0">
                <a:latin typeface="黑体" panose="02010609060101010101" pitchFamily="49" charset="-122"/>
                <a:ea typeface="黑体" panose="02010609060101010101" pitchFamily="49" charset="-122"/>
              </a:rPr>
              <a:t>6</a:t>
            </a:r>
            <a:r>
              <a:rPr lang="zh-CN" altLang="en-US" sz="2800" dirty="0">
                <a:latin typeface="黑体" panose="02010609060101010101" pitchFamily="49" charset="-122"/>
                <a:ea typeface="黑体" panose="02010609060101010101" pitchFamily="49" charset="-122"/>
              </a:rPr>
              <a:t>．核心支持工作</a:t>
            </a:r>
            <a:endParaRPr lang="zh-CN" altLang="en-US" sz="2800" dirty="0">
              <a:latin typeface="黑体" panose="02010609060101010101" pitchFamily="49" charset="-122"/>
              <a:ea typeface="黑体" panose="02010609060101010101" pitchFamily="49" charset="-122"/>
            </a:endParaRPr>
          </a:p>
        </p:txBody>
      </p:sp>
      <p:sp>
        <p:nvSpPr>
          <p:cNvPr id="78852" name="Rectangle 4"/>
          <p:cNvSpPr/>
          <p:nvPr/>
        </p:nvSpPr>
        <p:spPr>
          <a:xfrm>
            <a:off x="1116013" y="2276475"/>
            <a:ext cx="5976937" cy="1706880"/>
          </a:xfrm>
          <a:prstGeom prst="rect">
            <a:avLst/>
          </a:prstGeom>
          <a:noFill/>
          <a:ln w="9525">
            <a:noFill/>
          </a:ln>
        </p:spPr>
        <p:txBody>
          <a:bodyPr>
            <a:spAutoFit/>
          </a:bodyPr>
          <a:lstStyle/>
          <a:p>
            <a:pPr marL="800100" indent="-356870" defTabSz="800100" eaLnBrk="1" hangingPunct="1">
              <a:lnSpc>
                <a:spcPct val="125000"/>
              </a:lnSpc>
              <a:buFont typeface="Arial" panose="020B0604020202020204" pitchFamily="34" charset="0"/>
            </a:pPr>
            <a:r>
              <a:rPr lang="zh-CN" altLang="en-US" sz="2800" b="1" dirty="0">
                <a:latin typeface="Arial" panose="020B0604020202020204" pitchFamily="34" charset="0"/>
                <a:ea typeface="楷体_GB2312" pitchFamily="49" charset="-122"/>
              </a:rPr>
              <a:t>（</a:t>
            </a:r>
            <a:r>
              <a:rPr lang="en-US" altLang="zh-CN" sz="2800" b="1" dirty="0">
                <a:latin typeface="Arial" panose="020B0604020202020204" pitchFamily="34" charset="0"/>
                <a:ea typeface="楷体_GB2312" pitchFamily="49" charset="-122"/>
              </a:rPr>
              <a:t>1</a:t>
            </a:r>
            <a:r>
              <a:rPr lang="zh-CN" altLang="en-US" sz="2800" b="1" dirty="0">
                <a:latin typeface="Arial" panose="020B0604020202020204" pitchFamily="34" charset="0"/>
                <a:ea typeface="楷体_GB2312" pitchFamily="49" charset="-122"/>
              </a:rPr>
              <a:t>）配置与变化管理</a:t>
            </a:r>
            <a:endParaRPr lang="zh-CN" altLang="en-US" sz="2800" b="1" dirty="0">
              <a:latin typeface="Arial" panose="020B0604020202020204" pitchFamily="34" charset="0"/>
              <a:ea typeface="楷体_GB2312" pitchFamily="49" charset="-122"/>
            </a:endParaRPr>
          </a:p>
          <a:p>
            <a:pPr marL="800100" indent="-356870" defTabSz="800100" eaLnBrk="1" hangingPunct="1">
              <a:lnSpc>
                <a:spcPct val="125000"/>
              </a:lnSpc>
              <a:buFont typeface="Arial" panose="020B0604020202020204" pitchFamily="34" charset="0"/>
            </a:pPr>
            <a:r>
              <a:rPr lang="zh-CN" altLang="en-US" sz="2800" b="1" dirty="0">
                <a:latin typeface="Arial" panose="020B0604020202020204" pitchFamily="34" charset="0"/>
                <a:ea typeface="楷体_GB2312" pitchFamily="49" charset="-122"/>
              </a:rPr>
              <a:t>（</a:t>
            </a:r>
            <a:r>
              <a:rPr lang="en-US" altLang="zh-CN" sz="2800" b="1" dirty="0">
                <a:latin typeface="Arial" panose="020B0604020202020204" pitchFamily="34" charset="0"/>
                <a:ea typeface="楷体_GB2312" pitchFamily="49" charset="-122"/>
              </a:rPr>
              <a:t>2</a:t>
            </a:r>
            <a:r>
              <a:rPr lang="zh-CN" altLang="en-US" sz="2800" b="1" dirty="0">
                <a:latin typeface="Arial" panose="020B0604020202020204" pitchFamily="34" charset="0"/>
                <a:ea typeface="楷体_GB2312" pitchFamily="49" charset="-122"/>
              </a:rPr>
              <a:t>）项目管理</a:t>
            </a:r>
            <a:endParaRPr lang="zh-CN" altLang="en-US" sz="2800" b="1" dirty="0">
              <a:latin typeface="Arial" panose="020B0604020202020204" pitchFamily="34" charset="0"/>
              <a:ea typeface="楷体_GB2312" pitchFamily="49" charset="-122"/>
            </a:endParaRPr>
          </a:p>
          <a:p>
            <a:pPr marL="800100" indent="-356870" defTabSz="800100" eaLnBrk="1" hangingPunct="1">
              <a:lnSpc>
                <a:spcPct val="125000"/>
              </a:lnSpc>
              <a:buFont typeface="Arial" panose="020B0604020202020204" pitchFamily="34" charset="0"/>
            </a:pPr>
            <a:r>
              <a:rPr lang="zh-CN" altLang="en-US" sz="2800" b="1" dirty="0">
                <a:latin typeface="Arial" panose="020B0604020202020204" pitchFamily="34" charset="0"/>
                <a:ea typeface="楷体_GB2312" pitchFamily="49" charset="-122"/>
              </a:rPr>
              <a:t>（</a:t>
            </a:r>
            <a:r>
              <a:rPr lang="en-US" altLang="zh-CN" sz="2800" b="1" dirty="0">
                <a:latin typeface="Arial" panose="020B0604020202020204" pitchFamily="34" charset="0"/>
                <a:ea typeface="楷体_GB2312" pitchFamily="49" charset="-122"/>
              </a:rPr>
              <a:t>3</a:t>
            </a:r>
            <a:r>
              <a:rPr lang="zh-CN" altLang="en-US" sz="2800" b="1" dirty="0">
                <a:latin typeface="Arial" panose="020B0604020202020204" pitchFamily="34" charset="0"/>
                <a:ea typeface="楷体_GB2312" pitchFamily="49" charset="-122"/>
              </a:rPr>
              <a:t>）环境设置</a:t>
            </a:r>
            <a:endParaRPr lang="zh-CN" altLang="en-US" sz="2800" b="1" dirty="0">
              <a:latin typeface="Arial" panose="020B0604020202020204" pitchFamily="34" charset="0"/>
              <a:ea typeface="楷体_GB2312" pitchFamily="49"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0498C40-51C5-4DE3-8A03-2ED84DEFC977}"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79875" name="Rectangle 3"/>
          <p:cNvSpPr/>
          <p:nvPr/>
        </p:nvSpPr>
        <p:spPr>
          <a:xfrm>
            <a:off x="323850" y="692150"/>
            <a:ext cx="8496300" cy="579438"/>
          </a:xfrm>
          <a:prstGeom prst="rect">
            <a:avLst/>
          </a:prstGeom>
          <a:noFill/>
          <a:ln w="9525">
            <a:noFill/>
          </a:ln>
        </p:spPr>
        <p:txBody>
          <a:bodyPr>
            <a:spAutoFit/>
          </a:bodyPr>
          <a:lstStyle/>
          <a:p>
            <a:pPr eaLnBrk="1" hangingPunct="1">
              <a:buFont typeface="Arial" panose="020B0604020202020204" pitchFamily="34" charset="0"/>
            </a:pPr>
            <a:r>
              <a:rPr lang="en-US" altLang="zh-CN" sz="3200" b="1" dirty="0">
                <a:latin typeface="黑体" panose="02010609060101010101" pitchFamily="49" charset="-122"/>
                <a:ea typeface="黑体" panose="02010609060101010101" pitchFamily="49" charset="-122"/>
              </a:rPr>
              <a:t>3.5.3  UML</a:t>
            </a:r>
            <a:r>
              <a:rPr lang="zh-CN" altLang="en-US" sz="3200" b="1" dirty="0">
                <a:latin typeface="黑体" panose="02010609060101010101" pitchFamily="49" charset="-122"/>
                <a:ea typeface="黑体" panose="02010609060101010101" pitchFamily="49" charset="-122"/>
              </a:rPr>
              <a:t>软件开发过程产生的模型与文档 </a:t>
            </a:r>
            <a:endParaRPr lang="zh-CN" altLang="en-US" sz="3200" b="1" dirty="0">
              <a:latin typeface="黑体" panose="02010609060101010101" pitchFamily="49" charset="-122"/>
              <a:ea typeface="黑体" panose="02010609060101010101" pitchFamily="49" charset="-122"/>
            </a:endParaRPr>
          </a:p>
        </p:txBody>
      </p:sp>
      <p:sp>
        <p:nvSpPr>
          <p:cNvPr id="79876" name="Rectangle 4"/>
          <p:cNvSpPr/>
          <p:nvPr/>
        </p:nvSpPr>
        <p:spPr>
          <a:xfrm>
            <a:off x="153035" y="2135505"/>
            <a:ext cx="8990965" cy="4546600"/>
          </a:xfrm>
          <a:prstGeom prst="rect">
            <a:avLst/>
          </a:prstGeom>
          <a:noFill/>
          <a:ln w="9525">
            <a:noFill/>
          </a:ln>
        </p:spPr>
        <p:txBody>
          <a:bodyPr wrap="square">
            <a:noAutofit/>
          </a:bodyPr>
          <a:lstStyle/>
          <a:p>
            <a:pPr marL="986155" indent="-542925" defTabSz="800100" eaLnBrk="1" hangingPunct="1">
              <a:lnSpc>
                <a:spcPct val="125000"/>
              </a:lnSpc>
              <a:buFont typeface="Arial" panose="020B0604020202020204" pitchFamily="34" charset="0"/>
            </a:pPr>
            <a:r>
              <a:rPr lang="zh-CN" altLang="en-US" sz="2800" b="1" dirty="0">
                <a:latin typeface="Arial" panose="020B0604020202020204" pitchFamily="34" charset="0"/>
                <a:ea typeface="楷体_GB2312" pitchFamily="49" charset="-122"/>
              </a:rPr>
              <a:t>（</a:t>
            </a:r>
            <a:r>
              <a:rPr lang="en-US" altLang="zh-CN" sz="2800" b="1" dirty="0">
                <a:latin typeface="Arial" panose="020B0604020202020204" pitchFamily="34" charset="0"/>
                <a:ea typeface="楷体_GB2312" pitchFamily="49" charset="-122"/>
              </a:rPr>
              <a:t>1</a:t>
            </a:r>
            <a:r>
              <a:rPr lang="zh-CN" altLang="en-US" sz="2800" b="1" dirty="0">
                <a:latin typeface="Arial" panose="020B0604020202020204" pitchFamily="34" charset="0"/>
                <a:ea typeface="楷体_GB2312" pitchFamily="49" charset="-122"/>
              </a:rPr>
              <a:t>）业务模型：建立问题领域的组织结构和业  </a:t>
            </a:r>
            <a:endParaRPr lang="zh-CN" altLang="en-US" sz="2800" b="1" dirty="0">
              <a:latin typeface="Arial" panose="020B0604020202020204" pitchFamily="34" charset="0"/>
              <a:ea typeface="楷体_GB2312" pitchFamily="49" charset="-122"/>
            </a:endParaRPr>
          </a:p>
          <a:p>
            <a:pPr marL="986155" indent="-542925" defTabSz="800100" eaLnBrk="1" hangingPunct="1">
              <a:lnSpc>
                <a:spcPct val="125000"/>
              </a:lnSpc>
              <a:buFont typeface="Arial" panose="020B0604020202020204" pitchFamily="34" charset="0"/>
            </a:pPr>
            <a:r>
              <a:rPr lang="zh-CN" altLang="en-US" sz="2800" b="1" dirty="0">
                <a:latin typeface="Arial" panose="020B0604020202020204" pitchFamily="34" charset="0"/>
                <a:ea typeface="楷体_GB2312" pitchFamily="49" charset="-122"/>
              </a:rPr>
              <a:t>                           务流程的抽象。</a:t>
            </a:r>
            <a:endParaRPr lang="zh-CN" altLang="en-US" sz="2800" b="1" dirty="0">
              <a:latin typeface="Arial" panose="020B0604020202020204" pitchFamily="34" charset="0"/>
              <a:ea typeface="楷体_GB2312" pitchFamily="49" charset="-122"/>
            </a:endParaRPr>
          </a:p>
          <a:p>
            <a:pPr marL="986155" indent="-542925" defTabSz="800100" eaLnBrk="1" hangingPunct="1">
              <a:lnSpc>
                <a:spcPct val="125000"/>
              </a:lnSpc>
              <a:buFont typeface="Arial" panose="020B0604020202020204" pitchFamily="34" charset="0"/>
            </a:pPr>
            <a:r>
              <a:rPr lang="zh-CN" altLang="en-US" sz="2800" b="1" dirty="0">
                <a:latin typeface="Arial" panose="020B0604020202020204" pitchFamily="34" charset="0"/>
                <a:ea typeface="楷体_GB2312" pitchFamily="49" charset="-122"/>
              </a:rPr>
              <a:t>         描述方式：需求分析规格说明书。</a:t>
            </a:r>
            <a:endParaRPr lang="zh-CN" altLang="en-US" sz="2800" b="1" dirty="0">
              <a:latin typeface="Arial" panose="020B0604020202020204" pitchFamily="34" charset="0"/>
              <a:ea typeface="楷体_GB2312" pitchFamily="49" charset="-122"/>
            </a:endParaRPr>
          </a:p>
          <a:p>
            <a:pPr marL="986155" indent="-542925" defTabSz="800100" eaLnBrk="1" hangingPunct="1">
              <a:lnSpc>
                <a:spcPct val="125000"/>
              </a:lnSpc>
              <a:buFont typeface="Arial" panose="020B0604020202020204" pitchFamily="34" charset="0"/>
            </a:pPr>
            <a:r>
              <a:rPr lang="zh-CN" altLang="en-US" sz="2800" b="1" dirty="0">
                <a:latin typeface="Arial" panose="020B0604020202020204" pitchFamily="34" charset="0"/>
                <a:ea typeface="楷体_GB2312" pitchFamily="49" charset="-122"/>
              </a:rPr>
              <a:t>（</a:t>
            </a:r>
            <a:r>
              <a:rPr lang="en-US" altLang="zh-CN" sz="2800" b="1" dirty="0">
                <a:latin typeface="Arial" panose="020B0604020202020204" pitchFamily="34" charset="0"/>
                <a:ea typeface="楷体_GB2312" pitchFamily="49" charset="-122"/>
              </a:rPr>
              <a:t>2</a:t>
            </a:r>
            <a:r>
              <a:rPr lang="zh-CN" altLang="en-US" sz="2800" b="1" dirty="0">
                <a:latin typeface="Arial" panose="020B0604020202020204" pitchFamily="34" charset="0"/>
                <a:ea typeface="楷体_GB2312" pitchFamily="49" charset="-122"/>
              </a:rPr>
              <a:t>）领域模型：建立问题领域的需求分析说明。</a:t>
            </a:r>
            <a:endParaRPr lang="zh-CN" altLang="en-US" sz="2800" b="1" dirty="0">
              <a:latin typeface="Arial" panose="020B0604020202020204" pitchFamily="34" charset="0"/>
              <a:ea typeface="楷体_GB2312" pitchFamily="49" charset="-122"/>
            </a:endParaRPr>
          </a:p>
          <a:p>
            <a:pPr marL="986155" indent="-542925" defTabSz="800100" eaLnBrk="1" hangingPunct="1">
              <a:lnSpc>
                <a:spcPct val="125000"/>
              </a:lnSpc>
              <a:buFont typeface="Arial" panose="020B0604020202020204" pitchFamily="34" charset="0"/>
            </a:pPr>
            <a:r>
              <a:rPr lang="zh-CN" altLang="en-US" sz="2800" b="1" dirty="0">
                <a:latin typeface="Arial" panose="020B0604020202020204" pitchFamily="34" charset="0"/>
                <a:ea typeface="楷体_GB2312" pitchFamily="49" charset="-122"/>
              </a:rPr>
              <a:t>         描述方式：需求分析规格说明书。</a:t>
            </a:r>
            <a:endParaRPr lang="zh-CN" altLang="en-US" sz="2800" b="1" dirty="0">
              <a:latin typeface="Arial" panose="020B0604020202020204" pitchFamily="34" charset="0"/>
              <a:ea typeface="楷体_GB2312" pitchFamily="49" charset="-122"/>
            </a:endParaRPr>
          </a:p>
          <a:p>
            <a:pPr marL="986155" indent="-542925" defTabSz="800100" eaLnBrk="1" hangingPunct="1">
              <a:lnSpc>
                <a:spcPct val="125000"/>
              </a:lnSpc>
              <a:buFont typeface="Arial" panose="020B0604020202020204" pitchFamily="34" charset="0"/>
            </a:pPr>
            <a:r>
              <a:rPr lang="zh-CN" altLang="en-US" sz="2800" b="1" dirty="0">
                <a:latin typeface="Arial" panose="020B0604020202020204" pitchFamily="34" charset="0"/>
                <a:ea typeface="楷体_GB2312" pitchFamily="49" charset="-122"/>
              </a:rPr>
              <a:t>（</a:t>
            </a:r>
            <a:r>
              <a:rPr lang="en-US" altLang="zh-CN" sz="2800" b="1" dirty="0">
                <a:latin typeface="Arial" panose="020B0604020202020204" pitchFamily="34" charset="0"/>
                <a:ea typeface="楷体_GB2312" pitchFamily="49" charset="-122"/>
              </a:rPr>
              <a:t>3</a:t>
            </a:r>
            <a:r>
              <a:rPr lang="zh-CN" altLang="en-US" sz="2800" b="1" dirty="0">
                <a:latin typeface="Arial" panose="020B0604020202020204" pitchFamily="34" charset="0"/>
                <a:ea typeface="楷体_GB2312" pitchFamily="49" charset="-122"/>
              </a:rPr>
              <a:t>）用例模型：表达系统的功能。</a:t>
            </a:r>
            <a:endParaRPr lang="zh-CN" altLang="en-US" sz="2800" b="1" dirty="0">
              <a:latin typeface="Arial" panose="020B0604020202020204" pitchFamily="34" charset="0"/>
              <a:ea typeface="楷体_GB2312" pitchFamily="49" charset="-122"/>
            </a:endParaRPr>
          </a:p>
          <a:p>
            <a:pPr marL="986155" indent="-542925" defTabSz="800100" eaLnBrk="1" hangingPunct="1">
              <a:lnSpc>
                <a:spcPct val="125000"/>
              </a:lnSpc>
              <a:buFont typeface="Arial" panose="020B0604020202020204" pitchFamily="34" charset="0"/>
            </a:pPr>
            <a:r>
              <a:rPr lang="zh-CN" altLang="en-US" sz="2800" b="1" dirty="0">
                <a:latin typeface="Arial" panose="020B0604020202020204" pitchFamily="34" charset="0"/>
                <a:ea typeface="楷体_GB2312" pitchFamily="49" charset="-122"/>
              </a:rPr>
              <a:t>         描述方式：用例图、活动图及需求分析规格说 </a:t>
            </a:r>
            <a:endParaRPr lang="zh-CN" altLang="en-US" sz="2800" b="1" dirty="0">
              <a:latin typeface="Arial" panose="020B0604020202020204" pitchFamily="34" charset="0"/>
              <a:ea typeface="楷体_GB2312" pitchFamily="49" charset="-122"/>
            </a:endParaRPr>
          </a:p>
          <a:p>
            <a:pPr marL="986155" indent="-542925" defTabSz="800100" eaLnBrk="1" hangingPunct="1">
              <a:lnSpc>
                <a:spcPct val="125000"/>
              </a:lnSpc>
              <a:buFont typeface="Arial" panose="020B0604020202020204" pitchFamily="34" charset="0"/>
            </a:pPr>
            <a:r>
              <a:rPr lang="zh-CN" altLang="en-US" sz="2800" b="1" dirty="0">
                <a:latin typeface="Arial" panose="020B0604020202020204" pitchFamily="34" charset="0"/>
                <a:ea typeface="楷体_GB2312" pitchFamily="49" charset="-122"/>
              </a:rPr>
              <a:t>                            明书。</a:t>
            </a:r>
            <a:r>
              <a:rPr lang="zh-CN" altLang="en-US" sz="2400" b="1" dirty="0">
                <a:latin typeface="Arial" panose="020B0604020202020204" pitchFamily="34" charset="0"/>
                <a:ea typeface="楷体_GB2312" pitchFamily="49" charset="-122"/>
              </a:rPr>
              <a:t> </a:t>
            </a:r>
            <a:endParaRPr lang="zh-CN" altLang="en-US" sz="2400" b="1" dirty="0">
              <a:latin typeface="Arial" panose="020B0604020202020204" pitchFamily="34" charset="0"/>
              <a:ea typeface="楷体_GB2312" pitchFamily="49" charset="-122"/>
            </a:endParaRPr>
          </a:p>
        </p:txBody>
      </p:sp>
      <p:sp>
        <p:nvSpPr>
          <p:cNvPr id="79877" name="Rectangle 5"/>
          <p:cNvSpPr/>
          <p:nvPr/>
        </p:nvSpPr>
        <p:spPr>
          <a:xfrm>
            <a:off x="467043" y="1628775"/>
            <a:ext cx="4824412" cy="519113"/>
          </a:xfrm>
          <a:prstGeom prst="rect">
            <a:avLst/>
          </a:prstGeom>
          <a:noFill/>
          <a:ln w="9525">
            <a:noFill/>
          </a:ln>
        </p:spPr>
        <p:txBody>
          <a:bodyPr>
            <a:spAutoFit/>
          </a:bodyPr>
          <a:lstStyle/>
          <a:p>
            <a:pPr eaLnBrk="1" hangingPunct="1">
              <a:buFont typeface="Arial" panose="020B0604020202020204" pitchFamily="34" charset="0"/>
            </a:pPr>
            <a:r>
              <a:rPr lang="en-US" altLang="zh-CN" sz="2800" b="1"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．模型 </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970DA38-C3FD-46C5-93FB-6F645FA9581D}"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80899" name="Rectangle 3"/>
          <p:cNvSpPr/>
          <p:nvPr/>
        </p:nvSpPr>
        <p:spPr>
          <a:xfrm>
            <a:off x="827088" y="1916113"/>
            <a:ext cx="6696075" cy="1706880"/>
          </a:xfrm>
          <a:prstGeom prst="rect">
            <a:avLst/>
          </a:prstGeom>
          <a:noFill/>
          <a:ln w="9525">
            <a:noFill/>
          </a:ln>
        </p:spPr>
        <p:txBody>
          <a:bodyPr>
            <a:spAutoFit/>
          </a:bodyPr>
          <a:lstStyle/>
          <a:p>
            <a:pPr marL="986155" indent="-542925" defTabSz="800100" eaLnBrk="1" hangingPunct="1">
              <a:lnSpc>
                <a:spcPct val="125000"/>
              </a:lnSpc>
              <a:buFont typeface="Wingdings" panose="05000000000000000000" pitchFamily="2" charset="2"/>
              <a:buChar char="l"/>
            </a:pPr>
            <a:r>
              <a:rPr lang="zh-CN" altLang="en-US" sz="2800" dirty="0">
                <a:latin typeface="Arial" panose="020B0604020202020204" pitchFamily="34" charset="0"/>
                <a:ea typeface="楷体_GB2312" pitchFamily="49" charset="-122"/>
              </a:rPr>
              <a:t>基本功能分析；</a:t>
            </a:r>
            <a:endParaRPr lang="zh-CN" altLang="en-US" sz="2800" dirty="0">
              <a:latin typeface="Arial" panose="020B0604020202020204" pitchFamily="34" charset="0"/>
              <a:ea typeface="楷体_GB2312" pitchFamily="49" charset="-122"/>
            </a:endParaRPr>
          </a:p>
          <a:p>
            <a:pPr marL="986155" indent="-542925" defTabSz="800100" eaLnBrk="1" hangingPunct="1">
              <a:lnSpc>
                <a:spcPct val="125000"/>
              </a:lnSpc>
              <a:buFont typeface="Wingdings" panose="05000000000000000000" pitchFamily="2" charset="2"/>
              <a:buChar char="l"/>
            </a:pPr>
            <a:r>
              <a:rPr lang="zh-CN" altLang="en-US" sz="2800" dirty="0">
                <a:latin typeface="Arial" panose="020B0604020202020204" pitchFamily="34" charset="0"/>
                <a:ea typeface="楷体_GB2312" pitchFamily="49" charset="-122"/>
              </a:rPr>
              <a:t>实现功能的对象；</a:t>
            </a:r>
            <a:endParaRPr lang="zh-CN" altLang="en-US" sz="2800" dirty="0">
              <a:latin typeface="Arial" panose="020B0604020202020204" pitchFamily="34" charset="0"/>
              <a:ea typeface="楷体_GB2312" pitchFamily="49" charset="-122"/>
            </a:endParaRPr>
          </a:p>
          <a:p>
            <a:pPr marL="986155" indent="-542925" defTabSz="800100" eaLnBrk="1" hangingPunct="1">
              <a:lnSpc>
                <a:spcPct val="125000"/>
              </a:lnSpc>
              <a:buFont typeface="Wingdings" panose="05000000000000000000" pitchFamily="2" charset="2"/>
              <a:buChar char="l"/>
            </a:pPr>
            <a:r>
              <a:rPr lang="zh-CN" altLang="en-US" sz="2800" dirty="0">
                <a:latin typeface="Arial" panose="020B0604020202020204" pitchFamily="34" charset="0"/>
                <a:ea typeface="楷体_GB2312" pitchFamily="49" charset="-122"/>
              </a:rPr>
              <a:t>对象之间的关系；</a:t>
            </a:r>
            <a:endParaRPr lang="zh-CN" altLang="en-US" sz="2800" dirty="0">
              <a:latin typeface="Arial" panose="020B0604020202020204" pitchFamily="34" charset="0"/>
              <a:ea typeface="楷体_GB2312" pitchFamily="49" charset="-122"/>
            </a:endParaRPr>
          </a:p>
        </p:txBody>
      </p:sp>
      <p:sp>
        <p:nvSpPr>
          <p:cNvPr id="80900" name="Rectangle 4"/>
          <p:cNvSpPr/>
          <p:nvPr/>
        </p:nvSpPr>
        <p:spPr>
          <a:xfrm>
            <a:off x="323215" y="475933"/>
            <a:ext cx="8135938" cy="953135"/>
          </a:xfrm>
          <a:prstGeom prst="rect">
            <a:avLst/>
          </a:prstGeom>
          <a:solidFill>
            <a:schemeClr val="bg1"/>
          </a:solidFill>
          <a:ln w="9525">
            <a:noFill/>
          </a:ln>
        </p:spPr>
        <p:txBody>
          <a:bodyPr>
            <a:spAutoFit/>
          </a:bodyPr>
          <a:lstStyle/>
          <a:p>
            <a:pPr eaLnBrk="1" hangingPunct="1">
              <a:buFont typeface="Arial" panose="020B0604020202020204" pitchFamily="34" charset="0"/>
            </a:pPr>
            <a:r>
              <a:rPr lang="en-US" altLang="zh-CN" sz="2800" dirty="0">
                <a:solidFill>
                  <a:srgbClr val="FF0000"/>
                </a:solidFill>
                <a:latin typeface="微软雅黑" panose="020B0503020204020204" charset="-122"/>
                <a:ea typeface="微软雅黑" panose="020B0503020204020204" charset="-122"/>
                <a:cs typeface="微软雅黑" panose="020B0503020204020204" charset="-122"/>
              </a:rPr>
              <a:t>4</a:t>
            </a:r>
            <a:r>
              <a:rPr lang="zh-CN" altLang="en-US" sz="2800" dirty="0">
                <a:solidFill>
                  <a:srgbClr val="FF0000"/>
                </a:solidFill>
                <a:latin typeface="微软雅黑" panose="020B0503020204020204" charset="-122"/>
                <a:ea typeface="微软雅黑" panose="020B0503020204020204" charset="-122"/>
                <a:cs typeface="微软雅黑" panose="020B0503020204020204" charset="-122"/>
              </a:rPr>
              <a:t>）分析模型（任选）</a:t>
            </a:r>
            <a:r>
              <a:rPr lang="zh-CN" altLang="en-US" sz="2800" dirty="0">
                <a:latin typeface="Arial" panose="020B0604020202020204" pitchFamily="34" charset="0"/>
                <a:ea typeface="楷体_GB2312" pitchFamily="49" charset="-122"/>
              </a:rPr>
              <a:t>：只有复杂的系统才需要建立独立的分析模型。该模型包括：</a:t>
            </a:r>
            <a:r>
              <a:rPr lang="zh-CN" altLang="en-US" sz="2800" b="1" dirty="0">
                <a:latin typeface="黑体" panose="02010609060101010101" pitchFamily="49" charset="-122"/>
                <a:ea typeface="黑体" panose="02010609060101010101" pitchFamily="49" charset="-122"/>
              </a:rPr>
              <a:t> </a:t>
            </a:r>
            <a:endParaRPr lang="zh-CN" altLang="en-US" sz="2800" b="1" dirty="0">
              <a:latin typeface="黑体" panose="02010609060101010101" pitchFamily="49" charset="-122"/>
              <a:ea typeface="黑体" panose="02010609060101010101" pitchFamily="49" charset="-122"/>
            </a:endParaRPr>
          </a:p>
        </p:txBody>
      </p:sp>
      <p:sp>
        <p:nvSpPr>
          <p:cNvPr id="80901" name="Text Box 5"/>
          <p:cNvSpPr txBox="1"/>
          <p:nvPr/>
        </p:nvSpPr>
        <p:spPr>
          <a:xfrm>
            <a:off x="539750" y="3716338"/>
            <a:ext cx="7632700" cy="946150"/>
          </a:xfrm>
          <a:prstGeom prst="rect">
            <a:avLst/>
          </a:prstGeom>
          <a:noFill/>
          <a:ln w="9525">
            <a:noFill/>
          </a:ln>
        </p:spPr>
        <p:txBody>
          <a:bodyPr>
            <a:spAutoFit/>
          </a:bodyPr>
          <a:lstStyle/>
          <a:p>
            <a:pPr eaLnBrk="1" hangingPunct="1">
              <a:buFont typeface="Arial" panose="020B0604020202020204" pitchFamily="34" charset="0"/>
            </a:pPr>
            <a:r>
              <a:rPr lang="zh-CN" altLang="en-US" sz="2800" dirty="0">
                <a:latin typeface="Arial" panose="020B0604020202020204" pitchFamily="34" charset="0"/>
                <a:ea typeface="楷体_GB2312" pitchFamily="49" charset="-122"/>
              </a:rPr>
              <a:t>描述方式：类图、对象图、包图、顺序图、合</a:t>
            </a:r>
            <a:endParaRPr lang="zh-CN" altLang="en-US" sz="2800" dirty="0">
              <a:latin typeface="Arial" panose="020B0604020202020204" pitchFamily="34" charset="0"/>
              <a:ea typeface="楷体_GB2312" pitchFamily="49" charset="-122"/>
            </a:endParaRPr>
          </a:p>
          <a:p>
            <a:pPr eaLnBrk="1" hangingPunct="1">
              <a:buFont typeface="Arial" panose="020B0604020202020204" pitchFamily="34" charset="0"/>
            </a:pPr>
            <a:r>
              <a:rPr lang="zh-CN" altLang="en-US" sz="2800" dirty="0">
                <a:latin typeface="Arial" panose="020B0604020202020204" pitchFamily="34" charset="0"/>
                <a:ea typeface="楷体_GB2312" pitchFamily="49" charset="-122"/>
              </a:rPr>
              <a:t>                  作图、状态图和活动图。</a:t>
            </a:r>
            <a:endParaRPr lang="zh-CN" altLang="en-US" sz="2800" dirty="0">
              <a:latin typeface="Arial" panose="020B0604020202020204" pitchFamily="34" charset="0"/>
              <a:ea typeface="楷体_GB2312" pitchFamily="49"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63B7B9-4546-4E52-AD6A-12C0AC46B148}"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81923" name="Rectangle 3"/>
          <p:cNvSpPr/>
          <p:nvPr/>
        </p:nvSpPr>
        <p:spPr>
          <a:xfrm>
            <a:off x="323850" y="692150"/>
            <a:ext cx="8496300" cy="1814830"/>
          </a:xfrm>
          <a:prstGeom prst="rect">
            <a:avLst/>
          </a:prstGeom>
          <a:solidFill>
            <a:schemeClr val="bg1"/>
          </a:solidFill>
          <a:ln w="9525">
            <a:noFill/>
          </a:ln>
        </p:spPr>
        <p:txBody>
          <a:bodyPr>
            <a:spAutoFit/>
          </a:bodyPr>
          <a:lstStyle/>
          <a:p>
            <a:pPr eaLnBrk="1" hangingPunct="1">
              <a:buFont typeface="Arial" panose="020B0604020202020204" pitchFamily="34" charset="0"/>
            </a:pPr>
            <a:r>
              <a:rPr lang="zh-CN" altLang="en-US" sz="2800" dirty="0">
                <a:solidFill>
                  <a:srgbClr val="FF0000"/>
                </a:solidFill>
                <a:latin typeface="微软雅黑" panose="020B0503020204020204" charset="-122"/>
                <a:ea typeface="微软雅黑" panose="020B0503020204020204" charset="-122"/>
                <a:cs typeface="微软雅黑" panose="020B0503020204020204" charset="-122"/>
              </a:rPr>
              <a:t>（</a:t>
            </a:r>
            <a:r>
              <a:rPr lang="en-US" altLang="zh-CN" sz="2800" dirty="0">
                <a:solidFill>
                  <a:srgbClr val="FF0000"/>
                </a:solidFill>
                <a:latin typeface="微软雅黑" panose="020B0503020204020204" charset="-122"/>
                <a:ea typeface="微软雅黑" panose="020B0503020204020204" charset="-122"/>
                <a:cs typeface="微软雅黑" panose="020B0503020204020204" charset="-122"/>
              </a:rPr>
              <a:t>5</a:t>
            </a:r>
            <a:r>
              <a:rPr lang="zh-CN" altLang="en-US" sz="2800" dirty="0">
                <a:solidFill>
                  <a:srgbClr val="FF0000"/>
                </a:solidFill>
                <a:latin typeface="微软雅黑" panose="020B0503020204020204" charset="-122"/>
                <a:ea typeface="微软雅黑" panose="020B0503020204020204" charset="-122"/>
                <a:cs typeface="微软雅黑" panose="020B0503020204020204" charset="-122"/>
              </a:rPr>
              <a:t>）设计模型</a:t>
            </a:r>
            <a:r>
              <a:rPr lang="zh-CN" altLang="en-US" sz="2800" dirty="0">
                <a:latin typeface="Arial" panose="020B0604020202020204" pitchFamily="34" charset="0"/>
                <a:ea typeface="楷体_GB2312" pitchFamily="49" charset="-122"/>
              </a:rPr>
              <a:t>：系统具体解决方案，由调整和完善</a:t>
            </a:r>
            <a:endParaRPr lang="zh-CN" altLang="en-US" sz="2800" dirty="0">
              <a:latin typeface="Arial" panose="020B0604020202020204" pitchFamily="34" charset="0"/>
              <a:ea typeface="楷体_GB2312" pitchFamily="49" charset="-122"/>
            </a:endParaRPr>
          </a:p>
          <a:p>
            <a:pPr eaLnBrk="1" hangingPunct="1">
              <a:buFont typeface="Arial" panose="020B0604020202020204" pitchFamily="34" charset="0"/>
            </a:pPr>
            <a:r>
              <a:rPr lang="zh-CN" altLang="en-US" sz="2800" dirty="0">
                <a:latin typeface="Arial" panose="020B0604020202020204" pitchFamily="34" charset="0"/>
                <a:ea typeface="楷体_GB2312" pitchFamily="49" charset="-122"/>
              </a:rPr>
              <a:t>                            分析模型而成。</a:t>
            </a:r>
            <a:endParaRPr lang="zh-CN" altLang="en-US" sz="2800" dirty="0">
              <a:latin typeface="Arial" panose="020B0604020202020204" pitchFamily="34" charset="0"/>
              <a:ea typeface="楷体_GB2312" pitchFamily="49" charset="-122"/>
            </a:endParaRPr>
          </a:p>
          <a:p>
            <a:pPr eaLnBrk="1" hangingPunct="1">
              <a:buFont typeface="Arial" panose="020B0604020202020204" pitchFamily="34" charset="0"/>
            </a:pPr>
            <a:r>
              <a:rPr lang="zh-CN" altLang="en-US" sz="2800" dirty="0">
                <a:latin typeface="Arial" panose="020B0604020202020204" pitchFamily="34" charset="0"/>
                <a:ea typeface="楷体_GB2312" pitchFamily="49" charset="-122"/>
              </a:rPr>
              <a:t>        描述方式：类图、对象图、包图、顺序图、合作</a:t>
            </a:r>
            <a:endParaRPr lang="zh-CN" altLang="en-US" sz="2800" dirty="0">
              <a:latin typeface="Arial" panose="020B0604020202020204" pitchFamily="34" charset="0"/>
              <a:ea typeface="楷体_GB2312" pitchFamily="49" charset="-122"/>
            </a:endParaRPr>
          </a:p>
          <a:p>
            <a:pPr eaLnBrk="1" hangingPunct="1">
              <a:buFont typeface="Arial" panose="020B0604020202020204" pitchFamily="34" charset="0"/>
            </a:pPr>
            <a:r>
              <a:rPr lang="zh-CN" altLang="en-US" sz="2800" dirty="0">
                <a:latin typeface="Arial" panose="020B0604020202020204" pitchFamily="34" charset="0"/>
                <a:ea typeface="楷体_GB2312" pitchFamily="49" charset="-122"/>
              </a:rPr>
              <a:t>                           图、状态图和活动图。</a:t>
            </a:r>
            <a:endParaRPr lang="zh-CN" altLang="en-US" sz="2800" dirty="0">
              <a:latin typeface="Arial" panose="020B0604020202020204" pitchFamily="34" charset="0"/>
              <a:ea typeface="楷体_GB2312" pitchFamily="49" charset="-122"/>
            </a:endParaRPr>
          </a:p>
        </p:txBody>
      </p:sp>
      <p:sp>
        <p:nvSpPr>
          <p:cNvPr id="81924" name="Rectangle 4"/>
          <p:cNvSpPr/>
          <p:nvPr/>
        </p:nvSpPr>
        <p:spPr>
          <a:xfrm>
            <a:off x="179705" y="4724400"/>
            <a:ext cx="8280400" cy="1150620"/>
          </a:xfrm>
          <a:prstGeom prst="rect">
            <a:avLst/>
          </a:prstGeom>
          <a:noFill/>
          <a:ln w="9525">
            <a:noFill/>
          </a:ln>
        </p:spPr>
        <p:txBody>
          <a:bodyPr>
            <a:noAutofit/>
          </a:bodyPr>
          <a:lstStyle/>
          <a:p>
            <a:pPr marL="986155" indent="-542925" defTabSz="800100" eaLnBrk="1" hangingPunct="1">
              <a:buFont typeface="Arial" panose="020B0604020202020204" pitchFamily="34" charset="0"/>
            </a:pPr>
            <a:r>
              <a:rPr lang="zh-CN" altLang="en-US" sz="2800" dirty="0">
                <a:solidFill>
                  <a:srgbClr val="FF0000"/>
                </a:solidFill>
                <a:latin typeface="微软雅黑" panose="020B0503020204020204" charset="-122"/>
                <a:ea typeface="微软雅黑" panose="020B0503020204020204" charset="-122"/>
                <a:cs typeface="微软雅黑" panose="020B0503020204020204" charset="-122"/>
              </a:rPr>
              <a:t>（</a:t>
            </a:r>
            <a:r>
              <a:rPr lang="en-US" altLang="zh-CN" sz="2800" dirty="0">
                <a:solidFill>
                  <a:srgbClr val="FF0000"/>
                </a:solidFill>
                <a:latin typeface="微软雅黑" panose="020B0503020204020204" charset="-122"/>
                <a:ea typeface="微软雅黑" panose="020B0503020204020204" charset="-122"/>
                <a:cs typeface="微软雅黑" panose="020B0503020204020204" charset="-122"/>
              </a:rPr>
              <a:t>7</a:t>
            </a:r>
            <a:r>
              <a:rPr lang="zh-CN" altLang="en-US" sz="2800" dirty="0">
                <a:solidFill>
                  <a:srgbClr val="FF0000"/>
                </a:solidFill>
                <a:latin typeface="微软雅黑" panose="020B0503020204020204" charset="-122"/>
                <a:ea typeface="微软雅黑" panose="020B0503020204020204" charset="-122"/>
                <a:cs typeface="微软雅黑" panose="020B0503020204020204" charset="-122"/>
              </a:rPr>
              <a:t>）实现模型</a:t>
            </a:r>
            <a:r>
              <a:rPr lang="zh-CN" altLang="en-US" sz="2800" dirty="0">
                <a:latin typeface="Arial" panose="020B0604020202020204" pitchFamily="34" charset="0"/>
                <a:ea typeface="楷体_GB2312" pitchFamily="49" charset="-122"/>
              </a:rPr>
              <a:t>：软件的系统体系结构。</a:t>
            </a:r>
            <a:endParaRPr lang="zh-CN" altLang="en-US" sz="2800" dirty="0">
              <a:latin typeface="Arial" panose="020B0604020202020204" pitchFamily="34" charset="0"/>
              <a:ea typeface="楷体_GB2312" pitchFamily="49" charset="-122"/>
            </a:endParaRPr>
          </a:p>
          <a:p>
            <a:pPr marL="986155" indent="-542925" defTabSz="800100" eaLnBrk="1" hangingPunct="1">
              <a:buFont typeface="Arial" panose="020B0604020202020204" pitchFamily="34" charset="0"/>
            </a:pPr>
            <a:r>
              <a:rPr lang="zh-CN" altLang="en-US" sz="2800" dirty="0">
                <a:latin typeface="Arial" panose="020B0604020202020204" pitchFamily="34" charset="0"/>
                <a:ea typeface="楷体_GB2312" pitchFamily="49" charset="-122"/>
              </a:rPr>
              <a:t>         描述方式：包图和构件图。 </a:t>
            </a:r>
            <a:endParaRPr lang="zh-CN" altLang="en-US" sz="2800" dirty="0">
              <a:latin typeface="Arial" panose="020B0604020202020204" pitchFamily="34" charset="0"/>
              <a:ea typeface="楷体_GB2312" pitchFamily="49" charset="-122"/>
            </a:endParaRPr>
          </a:p>
        </p:txBody>
      </p:sp>
      <p:sp>
        <p:nvSpPr>
          <p:cNvPr id="81925" name="Rectangle 5"/>
          <p:cNvSpPr/>
          <p:nvPr/>
        </p:nvSpPr>
        <p:spPr>
          <a:xfrm>
            <a:off x="395288" y="2780665"/>
            <a:ext cx="7704137" cy="1814830"/>
          </a:xfrm>
          <a:prstGeom prst="rect">
            <a:avLst/>
          </a:prstGeom>
          <a:noFill/>
          <a:ln w="9525">
            <a:noFill/>
          </a:ln>
        </p:spPr>
        <p:txBody>
          <a:bodyPr>
            <a:spAutoFit/>
          </a:bodyPr>
          <a:lstStyle/>
          <a:p>
            <a:pPr eaLnBrk="1" hangingPunct="1">
              <a:buFont typeface="Arial" panose="020B0604020202020204" pitchFamily="34" charset="0"/>
            </a:pPr>
            <a:r>
              <a:rPr lang="zh-CN" altLang="en-US" sz="2800" dirty="0">
                <a:solidFill>
                  <a:srgbClr val="FF0000"/>
                </a:solidFill>
                <a:latin typeface="微软雅黑" panose="020B0503020204020204" charset="-122"/>
                <a:ea typeface="微软雅黑" panose="020B0503020204020204" charset="-122"/>
                <a:cs typeface="微软雅黑" panose="020B0503020204020204" charset="-122"/>
              </a:rPr>
              <a:t>（</a:t>
            </a:r>
            <a:r>
              <a:rPr lang="en-US" altLang="zh-CN" sz="2800" dirty="0">
                <a:solidFill>
                  <a:srgbClr val="FF0000"/>
                </a:solidFill>
                <a:latin typeface="微软雅黑" panose="020B0503020204020204" charset="-122"/>
                <a:ea typeface="微软雅黑" panose="020B0503020204020204" charset="-122"/>
                <a:cs typeface="微软雅黑" panose="020B0503020204020204" charset="-122"/>
              </a:rPr>
              <a:t>6</a:t>
            </a:r>
            <a:r>
              <a:rPr lang="zh-CN" altLang="en-US" sz="2800" dirty="0">
                <a:solidFill>
                  <a:srgbClr val="FF0000"/>
                </a:solidFill>
                <a:latin typeface="微软雅黑" panose="020B0503020204020204" charset="-122"/>
                <a:ea typeface="微软雅黑" panose="020B0503020204020204" charset="-122"/>
                <a:cs typeface="微软雅黑" panose="020B0503020204020204" charset="-122"/>
              </a:rPr>
              <a:t>）进程模型</a:t>
            </a:r>
            <a:r>
              <a:rPr lang="zh-CN" altLang="en-US" sz="2800" dirty="0">
                <a:latin typeface="Arial" panose="020B0604020202020204" pitchFamily="34" charset="0"/>
                <a:ea typeface="楷体_GB2312" pitchFamily="49" charset="-122"/>
              </a:rPr>
              <a:t>（任选）：描述系统并发和同步机制。有多线程的并发系统才建立。</a:t>
            </a:r>
            <a:endParaRPr lang="zh-CN" altLang="en-US" sz="2800" dirty="0">
              <a:latin typeface="Arial" panose="020B0604020202020204" pitchFamily="34" charset="0"/>
              <a:ea typeface="楷体_GB2312" pitchFamily="49" charset="-122"/>
            </a:endParaRPr>
          </a:p>
          <a:p>
            <a:pPr eaLnBrk="1" hangingPunct="1">
              <a:buFont typeface="Arial" panose="020B0604020202020204" pitchFamily="34" charset="0"/>
            </a:pPr>
            <a:r>
              <a:rPr lang="zh-CN" altLang="en-US" sz="2800" dirty="0">
                <a:latin typeface="Arial" panose="020B0604020202020204" pitchFamily="34" charset="0"/>
                <a:ea typeface="楷体_GB2312" pitchFamily="49" charset="-122"/>
              </a:rPr>
              <a:t>        描述方式：状态图、顺序图、合作图、活</a:t>
            </a:r>
            <a:endParaRPr lang="zh-CN" altLang="en-US" sz="2800" dirty="0">
              <a:latin typeface="Arial" panose="020B0604020202020204" pitchFamily="34" charset="0"/>
              <a:ea typeface="楷体_GB2312" pitchFamily="49" charset="-122"/>
            </a:endParaRPr>
          </a:p>
          <a:p>
            <a:pPr eaLnBrk="1" hangingPunct="1">
              <a:buFont typeface="Arial" panose="020B0604020202020204" pitchFamily="34" charset="0"/>
            </a:pPr>
            <a:r>
              <a:rPr lang="zh-CN" altLang="en-US" sz="2800" dirty="0">
                <a:latin typeface="Arial" panose="020B0604020202020204" pitchFamily="34" charset="0"/>
                <a:ea typeface="楷体_GB2312" pitchFamily="49" charset="-122"/>
              </a:rPr>
              <a:t>                          动图、构件图和配置图。</a:t>
            </a:r>
            <a:endParaRPr lang="zh-CN" altLang="en-US" sz="2800" dirty="0">
              <a:latin typeface="Arial" panose="020B0604020202020204" pitchFamily="34" charset="0"/>
              <a:ea typeface="楷体_GB2312" pitchFamily="49"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7D71FB-50C5-41D4-A292-C89A3DCFE6AA}"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82947" name="Rectangle 3"/>
          <p:cNvSpPr/>
          <p:nvPr/>
        </p:nvSpPr>
        <p:spPr>
          <a:xfrm>
            <a:off x="323850" y="1916113"/>
            <a:ext cx="8820150" cy="946150"/>
          </a:xfrm>
          <a:prstGeom prst="rect">
            <a:avLst/>
          </a:prstGeom>
          <a:noFill/>
          <a:ln w="9525">
            <a:noFill/>
          </a:ln>
        </p:spPr>
        <p:txBody>
          <a:bodyPr>
            <a:spAutoFit/>
          </a:bodyPr>
          <a:lstStyle/>
          <a:p>
            <a:pPr eaLnBrk="1" hangingPunct="1">
              <a:buFont typeface="Arial" panose="020B0604020202020204" pitchFamily="34" charset="0"/>
            </a:pPr>
            <a:r>
              <a:rPr lang="zh-CN" altLang="en-US" sz="2800" dirty="0">
                <a:solidFill>
                  <a:srgbClr val="FF0000"/>
                </a:solidFill>
                <a:latin typeface="Arial" panose="020B0604020202020204" pitchFamily="34" charset="0"/>
                <a:ea typeface="楷体_GB2312" pitchFamily="49" charset="-122"/>
              </a:rPr>
              <a:t>（</a:t>
            </a:r>
            <a:r>
              <a:rPr lang="en-US" altLang="zh-CN" sz="2800" dirty="0">
                <a:solidFill>
                  <a:srgbClr val="FF0000"/>
                </a:solidFill>
                <a:latin typeface="Arial" panose="020B0604020202020204" pitchFamily="34" charset="0"/>
                <a:ea typeface="楷体_GB2312" pitchFamily="49" charset="-122"/>
              </a:rPr>
              <a:t>8</a:t>
            </a:r>
            <a:r>
              <a:rPr lang="zh-CN" altLang="en-US" sz="2800" dirty="0">
                <a:solidFill>
                  <a:srgbClr val="FF0000"/>
                </a:solidFill>
                <a:latin typeface="Arial" panose="020B0604020202020204" pitchFamily="34" charset="0"/>
                <a:ea typeface="楷体_GB2312" pitchFamily="49" charset="-122"/>
              </a:rPr>
              <a:t>）配置模型</a:t>
            </a:r>
            <a:r>
              <a:rPr lang="zh-CN" altLang="en-US" sz="2800" dirty="0">
                <a:latin typeface="Arial" panose="020B0604020202020204" pitchFamily="34" charset="0"/>
                <a:ea typeface="楷体_GB2312" pitchFamily="49" charset="-122"/>
              </a:rPr>
              <a:t>：描述系统软件在各个硬件上的配置。</a:t>
            </a:r>
            <a:endParaRPr lang="zh-CN" altLang="en-US" sz="2800" dirty="0">
              <a:latin typeface="Arial" panose="020B0604020202020204" pitchFamily="34" charset="0"/>
              <a:ea typeface="楷体_GB2312" pitchFamily="49" charset="-122"/>
            </a:endParaRPr>
          </a:p>
          <a:p>
            <a:pPr eaLnBrk="1" hangingPunct="1">
              <a:buFont typeface="Arial" panose="020B0604020202020204" pitchFamily="34" charset="0"/>
            </a:pPr>
            <a:r>
              <a:rPr lang="zh-CN" altLang="en-US" sz="2800" dirty="0">
                <a:latin typeface="Arial" panose="020B0604020202020204" pitchFamily="34" charset="0"/>
                <a:ea typeface="楷体_GB2312" pitchFamily="49" charset="-122"/>
              </a:rPr>
              <a:t>         描述方式：配置图。</a:t>
            </a:r>
            <a:endParaRPr lang="zh-CN" altLang="en-US" sz="2800" dirty="0">
              <a:latin typeface="Arial" panose="020B0604020202020204" pitchFamily="34" charset="0"/>
              <a:ea typeface="楷体_GB2312" pitchFamily="49" charset="-122"/>
            </a:endParaRPr>
          </a:p>
        </p:txBody>
      </p:sp>
      <p:sp>
        <p:nvSpPr>
          <p:cNvPr id="82948" name="Rectangle 4"/>
          <p:cNvSpPr/>
          <p:nvPr/>
        </p:nvSpPr>
        <p:spPr>
          <a:xfrm>
            <a:off x="323850" y="3284538"/>
            <a:ext cx="7993063" cy="946150"/>
          </a:xfrm>
          <a:prstGeom prst="rect">
            <a:avLst/>
          </a:prstGeom>
          <a:noFill/>
          <a:ln w="9525">
            <a:noFill/>
          </a:ln>
        </p:spPr>
        <p:txBody>
          <a:bodyPr>
            <a:spAutoFit/>
          </a:bodyPr>
          <a:lstStyle/>
          <a:p>
            <a:pPr eaLnBrk="1" hangingPunct="1">
              <a:buFont typeface="Arial" panose="020B0604020202020204" pitchFamily="34" charset="0"/>
            </a:pPr>
            <a:r>
              <a:rPr lang="zh-CN" altLang="en-US" sz="2800" dirty="0">
                <a:solidFill>
                  <a:srgbClr val="FF0000"/>
                </a:solidFill>
                <a:latin typeface="Arial" panose="020B0604020202020204" pitchFamily="34" charset="0"/>
                <a:ea typeface="楷体_GB2312" pitchFamily="49" charset="-122"/>
              </a:rPr>
              <a:t>（</a:t>
            </a:r>
            <a:r>
              <a:rPr lang="en-US" altLang="zh-CN" sz="2800" dirty="0">
                <a:solidFill>
                  <a:srgbClr val="FF0000"/>
                </a:solidFill>
                <a:latin typeface="Arial" panose="020B0604020202020204" pitchFamily="34" charset="0"/>
                <a:ea typeface="楷体_GB2312" pitchFamily="49" charset="-122"/>
              </a:rPr>
              <a:t>9</a:t>
            </a:r>
            <a:r>
              <a:rPr lang="zh-CN" altLang="en-US" sz="2800" dirty="0">
                <a:solidFill>
                  <a:srgbClr val="FF0000"/>
                </a:solidFill>
                <a:latin typeface="Arial" panose="020B0604020202020204" pitchFamily="34" charset="0"/>
                <a:ea typeface="楷体_GB2312" pitchFamily="49" charset="-122"/>
              </a:rPr>
              <a:t>）测试模型</a:t>
            </a:r>
            <a:r>
              <a:rPr lang="zh-CN" altLang="en-US" sz="2800" dirty="0">
                <a:latin typeface="Arial" panose="020B0604020202020204" pitchFamily="34" charset="0"/>
                <a:ea typeface="楷体_GB2312" pitchFamily="49" charset="-122"/>
              </a:rPr>
              <a:t>：描述验证系统功能的途径。</a:t>
            </a:r>
            <a:endParaRPr lang="zh-CN" altLang="en-US" sz="2800" dirty="0">
              <a:latin typeface="Arial" panose="020B0604020202020204" pitchFamily="34" charset="0"/>
              <a:ea typeface="楷体_GB2312" pitchFamily="49" charset="-122"/>
            </a:endParaRPr>
          </a:p>
          <a:p>
            <a:pPr eaLnBrk="1" hangingPunct="1">
              <a:buFont typeface="Arial" panose="020B0604020202020204" pitchFamily="34" charset="0"/>
            </a:pPr>
            <a:r>
              <a:rPr lang="zh-CN" altLang="en-US" sz="2800" dirty="0">
                <a:latin typeface="Arial" panose="020B0604020202020204" pitchFamily="34" charset="0"/>
                <a:ea typeface="楷体_GB2312" pitchFamily="49" charset="-122"/>
              </a:rPr>
              <a:t>         描述方式：测试案例和测试报告。</a:t>
            </a:r>
            <a:endParaRPr lang="zh-CN" altLang="en-US" sz="2800" dirty="0">
              <a:latin typeface="Arial" panose="020B0604020202020204" pitchFamily="34" charset="0"/>
              <a:ea typeface="楷体_GB2312" pitchFamily="49"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65D47DC-9C7F-4702-A177-FC7C5DC61571}"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83971" name="Rectangle 3"/>
          <p:cNvSpPr/>
          <p:nvPr/>
        </p:nvSpPr>
        <p:spPr>
          <a:xfrm>
            <a:off x="682943" y="2132013"/>
            <a:ext cx="7345362" cy="1168400"/>
          </a:xfrm>
          <a:prstGeom prst="rect">
            <a:avLst/>
          </a:prstGeom>
          <a:noFill/>
          <a:ln w="9525">
            <a:noFill/>
          </a:ln>
        </p:spPr>
        <p:txBody>
          <a:bodyPr>
            <a:spAutoFit/>
          </a:bodyPr>
          <a:lstStyle/>
          <a:p>
            <a:pPr marL="986155" indent="-542925" defTabSz="800100" eaLnBrk="1" hangingPunct="1">
              <a:lnSpc>
                <a:spcPct val="125000"/>
              </a:lnSpc>
              <a:buFont typeface="Arial" panose="020B0604020202020204" pitchFamily="34" charset="0"/>
            </a:pPr>
            <a:r>
              <a:rPr lang="zh-CN" altLang="en-US" sz="2800" dirty="0">
                <a:latin typeface="Arial" panose="020B0604020202020204" pitchFamily="34" charset="0"/>
                <a:ea typeface="楷体_GB2312" pitchFamily="49" charset="-122"/>
              </a:rPr>
              <a:t>（</a:t>
            </a:r>
            <a:r>
              <a:rPr lang="en-US" altLang="zh-CN" sz="2800" dirty="0">
                <a:latin typeface="Arial" panose="020B0604020202020204" pitchFamily="34" charset="0"/>
                <a:ea typeface="楷体_GB2312" pitchFamily="49" charset="-122"/>
              </a:rPr>
              <a:t>1</a:t>
            </a:r>
            <a:r>
              <a:rPr lang="zh-CN" altLang="en-US" sz="2800" dirty="0">
                <a:latin typeface="Arial" panose="020B0604020202020204" pitchFamily="34" charset="0"/>
                <a:ea typeface="楷体_GB2312" pitchFamily="49" charset="-122"/>
              </a:rPr>
              <a:t>）技术文档</a:t>
            </a:r>
            <a:endParaRPr lang="zh-CN" altLang="en-US" sz="2800" dirty="0">
              <a:latin typeface="Arial" panose="020B0604020202020204" pitchFamily="34" charset="0"/>
              <a:ea typeface="楷体_GB2312" pitchFamily="49" charset="-122"/>
            </a:endParaRPr>
          </a:p>
          <a:p>
            <a:pPr marL="986155" indent="-542925" defTabSz="800100" eaLnBrk="1" hangingPunct="1">
              <a:lnSpc>
                <a:spcPct val="125000"/>
              </a:lnSpc>
              <a:buFont typeface="Arial" panose="020B0604020202020204" pitchFamily="34" charset="0"/>
            </a:pPr>
            <a:r>
              <a:rPr lang="zh-CN" altLang="en-US" sz="2800" dirty="0">
                <a:latin typeface="Arial" panose="020B0604020202020204" pitchFamily="34" charset="0"/>
                <a:ea typeface="楷体_GB2312" pitchFamily="49" charset="-122"/>
              </a:rPr>
              <a:t>（</a:t>
            </a:r>
            <a:r>
              <a:rPr lang="en-US" altLang="zh-CN" sz="2800" dirty="0">
                <a:latin typeface="Arial" panose="020B0604020202020204" pitchFamily="34" charset="0"/>
                <a:ea typeface="楷体_GB2312" pitchFamily="49" charset="-122"/>
              </a:rPr>
              <a:t>2</a:t>
            </a:r>
            <a:r>
              <a:rPr lang="zh-CN" altLang="en-US" sz="2800" dirty="0">
                <a:latin typeface="Arial" panose="020B0604020202020204" pitchFamily="34" charset="0"/>
                <a:ea typeface="楷体_GB2312" pitchFamily="49" charset="-122"/>
              </a:rPr>
              <a:t>）管理文档</a:t>
            </a:r>
            <a:endParaRPr lang="zh-CN" altLang="en-US" sz="2800" dirty="0">
              <a:latin typeface="Arial" panose="020B0604020202020204" pitchFamily="34" charset="0"/>
              <a:ea typeface="楷体_GB2312" pitchFamily="49" charset="-122"/>
            </a:endParaRPr>
          </a:p>
        </p:txBody>
      </p:sp>
      <p:sp>
        <p:nvSpPr>
          <p:cNvPr id="83972" name="Rectangle 4"/>
          <p:cNvSpPr/>
          <p:nvPr/>
        </p:nvSpPr>
        <p:spPr>
          <a:xfrm>
            <a:off x="642938" y="1071563"/>
            <a:ext cx="4824412" cy="519112"/>
          </a:xfrm>
          <a:prstGeom prst="rect">
            <a:avLst/>
          </a:prstGeom>
          <a:noFill/>
          <a:ln w="9525">
            <a:noFill/>
          </a:ln>
        </p:spPr>
        <p:txBody>
          <a:bodyPr>
            <a:spAutoFit/>
          </a:bodyPr>
          <a:lstStyle/>
          <a:p>
            <a:pPr eaLnBrk="1" hangingPunct="1">
              <a:buFont typeface="Arial" panose="020B0604020202020204" pitchFamily="34" charset="0"/>
            </a:pPr>
            <a:r>
              <a:rPr lang="en-US" altLang="zh-CN" sz="2800" b="1" dirty="0">
                <a:latin typeface="黑体" panose="02010609060101010101" pitchFamily="49" charset="-122"/>
                <a:ea typeface="黑体" panose="02010609060101010101" pitchFamily="49" charset="-122"/>
              </a:rPr>
              <a:t>2</a:t>
            </a:r>
            <a:r>
              <a:rPr lang="zh-CN" altLang="en-US" sz="2800" b="1" dirty="0">
                <a:latin typeface="黑体" panose="02010609060101010101" pitchFamily="49" charset="-122"/>
                <a:ea typeface="黑体" panose="02010609060101010101" pitchFamily="49" charset="-122"/>
              </a:rPr>
              <a:t>．文档</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6BC85C2-EE47-485C-8201-5B0B18046F87}"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84995" name="Rectangle 3"/>
          <p:cNvSpPr/>
          <p:nvPr/>
        </p:nvSpPr>
        <p:spPr>
          <a:xfrm>
            <a:off x="251460" y="404495"/>
            <a:ext cx="8496300" cy="579438"/>
          </a:xfrm>
          <a:prstGeom prst="rect">
            <a:avLst/>
          </a:prstGeom>
          <a:noFill/>
          <a:ln w="9525">
            <a:noFill/>
          </a:ln>
        </p:spPr>
        <p:txBody>
          <a:bodyPr>
            <a:spAutoFit/>
          </a:bodyPr>
          <a:lstStyle/>
          <a:p>
            <a:pPr eaLnBrk="1" hangingPunct="1">
              <a:buFont typeface="Arial" panose="020B0604020202020204" pitchFamily="34" charset="0"/>
            </a:pPr>
            <a:r>
              <a:rPr lang="en-US" altLang="zh-CN" sz="3200" b="1" dirty="0">
                <a:latin typeface="黑体" panose="02010609060101010101" pitchFamily="49" charset="-122"/>
                <a:ea typeface="黑体" panose="02010609060101010101" pitchFamily="49" charset="-122"/>
              </a:rPr>
              <a:t>3.5.4  UML</a:t>
            </a:r>
            <a:r>
              <a:rPr lang="zh-CN" altLang="en-US" sz="3200" b="1" dirty="0">
                <a:latin typeface="黑体" panose="02010609060101010101" pitchFamily="49" charset="-122"/>
                <a:ea typeface="黑体" panose="02010609060101010101" pitchFamily="49" charset="-122"/>
              </a:rPr>
              <a:t>软件开发过程的基本特征</a:t>
            </a:r>
            <a:r>
              <a:rPr lang="zh-CN" altLang="en-US" sz="2800" dirty="0">
                <a:latin typeface="Arial" panose="020B0604020202020204" pitchFamily="34" charset="0"/>
                <a:ea typeface="楷体_GB2312" pitchFamily="49" charset="-122"/>
              </a:rPr>
              <a:t> </a:t>
            </a:r>
            <a:r>
              <a:rPr lang="zh-CN" altLang="en-US" sz="3200" b="1" dirty="0">
                <a:latin typeface="黑体" panose="02010609060101010101" pitchFamily="49" charset="-122"/>
                <a:ea typeface="黑体" panose="02010609060101010101" pitchFamily="49" charset="-122"/>
              </a:rPr>
              <a:t> </a:t>
            </a:r>
            <a:endParaRPr lang="zh-CN" altLang="en-US" sz="3200" b="1" dirty="0">
              <a:latin typeface="黑体" panose="02010609060101010101" pitchFamily="49" charset="-122"/>
              <a:ea typeface="黑体" panose="02010609060101010101" pitchFamily="49" charset="-122"/>
            </a:endParaRPr>
          </a:p>
        </p:txBody>
      </p:sp>
      <p:sp>
        <p:nvSpPr>
          <p:cNvPr id="84996" name="Rectangle 4"/>
          <p:cNvSpPr/>
          <p:nvPr/>
        </p:nvSpPr>
        <p:spPr>
          <a:xfrm>
            <a:off x="611188" y="1084263"/>
            <a:ext cx="4824412" cy="519112"/>
          </a:xfrm>
          <a:prstGeom prst="rect">
            <a:avLst/>
          </a:prstGeom>
          <a:solidFill>
            <a:schemeClr val="bg1"/>
          </a:solidFill>
          <a:ln w="9525">
            <a:noFill/>
          </a:ln>
        </p:spPr>
        <p:txBody>
          <a:bodyPr>
            <a:spAutoFit/>
          </a:bodyPr>
          <a:lstStyle/>
          <a:p>
            <a:pPr eaLnBrk="1" hangingPunct="1">
              <a:buFont typeface="Arial" panose="020B0604020202020204" pitchFamily="34" charset="0"/>
            </a:pPr>
            <a:r>
              <a:rPr lang="en-US" altLang="zh-CN" sz="2800" b="1"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．用例驱动的系统 </a:t>
            </a:r>
            <a:endParaRPr lang="zh-CN" altLang="en-US" sz="2800" b="1" dirty="0">
              <a:latin typeface="黑体" panose="02010609060101010101" pitchFamily="49" charset="-122"/>
              <a:ea typeface="黑体" panose="02010609060101010101" pitchFamily="49" charset="-122"/>
            </a:endParaRPr>
          </a:p>
        </p:txBody>
      </p:sp>
      <p:pic>
        <p:nvPicPr>
          <p:cNvPr id="84997" name="Picture 5" descr="图21"/>
          <p:cNvPicPr>
            <a:picLocks noGrp="1" noChangeAspect="1"/>
          </p:cNvPicPr>
          <p:nvPr>
            <p:ph idx="1"/>
          </p:nvPr>
        </p:nvPicPr>
        <p:blipFill>
          <a:blip r:embed="rId1"/>
          <a:srcRect/>
          <a:stretch>
            <a:fillRect/>
          </a:stretch>
        </p:blipFill>
        <p:spPr>
          <a:xfrm>
            <a:off x="755650" y="1746250"/>
            <a:ext cx="6687820" cy="4492625"/>
          </a:xfrm>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3"/>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FA81F34-7F62-4B1D-A953-A2EE49CA9477}"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86019" name="Rectangle 3"/>
          <p:cNvSpPr/>
          <p:nvPr/>
        </p:nvSpPr>
        <p:spPr>
          <a:xfrm>
            <a:off x="611188" y="1916113"/>
            <a:ext cx="7343775" cy="2227262"/>
          </a:xfrm>
          <a:prstGeom prst="rect">
            <a:avLst/>
          </a:prstGeom>
          <a:noFill/>
          <a:ln w="9525">
            <a:noFill/>
          </a:ln>
        </p:spPr>
        <p:txBody>
          <a:bodyPr>
            <a:spAutoFit/>
          </a:bodyPr>
          <a:lstStyle/>
          <a:p>
            <a:pPr marL="986155" indent="-542925" defTabSz="800100" eaLnBrk="1" hangingPunct="1">
              <a:buFont typeface="Arial" panose="020B0604020202020204" pitchFamily="34" charset="0"/>
            </a:pPr>
            <a:r>
              <a:rPr lang="en-US" altLang="zh-CN" sz="2800" b="1" dirty="0">
                <a:latin typeface="Arial" panose="020B0604020202020204" pitchFamily="34" charset="0"/>
                <a:ea typeface="楷体_GB2312" pitchFamily="49" charset="-122"/>
              </a:rPr>
              <a:t>2</a:t>
            </a:r>
            <a:r>
              <a:rPr lang="zh-CN" altLang="en-US" sz="2800" b="1" dirty="0">
                <a:latin typeface="Arial" panose="020B0604020202020204" pitchFamily="34" charset="0"/>
                <a:ea typeface="楷体_GB2312" pitchFamily="49" charset="-122"/>
              </a:rPr>
              <a:t>．以体系结构为中心</a:t>
            </a:r>
            <a:endParaRPr lang="zh-CN" altLang="en-US" sz="2800" b="1" dirty="0">
              <a:latin typeface="Arial" panose="020B0604020202020204" pitchFamily="34" charset="0"/>
              <a:ea typeface="楷体_GB2312" pitchFamily="49" charset="-122"/>
            </a:endParaRPr>
          </a:p>
          <a:p>
            <a:pPr marL="986155" indent="-542925" defTabSz="800100" eaLnBrk="1" hangingPunct="1">
              <a:buFont typeface="Arial" panose="020B0604020202020204" pitchFamily="34" charset="0"/>
            </a:pPr>
            <a:endParaRPr lang="zh-CN" altLang="en-US" sz="2800" b="1" dirty="0">
              <a:latin typeface="Arial" panose="020B0604020202020204" pitchFamily="34" charset="0"/>
              <a:ea typeface="楷体_GB2312" pitchFamily="49" charset="-122"/>
            </a:endParaRPr>
          </a:p>
          <a:p>
            <a:pPr marL="986155" indent="-542925" defTabSz="800100" eaLnBrk="1" hangingPunct="1">
              <a:buFont typeface="Arial" panose="020B0604020202020204" pitchFamily="34" charset="0"/>
            </a:pPr>
            <a:r>
              <a:rPr lang="en-US" altLang="zh-CN" sz="2800" b="1" dirty="0">
                <a:latin typeface="Arial" panose="020B0604020202020204" pitchFamily="34" charset="0"/>
                <a:ea typeface="楷体_GB2312" pitchFamily="49" charset="-122"/>
              </a:rPr>
              <a:t>3</a:t>
            </a:r>
            <a:r>
              <a:rPr lang="zh-CN" altLang="en-US" sz="2800" b="1" dirty="0">
                <a:latin typeface="Arial" panose="020B0604020202020204" pitchFamily="34" charset="0"/>
                <a:ea typeface="楷体_GB2312" pitchFamily="49" charset="-122"/>
              </a:rPr>
              <a:t>．螺旋上升式的开发过程</a:t>
            </a:r>
            <a:endParaRPr lang="zh-CN" altLang="en-US" sz="2800" b="1" dirty="0">
              <a:latin typeface="Arial" panose="020B0604020202020204" pitchFamily="34" charset="0"/>
              <a:ea typeface="楷体_GB2312" pitchFamily="49" charset="-122"/>
            </a:endParaRPr>
          </a:p>
          <a:p>
            <a:pPr marL="986155" indent="-542925" defTabSz="800100" eaLnBrk="1" hangingPunct="1">
              <a:buFont typeface="Arial" panose="020B0604020202020204" pitchFamily="34" charset="0"/>
            </a:pPr>
            <a:endParaRPr lang="zh-CN" altLang="en-US" sz="2800" b="1" dirty="0">
              <a:latin typeface="Arial" panose="020B0604020202020204" pitchFamily="34" charset="0"/>
              <a:ea typeface="楷体_GB2312" pitchFamily="49" charset="-122"/>
            </a:endParaRPr>
          </a:p>
          <a:p>
            <a:pPr marL="986155" indent="-542925" defTabSz="800100" eaLnBrk="1" hangingPunct="1">
              <a:buFont typeface="Arial" panose="020B0604020202020204" pitchFamily="34" charset="0"/>
            </a:pPr>
            <a:r>
              <a:rPr lang="en-US" altLang="zh-CN" sz="2800" b="1" dirty="0">
                <a:latin typeface="Arial" panose="020B0604020202020204" pitchFamily="34" charset="0"/>
                <a:ea typeface="楷体_GB2312" pitchFamily="49" charset="-122"/>
              </a:rPr>
              <a:t>4</a:t>
            </a:r>
            <a:r>
              <a:rPr lang="zh-CN" altLang="en-US" sz="2800" b="1" dirty="0">
                <a:latin typeface="Arial" panose="020B0604020202020204" pitchFamily="34" charset="0"/>
                <a:ea typeface="楷体_GB2312" pitchFamily="49" charset="-122"/>
              </a:rPr>
              <a:t>．以质量控制和风险管理为目标</a:t>
            </a:r>
            <a:endParaRPr lang="zh-CN" altLang="en-US" sz="2800" b="1" dirty="0">
              <a:latin typeface="Arial" panose="020B0604020202020204" pitchFamily="34" charset="0"/>
              <a:ea typeface="楷体_GB2312" pitchFamily="49"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灯片编号占位符 1"/>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14F7651-CBFE-40D8-B3C3-E20A3DB7306B}"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87043" name="Rectangle 2"/>
          <p:cNvSpPr>
            <a:spLocks noGrp="1"/>
          </p:cNvSpPr>
          <p:nvPr>
            <p:ph type="title" idx="4294967295"/>
          </p:nvPr>
        </p:nvSpPr>
        <p:spPr/>
        <p:txBody>
          <a:bodyPr vert="horz" wrap="square" lIns="91440" tIns="45720" rIns="91440" bIns="45720" anchor="ctr"/>
          <a:lstStyle/>
          <a:p>
            <a:pPr eaLnBrk="1" hangingPunct="1"/>
            <a:r>
              <a:rPr lang="en-US" altLang="zh-CN" dirty="0"/>
              <a:t>3.6 </a:t>
            </a:r>
            <a:r>
              <a:rPr lang="en-US" altLang="zh-CN" b="1" dirty="0"/>
              <a:t>UML</a:t>
            </a:r>
            <a:r>
              <a:rPr lang="zh-CN" altLang="en-US" b="1" dirty="0"/>
              <a:t>的应用领域</a:t>
            </a:r>
            <a:endParaRPr lang="zh-CN" altLang="en-US" b="1" dirty="0"/>
          </a:p>
        </p:txBody>
      </p:sp>
      <p:sp>
        <p:nvSpPr>
          <p:cNvPr id="87044" name="Rectangle 3"/>
          <p:cNvSpPr>
            <a:spLocks noGrp="1"/>
          </p:cNvSpPr>
          <p:nvPr>
            <p:ph type="body" idx="4294967295"/>
          </p:nvPr>
        </p:nvSpPr>
        <p:spPr/>
        <p:txBody>
          <a:bodyPr vert="horz" wrap="square" lIns="91440" tIns="45720" rIns="91440" bIns="45720" anchor="t"/>
          <a:lstStyle/>
          <a:p>
            <a:pPr eaLnBrk="1" hangingPunct="1">
              <a:lnSpc>
                <a:spcPct val="90000"/>
              </a:lnSpc>
              <a:buFont typeface="Wingdings" panose="05000000000000000000" pitchFamily="2" charset="2"/>
              <a:buChar char="Ø"/>
            </a:pPr>
            <a:r>
              <a:rPr lang="en-US" altLang="zh-CN" b="1" dirty="0"/>
              <a:t>UML</a:t>
            </a:r>
            <a:r>
              <a:rPr lang="zh-CN" altLang="en-US" b="1" dirty="0"/>
              <a:t>最常用的是进行软件系统建模</a:t>
            </a:r>
            <a:endParaRPr lang="zh-CN" altLang="en-US" b="1" dirty="0"/>
          </a:p>
          <a:p>
            <a:pPr lvl="1" eaLnBrk="1" hangingPunct="1">
              <a:lnSpc>
                <a:spcPct val="90000"/>
              </a:lnSpc>
              <a:buFont typeface="Wingdings" panose="05000000000000000000" pitchFamily="2" charset="2"/>
              <a:buChar char="Ø"/>
            </a:pPr>
            <a:r>
              <a:rPr lang="zh-CN" altLang="en-US" b="1" dirty="0"/>
              <a:t>企业信息系统</a:t>
            </a:r>
            <a:endParaRPr lang="zh-CN" altLang="en-US" b="1" dirty="0"/>
          </a:p>
          <a:p>
            <a:pPr lvl="1" eaLnBrk="1" hangingPunct="1">
              <a:lnSpc>
                <a:spcPct val="90000"/>
              </a:lnSpc>
              <a:buFont typeface="Wingdings" panose="05000000000000000000" pitchFamily="2" charset="2"/>
              <a:buChar char="Ø"/>
            </a:pPr>
            <a:r>
              <a:rPr lang="zh-CN" altLang="en-US" b="1" dirty="0"/>
              <a:t>银行金融服务</a:t>
            </a:r>
            <a:endParaRPr lang="zh-CN" altLang="en-US" b="1" dirty="0"/>
          </a:p>
          <a:p>
            <a:pPr lvl="1" eaLnBrk="1" hangingPunct="1">
              <a:lnSpc>
                <a:spcPct val="90000"/>
              </a:lnSpc>
              <a:buFont typeface="Wingdings" panose="05000000000000000000" pitchFamily="2" charset="2"/>
              <a:buChar char="Ø"/>
            </a:pPr>
            <a:r>
              <a:rPr lang="zh-CN" altLang="en-US" b="1" dirty="0"/>
              <a:t>电信、交通、零售</a:t>
            </a:r>
            <a:endParaRPr lang="zh-CN" altLang="en-US" b="1" dirty="0"/>
          </a:p>
          <a:p>
            <a:pPr lvl="1" eaLnBrk="1" hangingPunct="1">
              <a:lnSpc>
                <a:spcPct val="90000"/>
              </a:lnSpc>
              <a:buFont typeface="Wingdings" panose="05000000000000000000" pitchFamily="2" charset="2"/>
              <a:buChar char="Ø"/>
            </a:pPr>
            <a:r>
              <a:rPr lang="zh-CN" altLang="en-US" b="1" dirty="0"/>
              <a:t>基于</a:t>
            </a:r>
            <a:r>
              <a:rPr lang="en-US" altLang="zh-CN" b="1" dirty="0"/>
              <a:t>Web</a:t>
            </a:r>
            <a:r>
              <a:rPr lang="zh-CN" altLang="en-US" b="1" dirty="0"/>
              <a:t>的服务</a:t>
            </a:r>
            <a:endParaRPr lang="zh-CN" altLang="en-US" b="1" dirty="0"/>
          </a:p>
          <a:p>
            <a:pPr eaLnBrk="1" hangingPunct="1">
              <a:lnSpc>
                <a:spcPct val="90000"/>
              </a:lnSpc>
              <a:buFont typeface="Wingdings" panose="05000000000000000000" pitchFamily="2" charset="2"/>
              <a:buChar char="Ø"/>
            </a:pPr>
            <a:r>
              <a:rPr lang="en-US" altLang="zh-CN" b="1" dirty="0"/>
              <a:t>UML</a:t>
            </a:r>
            <a:r>
              <a:rPr lang="zh-CN" altLang="en-US" b="1" dirty="0"/>
              <a:t>还可以描述非软件系统</a:t>
            </a:r>
            <a:r>
              <a:rPr lang="en-US" altLang="zh-CN" b="1" dirty="0"/>
              <a:t>, </a:t>
            </a:r>
            <a:r>
              <a:rPr lang="zh-CN" altLang="en-US" b="1" dirty="0"/>
              <a:t>如机构组成或工作流等</a:t>
            </a:r>
            <a:endParaRPr lang="zh-CN" altLang="en-US" b="1" dirty="0"/>
          </a:p>
          <a:p>
            <a:pPr eaLnBrk="1" hangingPunct="1">
              <a:lnSpc>
                <a:spcPct val="90000"/>
              </a:lnSpc>
              <a:buFont typeface="Wingdings" panose="05000000000000000000" pitchFamily="2" charset="2"/>
              <a:buChar char="Ø"/>
            </a:pPr>
            <a:r>
              <a:rPr lang="en-US" altLang="zh-CN" b="1" dirty="0"/>
              <a:t>UML</a:t>
            </a:r>
            <a:r>
              <a:rPr lang="zh-CN" altLang="en-US" b="1" dirty="0"/>
              <a:t>可以应用于系统开发的各个阶段</a:t>
            </a:r>
            <a:endParaRPr lang="zh-CN" altLang="en-US" b="1" dirty="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灯片编号占位符 1"/>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A2D79E1-C6F3-4917-B23D-AB477356B418}"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88067" name="Rectangle 2"/>
          <p:cNvSpPr>
            <a:spLocks noGrp="1"/>
          </p:cNvSpPr>
          <p:nvPr>
            <p:ph type="title" idx="4294967295"/>
          </p:nvPr>
        </p:nvSpPr>
        <p:spPr/>
        <p:txBody>
          <a:bodyPr vert="horz" wrap="square" lIns="91440" tIns="45720" rIns="91440" bIns="45720" anchor="ctr"/>
          <a:lstStyle/>
          <a:p>
            <a:pPr eaLnBrk="1" hangingPunct="1"/>
            <a:r>
              <a:rPr lang="en-US" altLang="zh-CN" dirty="0"/>
              <a:t>3.7 </a:t>
            </a:r>
            <a:r>
              <a:rPr lang="zh-CN" altLang="en-US" dirty="0"/>
              <a:t>一个</a:t>
            </a:r>
            <a:r>
              <a:rPr lang="en-US" altLang="zh-CN" dirty="0"/>
              <a:t>UML</a:t>
            </a:r>
            <a:r>
              <a:rPr lang="zh-CN" altLang="en-US" dirty="0"/>
              <a:t>的例子</a:t>
            </a:r>
            <a:endParaRPr lang="zh-CN" altLang="en-US" dirty="0"/>
          </a:p>
        </p:txBody>
      </p:sp>
      <p:sp>
        <p:nvSpPr>
          <p:cNvPr id="88068" name="Text Box 3"/>
          <p:cNvSpPr txBox="1"/>
          <p:nvPr/>
        </p:nvSpPr>
        <p:spPr>
          <a:xfrm>
            <a:off x="574675" y="1916113"/>
            <a:ext cx="7002463" cy="3597275"/>
          </a:xfrm>
          <a:prstGeom prst="rect">
            <a:avLst/>
          </a:prstGeom>
          <a:noFill/>
          <a:ln w="9525">
            <a:noFill/>
          </a:ln>
        </p:spPr>
        <p:txBody>
          <a:bodyPr lIns="90000" tIns="46800" rIns="90000" bIns="46800">
            <a:spAutoFit/>
          </a:bodyPr>
          <a:lstStyle/>
          <a:p>
            <a:pPr eaLnBrk="1" hangingPunct="1">
              <a:lnSpc>
                <a:spcPct val="120000"/>
              </a:lnSpc>
              <a:buFont typeface="Arial" panose="020B0604020202020204" pitchFamily="34" charset="0"/>
            </a:pPr>
            <a:r>
              <a:rPr lang="en-US" altLang="zh-CN" sz="2400" dirty="0">
                <a:latin typeface="Arial" panose="020B0604020202020204" pitchFamily="34" charset="0"/>
              </a:rPr>
              <a:t>import java.awt.Graphics;</a:t>
            </a:r>
            <a:endParaRPr lang="en-US" altLang="zh-CN" sz="2400" dirty="0">
              <a:latin typeface="Arial" panose="020B0604020202020204" pitchFamily="34" charset="0"/>
            </a:endParaRPr>
          </a:p>
          <a:p>
            <a:pPr eaLnBrk="1" hangingPunct="1">
              <a:lnSpc>
                <a:spcPct val="120000"/>
              </a:lnSpc>
              <a:buFont typeface="Arial" panose="020B0604020202020204" pitchFamily="34" charset="0"/>
            </a:pPr>
            <a:r>
              <a:rPr lang="en-US" altLang="zh-CN" sz="2400" dirty="0">
                <a:latin typeface="Arial" panose="020B0604020202020204" pitchFamily="34" charset="0"/>
              </a:rPr>
              <a:t>class HelloWorld extends java.applet.Applet</a:t>
            </a:r>
            <a:endParaRPr lang="en-US" altLang="zh-CN" sz="2400" dirty="0">
              <a:latin typeface="Arial" panose="020B0604020202020204" pitchFamily="34" charset="0"/>
            </a:endParaRPr>
          </a:p>
          <a:p>
            <a:pPr eaLnBrk="1" hangingPunct="1">
              <a:lnSpc>
                <a:spcPct val="120000"/>
              </a:lnSpc>
              <a:buFont typeface="Arial" panose="020B0604020202020204" pitchFamily="34" charset="0"/>
            </a:pPr>
            <a:r>
              <a:rPr lang="en-US" altLang="zh-CN" sz="2400" dirty="0">
                <a:latin typeface="Arial" panose="020B0604020202020204" pitchFamily="34" charset="0"/>
              </a:rPr>
              <a:t>{</a:t>
            </a:r>
            <a:endParaRPr lang="en-US" altLang="zh-CN" sz="2400" dirty="0">
              <a:latin typeface="Arial" panose="020B0604020202020204" pitchFamily="34" charset="0"/>
            </a:endParaRPr>
          </a:p>
          <a:p>
            <a:pPr eaLnBrk="1" hangingPunct="1">
              <a:lnSpc>
                <a:spcPct val="120000"/>
              </a:lnSpc>
              <a:buFont typeface="Arial" panose="020B0604020202020204" pitchFamily="34" charset="0"/>
            </a:pPr>
            <a:r>
              <a:rPr lang="en-US" altLang="zh-CN" sz="2400" dirty="0">
                <a:latin typeface="Arial" panose="020B0604020202020204" pitchFamily="34" charset="0"/>
              </a:rPr>
              <a:t>    public void paint(Graphics g)</a:t>
            </a:r>
            <a:endParaRPr lang="en-US" altLang="zh-CN" sz="2400" dirty="0">
              <a:latin typeface="Arial" panose="020B0604020202020204" pitchFamily="34" charset="0"/>
            </a:endParaRPr>
          </a:p>
          <a:p>
            <a:pPr eaLnBrk="1" hangingPunct="1">
              <a:lnSpc>
                <a:spcPct val="120000"/>
              </a:lnSpc>
              <a:buFont typeface="Arial" panose="020B0604020202020204" pitchFamily="34" charset="0"/>
            </a:pPr>
            <a:r>
              <a:rPr lang="en-US" altLang="zh-CN" sz="2400" dirty="0">
                <a:latin typeface="Arial" panose="020B0604020202020204" pitchFamily="34" charset="0"/>
              </a:rPr>
              <a:t>    {</a:t>
            </a:r>
            <a:endParaRPr lang="en-US" altLang="zh-CN" sz="2400" dirty="0">
              <a:latin typeface="Arial" panose="020B0604020202020204" pitchFamily="34" charset="0"/>
            </a:endParaRPr>
          </a:p>
          <a:p>
            <a:pPr eaLnBrk="1" hangingPunct="1">
              <a:lnSpc>
                <a:spcPct val="120000"/>
              </a:lnSpc>
              <a:buFont typeface="Arial" panose="020B0604020202020204" pitchFamily="34" charset="0"/>
            </a:pPr>
            <a:r>
              <a:rPr lang="en-US" altLang="zh-CN" sz="2400" dirty="0">
                <a:latin typeface="Arial" panose="020B0604020202020204" pitchFamily="34" charset="0"/>
              </a:rPr>
              <a:t>        g.drawString(“Hello, World!”, 10, 10);</a:t>
            </a:r>
            <a:endParaRPr lang="en-US" altLang="zh-CN" sz="2400" dirty="0">
              <a:latin typeface="Arial" panose="020B0604020202020204" pitchFamily="34" charset="0"/>
            </a:endParaRPr>
          </a:p>
          <a:p>
            <a:pPr eaLnBrk="1" hangingPunct="1">
              <a:lnSpc>
                <a:spcPct val="120000"/>
              </a:lnSpc>
              <a:buFont typeface="Arial" panose="020B0604020202020204" pitchFamily="34" charset="0"/>
            </a:pPr>
            <a:r>
              <a:rPr lang="en-US" altLang="zh-CN" sz="2400" dirty="0">
                <a:latin typeface="Arial" panose="020B0604020202020204" pitchFamily="34" charset="0"/>
              </a:rPr>
              <a:t>    }</a:t>
            </a:r>
            <a:endParaRPr lang="en-US" altLang="zh-CN" sz="2400" dirty="0">
              <a:latin typeface="Arial" panose="020B0604020202020204" pitchFamily="34" charset="0"/>
            </a:endParaRPr>
          </a:p>
          <a:p>
            <a:pPr eaLnBrk="1" hangingPunct="1">
              <a:lnSpc>
                <a:spcPct val="120000"/>
              </a:lnSpc>
              <a:buFont typeface="Arial" panose="020B0604020202020204" pitchFamily="34" charset="0"/>
            </a:pPr>
            <a:r>
              <a:rPr lang="en-US" altLang="zh-CN" sz="2400" dirty="0">
                <a:latin typeface="Arial" panose="020B0604020202020204" pitchFamily="34" charset="0"/>
              </a:rPr>
              <a:t>}</a:t>
            </a:r>
            <a:endParaRPr lang="en-US" altLang="zh-CN" sz="2400" dirty="0">
              <a:latin typeface="Arial" panose="020B0604020202020204" pitchFamily="34" charset="0"/>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1"/>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048DD96-8B58-4579-879E-A34A88361F69}"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89091" name="Rectangle 2"/>
          <p:cNvSpPr>
            <a:spLocks noGrp="1"/>
          </p:cNvSpPr>
          <p:nvPr>
            <p:ph type="title" idx="4294967295"/>
          </p:nvPr>
        </p:nvSpPr>
        <p:spPr/>
        <p:txBody>
          <a:bodyPr vert="horz" wrap="square" lIns="91440" tIns="45720" rIns="91440" bIns="45720" anchor="ctr"/>
          <a:lstStyle/>
          <a:p>
            <a:pPr eaLnBrk="1" hangingPunct="1"/>
            <a:r>
              <a:rPr lang="en-US" altLang="zh-CN" dirty="0"/>
              <a:t>HelloWorld</a:t>
            </a:r>
            <a:r>
              <a:rPr lang="zh-CN" altLang="en-US" dirty="0"/>
              <a:t>类图 </a:t>
            </a:r>
            <a:r>
              <a:rPr lang="en-US" altLang="zh-CN" dirty="0"/>
              <a:t>1</a:t>
            </a:r>
            <a:endParaRPr lang="en-US" altLang="zh-CN" dirty="0"/>
          </a:p>
        </p:txBody>
      </p:sp>
      <p:pic>
        <p:nvPicPr>
          <p:cNvPr id="89092" name="Picture 3" descr="HelloWorld1"/>
          <p:cNvPicPr>
            <a:picLocks noChangeAspect="1"/>
          </p:cNvPicPr>
          <p:nvPr/>
        </p:nvPicPr>
        <p:blipFill>
          <a:blip r:embed="rId1"/>
          <a:stretch>
            <a:fillRect/>
          </a:stretch>
        </p:blipFill>
        <p:spPr>
          <a:xfrm>
            <a:off x="323850" y="2349500"/>
            <a:ext cx="8496300" cy="1654175"/>
          </a:xfrm>
          <a:prstGeom prst="rect">
            <a:avLst/>
          </a:prstGeom>
          <a:noFill/>
          <a:ln w="9525">
            <a:noFill/>
          </a:ln>
        </p:spPr>
      </p:pic>
      <p:sp>
        <p:nvSpPr>
          <p:cNvPr id="89093" name="AutoShape 4"/>
          <p:cNvSpPr/>
          <p:nvPr/>
        </p:nvSpPr>
        <p:spPr>
          <a:xfrm>
            <a:off x="2555875" y="3860800"/>
            <a:ext cx="914400" cy="609600"/>
          </a:xfrm>
          <a:prstGeom prst="wedgeRoundRectCallout">
            <a:avLst>
              <a:gd name="adj1" fmla="val -42708"/>
              <a:gd name="adj2" fmla="val -93750"/>
              <a:gd name="adj3" fmla="val 16667"/>
            </a:avLst>
          </a:prstGeom>
          <a:noFill/>
          <a:ln w="9525" cap="flat" cmpd="sng">
            <a:solidFill>
              <a:schemeClr val="tx1"/>
            </a:solidFill>
            <a:prstDash val="solid"/>
            <a:miter/>
            <a:headEnd type="none" w="med" len="med"/>
            <a:tailEnd type="none" w="med" len="med"/>
          </a:ln>
        </p:spPr>
        <p:txBody>
          <a:bodyPr lIns="90000" tIns="46800" rIns="90000" bIns="46800"/>
          <a:lstStyle/>
          <a:p>
            <a:pPr algn="ctr" eaLnBrk="1" hangingPunct="1">
              <a:buFont typeface="Arial" panose="020B0604020202020204" pitchFamily="34" charset="0"/>
            </a:pPr>
            <a:r>
              <a:rPr lang="zh-CN" altLang="en-US" sz="2800" dirty="0">
                <a:latin typeface="Arial" panose="020B0604020202020204" pitchFamily="34" charset="0"/>
                <a:ea typeface="华文新魏" panose="02010800040101010101" pitchFamily="2" charset="-122"/>
              </a:rPr>
              <a:t>类</a:t>
            </a:r>
            <a:endParaRPr lang="zh-CN" altLang="en-US" sz="2800" dirty="0">
              <a:latin typeface="Arial" panose="020B0604020202020204" pitchFamily="34" charset="0"/>
              <a:ea typeface="华文新魏" panose="02010800040101010101" pitchFamily="2" charset="-122"/>
            </a:endParaRPr>
          </a:p>
        </p:txBody>
      </p:sp>
      <p:sp>
        <p:nvSpPr>
          <p:cNvPr id="89094" name="AutoShape 5"/>
          <p:cNvSpPr/>
          <p:nvPr/>
        </p:nvSpPr>
        <p:spPr>
          <a:xfrm>
            <a:off x="5580063" y="3933825"/>
            <a:ext cx="1800225" cy="609600"/>
          </a:xfrm>
          <a:prstGeom prst="wedgeRoundRectCallout">
            <a:avLst>
              <a:gd name="adj1" fmla="val -49120"/>
              <a:gd name="adj2" fmla="val -158333"/>
              <a:gd name="adj3" fmla="val 16667"/>
            </a:avLst>
          </a:prstGeom>
          <a:noFill/>
          <a:ln w="9525" cap="flat" cmpd="sng">
            <a:solidFill>
              <a:schemeClr val="tx1"/>
            </a:solidFill>
            <a:prstDash val="solid"/>
            <a:miter/>
            <a:headEnd type="none" w="med" len="med"/>
            <a:tailEnd type="none" w="med" len="med"/>
          </a:ln>
        </p:spPr>
        <p:txBody>
          <a:bodyPr lIns="90000" tIns="46800" rIns="90000" bIns="46800"/>
          <a:lstStyle/>
          <a:p>
            <a:pPr algn="ctr" eaLnBrk="1" hangingPunct="1">
              <a:buFont typeface="Arial" panose="020B0604020202020204" pitchFamily="34" charset="0"/>
            </a:pPr>
            <a:r>
              <a:rPr lang="zh-CN" altLang="en-US" sz="2800" dirty="0">
                <a:latin typeface="Arial" panose="020B0604020202020204" pitchFamily="34" charset="0"/>
                <a:ea typeface="华文新魏" panose="02010800040101010101" pitchFamily="2" charset="-122"/>
              </a:rPr>
              <a:t>注释</a:t>
            </a:r>
            <a:endParaRPr lang="zh-CN" altLang="en-US" sz="2800" dirty="0">
              <a:latin typeface="Arial" panose="020B0604020202020204" pitchFamily="34" charset="0"/>
              <a:ea typeface="华文新魏" panose="02010800040101010101" pitchFamily="2" charset="-122"/>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灯片编号占位符 1"/>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AA535C5-7989-4F78-8BBB-8F0F03943F7A}"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pic>
        <p:nvPicPr>
          <p:cNvPr id="90115" name="Picture 2" descr="HelloWorld2"/>
          <p:cNvPicPr>
            <a:picLocks noChangeAspect="1"/>
          </p:cNvPicPr>
          <p:nvPr/>
        </p:nvPicPr>
        <p:blipFill>
          <a:blip r:embed="rId1"/>
          <a:stretch>
            <a:fillRect/>
          </a:stretch>
        </p:blipFill>
        <p:spPr>
          <a:xfrm>
            <a:off x="684213" y="1341438"/>
            <a:ext cx="7561262" cy="3606800"/>
          </a:xfrm>
          <a:prstGeom prst="rect">
            <a:avLst/>
          </a:prstGeom>
          <a:noFill/>
          <a:ln w="9525">
            <a:noFill/>
          </a:ln>
        </p:spPr>
      </p:pic>
      <p:sp>
        <p:nvSpPr>
          <p:cNvPr id="90116" name="Rectangle 3"/>
          <p:cNvSpPr>
            <a:spLocks noGrp="1"/>
          </p:cNvSpPr>
          <p:nvPr>
            <p:ph type="title" idx="4294967295"/>
          </p:nvPr>
        </p:nvSpPr>
        <p:spPr/>
        <p:txBody>
          <a:bodyPr vert="horz" wrap="square" lIns="91440" tIns="45720" rIns="91440" bIns="45720" anchor="ctr"/>
          <a:lstStyle/>
          <a:p>
            <a:pPr eaLnBrk="1" hangingPunct="1"/>
            <a:r>
              <a:rPr lang="en-US" altLang="zh-CN" dirty="0"/>
              <a:t>HelloWorld</a:t>
            </a:r>
            <a:r>
              <a:rPr lang="zh-CN" altLang="en-US" dirty="0"/>
              <a:t>类图 </a:t>
            </a:r>
            <a:r>
              <a:rPr lang="en-US" altLang="zh-CN" dirty="0"/>
              <a:t>2</a:t>
            </a:r>
            <a:endParaRPr lang="en-US" altLang="zh-CN" dirty="0"/>
          </a:p>
        </p:txBody>
      </p:sp>
      <p:sp>
        <p:nvSpPr>
          <p:cNvPr id="90117" name="AutoShape 4"/>
          <p:cNvSpPr/>
          <p:nvPr/>
        </p:nvSpPr>
        <p:spPr>
          <a:xfrm>
            <a:off x="1476375" y="1700213"/>
            <a:ext cx="1800225" cy="609600"/>
          </a:xfrm>
          <a:prstGeom prst="wedgeRoundRectCallout">
            <a:avLst>
              <a:gd name="adj1" fmla="val 85889"/>
              <a:gd name="adj2" fmla="val 146616"/>
              <a:gd name="adj3" fmla="val 16667"/>
            </a:avLst>
          </a:prstGeom>
          <a:noFill/>
          <a:ln w="9525" cap="flat" cmpd="sng">
            <a:solidFill>
              <a:schemeClr val="tx1"/>
            </a:solidFill>
            <a:prstDash val="solid"/>
            <a:miter/>
            <a:headEnd type="none" w="med" len="med"/>
            <a:tailEnd type="none" w="med" len="med"/>
          </a:ln>
        </p:spPr>
        <p:txBody>
          <a:bodyPr lIns="90000" tIns="46800" rIns="90000" bIns="46800"/>
          <a:lstStyle/>
          <a:p>
            <a:pPr algn="ctr" eaLnBrk="1" hangingPunct="1">
              <a:buFont typeface="Arial" panose="020B0604020202020204" pitchFamily="34" charset="0"/>
            </a:pPr>
            <a:r>
              <a:rPr lang="zh-CN" altLang="en-US" sz="2800" dirty="0">
                <a:latin typeface="Arial" panose="020B0604020202020204" pitchFamily="34" charset="0"/>
                <a:ea typeface="华文新魏" panose="02010800040101010101" pitchFamily="2" charset="-122"/>
              </a:rPr>
              <a:t>继承关系</a:t>
            </a:r>
            <a:endParaRPr lang="zh-CN" altLang="en-US" sz="2800" dirty="0">
              <a:latin typeface="Arial" panose="020B0604020202020204" pitchFamily="34" charset="0"/>
              <a:ea typeface="华文新魏" panose="02010800040101010101" pitchFamily="2" charset="-122"/>
            </a:endParaRPr>
          </a:p>
        </p:txBody>
      </p:sp>
      <p:sp>
        <p:nvSpPr>
          <p:cNvPr id="90118" name="AutoShape 5"/>
          <p:cNvSpPr/>
          <p:nvPr/>
        </p:nvSpPr>
        <p:spPr>
          <a:xfrm>
            <a:off x="4716463" y="4581525"/>
            <a:ext cx="1800225" cy="609600"/>
          </a:xfrm>
          <a:prstGeom prst="wedgeRoundRectCallout">
            <a:avLst>
              <a:gd name="adj1" fmla="val -48236"/>
              <a:gd name="adj2" fmla="val -135417"/>
              <a:gd name="adj3" fmla="val 16667"/>
            </a:avLst>
          </a:prstGeom>
          <a:noFill/>
          <a:ln w="9525" cap="flat" cmpd="sng">
            <a:solidFill>
              <a:schemeClr val="tx1"/>
            </a:solidFill>
            <a:prstDash val="solid"/>
            <a:miter/>
            <a:headEnd type="none" w="med" len="med"/>
            <a:tailEnd type="none" w="med" len="med"/>
          </a:ln>
        </p:spPr>
        <p:txBody>
          <a:bodyPr lIns="90000" tIns="46800" rIns="90000" bIns="46800"/>
          <a:lstStyle/>
          <a:p>
            <a:pPr algn="ctr" eaLnBrk="1" hangingPunct="1">
              <a:buFont typeface="Arial" panose="020B0604020202020204" pitchFamily="34" charset="0"/>
            </a:pPr>
            <a:r>
              <a:rPr lang="zh-CN" altLang="en-US" sz="2800" dirty="0">
                <a:latin typeface="Arial" panose="020B0604020202020204" pitchFamily="34" charset="0"/>
                <a:ea typeface="华文新魏" panose="02010800040101010101" pitchFamily="2" charset="-122"/>
              </a:rPr>
              <a:t>依赖关系</a:t>
            </a:r>
            <a:endParaRPr lang="zh-CN" altLang="en-US" sz="2800" dirty="0">
              <a:latin typeface="Arial" panose="020B0604020202020204" pitchFamily="34" charset="0"/>
              <a:ea typeface="华文新魏" panose="02010800040101010101" pitchFamily="2"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灯片编号占位符 1"/>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D1BFF0A-6244-45F5-B193-707C74CDDF53}"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91139" name="Rectangle 2"/>
          <p:cNvSpPr>
            <a:spLocks noGrp="1"/>
          </p:cNvSpPr>
          <p:nvPr>
            <p:ph type="title" idx="4294967295"/>
          </p:nvPr>
        </p:nvSpPr>
        <p:spPr/>
        <p:txBody>
          <a:bodyPr vert="horz" wrap="square" lIns="91440" tIns="45720" rIns="91440" bIns="45720" anchor="ctr"/>
          <a:lstStyle/>
          <a:p>
            <a:pPr eaLnBrk="1" hangingPunct="1"/>
            <a:r>
              <a:rPr lang="en-US" altLang="zh-CN" sz="3400" dirty="0"/>
              <a:t>HelloWorld</a:t>
            </a:r>
            <a:r>
              <a:rPr lang="zh-CN" altLang="en-US" sz="3400" dirty="0"/>
              <a:t>构件图</a:t>
            </a:r>
            <a:endParaRPr lang="zh-CN" altLang="en-US" sz="3400" dirty="0"/>
          </a:p>
        </p:txBody>
      </p:sp>
      <p:pic>
        <p:nvPicPr>
          <p:cNvPr id="91140" name="Picture 3" descr="helloC"/>
          <p:cNvPicPr>
            <a:picLocks noChangeAspect="1"/>
          </p:cNvPicPr>
          <p:nvPr/>
        </p:nvPicPr>
        <p:blipFill>
          <a:blip r:embed="rId1"/>
          <a:stretch>
            <a:fillRect/>
          </a:stretch>
        </p:blipFill>
        <p:spPr>
          <a:xfrm>
            <a:off x="395288" y="1341438"/>
            <a:ext cx="8137525" cy="3311525"/>
          </a:xfrm>
          <a:prstGeom prst="rect">
            <a:avLst/>
          </a:prstGeom>
          <a:noFill/>
          <a:ln w="9525">
            <a:noFill/>
          </a:ln>
        </p:spPr>
      </p:pic>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灯片编号占位符 1"/>
          <p:cNvSpPr txBox="1">
            <a:spLocks noGrp="1" noChangeArrowheads="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636137-BC45-4697-903C-7907B92A4525}" type="slidenum">
              <a:rPr kumimoji="0" lang="zh-CN" altLang="en-US" sz="1200" b="0" i="0" u="none" strike="noStrike" kern="1200" cap="none" spc="0" normalizeH="0" baseline="0" noProof="1" dirty="0" smtClean="0">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smtClean="0">
              <a:ln>
                <a:noFill/>
              </a:ln>
              <a:solidFill>
                <a:schemeClr val="tx1"/>
              </a:solidFill>
              <a:effectLst/>
              <a:uLnTx/>
              <a:uFillTx/>
              <a:latin typeface="Verdana" panose="020B0604030504040204" pitchFamily="34" charset="0"/>
              <a:ea typeface="宋体" panose="02010600030101010101" pitchFamily="2" charset="-122"/>
              <a:cs typeface="+mn-ea"/>
            </a:endParaRPr>
          </a:p>
        </p:txBody>
      </p:sp>
      <p:sp>
        <p:nvSpPr>
          <p:cNvPr id="92163" name="Rectangle 2"/>
          <p:cNvSpPr>
            <a:spLocks noGrp="1"/>
          </p:cNvSpPr>
          <p:nvPr>
            <p:ph type="title" idx="4294967295"/>
          </p:nvPr>
        </p:nvSpPr>
        <p:spPr/>
        <p:txBody>
          <a:bodyPr vert="horz" wrap="square" lIns="91440" tIns="45720" rIns="91440" bIns="45720" anchor="ctr"/>
          <a:lstStyle/>
          <a:p>
            <a:pPr eaLnBrk="1" hangingPunct="1"/>
            <a:r>
              <a:rPr lang="en-US" altLang="zh-CN" b="1" dirty="0"/>
              <a:t>3.8 </a:t>
            </a:r>
            <a:r>
              <a:rPr lang="zh-CN" altLang="en-US" b="1" dirty="0"/>
              <a:t>小结</a:t>
            </a:r>
            <a:endParaRPr lang="zh-CN" altLang="en-US" b="1" dirty="0"/>
          </a:p>
        </p:txBody>
      </p:sp>
      <p:sp>
        <p:nvSpPr>
          <p:cNvPr id="92164" name="Rectangle 3"/>
          <p:cNvSpPr>
            <a:spLocks noGrp="1"/>
          </p:cNvSpPr>
          <p:nvPr>
            <p:ph type="body" idx="4294967295"/>
          </p:nvPr>
        </p:nvSpPr>
        <p:spPr>
          <a:xfrm>
            <a:off x="250825" y="1981200"/>
            <a:ext cx="8893175" cy="4400550"/>
          </a:xfrm>
        </p:spPr>
        <p:txBody>
          <a:bodyPr vert="horz" wrap="square" lIns="91440" tIns="45720" rIns="91440" bIns="45720" anchor="t"/>
          <a:lstStyle/>
          <a:p>
            <a:pPr eaLnBrk="1" hangingPunct="1"/>
            <a:r>
              <a:rPr lang="zh-CN" altLang="en-US" b="1" dirty="0">
                <a:latin typeface="微软雅黑 Light" panose="020B0502040204020203" charset="-122"/>
                <a:ea typeface="微软雅黑 Light" panose="020B0502040204020203" charset="-122"/>
                <a:cs typeface="微软雅黑 Light" panose="020B0502040204020203" charset="-122"/>
              </a:rPr>
              <a:t>理解建模的意义，在系统分析和设计时，</a:t>
            </a:r>
            <a:r>
              <a:rPr lang="en-US" altLang="zh-CN" b="1" dirty="0">
                <a:latin typeface="微软雅黑 Light" panose="020B0502040204020203" charset="-122"/>
                <a:ea typeface="微软雅黑 Light" panose="020B0502040204020203" charset="-122"/>
                <a:cs typeface="微软雅黑 Light" panose="020B0502040204020203" charset="-122"/>
              </a:rPr>
              <a:t>UML</a:t>
            </a:r>
            <a:r>
              <a:rPr lang="zh-CN" altLang="en-US" b="1" dirty="0">
                <a:latin typeface="微软雅黑 Light" panose="020B0502040204020203" charset="-122"/>
                <a:ea typeface="微软雅黑 Light" panose="020B0502040204020203" charset="-122"/>
                <a:cs typeface="微软雅黑 Light" panose="020B0502040204020203" charset="-122"/>
              </a:rPr>
              <a:t>作用非常重要。</a:t>
            </a:r>
            <a:endParaRPr lang="zh-CN" altLang="en-US" b="1" dirty="0">
              <a:latin typeface="微软雅黑 Light" panose="020B0502040204020203" charset="-122"/>
              <a:ea typeface="微软雅黑 Light" panose="020B0502040204020203" charset="-122"/>
              <a:cs typeface="微软雅黑 Light" panose="020B0502040204020203" charset="-122"/>
            </a:endParaRPr>
          </a:p>
          <a:p>
            <a:pPr eaLnBrk="1" hangingPunct="1"/>
            <a:r>
              <a:rPr lang="zh-CN" altLang="en-US" b="1" dirty="0">
                <a:latin typeface="微软雅黑 Light" panose="020B0502040204020203" charset="-122"/>
                <a:ea typeface="微软雅黑 Light" panose="020B0502040204020203" charset="-122"/>
                <a:cs typeface="微软雅黑 Light" panose="020B0502040204020203" charset="-122"/>
              </a:rPr>
              <a:t>了解</a:t>
            </a:r>
            <a:r>
              <a:rPr lang="en-US" altLang="zh-CN" b="1" dirty="0">
                <a:latin typeface="微软雅黑 Light" panose="020B0502040204020203" charset="-122"/>
                <a:ea typeface="微软雅黑 Light" panose="020B0502040204020203" charset="-122"/>
                <a:cs typeface="微软雅黑 Light" panose="020B0502040204020203" charset="-122"/>
              </a:rPr>
              <a:t>UML</a:t>
            </a:r>
            <a:r>
              <a:rPr lang="zh-CN" altLang="en-US" b="1" dirty="0">
                <a:latin typeface="微软雅黑 Light" panose="020B0502040204020203" charset="-122"/>
                <a:ea typeface="微软雅黑 Light" panose="020B0502040204020203" charset="-122"/>
                <a:cs typeface="微软雅黑 Light" panose="020B0502040204020203" charset="-122"/>
              </a:rPr>
              <a:t>发展历史，最初由三位专家设计，</a:t>
            </a:r>
            <a:r>
              <a:rPr lang="en-US" altLang="zh-CN" b="1" dirty="0">
                <a:latin typeface="微软雅黑 Light" panose="020B0502040204020203" charset="-122"/>
                <a:ea typeface="微软雅黑 Light" panose="020B0502040204020203" charset="-122"/>
                <a:cs typeface="微软雅黑 Light" panose="020B0502040204020203" charset="-122"/>
              </a:rPr>
              <a:t>UML</a:t>
            </a:r>
            <a:r>
              <a:rPr lang="zh-CN" altLang="en-US" b="1" dirty="0">
                <a:latin typeface="微软雅黑 Light" panose="020B0502040204020203" charset="-122"/>
                <a:ea typeface="微软雅黑 Light" panose="020B0502040204020203" charset="-122"/>
                <a:cs typeface="微软雅黑 Light" panose="020B0502040204020203" charset="-122"/>
              </a:rPr>
              <a:t>的出现结束了</a:t>
            </a:r>
            <a:r>
              <a:rPr lang="en-US" altLang="zh-CN" b="1" dirty="0">
                <a:latin typeface="微软雅黑 Light" panose="020B0502040204020203" charset="-122"/>
                <a:ea typeface="微软雅黑 Light" panose="020B0502040204020203" charset="-122"/>
                <a:cs typeface="微软雅黑 Light" panose="020B0502040204020203" charset="-122"/>
              </a:rPr>
              <a:t>OO</a:t>
            </a:r>
            <a:r>
              <a:rPr lang="zh-CN" altLang="en-US" b="1" dirty="0">
                <a:latin typeface="微软雅黑 Light" panose="020B0502040204020203" charset="-122"/>
                <a:ea typeface="微软雅黑 Light" panose="020B0502040204020203" charset="-122"/>
                <a:cs typeface="微软雅黑 Light" panose="020B0502040204020203" charset="-122"/>
              </a:rPr>
              <a:t>领域中的方法大战。</a:t>
            </a:r>
            <a:endParaRPr lang="zh-CN" altLang="en-US" b="1" dirty="0">
              <a:latin typeface="微软雅黑 Light" panose="020B0502040204020203" charset="-122"/>
              <a:ea typeface="微软雅黑 Light" panose="020B0502040204020203" charset="-122"/>
              <a:cs typeface="微软雅黑 Light" panose="020B0502040204020203" charset="-122"/>
            </a:endParaRPr>
          </a:p>
          <a:p>
            <a:pPr eaLnBrk="1" hangingPunct="1"/>
            <a:r>
              <a:rPr lang="zh-CN" altLang="en-US" b="1" dirty="0">
                <a:latin typeface="微软雅黑 Light" panose="020B0502040204020203" charset="-122"/>
                <a:ea typeface="微软雅黑 Light" panose="020B0502040204020203" charset="-122"/>
                <a:cs typeface="微软雅黑 Light" panose="020B0502040204020203" charset="-122"/>
              </a:rPr>
              <a:t>理解</a:t>
            </a:r>
            <a:r>
              <a:rPr lang="en-US" altLang="zh-CN" b="1" dirty="0">
                <a:latin typeface="微软雅黑 Light" panose="020B0502040204020203" charset="-122"/>
                <a:ea typeface="微软雅黑 Light" panose="020B0502040204020203" charset="-122"/>
                <a:cs typeface="微软雅黑 Light" panose="020B0502040204020203" charset="-122"/>
              </a:rPr>
              <a:t>UML</a:t>
            </a:r>
            <a:r>
              <a:rPr lang="zh-CN" altLang="en-US" b="1" dirty="0">
                <a:latin typeface="微软雅黑 Light" panose="020B0502040204020203" charset="-122"/>
                <a:ea typeface="微软雅黑 Light" panose="020B0502040204020203" charset="-122"/>
                <a:cs typeface="微软雅黑 Light" panose="020B0502040204020203" charset="-122"/>
              </a:rPr>
              <a:t>的特点</a:t>
            </a:r>
            <a:endParaRPr lang="zh-CN" altLang="en-US" b="1" dirty="0">
              <a:latin typeface="微软雅黑 Light" panose="020B0502040204020203" charset="-122"/>
              <a:ea typeface="微软雅黑 Light" panose="020B0502040204020203" charset="-122"/>
              <a:cs typeface="微软雅黑 Light" panose="020B0502040204020203" charset="-122"/>
            </a:endParaRPr>
          </a:p>
          <a:p>
            <a:pPr eaLnBrk="1" hangingPunct="1"/>
            <a:r>
              <a:rPr lang="zh-CN" altLang="en-US" b="1" dirty="0">
                <a:latin typeface="微软雅黑 Light" panose="020B0502040204020203" charset="-122"/>
                <a:ea typeface="微软雅黑 Light" panose="020B0502040204020203" charset="-122"/>
                <a:cs typeface="微软雅黑 Light" panose="020B0502040204020203" charset="-122"/>
              </a:rPr>
              <a:t>了解</a:t>
            </a:r>
            <a:r>
              <a:rPr lang="en-US" altLang="zh-CN" b="1" dirty="0">
                <a:latin typeface="微软雅黑 Light" panose="020B0502040204020203" charset="-122"/>
                <a:ea typeface="微软雅黑 Light" panose="020B0502040204020203" charset="-122"/>
                <a:cs typeface="微软雅黑 Light" panose="020B0502040204020203" charset="-122"/>
              </a:rPr>
              <a:t>UML</a:t>
            </a:r>
            <a:r>
              <a:rPr lang="zh-CN" altLang="en-US" b="1" dirty="0">
                <a:latin typeface="微软雅黑 Light" panose="020B0502040204020203" charset="-122"/>
                <a:ea typeface="微软雅黑 Light" panose="020B0502040204020203" charset="-122"/>
                <a:cs typeface="微软雅黑 Light" panose="020B0502040204020203" charset="-122"/>
              </a:rPr>
              <a:t>的组成</a:t>
            </a:r>
            <a:endParaRPr lang="zh-CN" altLang="en-US" b="1" dirty="0">
              <a:latin typeface="微软雅黑 Light" panose="020B0502040204020203" charset="-122"/>
              <a:ea typeface="微软雅黑 Light" panose="020B0502040204020203" charset="-122"/>
              <a:cs typeface="微软雅黑 Light" panose="020B0502040204020203" charset="-122"/>
            </a:endParaRPr>
          </a:p>
          <a:p>
            <a:pPr eaLnBrk="1" hangingPunct="1"/>
            <a:r>
              <a:rPr lang="zh-CN" altLang="en-US" b="1" dirty="0">
                <a:latin typeface="微软雅黑 Light" panose="020B0502040204020203" charset="-122"/>
                <a:ea typeface="微软雅黑 Light" panose="020B0502040204020203" charset="-122"/>
                <a:cs typeface="微软雅黑 Light" panose="020B0502040204020203" charset="-122"/>
              </a:rPr>
              <a:t>理解</a:t>
            </a:r>
            <a:r>
              <a:rPr lang="en-US" altLang="zh-CN" b="1" dirty="0">
                <a:latin typeface="微软雅黑 Light" panose="020B0502040204020203" charset="-122"/>
                <a:ea typeface="微软雅黑 Light" panose="020B0502040204020203" charset="-122"/>
                <a:cs typeface="微软雅黑 Light" panose="020B0502040204020203" charset="-122"/>
              </a:rPr>
              <a:t>UML</a:t>
            </a:r>
            <a:r>
              <a:rPr lang="zh-CN" altLang="en-US" b="1" dirty="0">
                <a:latin typeface="微软雅黑 Light" panose="020B0502040204020203" charset="-122"/>
                <a:ea typeface="微软雅黑 Light" panose="020B0502040204020203" charset="-122"/>
                <a:cs typeface="微软雅黑 Light" panose="020B0502040204020203" charset="-122"/>
              </a:rPr>
              <a:t>的体系结构</a:t>
            </a:r>
            <a:endParaRPr lang="zh-CN" altLang="en-US" b="1" dirty="0">
              <a:latin typeface="微软雅黑 Light" panose="020B0502040204020203" charset="-122"/>
              <a:ea typeface="微软雅黑 Light" panose="020B0502040204020203" charset="-122"/>
              <a:cs typeface="微软雅黑 Light" panose="020B0502040204020203" charset="-122"/>
            </a:endParaRPr>
          </a:p>
        </p:txBody>
      </p:sp>
    </p:spTree>
  </p:cSld>
  <p:clrMapOvr>
    <a:masterClrMapping/>
  </p:clrMapOvr>
  <p:transition/>
</p:sld>
</file>

<file path=ppt/tags/tag1.xml><?xml version="1.0" encoding="utf-8"?>
<p:tagLst xmlns:p="http://schemas.openxmlformats.org/presentationml/2006/main">
  <p:tag name="commondata" val="eyJoZGlkIjoiZjhiYzBlYTI4MzZiM2ZkNzE5N2VlY2FkNmE3MGM3MzIifQ=="/>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6600</Words>
  <Application>WPS 演示</Application>
  <PresentationFormat>全屏显示(4:3)</PresentationFormat>
  <Paragraphs>593</Paragraphs>
  <Slides>63</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63</vt:i4>
      </vt:variant>
    </vt:vector>
  </HeadingPairs>
  <TitlesOfParts>
    <vt:vector size="83" baseType="lpstr">
      <vt:lpstr>Arial</vt:lpstr>
      <vt:lpstr>宋体</vt:lpstr>
      <vt:lpstr>Wingdings</vt:lpstr>
      <vt:lpstr>Verdana</vt:lpstr>
      <vt:lpstr>Times New Roman</vt:lpstr>
      <vt:lpstr>黑体</vt:lpstr>
      <vt:lpstr>楷体_GB2312</vt:lpstr>
      <vt:lpstr>新宋体</vt:lpstr>
      <vt:lpstr>Wingdings</vt:lpstr>
      <vt:lpstr>微软雅黑</vt:lpstr>
      <vt:lpstr>Wingdings</vt:lpstr>
      <vt:lpstr>Arial Unicode MS</vt:lpstr>
      <vt:lpstr>楷体_GB2312</vt:lpstr>
      <vt:lpstr>微软雅黑 Light</vt:lpstr>
      <vt:lpstr>华文新魏</vt:lpstr>
      <vt:lpstr>华文细黑</vt:lpstr>
      <vt:lpstr>隶书</vt:lpstr>
      <vt:lpstr>等线 Light</vt:lpstr>
      <vt:lpstr>等线</vt:lpstr>
      <vt:lpstr>Profile</vt:lpstr>
      <vt:lpstr>第三讲 统一建模语言UML</vt:lpstr>
      <vt:lpstr>PowerPoint 演示文稿</vt:lpstr>
      <vt:lpstr>PowerPoint 演示文稿</vt:lpstr>
      <vt:lpstr>PowerPoint 演示文稿</vt:lpstr>
      <vt:lpstr>3.1.2 建模的原理</vt:lpstr>
      <vt:lpstr>3.1.3 选择UML</vt:lpstr>
      <vt:lpstr>3.1.3 选择UML(Cont.)</vt:lpstr>
      <vt:lpstr>3.1.4  UML的特点</vt:lpstr>
      <vt:lpstr> 如何理解UML的特点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3.6 UML的应用领域</vt:lpstr>
      <vt:lpstr>3.7 一个UML的例子</vt:lpstr>
      <vt:lpstr>HelloWorld类图 1</vt:lpstr>
      <vt:lpstr>HelloWorld类图 2</vt:lpstr>
      <vt:lpstr>HelloWorld构件图</vt:lpstr>
      <vt:lpstr>3.8 小结</vt:lpstr>
    </vt:vector>
  </TitlesOfParts>
  <Company>elite</Company>
  <LinksUpToDate>false</LinksUpToDate>
  <SharedDoc>false</SharedDoc>
  <HyperlinksChanged>false</HyperlinksChanged>
  <AppVersion>14.0000</AppVersion>
  <Pages>73</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 1.1  程序设计与程序设计语言</dc:title>
  <dc:creator>shasha</dc:creator>
  <cp:lastModifiedBy>怡然</cp:lastModifiedBy>
  <cp:revision>9</cp:revision>
  <dcterms:created xsi:type="dcterms:W3CDTF">2024-03-18T12:50:00Z</dcterms:created>
  <dcterms:modified xsi:type="dcterms:W3CDTF">2025-03-11T05:50:04Z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F82DFADE39CA48A89761B0A66A61D326_13</vt:lpwstr>
  </property>
</Properties>
</file>