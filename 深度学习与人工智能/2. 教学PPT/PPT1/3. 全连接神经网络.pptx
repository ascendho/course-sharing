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3" r:id="rId1"/>
  </p:sldMasterIdLst>
  <p:notesMasterIdLst>
    <p:notesMasterId r:id="rId99"/>
  </p:notesMasterIdLst>
  <p:handoutMasterIdLst>
    <p:handoutMasterId r:id="rId100"/>
  </p:handoutMasterIdLst>
  <p:sldIdLst>
    <p:sldId id="565" r:id="rId2"/>
    <p:sldId id="604" r:id="rId3"/>
    <p:sldId id="605" r:id="rId4"/>
    <p:sldId id="566" r:id="rId5"/>
    <p:sldId id="609" r:id="rId6"/>
    <p:sldId id="691" r:id="rId7"/>
    <p:sldId id="695" r:id="rId8"/>
    <p:sldId id="692" r:id="rId9"/>
    <p:sldId id="693" r:id="rId10"/>
    <p:sldId id="694" r:id="rId11"/>
    <p:sldId id="696" r:id="rId12"/>
    <p:sldId id="697" r:id="rId13"/>
    <p:sldId id="684" r:id="rId14"/>
    <p:sldId id="698" r:id="rId15"/>
    <p:sldId id="699" r:id="rId16"/>
    <p:sldId id="700" r:id="rId17"/>
    <p:sldId id="701" r:id="rId18"/>
    <p:sldId id="702" r:id="rId19"/>
    <p:sldId id="703" r:id="rId20"/>
    <p:sldId id="705" r:id="rId21"/>
    <p:sldId id="704" r:id="rId22"/>
    <p:sldId id="707" r:id="rId23"/>
    <p:sldId id="685" r:id="rId24"/>
    <p:sldId id="710" r:id="rId25"/>
    <p:sldId id="708" r:id="rId26"/>
    <p:sldId id="713" r:id="rId27"/>
    <p:sldId id="714" r:id="rId28"/>
    <p:sldId id="715" r:id="rId29"/>
    <p:sldId id="716" r:id="rId30"/>
    <p:sldId id="717" r:id="rId31"/>
    <p:sldId id="718" r:id="rId32"/>
    <p:sldId id="719" r:id="rId33"/>
    <p:sldId id="720" r:id="rId34"/>
    <p:sldId id="722" r:id="rId35"/>
    <p:sldId id="723" r:id="rId36"/>
    <p:sldId id="724" r:id="rId37"/>
    <p:sldId id="725" r:id="rId38"/>
    <p:sldId id="726" r:id="rId39"/>
    <p:sldId id="727" r:id="rId40"/>
    <p:sldId id="728" r:id="rId41"/>
    <p:sldId id="729" r:id="rId42"/>
    <p:sldId id="730" r:id="rId43"/>
    <p:sldId id="731" r:id="rId44"/>
    <p:sldId id="732" r:id="rId45"/>
    <p:sldId id="733" r:id="rId46"/>
    <p:sldId id="734" r:id="rId47"/>
    <p:sldId id="735" r:id="rId48"/>
    <p:sldId id="736" r:id="rId49"/>
    <p:sldId id="737" r:id="rId50"/>
    <p:sldId id="738" r:id="rId51"/>
    <p:sldId id="739" r:id="rId52"/>
    <p:sldId id="740" r:id="rId53"/>
    <p:sldId id="741" r:id="rId54"/>
    <p:sldId id="742" r:id="rId55"/>
    <p:sldId id="743" r:id="rId56"/>
    <p:sldId id="744" r:id="rId57"/>
    <p:sldId id="745" r:id="rId58"/>
    <p:sldId id="746" r:id="rId59"/>
    <p:sldId id="747" r:id="rId60"/>
    <p:sldId id="748" r:id="rId61"/>
    <p:sldId id="749" r:id="rId62"/>
    <p:sldId id="750" r:id="rId63"/>
    <p:sldId id="751" r:id="rId64"/>
    <p:sldId id="753" r:id="rId65"/>
    <p:sldId id="754" r:id="rId66"/>
    <p:sldId id="755" r:id="rId67"/>
    <p:sldId id="756" r:id="rId68"/>
    <p:sldId id="752" r:id="rId69"/>
    <p:sldId id="757" r:id="rId70"/>
    <p:sldId id="758" r:id="rId71"/>
    <p:sldId id="759" r:id="rId72"/>
    <p:sldId id="760" r:id="rId73"/>
    <p:sldId id="761" r:id="rId74"/>
    <p:sldId id="762" r:id="rId75"/>
    <p:sldId id="763" r:id="rId76"/>
    <p:sldId id="764" r:id="rId77"/>
    <p:sldId id="765" r:id="rId78"/>
    <p:sldId id="766" r:id="rId79"/>
    <p:sldId id="767" r:id="rId80"/>
    <p:sldId id="768" r:id="rId81"/>
    <p:sldId id="769" r:id="rId82"/>
    <p:sldId id="770" r:id="rId83"/>
    <p:sldId id="772" r:id="rId84"/>
    <p:sldId id="773" r:id="rId85"/>
    <p:sldId id="774" r:id="rId86"/>
    <p:sldId id="775" r:id="rId87"/>
    <p:sldId id="776" r:id="rId88"/>
    <p:sldId id="777" r:id="rId89"/>
    <p:sldId id="778" r:id="rId90"/>
    <p:sldId id="779" r:id="rId91"/>
    <p:sldId id="780" r:id="rId92"/>
    <p:sldId id="781" r:id="rId93"/>
    <p:sldId id="771" r:id="rId94"/>
    <p:sldId id="783" r:id="rId95"/>
    <p:sldId id="784" r:id="rId96"/>
    <p:sldId id="785" r:id="rId97"/>
    <p:sldId id="782" r:id="rId9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58" userDrawn="1">
          <p15:clr>
            <a:srgbClr val="A4A3A4"/>
          </p15:clr>
        </p15:guide>
        <p15:guide id="2" pos="401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u lin" initials="yl" lastIdx="1" clrIdx="0"/>
  <p:cmAuthor id="2" name="DELL" initials="D" lastIdx="3" clrIdx="1"/>
  <p:cmAuthor id="3" name="asus" initials="a"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FFFF"/>
    <a:srgbClr val="3D31D7"/>
    <a:srgbClr val="003366"/>
    <a:srgbClr val="F46802"/>
    <a:srgbClr val="0070C0"/>
    <a:srgbClr val="808080"/>
    <a:srgbClr val="FBE5D6"/>
    <a:srgbClr val="FFF9E7"/>
    <a:srgbClr val="EEF7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857" autoAdjust="0"/>
    <p:restoredTop sz="93850" autoAdjust="0"/>
  </p:normalViewPr>
  <p:slideViewPr>
    <p:cSldViewPr snapToGrid="0" snapToObjects="1">
      <p:cViewPr varScale="1">
        <p:scale>
          <a:sx n="67" d="100"/>
          <a:sy n="67" d="100"/>
        </p:scale>
        <p:origin x="264" y="40"/>
      </p:cViewPr>
      <p:guideLst>
        <p:guide orient="horz" pos="2058"/>
        <p:guide pos="4011"/>
      </p:guideLst>
    </p:cSldViewPr>
  </p:slideViewPr>
  <p:notesTextViewPr>
    <p:cViewPr>
      <p:scale>
        <a:sx n="100" d="100"/>
        <a:sy n="100" d="100"/>
      </p:scale>
      <p:origin x="0" y="0"/>
    </p:cViewPr>
  </p:notesTextViewPr>
  <p:sorterViewPr>
    <p:cViewPr>
      <p:scale>
        <a:sx n="100" d="100"/>
        <a:sy n="100" d="100"/>
      </p:scale>
      <p:origin x="0" y="-600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2023/7/3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0AD39-BAEA-45DE-A9EE-2D5EF9602197}" type="datetimeFigureOut">
              <a:rPr lang="zh-CN" altLang="en-US" smtClean="0"/>
              <a:t>2023/7/3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4D1BDB-4B2A-4DBF-A740-A071008DF23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47C38A-6680-41D6-AC97-F82406C003C7}" type="slidenum">
              <a:rPr lang="zh-CN" altLang="en-US" smtClean="0"/>
              <a:pPr/>
              <a:t>1</a:t>
            </a:fld>
            <a:endParaRPr lang="zh-CN" altLang="en-US"/>
          </a:p>
        </p:txBody>
      </p:sp>
    </p:spTree>
    <p:extLst>
      <p:ext uri="{BB962C8B-B14F-4D97-AF65-F5344CB8AC3E}">
        <p14:creationId xmlns:p14="http://schemas.microsoft.com/office/powerpoint/2010/main" val="3212652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47C38A-6680-41D6-AC97-F82406C003C7}" type="slidenum">
              <a:rPr lang="zh-CN" altLang="en-US" smtClean="0"/>
              <a:pPr/>
              <a:t>2</a:t>
            </a:fld>
            <a:endParaRPr lang="zh-CN" altLang="en-US"/>
          </a:p>
        </p:txBody>
      </p:sp>
    </p:spTree>
    <p:extLst>
      <p:ext uri="{BB962C8B-B14F-4D97-AF65-F5344CB8AC3E}">
        <p14:creationId xmlns:p14="http://schemas.microsoft.com/office/powerpoint/2010/main" val="1730552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47C38A-6680-41D6-AC97-F82406C003C7}" type="slidenum">
              <a:rPr lang="zh-CN" altLang="en-US" smtClean="0"/>
              <a:pPr/>
              <a:t>3</a:t>
            </a:fld>
            <a:endParaRPr lang="zh-CN" altLang="en-US"/>
          </a:p>
        </p:txBody>
      </p:sp>
    </p:spTree>
    <p:extLst>
      <p:ext uri="{BB962C8B-B14F-4D97-AF65-F5344CB8AC3E}">
        <p14:creationId xmlns:p14="http://schemas.microsoft.com/office/powerpoint/2010/main" val="378228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fld id="{2F47C38A-6680-41D6-AC97-F82406C003C7}" type="slidenum">
              <a:rPr lang="zh-CN" altLang="en-US" smtClean="0"/>
              <a:pPr/>
              <a:t>4</a:t>
            </a:fld>
            <a:endParaRPr lang="zh-CN" altLang="en-US"/>
          </a:p>
        </p:txBody>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3531558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3144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61217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29559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4601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8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00062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467798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79518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fld id="{2F47C38A-6680-41D6-AC97-F82406C003C7}" type="slidenum">
              <a:rPr lang="zh-CN" altLang="en-US" smtClean="0"/>
              <a:pPr/>
              <a:t>13</a:t>
            </a:fld>
            <a:endParaRPr lang="zh-CN" altLang="en-US"/>
          </a:p>
        </p:txBody>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804931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28701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233758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006549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23522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54759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708548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66953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31539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58054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fld id="{2F47C38A-6680-41D6-AC97-F82406C003C7}" type="slidenum">
              <a:rPr lang="zh-CN" altLang="en-US" smtClean="0"/>
              <a:pPr/>
              <a:t>23</a:t>
            </a:fld>
            <a:endParaRPr lang="zh-CN" altLang="en-US"/>
          </a:p>
        </p:txBody>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12968587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85517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322786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067552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084997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91603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027450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295920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180231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880523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81949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935939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410748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516312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447480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031165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866353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047622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866416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359305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fld id="{2F47C38A-6680-41D6-AC97-F82406C003C7}" type="slidenum">
              <a:rPr lang="zh-CN" altLang="en-US" smtClean="0"/>
              <a:pPr/>
              <a:t>43</a:t>
            </a:fld>
            <a:endParaRPr lang="zh-CN" altLang="en-US"/>
          </a:p>
        </p:txBody>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2238340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544752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402613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651937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270770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411912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26541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348110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31266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439233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208864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56006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328618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291536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2979041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053896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9428512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444268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630521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368300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715952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5475658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5101209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262693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6250160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432270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4" name="灯片编号占位符 3"/>
          <p:cNvSpPr>
            <a:spLocks noGrp="1"/>
          </p:cNvSpPr>
          <p:nvPr>
            <p:ph type="sldNum" sz="quarter" idx="10"/>
          </p:nvPr>
        </p:nvSpPr>
        <p:spPr/>
        <p:txBody>
          <a:bodyPr/>
          <a:lstStyle/>
          <a:p>
            <a:fld id="{2F47C38A-6680-41D6-AC97-F82406C003C7}" type="slidenum">
              <a:rPr lang="zh-CN" altLang="en-US" smtClean="0"/>
              <a:pPr/>
              <a:t>69</a:t>
            </a:fld>
            <a:endParaRPr lang="zh-CN" altLang="en-US"/>
          </a:p>
        </p:txBody>
      </p:sp>
      <p:sp>
        <p:nvSpPr>
          <p:cNvPr id="5" name="备注占位符 4"/>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21848938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33661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912395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766039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2235836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4599999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0128814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838229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8311811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9465960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553293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4535059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442306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733393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3093772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325571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696228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0471197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4948203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55781814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210342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4144354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7889592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091322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8641084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0107424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861557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8530098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1196340" rtl="0" eaLnBrk="1" fontAlgn="auto" latinLnBrk="0" hangingPunct="1">
              <a:lnSpc>
                <a:spcPct val="100000"/>
              </a:lnSpc>
              <a:spcBef>
                <a:spcPts val="0"/>
              </a:spcBef>
              <a:spcAft>
                <a:spcPts val="0"/>
              </a:spcAft>
              <a:buClrTx/>
              <a:buSzTx/>
              <a:buFontTx/>
              <a:buNone/>
              <a:tabLst/>
              <a:defRPr/>
            </a:pPr>
            <a:fld id="{A2346EFD-7992-46BD-ADEC-F160B8707F64}"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96340" rtl="0" eaLnBrk="1" fontAlgn="auto" latinLnBrk="0" hangingPunct="1">
                <a:lnSpc>
                  <a:spcPct val="100000"/>
                </a:lnSpc>
                <a:spcBef>
                  <a:spcPts val="0"/>
                </a:spcBef>
                <a:spcAft>
                  <a:spcPts val="0"/>
                </a:spcAft>
                <a:buClrTx/>
                <a:buSzTx/>
                <a:buFontTx/>
                <a:buNone/>
                <a:tabLst/>
                <a:defRPr/>
              </a:pPr>
              <a:t>97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911578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容页3">
    <p:spTree>
      <p:nvGrpSpPr>
        <p:cNvPr id="1" name=""/>
        <p:cNvGrpSpPr/>
        <p:nvPr/>
      </p:nvGrpSpPr>
      <p:grpSpPr>
        <a:xfrm>
          <a:off x="0" y="0"/>
          <a:ext cx="0" cy="0"/>
          <a:chOff x="0" y="0"/>
          <a:chExt cx="0" cy="0"/>
        </a:xfrm>
      </p:grpSpPr>
      <p:sp>
        <p:nvSpPr>
          <p:cNvPr id="1048581" name="矩形 59"/>
          <p:cNvSpPr/>
          <p:nvPr userDrawn="1"/>
        </p:nvSpPr>
        <p:spPr>
          <a:xfrm>
            <a:off x="-24679" y="0"/>
            <a:ext cx="12216680" cy="1124744"/>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lIns="64821" tIns="32411" rIns="64821" bIns="32411" rtlCol="0" anchor="ctr"/>
          <a:lstStyle/>
          <a:p>
            <a:pPr algn="ctr"/>
            <a:endParaRPr lang="zh-CN" altLang="en-US" sz="1277"/>
          </a:p>
        </p:txBody>
      </p:sp>
      <p:pic>
        <p:nvPicPr>
          <p:cNvPr id="6" name="图片 5">
            <a:extLst>
              <a:ext uri="{FF2B5EF4-FFF2-40B4-BE49-F238E27FC236}">
                <a16:creationId xmlns:a16="http://schemas.microsoft.com/office/drawing/2014/main" id="{0EB8389E-5966-43B9-B3A0-E7AAACAB7785}"/>
              </a:ext>
            </a:extLst>
          </p:cNvPr>
          <p:cNvPicPr>
            <a:picLocks noChangeAspect="1"/>
          </p:cNvPicPr>
          <p:nvPr userDrawn="1"/>
        </p:nvPicPr>
        <p:blipFill rotWithShape="1">
          <a:blip r:embed="rId2"/>
          <a:srcRect l="18793" t="3704" r="17232" b="4677"/>
          <a:stretch/>
        </p:blipFill>
        <p:spPr>
          <a:xfrm>
            <a:off x="11246177" y="129390"/>
            <a:ext cx="602787" cy="863261"/>
          </a:xfrm>
          <a:prstGeom prst="rect">
            <a:avLst/>
          </a:prstGeom>
        </p:spPr>
      </p:pic>
      <p:sp>
        <p:nvSpPr>
          <p:cNvPr id="7" name="矩形 59">
            <a:extLst>
              <a:ext uri="{FF2B5EF4-FFF2-40B4-BE49-F238E27FC236}">
                <a16:creationId xmlns:a16="http://schemas.microsoft.com/office/drawing/2014/main" id="{E704EE6E-D027-4759-A13B-5C958CD260E8}"/>
              </a:ext>
            </a:extLst>
          </p:cNvPr>
          <p:cNvSpPr/>
          <p:nvPr userDrawn="1"/>
        </p:nvSpPr>
        <p:spPr>
          <a:xfrm>
            <a:off x="0" y="6451600"/>
            <a:ext cx="12216680" cy="40640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lIns="64821" tIns="32411" rIns="64821" bIns="32411" rtlCol="0" anchor="ctr"/>
          <a:lstStyle/>
          <a:p>
            <a:pPr algn="ctr"/>
            <a:endParaRPr lang="zh-CN" altLang="en-US" sz="1277"/>
          </a:p>
        </p:txBody>
      </p:sp>
      <p:sp>
        <p:nvSpPr>
          <p:cNvPr id="8" name="矩形 7">
            <a:extLst>
              <a:ext uri="{FF2B5EF4-FFF2-40B4-BE49-F238E27FC236}">
                <a16:creationId xmlns:a16="http://schemas.microsoft.com/office/drawing/2014/main" id="{811871B3-863C-4E1D-90F9-F1AA75BE988F}"/>
              </a:ext>
            </a:extLst>
          </p:cNvPr>
          <p:cNvSpPr/>
          <p:nvPr userDrawn="1"/>
        </p:nvSpPr>
        <p:spPr>
          <a:xfrm>
            <a:off x="86360" y="6442278"/>
            <a:ext cx="10271760" cy="369332"/>
          </a:xfrm>
          <a:prstGeom prst="rect">
            <a:avLst/>
          </a:prstGeom>
        </p:spPr>
        <p:txBody>
          <a:bodyPr wrap="square">
            <a:spAutoFit/>
          </a:bodyPr>
          <a:lstStyle/>
          <a:p>
            <a:r>
              <a:rPr lang="zh-CN" altLang="en-US" dirty="0">
                <a:solidFill>
                  <a:schemeClr val="bg1"/>
                </a:solidFill>
              </a:rPr>
              <a:t>蒙祖强，欧元汉 编著. 深度学习理论与应用. 北京: 清华大学出版社，2023年</a:t>
            </a:r>
            <a:r>
              <a:rPr lang="en-US" altLang="zh-CN" dirty="0">
                <a:solidFill>
                  <a:schemeClr val="bg1"/>
                </a:solidFill>
              </a:rPr>
              <a:t>7</a:t>
            </a:r>
            <a:r>
              <a:rPr lang="zh-CN" altLang="en-US" dirty="0">
                <a:solidFill>
                  <a:schemeClr val="bg1"/>
                </a:solidFill>
              </a:rPr>
              <a:t>月.</a:t>
            </a:r>
          </a:p>
        </p:txBody>
      </p:sp>
    </p:spTree>
    <p:extLst>
      <p:ext uri="{BB962C8B-B14F-4D97-AF65-F5344CB8AC3E}">
        <p14:creationId xmlns:p14="http://schemas.microsoft.com/office/powerpoint/2010/main" val="1316932493"/>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p:cNvSpPr/>
          <p:nvPr userDrawn="1"/>
        </p:nvSpPr>
        <p:spPr>
          <a:xfrm rot="10800000" flipV="1">
            <a:off x="0" y="5859708"/>
            <a:ext cx="12192000" cy="998293"/>
          </a:xfrm>
          <a:prstGeom prst="rect">
            <a:avLst/>
          </a:prstGeom>
          <a:gradFill>
            <a:gsLst>
              <a:gs pos="0">
                <a:schemeClr val="bg1">
                  <a:alpha val="0"/>
                </a:schemeClr>
              </a:gs>
              <a:gs pos="100000">
                <a:srgbClr val="FF1D1D">
                  <a:alpha val="30000"/>
                </a:srgbClr>
              </a:gs>
            </a:gsLst>
            <a:lin ang="5400000" scaled="1"/>
          </a:gradFill>
          <a:ln>
            <a:noFill/>
          </a:ln>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5FA1F7E-19FF-0B48-8731-65855350D283}" type="slidenum">
              <a:rPr kumimoji="1" lang="zh-CN" altLang="en-US" smtClean="0"/>
              <a:t>‹#›</a:t>
            </a:fld>
            <a:endParaRPr kumimoji="1" lang="zh-CN" altLang="en-US"/>
          </a:p>
        </p:txBody>
      </p:sp>
      <p:cxnSp>
        <p:nvCxnSpPr>
          <p:cNvPr id="8" name="直线连接符 4"/>
          <p:cNvCxnSpPr/>
          <p:nvPr userDrawn="1"/>
        </p:nvCxnSpPr>
        <p:spPr>
          <a:xfrm>
            <a:off x="0" y="713987"/>
            <a:ext cx="12192000" cy="0"/>
          </a:xfrm>
          <a:prstGeom prst="line">
            <a:avLst/>
          </a:prstGeom>
          <a:ln w="444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5_内容页3">
    <p:bg>
      <p:bgPr>
        <a:solidFill>
          <a:schemeClr val="bg1"/>
        </a:solidFill>
        <a:effectLst/>
      </p:bgPr>
    </p:bg>
    <p:spTree>
      <p:nvGrpSpPr>
        <p:cNvPr id="1" name=""/>
        <p:cNvGrpSpPr/>
        <p:nvPr/>
      </p:nvGrpSpPr>
      <p:grpSpPr>
        <a:xfrm>
          <a:off x="0" y="0"/>
          <a:ext cx="0" cy="0"/>
          <a:chOff x="0" y="0"/>
          <a:chExt cx="0" cy="0"/>
        </a:xfrm>
      </p:grpSpPr>
      <p:sp>
        <p:nvSpPr>
          <p:cNvPr id="60" name="矩形 59"/>
          <p:cNvSpPr/>
          <p:nvPr userDrawn="1"/>
        </p:nvSpPr>
        <p:spPr>
          <a:xfrm>
            <a:off x="-24679" y="0"/>
            <a:ext cx="12216680" cy="1268760"/>
          </a:xfrm>
          <a:prstGeom prst="rect">
            <a:avLst/>
          </a:prstGeom>
          <a:gradFill>
            <a:gsLst>
              <a:gs pos="100000">
                <a:schemeClr val="accent1"/>
              </a:gs>
              <a:gs pos="100000">
                <a:schemeClr val="accent1">
                  <a:lumMod val="45000"/>
                  <a:lumOff val="5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800"/>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97277" y="325279"/>
            <a:ext cx="2643339" cy="727457"/>
          </a:xfrm>
          <a:prstGeom prst="rect">
            <a:avLst/>
          </a:prstGeom>
        </p:spPr>
      </p:pic>
      <p:sp>
        <p:nvSpPr>
          <p:cNvPr id="5" name="Freeform 57">
            <a:extLst>
              <a:ext uri="{FF2B5EF4-FFF2-40B4-BE49-F238E27FC236}">
                <a16:creationId xmlns:a16="http://schemas.microsoft.com/office/drawing/2014/main" id="{55A805DC-7476-4A14-88EC-4309D521386F}"/>
              </a:ext>
            </a:extLst>
          </p:cNvPr>
          <p:cNvSpPr>
            <a:spLocks noChangeArrowheads="1"/>
          </p:cNvSpPr>
          <p:nvPr userDrawn="1"/>
        </p:nvSpPr>
        <p:spPr bwMode="auto">
          <a:xfrm>
            <a:off x="0" y="6524625"/>
            <a:ext cx="12192000" cy="279400"/>
          </a:xfrm>
          <a:custGeom>
            <a:avLst/>
            <a:gdLst>
              <a:gd name="T0" fmla="*/ 0 w 5650"/>
              <a:gd name="T1" fmla="*/ 279400 h 176"/>
              <a:gd name="T2" fmla="*/ 9144000 w 5650"/>
              <a:gd name="T3" fmla="*/ 268288 h 176"/>
              <a:gd name="T4" fmla="*/ 9137526 w 5650"/>
              <a:gd name="T5" fmla="*/ 150813 h 176"/>
              <a:gd name="T6" fmla="*/ 2392006 w 5650"/>
              <a:gd name="T7" fmla="*/ 150813 h 176"/>
              <a:gd name="T8" fmla="*/ 2131442 w 5650"/>
              <a:gd name="T9" fmla="*/ 4763 h 176"/>
              <a:gd name="T10" fmla="*/ 0 w 5650"/>
              <a:gd name="T11" fmla="*/ 0 h 176"/>
              <a:gd name="T12" fmla="*/ 0 w 5650"/>
              <a:gd name="T13" fmla="*/ 279400 h 176"/>
              <a:gd name="T14" fmla="*/ 0 60000 65536"/>
              <a:gd name="T15" fmla="*/ 0 60000 65536"/>
              <a:gd name="T16" fmla="*/ 0 60000 65536"/>
              <a:gd name="T17" fmla="*/ 0 60000 65536"/>
              <a:gd name="T18" fmla="*/ 0 60000 65536"/>
              <a:gd name="T19" fmla="*/ 0 60000 65536"/>
              <a:gd name="T20" fmla="*/ 0 60000 65536"/>
              <a:gd name="T21" fmla="*/ 0 w 5650"/>
              <a:gd name="T22" fmla="*/ 0 h 176"/>
              <a:gd name="T23" fmla="*/ 5650 w 5650"/>
              <a:gd name="T24" fmla="*/ 176 h 1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650" h="176">
                <a:moveTo>
                  <a:pt x="0" y="176"/>
                </a:moveTo>
                <a:lnTo>
                  <a:pt x="5650" y="169"/>
                </a:lnTo>
                <a:lnTo>
                  <a:pt x="5646" y="95"/>
                </a:lnTo>
                <a:lnTo>
                  <a:pt x="1478" y="95"/>
                </a:lnTo>
                <a:lnTo>
                  <a:pt x="1317" y="3"/>
                </a:lnTo>
                <a:lnTo>
                  <a:pt x="0" y="0"/>
                </a:lnTo>
                <a:lnTo>
                  <a:pt x="0" y="176"/>
                </a:lnTo>
                <a:close/>
              </a:path>
            </a:pathLst>
          </a:custGeom>
          <a:solidFill>
            <a:srgbClr val="AACDF4"/>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ctr">
              <a:spcBef>
                <a:spcPct val="0"/>
              </a:spcBef>
              <a:spcAft>
                <a:spcPct val="0"/>
              </a:spcAft>
            </a:pPr>
            <a:endParaRPr kumimoji="1" lang="zh-CN" altLang="en-US" sz="2400" b="1" i="1" u="sng">
              <a:solidFill>
                <a:srgbClr val="1D528D"/>
              </a:solidFill>
              <a:latin typeface="Times New Roman" pitchFamily="18" charset="0"/>
              <a:ea typeface="宋体" charset="-122"/>
            </a:endParaRPr>
          </a:p>
        </p:txBody>
      </p:sp>
      <p:sp>
        <p:nvSpPr>
          <p:cNvPr id="7" name="Rectangle 58">
            <a:extLst>
              <a:ext uri="{FF2B5EF4-FFF2-40B4-BE49-F238E27FC236}">
                <a16:creationId xmlns:a16="http://schemas.microsoft.com/office/drawing/2014/main" id="{1F109270-1D57-4735-AC41-A9BFE87C3042}"/>
              </a:ext>
            </a:extLst>
          </p:cNvPr>
          <p:cNvSpPr>
            <a:spLocks noChangeArrowheads="1"/>
          </p:cNvSpPr>
          <p:nvPr userDrawn="1"/>
        </p:nvSpPr>
        <p:spPr bwMode="auto">
          <a:xfrm flipV="1">
            <a:off x="0" y="6769100"/>
            <a:ext cx="12194117" cy="115888"/>
          </a:xfrm>
          <a:prstGeom prst="rect">
            <a:avLst/>
          </a:prstGeom>
          <a:gradFill>
            <a:gsLst>
              <a:gs pos="100000">
                <a:schemeClr val="accent1"/>
              </a:gs>
              <a:gs pos="100000">
                <a:schemeClr val="accent1">
                  <a:lumMod val="45000"/>
                  <a:lumOff val="55000"/>
                </a:schemeClr>
              </a:gs>
            </a:gsLst>
            <a:lin ang="5400000" scaled="1"/>
          </a:gradFill>
          <a:ln>
            <a:noFill/>
          </a:ln>
        </p:spPr>
        <p:txBody>
          <a:bodyPr wrap="none" anchor="ctr"/>
          <a:lstStyle/>
          <a:p>
            <a:pPr eaLnBrk="0" fontAlgn="base" hangingPunct="0">
              <a:spcBef>
                <a:spcPct val="0"/>
              </a:spcBef>
              <a:spcAft>
                <a:spcPct val="0"/>
              </a:spcAft>
              <a:buFont typeface="Arial" charset="0"/>
              <a:buNone/>
            </a:pPr>
            <a:endParaRPr kumimoji="1" lang="zh-CN" altLang="en-US" sz="1600" b="1" i="1" u="sng">
              <a:solidFill>
                <a:srgbClr val="1D528D"/>
              </a:solidFill>
              <a:latin typeface="Times New Roman" pitchFamily="18" charset="0"/>
              <a:ea typeface="微软雅黑" pitchFamily="34" charset="-122"/>
            </a:endParaRPr>
          </a:p>
        </p:txBody>
      </p:sp>
      <p:sp>
        <p:nvSpPr>
          <p:cNvPr id="2" name="日期占位符 1"/>
          <p:cNvSpPr>
            <a:spLocks noGrp="1"/>
          </p:cNvSpPr>
          <p:nvPr>
            <p:ph type="dt" sz="half" idx="11"/>
          </p:nvPr>
        </p:nvSpPr>
        <p:spPr/>
        <p:txBody>
          <a:bodyPr/>
          <a:lstStyle/>
          <a:p>
            <a:endParaRPr lang="zh-CN" altLang="en-US"/>
          </a:p>
        </p:txBody>
      </p:sp>
      <p:sp>
        <p:nvSpPr>
          <p:cNvPr id="3" name="页脚占位符 2"/>
          <p:cNvSpPr>
            <a:spLocks noGrp="1"/>
          </p:cNvSpPr>
          <p:nvPr>
            <p:ph type="ftr" sz="quarter" idx="12"/>
          </p:nvPr>
        </p:nvSpPr>
        <p:spPr/>
        <p:txBody>
          <a:bodyPr/>
          <a:lstStyle/>
          <a:p>
            <a:endParaRPr lang="zh-CN" altLang="en-US"/>
          </a:p>
        </p:txBody>
      </p:sp>
      <p:sp>
        <p:nvSpPr>
          <p:cNvPr id="4" name="灯片编号占位符 3"/>
          <p:cNvSpPr>
            <a:spLocks noGrp="1"/>
          </p:cNvSpPr>
          <p:nvPr>
            <p:ph type="sldNum" sz="quarter" idx="13"/>
          </p:nvPr>
        </p:nvSpPr>
        <p:spPr/>
        <p:txBody>
          <a:bodyPr/>
          <a:lstStyle/>
          <a:p>
            <a:fld id="{15195984-EB24-455E-B3CF-87A4AB0EDB69}" type="slidenum">
              <a:rPr lang="zh-CN" altLang="en-US" smtClean="0"/>
              <a:t>‹#›</a:t>
            </a:fld>
            <a:endParaRPr lang="zh-CN" altLang="en-US"/>
          </a:p>
        </p:txBody>
      </p:sp>
    </p:spTree>
    <p:extLst>
      <p:ext uri="{BB962C8B-B14F-4D97-AF65-F5344CB8AC3E}">
        <p14:creationId xmlns:p14="http://schemas.microsoft.com/office/powerpoint/2010/main" val="1710867916"/>
      </p:ext>
    </p:extLst>
  </p:cSld>
  <p:clrMapOvr>
    <a:masterClrMapping/>
  </p:clrMapOvr>
  <p:extLst>
    <p:ext uri="{DCECCB84-F9BA-43D5-87BE-67443E8EF086}">
      <p15:sldGuideLst xmlns:p15="http://schemas.microsoft.com/office/powerpoint/2012/main">
        <p15:guide id="1" pos="6827">
          <p15:clr>
            <a:srgbClr val="FBAE40"/>
          </p15:clr>
        </p15:guide>
        <p15:guide id="2" pos="1275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2">
    <p:spTree>
      <p:nvGrpSpPr>
        <p:cNvPr id="1" name=""/>
        <p:cNvGrpSpPr/>
        <p:nvPr/>
      </p:nvGrpSpPr>
      <p:grpSpPr>
        <a:xfrm>
          <a:off x="0" y="0"/>
          <a:ext cx="0" cy="0"/>
          <a:chOff x="0" y="0"/>
          <a:chExt cx="0" cy="0"/>
        </a:xfrm>
      </p:grpSpPr>
      <p:sp>
        <p:nvSpPr>
          <p:cNvPr id="3" name="矩形 2"/>
          <p:cNvSpPr/>
          <p:nvPr userDrawn="1"/>
        </p:nvSpPr>
        <p:spPr>
          <a:xfrm>
            <a:off x="27" y="0"/>
            <a:ext cx="3359697" cy="6858000"/>
          </a:xfrm>
          <a:prstGeom prst="rect">
            <a:avLst/>
          </a:prstGeom>
          <a:gradFill>
            <a:gsLst>
              <a:gs pos="100000">
                <a:schemeClr val="accent1"/>
              </a:gs>
              <a:gs pos="100000">
                <a:schemeClr val="accent1">
                  <a:lumMod val="45000"/>
                  <a:lumOff val="5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rtlCol="0" anchor="ctr"/>
          <a:lstStyle/>
          <a:p>
            <a:pPr algn="ctr"/>
            <a:endParaRPr lang="zh-CN" altLang="en-US" sz="1800"/>
          </a:p>
        </p:txBody>
      </p:sp>
      <p:pic>
        <p:nvPicPr>
          <p:cNvPr id="23" name="图片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1519" y="5877273"/>
            <a:ext cx="2064569" cy="611688"/>
          </a:xfrm>
          <a:prstGeom prst="rect">
            <a:avLst/>
          </a:prstGeom>
        </p:spPr>
      </p:pic>
      <p:sp>
        <p:nvSpPr>
          <p:cNvPr id="2" name="日期占位符 1"/>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5195984-EB24-455E-B3CF-87A4AB0EDB69}" type="slidenum">
              <a:rPr lang="zh-CN" altLang="en-US" smtClean="0"/>
              <a:t>‹#›</a:t>
            </a:fld>
            <a:endParaRPr lang="zh-CN" altLang="en-US"/>
          </a:p>
        </p:txBody>
      </p:sp>
    </p:spTree>
    <p:extLst>
      <p:ext uri="{BB962C8B-B14F-4D97-AF65-F5344CB8AC3E}">
        <p14:creationId xmlns:p14="http://schemas.microsoft.com/office/powerpoint/2010/main" val="1899158056"/>
      </p:ext>
    </p:extLst>
  </p:cSld>
  <p:clrMapOvr>
    <a:masterClrMapping/>
  </p:clrMapOvr>
  <p:extLst>
    <p:ext uri="{DCECCB84-F9BA-43D5-87BE-67443E8EF086}">
      <p15:sldGuideLst xmlns:p15="http://schemas.microsoft.com/office/powerpoint/2012/main">
        <p15:guide id="1" pos="6827">
          <p15:clr>
            <a:srgbClr val="FBAE40"/>
          </p15:clr>
        </p15:guide>
        <p15:guide id="2" pos="12753">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B9D0B8-F45F-8340-8E14-0C3590D21983}" type="datetimeFigureOut">
              <a:rPr kumimoji="1" lang="zh-CN" altLang="en-US" smtClean="0"/>
              <a:t>2023/7/3</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FA1F7E-19FF-0B48-8731-65855350D283}" type="slidenum">
              <a:rPr kumimoji="1" lang="zh-CN" altLang="en-US" smtClean="0"/>
              <a:t>‹#›</a:t>
            </a:fld>
            <a:endParaRPr kumimoji="1" lang="zh-CN" altLang="en-US"/>
          </a:p>
        </p:txBody>
      </p:sp>
    </p:spTree>
    <p:extLst>
      <p:ext uri="{BB962C8B-B14F-4D97-AF65-F5344CB8AC3E}">
        <p14:creationId xmlns:p14="http://schemas.microsoft.com/office/powerpoint/2010/main" val="4273368321"/>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7" r:id="rId3"/>
    <p:sldLayoutId id="214748367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9.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7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3.xml"/><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7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5.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7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6.xml"/><Relationship Id="rId1" Type="http://schemas.openxmlformats.org/officeDocument/2006/relationships/slideLayout" Target="../slideLayouts/slideLayout1.xml"/><Relationship Id="rId4" Type="http://schemas.openxmlformats.org/officeDocument/2006/relationships/image" Target="../media/image72.png"/></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7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1.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8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image" Target="../media/image82.png"/><Relationship Id="rId4" Type="http://schemas.openxmlformats.org/officeDocument/2006/relationships/image" Target="../media/image81.png"/></Relationships>
</file>

<file path=ppt/slides/_rels/slide8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3.xml"/><Relationship Id="rId1" Type="http://schemas.openxmlformats.org/officeDocument/2006/relationships/slideLayout" Target="../slideLayouts/slideLayout1.xml"/><Relationship Id="rId5" Type="http://schemas.openxmlformats.org/officeDocument/2006/relationships/image" Target="../media/image84.png"/><Relationship Id="rId4" Type="http://schemas.openxmlformats.org/officeDocument/2006/relationships/image" Target="../media/image83.png"/></Relationships>
</file>

<file path=ppt/slides/_rels/slide8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85.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86.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7.xml"/><Relationship Id="rId1" Type="http://schemas.openxmlformats.org/officeDocument/2006/relationships/slideLayout" Target="../slideLayouts/slideLayout1.xml"/><Relationship Id="rId5" Type="http://schemas.openxmlformats.org/officeDocument/2006/relationships/image" Target="../media/image101.png"/><Relationship Id="rId4" Type="http://schemas.openxmlformats.org/officeDocument/2006/relationships/image" Target="../media/image100.png"/></Relationships>
</file>

<file path=ppt/slides/_rels/slide8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8.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8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9.xml"/><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9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90.xml"/><Relationship Id="rId1" Type="http://schemas.openxmlformats.org/officeDocument/2006/relationships/slideLayout" Target="../slideLayouts/slideLayout1.xml"/><Relationship Id="rId5" Type="http://schemas.openxmlformats.org/officeDocument/2006/relationships/image" Target="../media/image109.png"/><Relationship Id="rId4" Type="http://schemas.openxmlformats.org/officeDocument/2006/relationships/image" Target="../media/image108.png"/></Relationships>
</file>

<file path=ppt/slides/_rels/slide9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91.xml"/><Relationship Id="rId1" Type="http://schemas.openxmlformats.org/officeDocument/2006/relationships/slideLayout" Target="../slideLayouts/slideLayout1.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9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93.xml"/><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9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4.xml"/><Relationship Id="rId1" Type="http://schemas.openxmlformats.org/officeDocument/2006/relationships/slideLayout" Target="../slideLayouts/slideLayout1.xml"/><Relationship Id="rId5" Type="http://schemas.openxmlformats.org/officeDocument/2006/relationships/image" Target="../media/image121.png"/><Relationship Id="rId4" Type="http://schemas.openxmlformats.org/officeDocument/2006/relationships/image" Target="../media/image120.png"/></Relationships>
</file>

<file path=ppt/slides/_rels/slide9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0" y="6093296"/>
            <a:ext cx="12217400" cy="864096"/>
          </a:xfrm>
          <a:prstGeom prst="rect">
            <a:avLst/>
          </a:prstGeom>
        </p:spPr>
      </p:pic>
      <p:pic>
        <p:nvPicPr>
          <p:cNvPr id="2" name="图片 1"/>
          <p:cNvPicPr>
            <a:picLocks noChangeAspect="1"/>
          </p:cNvPicPr>
          <p:nvPr/>
        </p:nvPicPr>
        <p:blipFill rotWithShape="1">
          <a:blip r:embed="rId4"/>
          <a:srcRect r="1004"/>
          <a:stretch/>
        </p:blipFill>
        <p:spPr>
          <a:xfrm>
            <a:off x="1" y="0"/>
            <a:ext cx="12192000" cy="1543858"/>
          </a:xfrm>
          <a:prstGeom prst="rect">
            <a:avLst/>
          </a:prstGeom>
        </p:spPr>
      </p:pic>
      <p:pic>
        <p:nvPicPr>
          <p:cNvPr id="12" name="图片 11"/>
          <p:cNvPicPr>
            <a:picLocks noChangeAspect="1"/>
          </p:cNvPicPr>
          <p:nvPr/>
        </p:nvPicPr>
        <p:blipFill rotWithShape="1">
          <a:blip r:embed="rId4"/>
          <a:srcRect r="1004"/>
          <a:stretch/>
        </p:blipFill>
        <p:spPr>
          <a:xfrm>
            <a:off x="-496" y="6093296"/>
            <a:ext cx="12192000" cy="864096"/>
          </a:xfrm>
          <a:prstGeom prst="rect">
            <a:avLst/>
          </a:prstGeom>
        </p:spPr>
      </p:pic>
      <p:sp>
        <p:nvSpPr>
          <p:cNvPr id="3" name="矩形 2">
            <a:extLst>
              <a:ext uri="{FF2B5EF4-FFF2-40B4-BE49-F238E27FC236}">
                <a16:creationId xmlns:a16="http://schemas.microsoft.com/office/drawing/2014/main" id="{C631BC06-0AA5-44C7-96A7-643C4138D719}"/>
              </a:ext>
            </a:extLst>
          </p:cNvPr>
          <p:cNvSpPr/>
          <p:nvPr/>
        </p:nvSpPr>
        <p:spPr>
          <a:xfrm>
            <a:off x="583704" y="1832570"/>
            <a:ext cx="10698480" cy="3785652"/>
          </a:xfrm>
          <a:prstGeom prst="rect">
            <a:avLst/>
          </a:prstGeom>
        </p:spPr>
        <p:txBody>
          <a:bodyPr wrap="square">
            <a:spAutoFit/>
          </a:bodyPr>
          <a:lstStyle/>
          <a:p>
            <a:pPr algn="ctr"/>
            <a:r>
              <a:rPr lang="zh-CN" altLang="en-US" sz="5000" b="1" dirty="0">
                <a:solidFill>
                  <a:srgbClr val="003366"/>
                </a:solidFill>
                <a:latin typeface="微软雅黑" panose="020B0503020204020204" pitchFamily="34" charset="-122"/>
                <a:ea typeface="微软雅黑" panose="020B0503020204020204" pitchFamily="34" charset="-122"/>
              </a:rPr>
              <a:t>深度学习理论与应用</a:t>
            </a:r>
            <a:endParaRPr lang="en-US" altLang="zh-CN" sz="5000" b="1" dirty="0">
              <a:solidFill>
                <a:srgbClr val="003366"/>
              </a:solidFill>
              <a:latin typeface="微软雅黑" panose="020B0503020204020204" pitchFamily="34" charset="-122"/>
              <a:ea typeface="微软雅黑" panose="020B0503020204020204" pitchFamily="34" charset="-122"/>
            </a:endParaRPr>
          </a:p>
          <a:p>
            <a:pPr algn="ctr"/>
            <a:endParaRPr lang="en-US" altLang="zh-CN" sz="3800" b="1" dirty="0">
              <a:solidFill>
                <a:srgbClr val="003366"/>
              </a:solidFill>
              <a:latin typeface="微软雅黑" panose="020B0503020204020204" pitchFamily="34" charset="-122"/>
              <a:ea typeface="微软雅黑" panose="020B0503020204020204" pitchFamily="34" charset="-122"/>
            </a:endParaRPr>
          </a:p>
          <a:p>
            <a:pPr algn="ctr"/>
            <a:r>
              <a:rPr lang="en-US" altLang="zh-CN" sz="3800" b="1" dirty="0">
                <a:solidFill>
                  <a:srgbClr val="003366"/>
                </a:solidFill>
                <a:latin typeface="微软雅黑" panose="020B0503020204020204" pitchFamily="34" charset="-122"/>
                <a:ea typeface="微软雅黑" panose="020B0503020204020204" pitchFamily="34" charset="-122"/>
              </a:rPr>
              <a:t>Deep Learning Theory and Applications</a:t>
            </a:r>
          </a:p>
          <a:p>
            <a:pPr algn="ctr"/>
            <a:endParaRPr lang="en-US" altLang="zh-CN" sz="3800" b="1" dirty="0">
              <a:solidFill>
                <a:srgbClr val="003366"/>
              </a:solidFill>
              <a:latin typeface="微软雅黑" panose="020B0503020204020204" pitchFamily="34" charset="-122"/>
              <a:ea typeface="微软雅黑" panose="020B0503020204020204" pitchFamily="34" charset="-122"/>
            </a:endParaRPr>
          </a:p>
          <a:p>
            <a:pPr algn="ctr"/>
            <a:endParaRPr lang="en-US" altLang="zh-CN" sz="3800" b="1" dirty="0">
              <a:solidFill>
                <a:srgbClr val="003366"/>
              </a:solidFill>
              <a:latin typeface="微软雅黑" panose="020B0503020204020204" pitchFamily="34" charset="-122"/>
              <a:ea typeface="微软雅黑" panose="020B0503020204020204" pitchFamily="34" charset="-122"/>
            </a:endParaRPr>
          </a:p>
          <a:p>
            <a:pPr algn="ctr"/>
            <a:r>
              <a:rPr lang="zh-CN" altLang="en-US" sz="3500" b="1" dirty="0">
                <a:solidFill>
                  <a:srgbClr val="003366"/>
                </a:solidFill>
                <a:latin typeface="微软雅黑" panose="020B0503020204020204" pitchFamily="34" charset="-122"/>
                <a:ea typeface="微软雅黑" panose="020B0503020204020204" pitchFamily="34" charset="-122"/>
              </a:rPr>
              <a:t>蒙祖强，欧元汉  编著</a:t>
            </a:r>
          </a:p>
        </p:txBody>
      </p:sp>
      <p:pic>
        <p:nvPicPr>
          <p:cNvPr id="6" name="图片 5">
            <a:extLst>
              <a:ext uri="{FF2B5EF4-FFF2-40B4-BE49-F238E27FC236}">
                <a16:creationId xmlns:a16="http://schemas.microsoft.com/office/drawing/2014/main" id="{08AFE351-1634-454E-B25A-CE88A837C987}"/>
              </a:ext>
            </a:extLst>
          </p:cNvPr>
          <p:cNvPicPr>
            <a:picLocks noChangeAspect="1"/>
          </p:cNvPicPr>
          <p:nvPr/>
        </p:nvPicPr>
        <p:blipFill rotWithShape="1">
          <a:blip r:embed="rId5"/>
          <a:srcRect l="18793" t="3704" r="17232" b="4677"/>
          <a:stretch/>
        </p:blipFill>
        <p:spPr>
          <a:xfrm>
            <a:off x="396239" y="95339"/>
            <a:ext cx="944881" cy="1353180"/>
          </a:xfrm>
          <a:prstGeom prst="rect">
            <a:avLst/>
          </a:prstGeom>
        </p:spPr>
      </p:pic>
    </p:spTree>
    <p:extLst>
      <p:ext uri="{BB962C8B-B14F-4D97-AF65-F5344CB8AC3E}">
        <p14:creationId xmlns:p14="http://schemas.microsoft.com/office/powerpoint/2010/main" val="383598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0" y="6093296"/>
            <a:ext cx="12217400" cy="864096"/>
          </a:xfrm>
          <a:prstGeom prst="rect">
            <a:avLst/>
          </a:prstGeom>
        </p:spPr>
      </p:pic>
      <p:pic>
        <p:nvPicPr>
          <p:cNvPr id="2" name="图片 1"/>
          <p:cNvPicPr>
            <a:picLocks noChangeAspect="1"/>
          </p:cNvPicPr>
          <p:nvPr/>
        </p:nvPicPr>
        <p:blipFill rotWithShape="1">
          <a:blip r:embed="rId4"/>
          <a:srcRect r="1004"/>
          <a:stretch/>
        </p:blipFill>
        <p:spPr>
          <a:xfrm>
            <a:off x="1" y="0"/>
            <a:ext cx="12192000" cy="1543858"/>
          </a:xfrm>
          <a:prstGeom prst="rect">
            <a:avLst/>
          </a:prstGeom>
        </p:spPr>
      </p:pic>
      <p:pic>
        <p:nvPicPr>
          <p:cNvPr id="12" name="图片 11"/>
          <p:cNvPicPr>
            <a:picLocks noChangeAspect="1"/>
          </p:cNvPicPr>
          <p:nvPr/>
        </p:nvPicPr>
        <p:blipFill rotWithShape="1">
          <a:blip r:embed="rId4"/>
          <a:srcRect r="1004"/>
          <a:stretch/>
        </p:blipFill>
        <p:spPr>
          <a:xfrm>
            <a:off x="-496" y="6093296"/>
            <a:ext cx="12192000" cy="864096"/>
          </a:xfrm>
          <a:prstGeom prst="rect">
            <a:avLst/>
          </a:prstGeom>
        </p:spPr>
      </p:pic>
      <p:sp>
        <p:nvSpPr>
          <p:cNvPr id="4" name="矩形 3">
            <a:extLst>
              <a:ext uri="{FF2B5EF4-FFF2-40B4-BE49-F238E27FC236}">
                <a16:creationId xmlns:a16="http://schemas.microsoft.com/office/drawing/2014/main" id="{B0E66C8F-DEE3-4976-B2CB-5D8DBCD64073}"/>
              </a:ext>
            </a:extLst>
          </p:cNvPr>
          <p:cNvSpPr/>
          <p:nvPr/>
        </p:nvSpPr>
        <p:spPr>
          <a:xfrm>
            <a:off x="1524000" y="5010561"/>
            <a:ext cx="10444480" cy="1384995"/>
          </a:xfrm>
          <a:prstGeom prst="rect">
            <a:avLst/>
          </a:prstGeom>
        </p:spPr>
        <p:txBody>
          <a:bodyPr wrap="square">
            <a:spAutoFit/>
          </a:bodyPr>
          <a:lstStyle/>
          <a:p>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教材：</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蒙祖强，欧元汉 编著</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深度学习理论与应用</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北京</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清华大</a:t>
            </a:r>
            <a:br>
              <a:rPr lang="en-US" altLang="zh-CN" sz="2800" dirty="0">
                <a:latin typeface="Times New Roman" panose="02020603050405020304" pitchFamily="18" charset="0"/>
                <a:ea typeface="宋体" panose="02010600030101010101" pitchFamily="2" charset="-122"/>
                <a:cs typeface="Times New Roman" panose="02020603050405020304" pitchFamily="18" charset="0"/>
              </a:rPr>
            </a:b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学出版社，</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2023</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年</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月</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书号</a:t>
            </a:r>
            <a:r>
              <a:rPr lang="en-US" altLang="zh-CN" sz="2800" dirty="0">
                <a:solidFill>
                  <a:srgbClr val="0033CC"/>
                </a:solidFill>
                <a:latin typeface="Times New Roman" panose="02020603050405020304" pitchFamily="18" charset="0"/>
                <a:ea typeface="宋体" panose="02010600030101010101" pitchFamily="2" charset="-122"/>
                <a:cs typeface="Times New Roman" panose="02020603050405020304" pitchFamily="18" charset="0"/>
              </a:rPr>
              <a:t>: 978-7-302-63508-6</a:t>
            </a:r>
            <a:r>
              <a:rPr lang="en-US" altLang="zh-CN" sz="2800" dirty="0">
                <a:latin typeface="Times New Roman" panose="02020603050405020304" pitchFamily="18" charset="0"/>
                <a:ea typeface="宋体" panose="02010600030101010101" pitchFamily="2" charset="-122"/>
                <a:cs typeface="Times New Roman" panose="02020603050405020304" pitchFamily="18" charset="0"/>
              </a:rPr>
              <a:t>)</a:t>
            </a:r>
          </a:p>
          <a:p>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32763661-D098-48CD-96FB-579D637B02D4}"/>
              </a:ext>
            </a:extLst>
          </p:cNvPr>
          <p:cNvPicPr>
            <a:picLocks noChangeAspect="1"/>
          </p:cNvPicPr>
          <p:nvPr/>
        </p:nvPicPr>
        <p:blipFill rotWithShape="1">
          <a:blip r:embed="rId5"/>
          <a:srcRect l="18793" t="3704" r="17232" b="4677"/>
          <a:stretch/>
        </p:blipFill>
        <p:spPr>
          <a:xfrm>
            <a:off x="558800" y="279486"/>
            <a:ext cx="3236706" cy="4635341"/>
          </a:xfrm>
          <a:prstGeom prst="rect">
            <a:avLst/>
          </a:prstGeom>
        </p:spPr>
      </p:pic>
      <p:sp>
        <p:nvSpPr>
          <p:cNvPr id="5" name="矩形 4">
            <a:extLst>
              <a:ext uri="{FF2B5EF4-FFF2-40B4-BE49-F238E27FC236}">
                <a16:creationId xmlns:a16="http://schemas.microsoft.com/office/drawing/2014/main" id="{CE1412C1-CC05-4709-A5D7-B62A6D399976}"/>
              </a:ext>
            </a:extLst>
          </p:cNvPr>
          <p:cNvSpPr/>
          <p:nvPr/>
        </p:nvSpPr>
        <p:spPr>
          <a:xfrm>
            <a:off x="4286809" y="1775907"/>
            <a:ext cx="7708528" cy="2332690"/>
          </a:xfrm>
          <a:prstGeom prst="rect">
            <a:avLst/>
          </a:prstGeom>
        </p:spPr>
        <p:txBody>
          <a:bodyPr wrap="square">
            <a:spAutoFit/>
          </a:bodyPr>
          <a:lstStyle/>
          <a:p>
            <a:pPr marL="342900" indent="-342900">
              <a:lnSpc>
                <a:spcPct val="150000"/>
              </a:lnSpc>
              <a:buFont typeface="Wingdings" panose="05000000000000000000" pitchFamily="2" charset="2"/>
              <a:buChar char="l"/>
            </a:pPr>
            <a:r>
              <a:rPr lang="zh-CN" altLang="en-US" sz="2500" b="1" dirty="0">
                <a:solidFill>
                  <a:srgbClr val="C00000"/>
                </a:solidFill>
                <a:latin typeface="微软雅黑" panose="020B0503020204020204" pitchFamily="34" charset="-122"/>
                <a:ea typeface="微软雅黑" panose="020B0503020204020204" pitchFamily="34" charset="-122"/>
              </a:rPr>
              <a:t>教学大纲</a:t>
            </a:r>
            <a:r>
              <a:rPr lang="zh-CN" altLang="en-US" sz="2500" b="1" dirty="0">
                <a:solidFill>
                  <a:srgbClr val="003366"/>
                </a:solidFill>
                <a:latin typeface="微软雅黑" panose="020B0503020204020204" pitchFamily="34" charset="-122"/>
                <a:ea typeface="微软雅黑" panose="020B0503020204020204" pitchFamily="34" charset="-122"/>
              </a:rPr>
              <a:t>：提供面向教育工程认证的教学大纲</a:t>
            </a:r>
          </a:p>
          <a:p>
            <a:pPr marL="342900" indent="-342900">
              <a:lnSpc>
                <a:spcPct val="150000"/>
              </a:lnSpc>
              <a:buFont typeface="Wingdings" panose="05000000000000000000" pitchFamily="2" charset="2"/>
              <a:buChar char="l"/>
            </a:pPr>
            <a:r>
              <a:rPr lang="zh-CN" altLang="en-US" sz="2500" b="1" dirty="0">
                <a:solidFill>
                  <a:srgbClr val="C00000"/>
                </a:solidFill>
                <a:latin typeface="微软雅黑" panose="020B0503020204020204" pitchFamily="34" charset="-122"/>
                <a:ea typeface="微软雅黑" panose="020B0503020204020204" pitchFamily="34" charset="-122"/>
              </a:rPr>
              <a:t>教学PPT</a:t>
            </a:r>
            <a:r>
              <a:rPr lang="zh-CN" altLang="en-US" sz="2500" b="1" dirty="0">
                <a:solidFill>
                  <a:srgbClr val="003366"/>
                </a:solidFill>
                <a:latin typeface="微软雅黑" panose="020B0503020204020204" pitchFamily="34" charset="-122"/>
                <a:ea typeface="微软雅黑" panose="020B0503020204020204" pitchFamily="34" charset="-122"/>
              </a:rPr>
              <a:t>：提供课堂教学用的PPT课件</a:t>
            </a:r>
          </a:p>
          <a:p>
            <a:pPr marL="342900" indent="-342900">
              <a:lnSpc>
                <a:spcPct val="150000"/>
              </a:lnSpc>
              <a:buFont typeface="Wingdings" panose="05000000000000000000" pitchFamily="2" charset="2"/>
              <a:buChar char="l"/>
            </a:pPr>
            <a:r>
              <a:rPr lang="zh-CN" altLang="en-US" sz="2500" b="1" dirty="0">
                <a:solidFill>
                  <a:srgbClr val="C00000"/>
                </a:solidFill>
                <a:latin typeface="微软雅黑" panose="020B0503020204020204" pitchFamily="34" charset="-122"/>
                <a:ea typeface="微软雅黑" panose="020B0503020204020204" pitchFamily="34" charset="-122"/>
              </a:rPr>
              <a:t>源代码</a:t>
            </a:r>
            <a:r>
              <a:rPr lang="zh-CN" altLang="en-US" sz="2500" b="1" dirty="0">
                <a:solidFill>
                  <a:srgbClr val="003366"/>
                </a:solidFill>
                <a:latin typeface="微软雅黑" panose="020B0503020204020204" pitchFamily="34" charset="-122"/>
                <a:ea typeface="微软雅黑" panose="020B0503020204020204" pitchFamily="34" charset="-122"/>
              </a:rPr>
              <a:t>：   提供教材涉及的全部源代码</a:t>
            </a:r>
          </a:p>
          <a:p>
            <a:pPr marL="342900" indent="-342900">
              <a:lnSpc>
                <a:spcPct val="150000"/>
              </a:lnSpc>
              <a:buFont typeface="Wingdings" panose="05000000000000000000" pitchFamily="2" charset="2"/>
              <a:buChar char="l"/>
            </a:pPr>
            <a:r>
              <a:rPr lang="zh-CN" altLang="en-US" sz="2500" b="1" dirty="0">
                <a:solidFill>
                  <a:srgbClr val="C00000"/>
                </a:solidFill>
                <a:latin typeface="微软雅黑" panose="020B0503020204020204" pitchFamily="34" charset="-122"/>
                <a:ea typeface="微软雅黑" panose="020B0503020204020204" pitchFamily="34" charset="-122"/>
              </a:rPr>
              <a:t>数据集</a:t>
            </a:r>
            <a:r>
              <a:rPr lang="zh-CN" altLang="en-US" sz="2500" b="1" dirty="0">
                <a:solidFill>
                  <a:srgbClr val="003366"/>
                </a:solidFill>
                <a:latin typeface="微软雅黑" panose="020B0503020204020204" pitchFamily="34" charset="-122"/>
                <a:ea typeface="微软雅黑" panose="020B0503020204020204" pitchFamily="34" charset="-122"/>
              </a:rPr>
              <a:t>：   提供教材示例、案例用到的全部数据集</a:t>
            </a:r>
          </a:p>
        </p:txBody>
      </p:sp>
      <p:sp>
        <p:nvSpPr>
          <p:cNvPr id="10" name="矩形 9">
            <a:extLst>
              <a:ext uri="{FF2B5EF4-FFF2-40B4-BE49-F238E27FC236}">
                <a16:creationId xmlns:a16="http://schemas.microsoft.com/office/drawing/2014/main" id="{88CC5941-FF0E-4E37-825A-02327ECA5B13}"/>
              </a:ext>
            </a:extLst>
          </p:cNvPr>
          <p:cNvSpPr/>
          <p:nvPr/>
        </p:nvSpPr>
        <p:spPr>
          <a:xfrm>
            <a:off x="3998706" y="4169760"/>
            <a:ext cx="8172974" cy="646331"/>
          </a:xfrm>
          <a:prstGeom prst="rect">
            <a:avLst/>
          </a:prstGeom>
        </p:spPr>
        <p:txBody>
          <a:bodyPr wrap="square">
            <a:spAutoFit/>
          </a:bodyPr>
          <a:lstStyle/>
          <a:p>
            <a:r>
              <a:rPr lang="zh-CN" altLang="en-US" b="1" dirty="0">
                <a:solidFill>
                  <a:srgbClr val="C00000"/>
                </a:solidFill>
                <a:latin typeface="微软雅黑" panose="020B0503020204020204" pitchFamily="34" charset="-122"/>
                <a:ea typeface="微软雅黑" panose="020B0503020204020204" pitchFamily="34" charset="-122"/>
              </a:rPr>
              <a:t>获取教学资源：</a:t>
            </a:r>
            <a:endParaRPr lang="en-US" altLang="zh-CN" b="1" dirty="0">
              <a:solidFill>
                <a:srgbClr val="C00000"/>
              </a:solidFill>
              <a:latin typeface="微软雅黑" panose="020B0503020204020204" pitchFamily="34" charset="-122"/>
              <a:ea typeface="微软雅黑" panose="020B0503020204020204" pitchFamily="34" charset="-122"/>
            </a:endParaRPr>
          </a:p>
          <a:p>
            <a:r>
              <a:rPr lang="zh-CN" altLang="en-US" b="1" dirty="0">
                <a:solidFill>
                  <a:srgbClr val="003366"/>
                </a:solidFill>
                <a:latin typeface="微软雅黑" panose="020B0503020204020204" pitchFamily="34" charset="-122"/>
                <a:ea typeface="微软雅黑" panose="020B0503020204020204" pitchFamily="34" charset="-122"/>
              </a:rPr>
              <a:t>http://www.tup.tsinghua.edu.cn/booksCenter/book_09988101.html</a:t>
            </a:r>
          </a:p>
        </p:txBody>
      </p:sp>
      <p:sp>
        <p:nvSpPr>
          <p:cNvPr id="11" name="矩形 10">
            <a:extLst>
              <a:ext uri="{FF2B5EF4-FFF2-40B4-BE49-F238E27FC236}">
                <a16:creationId xmlns:a16="http://schemas.microsoft.com/office/drawing/2014/main" id="{0294B4AD-AFAA-4C7F-A5CA-AD1393B6D4CA}"/>
              </a:ext>
            </a:extLst>
          </p:cNvPr>
          <p:cNvSpPr/>
          <p:nvPr/>
        </p:nvSpPr>
        <p:spPr>
          <a:xfrm>
            <a:off x="4714540" y="321731"/>
            <a:ext cx="2557110" cy="984885"/>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58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教    材</a:t>
            </a:r>
            <a:endParaRPr lang="zh-CN" altLang="en-US" sz="5800" dirty="0">
              <a:solidFill>
                <a:schemeClr val="bg1"/>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682A520D-ACFA-4FA2-8AF0-6BB6BF72C7F6}"/>
              </a:ext>
            </a:extLst>
          </p:cNvPr>
          <p:cNvPicPr>
            <a:picLocks noChangeAspect="1"/>
          </p:cNvPicPr>
          <p:nvPr/>
        </p:nvPicPr>
        <p:blipFill>
          <a:blip r:embed="rId6"/>
          <a:stretch>
            <a:fillRect/>
          </a:stretch>
        </p:blipFill>
        <p:spPr>
          <a:xfrm>
            <a:off x="11004191" y="299446"/>
            <a:ext cx="1007170" cy="1007170"/>
          </a:xfrm>
          <a:prstGeom prst="rect">
            <a:avLst/>
          </a:prstGeom>
        </p:spPr>
      </p:pic>
      <p:sp>
        <p:nvSpPr>
          <p:cNvPr id="14" name="矩形 13">
            <a:extLst>
              <a:ext uri="{FF2B5EF4-FFF2-40B4-BE49-F238E27FC236}">
                <a16:creationId xmlns:a16="http://schemas.microsoft.com/office/drawing/2014/main" id="{F7D8FA31-80A5-402C-887D-694E92FB8310}"/>
              </a:ext>
            </a:extLst>
          </p:cNvPr>
          <p:cNvSpPr/>
          <p:nvPr/>
        </p:nvSpPr>
        <p:spPr>
          <a:xfrm>
            <a:off x="9767640" y="290953"/>
            <a:ext cx="1206071" cy="1015663"/>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2000" b="1" dirty="0">
                <a:solidFill>
                  <a:schemeClr val="bg1"/>
                </a:solidFill>
              </a:rPr>
              <a:t>全国各大</a:t>
            </a:r>
          </a:p>
          <a:p>
            <a:r>
              <a:rPr lang="zh-CN" altLang="en-US" sz="2000" b="1" dirty="0">
                <a:solidFill>
                  <a:schemeClr val="bg1"/>
                </a:solidFill>
              </a:rPr>
              <a:t>书店网店</a:t>
            </a:r>
          </a:p>
          <a:p>
            <a:r>
              <a:rPr lang="zh-CN" altLang="en-US" sz="2000" b="1" dirty="0">
                <a:solidFill>
                  <a:schemeClr val="bg1"/>
                </a:solidFill>
              </a:rPr>
              <a:t>均有销售</a:t>
            </a:r>
          </a:p>
        </p:txBody>
      </p:sp>
    </p:spTree>
    <p:extLst>
      <p:ext uri="{BB962C8B-B14F-4D97-AF65-F5344CB8AC3E}">
        <p14:creationId xmlns:p14="http://schemas.microsoft.com/office/powerpoint/2010/main" val="340157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0" y="6093296"/>
            <a:ext cx="12217400" cy="864096"/>
          </a:xfrm>
          <a:prstGeom prst="rect">
            <a:avLst/>
          </a:prstGeom>
        </p:spPr>
      </p:pic>
      <p:pic>
        <p:nvPicPr>
          <p:cNvPr id="2" name="图片 1"/>
          <p:cNvPicPr>
            <a:picLocks noChangeAspect="1"/>
          </p:cNvPicPr>
          <p:nvPr/>
        </p:nvPicPr>
        <p:blipFill rotWithShape="1">
          <a:blip r:embed="rId4"/>
          <a:srcRect r="1004"/>
          <a:stretch/>
        </p:blipFill>
        <p:spPr>
          <a:xfrm>
            <a:off x="1" y="0"/>
            <a:ext cx="12192000" cy="1543858"/>
          </a:xfrm>
          <a:prstGeom prst="rect">
            <a:avLst/>
          </a:prstGeom>
        </p:spPr>
      </p:pic>
      <p:pic>
        <p:nvPicPr>
          <p:cNvPr id="12" name="图片 11"/>
          <p:cNvPicPr>
            <a:picLocks noChangeAspect="1"/>
          </p:cNvPicPr>
          <p:nvPr/>
        </p:nvPicPr>
        <p:blipFill rotWithShape="1">
          <a:blip r:embed="rId4"/>
          <a:srcRect r="1004"/>
          <a:stretch/>
        </p:blipFill>
        <p:spPr>
          <a:xfrm>
            <a:off x="-496" y="6093296"/>
            <a:ext cx="12192000" cy="864096"/>
          </a:xfrm>
          <a:prstGeom prst="rect">
            <a:avLst/>
          </a:prstGeom>
        </p:spPr>
      </p:pic>
      <p:sp>
        <p:nvSpPr>
          <p:cNvPr id="3" name="矩形 2">
            <a:extLst>
              <a:ext uri="{FF2B5EF4-FFF2-40B4-BE49-F238E27FC236}">
                <a16:creationId xmlns:a16="http://schemas.microsoft.com/office/drawing/2014/main" id="{C631BC06-0AA5-44C7-96A7-643C4138D719}"/>
              </a:ext>
            </a:extLst>
          </p:cNvPr>
          <p:cNvSpPr/>
          <p:nvPr/>
        </p:nvSpPr>
        <p:spPr>
          <a:xfrm>
            <a:off x="746264" y="3013501"/>
            <a:ext cx="10698480" cy="1569660"/>
          </a:xfrm>
          <a:prstGeom prst="rect">
            <a:avLst/>
          </a:prstGeom>
        </p:spPr>
        <p:txBody>
          <a:bodyPr wrap="square">
            <a:spAutoFit/>
          </a:bodyPr>
          <a:lstStyle/>
          <a:p>
            <a:pPr algn="ctr"/>
            <a:r>
              <a:rPr lang="zh-CN" altLang="en-US" sz="4800" b="1" dirty="0">
                <a:solidFill>
                  <a:srgbClr val="C00000"/>
                </a:solidFill>
                <a:latin typeface="微软雅黑" panose="020B0503020204020204" pitchFamily="34" charset="-122"/>
                <a:ea typeface="微软雅黑" panose="020B0503020204020204" pitchFamily="34" charset="-122"/>
              </a:rPr>
              <a:t>第</a:t>
            </a:r>
            <a:r>
              <a:rPr lang="en-US" altLang="zh-CN" sz="4800" b="1" dirty="0">
                <a:solidFill>
                  <a:srgbClr val="C00000"/>
                </a:solidFill>
                <a:latin typeface="微软雅黑" panose="020B0503020204020204" pitchFamily="34" charset="-122"/>
                <a:ea typeface="微软雅黑" panose="020B0503020204020204" pitchFamily="34" charset="-122"/>
              </a:rPr>
              <a:t>3</a:t>
            </a:r>
            <a:r>
              <a:rPr lang="zh-CN" altLang="en-US" sz="4800" b="1" dirty="0">
                <a:solidFill>
                  <a:srgbClr val="C00000"/>
                </a:solidFill>
                <a:latin typeface="微软雅黑" panose="020B0503020204020204" pitchFamily="34" charset="-122"/>
                <a:ea typeface="微软雅黑" panose="020B0503020204020204" pitchFamily="34" charset="-122"/>
              </a:rPr>
              <a:t>章 全连接神经网络</a:t>
            </a:r>
          </a:p>
          <a:p>
            <a:pPr algn="ctr"/>
            <a:endParaRPr lang="zh-CN" altLang="en-US" sz="4800" b="1" dirty="0">
              <a:solidFill>
                <a:srgbClr val="C00000"/>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8AFE351-1634-454E-B25A-CE88A837C987}"/>
              </a:ext>
            </a:extLst>
          </p:cNvPr>
          <p:cNvPicPr>
            <a:picLocks noChangeAspect="1"/>
          </p:cNvPicPr>
          <p:nvPr/>
        </p:nvPicPr>
        <p:blipFill rotWithShape="1">
          <a:blip r:embed="rId5"/>
          <a:srcRect l="18793" t="3704" r="17232" b="4677"/>
          <a:stretch/>
        </p:blipFill>
        <p:spPr>
          <a:xfrm>
            <a:off x="396239" y="95339"/>
            <a:ext cx="944881" cy="1353180"/>
          </a:xfrm>
          <a:prstGeom prst="rect">
            <a:avLst/>
          </a:prstGeom>
        </p:spPr>
      </p:pic>
      <p:sp>
        <p:nvSpPr>
          <p:cNvPr id="4" name="矩形 3">
            <a:extLst>
              <a:ext uri="{FF2B5EF4-FFF2-40B4-BE49-F238E27FC236}">
                <a16:creationId xmlns:a16="http://schemas.microsoft.com/office/drawing/2014/main" id="{B3394DA6-7B4F-4DEA-887C-16303ACC9E10}"/>
              </a:ext>
            </a:extLst>
          </p:cNvPr>
          <p:cNvSpPr/>
          <p:nvPr/>
        </p:nvSpPr>
        <p:spPr>
          <a:xfrm>
            <a:off x="314960" y="6340678"/>
            <a:ext cx="10271760" cy="369332"/>
          </a:xfrm>
          <a:prstGeom prst="rect">
            <a:avLst/>
          </a:prstGeom>
        </p:spPr>
        <p:txBody>
          <a:bodyPr wrap="square">
            <a:spAutoFit/>
          </a:bodyPr>
          <a:lstStyle/>
          <a:p>
            <a:r>
              <a:rPr lang="zh-CN" altLang="en-US" dirty="0">
                <a:solidFill>
                  <a:schemeClr val="bg1"/>
                </a:solidFill>
              </a:rPr>
              <a:t>蒙祖强，欧元汉 编著. 深度学习理论与应用. 北京: 清华大学出版社，2023年</a:t>
            </a:r>
            <a:r>
              <a:rPr lang="en-US" altLang="zh-CN" dirty="0">
                <a:solidFill>
                  <a:schemeClr val="bg1"/>
                </a:solidFill>
              </a:rPr>
              <a:t>7</a:t>
            </a:r>
            <a:r>
              <a:rPr lang="zh-CN" altLang="en-US" dirty="0">
                <a:solidFill>
                  <a:schemeClr val="bg1"/>
                </a:solidFill>
              </a:rPr>
              <a:t>月.</a:t>
            </a:r>
          </a:p>
        </p:txBody>
      </p:sp>
    </p:spTree>
    <p:extLst>
      <p:ext uri="{BB962C8B-B14F-4D97-AF65-F5344CB8AC3E}">
        <p14:creationId xmlns:p14="http://schemas.microsoft.com/office/powerpoint/2010/main" val="2728171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a:srcRect t="2070" r="1004"/>
          <a:stretch/>
        </p:blipFill>
        <p:spPr>
          <a:xfrm>
            <a:off x="-496" y="-27384"/>
            <a:ext cx="3360192" cy="6885384"/>
          </a:xfrm>
          <a:prstGeom prst="rect">
            <a:avLst/>
          </a:prstGeom>
        </p:spPr>
      </p:pic>
      <p:sp>
        <p:nvSpPr>
          <p:cNvPr id="9" name="文本框 6"/>
          <p:cNvSpPr txBox="1"/>
          <p:nvPr/>
        </p:nvSpPr>
        <p:spPr>
          <a:xfrm>
            <a:off x="649714" y="2558062"/>
            <a:ext cx="2133918" cy="523220"/>
          </a:xfrm>
          <a:prstGeom prst="rect">
            <a:avLst/>
          </a:prstGeom>
          <a:noFill/>
        </p:spPr>
        <p:txBody>
          <a:bodyPr wrap="none" rtlCol="0">
            <a:spAutoFit/>
          </a:bodyPr>
          <a:lstStyle/>
          <a:p>
            <a:r>
              <a:rPr lang="zh-CN" altLang="en-US" sz="2800" spc="1000" dirty="0">
                <a:solidFill>
                  <a:schemeClr val="bg1"/>
                </a:solidFill>
                <a:cs typeface="+mn-ea"/>
                <a:sym typeface="+mn-lt"/>
              </a:rPr>
              <a:t>本章内容</a:t>
            </a:r>
          </a:p>
        </p:txBody>
      </p:sp>
      <p:sp>
        <p:nvSpPr>
          <p:cNvPr id="10" name="文本框 11"/>
          <p:cNvSpPr txBox="1"/>
          <p:nvPr/>
        </p:nvSpPr>
        <p:spPr>
          <a:xfrm>
            <a:off x="1032610" y="3238388"/>
            <a:ext cx="1239442" cy="461665"/>
          </a:xfrm>
          <a:prstGeom prst="rect">
            <a:avLst/>
          </a:prstGeom>
          <a:noFill/>
        </p:spPr>
        <p:txBody>
          <a:bodyPr wrap="none" rtlCol="0">
            <a:spAutoFit/>
          </a:bodyPr>
          <a:lstStyle/>
          <a:p>
            <a:r>
              <a:rPr lang="en-US" altLang="zh-CN" sz="2400" dirty="0">
                <a:solidFill>
                  <a:schemeClr val="bg1"/>
                </a:solidFill>
                <a:cs typeface="+mn-ea"/>
                <a:sym typeface="+mn-lt"/>
              </a:rPr>
              <a:t>contents</a:t>
            </a:r>
            <a:endParaRPr lang="zh-CN" altLang="en-US" sz="2400" dirty="0">
              <a:solidFill>
                <a:schemeClr val="bg1"/>
              </a:solidFill>
              <a:cs typeface="+mn-ea"/>
              <a:sym typeface="+mn-lt"/>
            </a:endParaRPr>
          </a:p>
        </p:txBody>
      </p:sp>
      <p:cxnSp>
        <p:nvCxnSpPr>
          <p:cNvPr id="11" name="直接连接符 10"/>
          <p:cNvCxnSpPr/>
          <p:nvPr/>
        </p:nvCxnSpPr>
        <p:spPr>
          <a:xfrm flipH="1">
            <a:off x="367517"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8818"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内容占位符 2"/>
          <p:cNvSpPr txBox="1">
            <a:spLocks/>
          </p:cNvSpPr>
          <p:nvPr/>
        </p:nvSpPr>
        <p:spPr>
          <a:xfrm>
            <a:off x="4009907" y="1506189"/>
            <a:ext cx="7978894" cy="4387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None/>
            </a:pPr>
            <a:r>
              <a:rPr lang="en-US" altLang="zh-CN" b="1" dirty="0">
                <a:solidFill>
                  <a:srgbClr val="C00000"/>
                </a:solidFill>
                <a:latin typeface="微软雅黑" panose="020B0503020204020204" pitchFamily="34" charset="-122"/>
                <a:ea typeface="微软雅黑" panose="020B0503020204020204" pitchFamily="34" charset="-122"/>
              </a:rPr>
              <a:t>3.1  </a:t>
            </a:r>
            <a:r>
              <a:rPr lang="zh-CN" altLang="en-US" b="1" dirty="0">
                <a:solidFill>
                  <a:srgbClr val="C00000"/>
                </a:solidFill>
                <a:latin typeface="微软雅黑" panose="020B0503020204020204" pitchFamily="34" charset="-122"/>
                <a:ea typeface="微软雅黑" panose="020B0503020204020204" pitchFamily="34" charset="-122"/>
              </a:rPr>
              <a:t>构建一个简单的全连接神经网络</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解决二分类问题</a:t>
            </a:r>
          </a:p>
          <a:p>
            <a:pPr>
              <a:lnSpc>
                <a:spcPct val="150000"/>
              </a:lnSpc>
              <a:buNone/>
            </a:pPr>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全连接神经网络的构造方法</a:t>
            </a:r>
          </a:p>
          <a:p>
            <a:pPr>
              <a:lnSpc>
                <a:spcPct val="150000"/>
              </a:lnSpc>
              <a:buNone/>
            </a:pPr>
            <a:r>
              <a:rPr lang="en-US" altLang="zh-CN" b="1" dirty="0">
                <a:latin typeface="微软雅黑" panose="020B0503020204020204" pitchFamily="34" charset="-122"/>
                <a:ea typeface="微软雅黑" panose="020B0503020204020204" pitchFamily="34" charset="-122"/>
              </a:rPr>
              <a:t>3.3  </a:t>
            </a:r>
            <a:r>
              <a:rPr lang="zh-CN" altLang="en-US" b="1" dirty="0">
                <a:latin typeface="微软雅黑" panose="020B0503020204020204" pitchFamily="34" charset="-122"/>
                <a:ea typeface="微软雅黑" panose="020B0503020204020204" pitchFamily="34" charset="-122"/>
              </a:rPr>
              <a:t>几种主流的损失函数</a:t>
            </a:r>
          </a:p>
          <a:p>
            <a:pPr>
              <a:lnSpc>
                <a:spcPct val="150000"/>
              </a:lnSpc>
              <a:buNone/>
            </a:pPr>
            <a:r>
              <a:rPr lang="en-US" altLang="zh-CN" b="1" dirty="0">
                <a:latin typeface="微软雅黑" panose="020B0503020204020204" pitchFamily="34" charset="-122"/>
                <a:ea typeface="微软雅黑" panose="020B0503020204020204" pitchFamily="34" charset="-122"/>
              </a:rPr>
              <a:t>3.4  </a:t>
            </a:r>
            <a:r>
              <a:rPr lang="zh-CN" altLang="en-US" b="1" dirty="0">
                <a:latin typeface="微软雅黑" panose="020B0503020204020204" pitchFamily="34" charset="-122"/>
                <a:ea typeface="微软雅黑" panose="020B0503020204020204" pitchFamily="34" charset="-122"/>
              </a:rPr>
              <a:t>网络模型的训练与测试</a:t>
            </a:r>
          </a:p>
          <a:p>
            <a:pPr>
              <a:lnSpc>
                <a:spcPct val="150000"/>
              </a:lnSpc>
              <a:buNone/>
            </a:pPr>
            <a:r>
              <a:rPr lang="en-US" altLang="zh-CN" b="1" dirty="0">
                <a:latin typeface="微软雅黑" panose="020B0503020204020204" pitchFamily="34" charset="-122"/>
                <a:ea typeface="微软雅黑" panose="020B0503020204020204" pitchFamily="34" charset="-122"/>
              </a:rPr>
              <a:t>3.5  </a:t>
            </a:r>
            <a:r>
              <a:rPr lang="zh-CN" altLang="en-US" b="1" dirty="0">
                <a:latin typeface="微软雅黑" panose="020B0503020204020204" pitchFamily="34" charset="-122"/>
                <a:ea typeface="微软雅黑" panose="020B0503020204020204" pitchFamily="34" charset="-122"/>
              </a:rPr>
              <a:t>正向计算和反向梯度传播的理论分析</a:t>
            </a:r>
          </a:p>
        </p:txBody>
      </p:sp>
      <p:pic>
        <p:nvPicPr>
          <p:cNvPr id="13" name="图片 12">
            <a:extLst>
              <a:ext uri="{FF2B5EF4-FFF2-40B4-BE49-F238E27FC236}">
                <a16:creationId xmlns:a16="http://schemas.microsoft.com/office/drawing/2014/main" id="{B7A089C7-0418-4B24-B026-E43BD2558A41}"/>
              </a:ext>
            </a:extLst>
          </p:cNvPr>
          <p:cNvPicPr>
            <a:picLocks noChangeAspect="1"/>
          </p:cNvPicPr>
          <p:nvPr/>
        </p:nvPicPr>
        <p:blipFill rotWithShape="1">
          <a:blip r:embed="rId4"/>
          <a:srcRect l="18793" t="3704" r="17232" b="4677"/>
          <a:stretch/>
        </p:blipFill>
        <p:spPr>
          <a:xfrm>
            <a:off x="1207159" y="449739"/>
            <a:ext cx="944881" cy="1353180"/>
          </a:xfrm>
          <a:prstGeom prst="rect">
            <a:avLst/>
          </a:prstGeom>
        </p:spPr>
      </p:pic>
    </p:spTree>
    <p:extLst>
      <p:ext uri="{BB962C8B-B14F-4D97-AF65-F5344CB8AC3E}">
        <p14:creationId xmlns:p14="http://schemas.microsoft.com/office/powerpoint/2010/main" val="362735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3.1.1 </a:t>
            </a:r>
            <a:r>
              <a:rPr lang="zh-CN" altLang="en-US" sz="2800" b="1" dirty="0">
                <a:solidFill>
                  <a:srgbClr val="C00000"/>
                </a:solidFill>
              </a:rPr>
              <a:t>一个简单全连接神经网络的构建和训练</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2180956"/>
            <a:ext cx="7292077" cy="3108543"/>
          </a:xfrm>
          <a:prstGeom prst="rect">
            <a:avLst/>
          </a:prstGeom>
          <a:noFill/>
        </p:spPr>
        <p:txBody>
          <a:bodyPr wrap="square" rtlCol="0">
            <a:spAutoFit/>
          </a:bodyPr>
          <a:lstStyle/>
          <a:p>
            <a:pPr>
              <a:spcBef>
                <a:spcPts val="600"/>
              </a:spcBef>
              <a:spcAft>
                <a:spcPts val="600"/>
              </a:spcAft>
            </a:pPr>
            <a:r>
              <a:rPr lang="en-US" altLang="zh-CN" sz="2200" b="1" dirty="0"/>
              <a:t>【</a:t>
            </a:r>
            <a:r>
              <a:rPr lang="zh-CN" altLang="en-US" sz="2200" b="1" dirty="0"/>
              <a:t>例 </a:t>
            </a:r>
            <a:r>
              <a:rPr lang="en-US" altLang="zh-CN" sz="2200" b="1" dirty="0"/>
              <a:t>3.1】</a:t>
            </a:r>
            <a:r>
              <a:rPr lang="zh-CN" altLang="en-US" sz="2200" dirty="0"/>
              <a:t>构建一个全连接神经网络，并用给定的数据集对其进行训练，使其实现相应的二分类任务。</a:t>
            </a:r>
            <a:endParaRPr lang="en-US" altLang="zh-CN" sz="2200" dirty="0"/>
          </a:p>
          <a:p>
            <a:pPr>
              <a:spcBef>
                <a:spcPts val="600"/>
              </a:spcBef>
              <a:spcAft>
                <a:spcPts val="600"/>
              </a:spcAft>
            </a:pPr>
            <a:r>
              <a:rPr lang="zh-CN" altLang="en-US" sz="2200" dirty="0"/>
              <a:t>本例设计一个</a:t>
            </a:r>
            <a:r>
              <a:rPr lang="zh-CN" altLang="en-US" sz="2200" b="1" dirty="0"/>
              <a:t>三层结构</a:t>
            </a:r>
            <a:r>
              <a:rPr lang="zh-CN" altLang="en-US" sz="2200" dirty="0"/>
              <a:t>全连接神经网络，其结构如图 </a:t>
            </a:r>
            <a:r>
              <a:rPr lang="en-US" altLang="zh-CN" sz="2200" dirty="0"/>
              <a:t>3-1 </a:t>
            </a:r>
            <a:r>
              <a:rPr lang="zh-CN" altLang="en-US" sz="2200" dirty="0"/>
              <a:t>所示。严格说，该网络只包含</a:t>
            </a:r>
            <a:r>
              <a:rPr lang="zh-CN" altLang="en-US" sz="2200" b="1" dirty="0"/>
              <a:t>两个</a:t>
            </a:r>
            <a:r>
              <a:rPr lang="zh-CN" altLang="en-US" sz="2200" dirty="0"/>
              <a:t>网络层，因为第 </a:t>
            </a:r>
            <a:r>
              <a:rPr lang="en-US" altLang="zh-CN" sz="2200" dirty="0"/>
              <a:t>0 </a:t>
            </a:r>
            <a:r>
              <a:rPr lang="zh-CN" altLang="en-US" sz="2200" dirty="0"/>
              <a:t>层（即输入层）只是传递数据给后面的网络层，而它本身没有计算功能，只有后面两个网络层有计算功能。但按照习惯，还是称为“三层全连接神经网络”。 </a:t>
            </a:r>
            <a:endParaRPr lang="en-US" altLang="zh-CN" sz="2200" dirty="0"/>
          </a:p>
          <a:p>
            <a:pPr>
              <a:spcBef>
                <a:spcPts val="600"/>
              </a:spcBef>
              <a:spcAft>
                <a:spcPts val="600"/>
              </a:spcAft>
            </a:pPr>
            <a:endParaRPr lang="en-US" altLang="zh-CN" sz="2200" dirty="0"/>
          </a:p>
        </p:txBody>
      </p:sp>
      <p:pic>
        <p:nvPicPr>
          <p:cNvPr id="4" name="图片 3">
            <a:extLst>
              <a:ext uri="{FF2B5EF4-FFF2-40B4-BE49-F238E27FC236}">
                <a16:creationId xmlns:a16="http://schemas.microsoft.com/office/drawing/2014/main" id="{E82A9E23-C773-5DCD-90EA-E0EC171743EA}"/>
              </a:ext>
            </a:extLst>
          </p:cNvPr>
          <p:cNvPicPr>
            <a:picLocks noChangeAspect="1"/>
          </p:cNvPicPr>
          <p:nvPr/>
        </p:nvPicPr>
        <p:blipFill>
          <a:blip r:embed="rId3"/>
          <a:stretch>
            <a:fillRect/>
          </a:stretch>
        </p:blipFill>
        <p:spPr>
          <a:xfrm>
            <a:off x="7579644" y="2180956"/>
            <a:ext cx="4268865" cy="2684247"/>
          </a:xfrm>
          <a:prstGeom prst="rect">
            <a:avLst/>
          </a:prstGeom>
        </p:spPr>
      </p:pic>
    </p:spTree>
    <p:extLst>
      <p:ext uri="{BB962C8B-B14F-4D97-AF65-F5344CB8AC3E}">
        <p14:creationId xmlns:p14="http://schemas.microsoft.com/office/powerpoint/2010/main" val="1227626428"/>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3.1.1 </a:t>
            </a:r>
            <a:r>
              <a:rPr lang="zh-CN" altLang="en-US" sz="2800" b="1" dirty="0">
                <a:solidFill>
                  <a:srgbClr val="C00000"/>
                </a:solidFill>
              </a:rPr>
              <a:t>一个简单全连接神经网络的构建和训练</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335805" y="1988800"/>
            <a:ext cx="10757028" cy="1446550"/>
          </a:xfrm>
          <a:prstGeom prst="rect">
            <a:avLst/>
          </a:prstGeom>
          <a:noFill/>
        </p:spPr>
        <p:txBody>
          <a:bodyPr wrap="square" rtlCol="0">
            <a:spAutoFit/>
          </a:bodyPr>
          <a:lstStyle/>
          <a:p>
            <a:pPr>
              <a:spcBef>
                <a:spcPts val="600"/>
              </a:spcBef>
              <a:spcAft>
                <a:spcPts val="600"/>
              </a:spcAft>
            </a:pPr>
            <a:r>
              <a:rPr lang="zh-CN" altLang="en-US" sz="2200" dirty="0"/>
              <a:t>该网络用于对一个用数学方法构造出来的</a:t>
            </a:r>
            <a:r>
              <a:rPr lang="zh-CN" altLang="en-US" sz="2200" b="1" dirty="0"/>
              <a:t>数据集</a:t>
            </a:r>
            <a:r>
              <a:rPr lang="zh-CN" altLang="en-US" sz="2200" dirty="0"/>
              <a:t>进行分类。该数据集保存在</a:t>
            </a:r>
            <a:r>
              <a:rPr lang="en-US" altLang="zh-CN" sz="2200" dirty="0"/>
              <a:t>./data </a:t>
            </a:r>
            <a:r>
              <a:rPr lang="zh-CN" altLang="en-US" sz="2200" dirty="0"/>
              <a:t>目录下（</a:t>
            </a:r>
            <a:r>
              <a:rPr lang="zh-CN" altLang="en-US" sz="2200" dirty="0">
                <a:solidFill>
                  <a:srgbClr val="0033CC"/>
                </a:solidFill>
              </a:rPr>
              <a:t>“</a:t>
            </a:r>
            <a:r>
              <a:rPr lang="en-US" altLang="zh-CN" sz="2200" dirty="0">
                <a:solidFill>
                  <a:srgbClr val="0033CC"/>
                </a:solidFill>
              </a:rPr>
              <a:t>.”</a:t>
            </a:r>
            <a:r>
              <a:rPr lang="zh-CN" altLang="en-US" sz="2200" dirty="0">
                <a:solidFill>
                  <a:srgbClr val="0033CC"/>
                </a:solidFill>
              </a:rPr>
              <a:t>代表本书资源文件所在的根目录，这些资源文件都可以从清华大学出版社网站上免费下载，下同</a:t>
            </a:r>
            <a:r>
              <a:rPr lang="zh-CN" altLang="en-US" sz="2200" dirty="0"/>
              <a:t>），文件名为“例 </a:t>
            </a:r>
            <a:r>
              <a:rPr lang="en-US" altLang="zh-CN" sz="2200" dirty="0"/>
              <a:t>3.1 </a:t>
            </a:r>
            <a:r>
              <a:rPr lang="zh-CN" altLang="en-US" sz="2200" dirty="0"/>
              <a:t>数据</a:t>
            </a:r>
            <a:r>
              <a:rPr lang="en-US" altLang="zh-CN" sz="2200" dirty="0"/>
              <a:t>.txt”</a:t>
            </a:r>
            <a:r>
              <a:rPr lang="zh-CN" altLang="en-US" sz="2200" dirty="0"/>
              <a:t>。在该数据集中，</a:t>
            </a:r>
            <a:r>
              <a:rPr lang="en-US" altLang="zh-CN" sz="2200" dirty="0"/>
              <a:t>0 </a:t>
            </a:r>
            <a:r>
              <a:rPr lang="zh-CN" altLang="en-US" sz="2200" dirty="0"/>
              <a:t>类样本和 </a:t>
            </a:r>
            <a:r>
              <a:rPr lang="en-US" altLang="zh-CN" sz="2200" dirty="0"/>
              <a:t>1 </a:t>
            </a:r>
            <a:r>
              <a:rPr lang="zh-CN" altLang="en-US" sz="2200" dirty="0"/>
              <a:t>类样本都分别有</a:t>
            </a:r>
            <a:r>
              <a:rPr lang="en-US" altLang="zh-CN" sz="2200" b="1" dirty="0"/>
              <a:t>1020</a:t>
            </a:r>
            <a:r>
              <a:rPr lang="en-US" altLang="zh-CN" sz="2200" dirty="0"/>
              <a:t> </a:t>
            </a:r>
            <a:r>
              <a:rPr lang="zh-CN" altLang="en-US" sz="2200" dirty="0"/>
              <a:t>条，一共有 </a:t>
            </a:r>
            <a:r>
              <a:rPr lang="en-US" altLang="zh-CN" sz="2200" b="1" dirty="0"/>
              <a:t>2040</a:t>
            </a:r>
            <a:r>
              <a:rPr lang="en-US" altLang="zh-CN" sz="2200" dirty="0"/>
              <a:t> </a:t>
            </a:r>
            <a:r>
              <a:rPr lang="zh-CN" altLang="en-US" sz="2200" dirty="0"/>
              <a:t>条数据样本。文件“例 </a:t>
            </a:r>
            <a:r>
              <a:rPr lang="en-US" altLang="zh-CN" sz="2200" dirty="0"/>
              <a:t>3.1 </a:t>
            </a:r>
            <a:r>
              <a:rPr lang="zh-CN" altLang="en-US" sz="2200" dirty="0"/>
              <a:t>数据</a:t>
            </a:r>
            <a:r>
              <a:rPr lang="en-US" altLang="zh-CN" sz="2200" dirty="0"/>
              <a:t>.txt”</a:t>
            </a:r>
            <a:r>
              <a:rPr lang="zh-CN" altLang="en-US" sz="2200" dirty="0"/>
              <a:t>中的数据格式如下：</a:t>
            </a:r>
            <a:endParaRPr lang="en-US" altLang="zh-CN" sz="2200" dirty="0"/>
          </a:p>
        </p:txBody>
      </p:sp>
      <p:pic>
        <p:nvPicPr>
          <p:cNvPr id="6" name="图片 5">
            <a:extLst>
              <a:ext uri="{FF2B5EF4-FFF2-40B4-BE49-F238E27FC236}">
                <a16:creationId xmlns:a16="http://schemas.microsoft.com/office/drawing/2014/main" id="{1FFD50FD-4F47-42D6-16EB-6713629DE8C7}"/>
              </a:ext>
            </a:extLst>
          </p:cNvPr>
          <p:cNvPicPr>
            <a:picLocks noChangeAspect="1"/>
          </p:cNvPicPr>
          <p:nvPr/>
        </p:nvPicPr>
        <p:blipFill>
          <a:blip r:embed="rId3"/>
          <a:stretch>
            <a:fillRect/>
          </a:stretch>
        </p:blipFill>
        <p:spPr>
          <a:xfrm>
            <a:off x="494815" y="3643630"/>
            <a:ext cx="5601185" cy="2171888"/>
          </a:xfrm>
          <a:prstGeom prst="rect">
            <a:avLst/>
          </a:prstGeom>
        </p:spPr>
      </p:pic>
      <p:sp>
        <p:nvSpPr>
          <p:cNvPr id="4" name="文本框 3">
            <a:extLst>
              <a:ext uri="{FF2B5EF4-FFF2-40B4-BE49-F238E27FC236}">
                <a16:creationId xmlns:a16="http://schemas.microsoft.com/office/drawing/2014/main" id="{00ADEDBD-AEAC-3ED5-5FC5-ED1BBEEF1F93}"/>
              </a:ext>
            </a:extLst>
          </p:cNvPr>
          <p:cNvSpPr txBox="1"/>
          <p:nvPr/>
        </p:nvSpPr>
        <p:spPr>
          <a:xfrm>
            <a:off x="6295293" y="3806538"/>
            <a:ext cx="4994030" cy="1785104"/>
          </a:xfrm>
          <a:prstGeom prst="rect">
            <a:avLst/>
          </a:prstGeom>
          <a:noFill/>
        </p:spPr>
        <p:txBody>
          <a:bodyPr wrap="square">
            <a:spAutoFit/>
          </a:bodyPr>
          <a:lstStyle/>
          <a:p>
            <a:r>
              <a:rPr lang="zh-CN" altLang="en-US" sz="2200" b="1" dirty="0"/>
              <a:t>其中</a:t>
            </a:r>
            <a:r>
              <a:rPr lang="zh-CN" altLang="en-US" sz="2200" dirty="0"/>
              <a:t>，每一行表示一条数据样本，前面三个数字分别表示三维空间中的三个坐标值，它 们共同表示三维空间中的一个点；最后面的数字为 </a:t>
            </a:r>
            <a:r>
              <a:rPr lang="en-US" altLang="zh-CN" sz="2200" dirty="0"/>
              <a:t>0 </a:t>
            </a:r>
            <a:r>
              <a:rPr lang="zh-CN" altLang="en-US" sz="2200" dirty="0"/>
              <a:t>或 </a:t>
            </a:r>
            <a:r>
              <a:rPr lang="en-US" altLang="zh-CN" sz="2200" dirty="0"/>
              <a:t>1</a:t>
            </a:r>
            <a:r>
              <a:rPr lang="zh-CN" altLang="en-US" sz="2200" dirty="0"/>
              <a:t>，表示类别索引，即 </a:t>
            </a:r>
            <a:r>
              <a:rPr lang="en-US" altLang="zh-CN" sz="2200" dirty="0"/>
              <a:t>0 </a:t>
            </a:r>
            <a:r>
              <a:rPr lang="zh-CN" altLang="en-US" sz="2200" dirty="0"/>
              <a:t>类或 </a:t>
            </a:r>
            <a:r>
              <a:rPr lang="en-US" altLang="zh-CN" sz="2200" dirty="0"/>
              <a:t>1 </a:t>
            </a:r>
            <a:r>
              <a:rPr lang="zh-CN" altLang="en-US" sz="2200" dirty="0"/>
              <a:t>类。</a:t>
            </a:r>
          </a:p>
        </p:txBody>
      </p:sp>
    </p:spTree>
    <p:extLst>
      <p:ext uri="{BB962C8B-B14F-4D97-AF65-F5344CB8AC3E}">
        <p14:creationId xmlns:p14="http://schemas.microsoft.com/office/powerpoint/2010/main" val="427084662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085850"/>
            <a:ext cx="11373594" cy="523220"/>
          </a:xfrm>
          <a:prstGeom prst="rect">
            <a:avLst/>
          </a:prstGeom>
          <a:noFill/>
        </p:spPr>
        <p:txBody>
          <a:bodyPr wrap="square" rtlCol="0">
            <a:spAutoFit/>
          </a:bodyPr>
          <a:lstStyle/>
          <a:p>
            <a:r>
              <a:rPr lang="en-US" altLang="zh-CN" sz="2800" b="1" dirty="0">
                <a:solidFill>
                  <a:srgbClr val="C00000"/>
                </a:solidFill>
              </a:rPr>
              <a:t>3.1.1 </a:t>
            </a:r>
            <a:r>
              <a:rPr lang="zh-CN" altLang="en-US" sz="2800" b="1" dirty="0">
                <a:solidFill>
                  <a:srgbClr val="C00000"/>
                </a:solidFill>
              </a:rPr>
              <a:t>一个简单全连接神经网络的构建和训练</a:t>
            </a:r>
            <a:endParaRPr lang="zh-CN" altLang="zh-CN" sz="2800" b="1" dirty="0">
              <a:solidFill>
                <a:srgbClr val="C00000"/>
              </a:solidFill>
            </a:endParaRPr>
          </a:p>
        </p:txBody>
      </p:sp>
      <p:sp>
        <p:nvSpPr>
          <p:cNvPr id="3" name="文本框 2">
            <a:extLst>
              <a:ext uri="{FF2B5EF4-FFF2-40B4-BE49-F238E27FC236}">
                <a16:creationId xmlns:a16="http://schemas.microsoft.com/office/drawing/2014/main" id="{1256FC43-FAFF-F5FD-CC8D-6114DB14A833}"/>
              </a:ext>
            </a:extLst>
          </p:cNvPr>
          <p:cNvSpPr txBox="1"/>
          <p:nvPr/>
        </p:nvSpPr>
        <p:spPr>
          <a:xfrm>
            <a:off x="409202" y="1580456"/>
            <a:ext cx="11096997" cy="5509200"/>
          </a:xfrm>
          <a:prstGeom prst="rect">
            <a:avLst/>
          </a:prstGeom>
          <a:noFill/>
        </p:spPr>
        <p:txBody>
          <a:bodyPr wrap="square" rtlCol="0">
            <a:spAutoFit/>
          </a:bodyPr>
          <a:lstStyle/>
          <a:p>
            <a:r>
              <a:rPr lang="zh-CN" altLang="en-US" sz="2200" b="1" dirty="0"/>
              <a:t>核心代码：（全部代码见教材</a:t>
            </a:r>
            <a:r>
              <a:rPr lang="en-US" altLang="zh-CN" sz="2200" b="1" dirty="0" err="1"/>
              <a:t>P55</a:t>
            </a:r>
            <a:r>
              <a:rPr lang="zh-CN" altLang="en-US" sz="2200" b="1" dirty="0"/>
              <a:t>）</a:t>
            </a:r>
            <a:endParaRPr lang="en-US" altLang="zh-CN" sz="2200" b="1" dirty="0"/>
          </a:p>
          <a:p>
            <a:r>
              <a:rPr lang="en-US" altLang="zh-CN" sz="2200" dirty="0">
                <a:solidFill>
                  <a:srgbClr val="00B050"/>
                </a:solidFill>
              </a:rPr>
              <a:t>class Model3_1(</a:t>
            </a:r>
            <a:r>
              <a:rPr lang="en-US" altLang="zh-CN" sz="2200" dirty="0" err="1">
                <a:solidFill>
                  <a:srgbClr val="00B050"/>
                </a:solidFill>
              </a:rPr>
              <a:t>nn.Module</a:t>
            </a:r>
            <a:r>
              <a:rPr lang="en-US" altLang="zh-CN" sz="2200" dirty="0">
                <a:solidFill>
                  <a:srgbClr val="00B050"/>
                </a:solidFill>
              </a:rPr>
              <a:t>):</a:t>
            </a:r>
          </a:p>
          <a:p>
            <a:pPr lvl="1"/>
            <a:r>
              <a:rPr lang="en-US" altLang="zh-CN" sz="2200" dirty="0">
                <a:solidFill>
                  <a:srgbClr val="00B050"/>
                </a:solidFill>
              </a:rPr>
              <a:t> def __</a:t>
            </a:r>
            <a:r>
              <a:rPr lang="en-US" altLang="zh-CN" sz="2200" dirty="0" err="1">
                <a:solidFill>
                  <a:srgbClr val="00B050"/>
                </a:solidFill>
              </a:rPr>
              <a:t>init</a:t>
            </a:r>
            <a:r>
              <a:rPr lang="en-US" altLang="zh-CN" sz="2200" dirty="0">
                <a:solidFill>
                  <a:srgbClr val="00B050"/>
                </a:solidFill>
              </a:rPr>
              <a:t>__(self ):</a:t>
            </a:r>
          </a:p>
          <a:p>
            <a:pPr lvl="2"/>
            <a:r>
              <a:rPr lang="en-US" altLang="zh-CN" sz="2200" dirty="0">
                <a:solidFill>
                  <a:srgbClr val="00B050"/>
                </a:solidFill>
              </a:rPr>
              <a:t> super(Model3_1, self).__</a:t>
            </a:r>
            <a:r>
              <a:rPr lang="en-US" altLang="zh-CN" sz="2200" dirty="0" err="1">
                <a:solidFill>
                  <a:srgbClr val="00B050"/>
                </a:solidFill>
              </a:rPr>
              <a:t>init</a:t>
            </a:r>
            <a:r>
              <a:rPr lang="en-US" altLang="zh-CN" sz="2200" dirty="0">
                <a:solidFill>
                  <a:srgbClr val="00B050"/>
                </a:solidFill>
              </a:rPr>
              <a:t>__()</a:t>
            </a:r>
          </a:p>
          <a:p>
            <a:pPr lvl="2"/>
            <a:r>
              <a:rPr lang="en-US" altLang="zh-CN" sz="2200" dirty="0">
                <a:solidFill>
                  <a:srgbClr val="00B050"/>
                </a:solidFill>
              </a:rPr>
              <a:t> self.fc1 = </a:t>
            </a:r>
            <a:r>
              <a:rPr lang="en-US" altLang="zh-CN" sz="2200" dirty="0" err="1">
                <a:solidFill>
                  <a:srgbClr val="00B050"/>
                </a:solidFill>
              </a:rPr>
              <a:t>nn.Linear</a:t>
            </a:r>
            <a:r>
              <a:rPr lang="en-US" altLang="zh-CN" sz="2200" dirty="0">
                <a:solidFill>
                  <a:srgbClr val="00B050"/>
                </a:solidFill>
              </a:rPr>
              <a:t>(3, 4)   	#</a:t>
            </a:r>
            <a:r>
              <a:rPr lang="zh-CN" altLang="en-US" sz="2200" dirty="0">
                <a:solidFill>
                  <a:srgbClr val="00B050"/>
                </a:solidFill>
              </a:rPr>
              <a:t>用于构建神经网络的第 </a:t>
            </a:r>
            <a:r>
              <a:rPr lang="en-US" altLang="zh-CN" sz="2200" dirty="0">
                <a:solidFill>
                  <a:srgbClr val="00B050"/>
                </a:solidFill>
              </a:rPr>
              <a:t>1 </a:t>
            </a:r>
            <a:r>
              <a:rPr lang="zh-CN" altLang="en-US" sz="2200" dirty="0">
                <a:solidFill>
                  <a:srgbClr val="00B050"/>
                </a:solidFill>
              </a:rPr>
              <a:t>层（隐含层），</a:t>
            </a:r>
            <a:endParaRPr lang="en-US" altLang="zh-CN" sz="2200" dirty="0">
              <a:solidFill>
                <a:srgbClr val="00B050"/>
              </a:solidFill>
            </a:endParaRPr>
          </a:p>
          <a:p>
            <a:pPr lvl="2"/>
            <a:r>
              <a:rPr lang="en-US" altLang="zh-CN" sz="2200" dirty="0">
                <a:solidFill>
                  <a:srgbClr val="00B050"/>
                </a:solidFill>
              </a:rPr>
              <a:t>                                                  #</a:t>
            </a:r>
            <a:r>
              <a:rPr lang="zh-CN" altLang="en-US" sz="2200" dirty="0">
                <a:solidFill>
                  <a:srgbClr val="00B050"/>
                </a:solidFill>
              </a:rPr>
              <a:t>其中包含 </a:t>
            </a:r>
            <a:r>
              <a:rPr lang="en-US" altLang="zh-CN" sz="2200" dirty="0">
                <a:solidFill>
                  <a:srgbClr val="00B050"/>
                </a:solidFill>
              </a:rPr>
              <a:t>4 </a:t>
            </a:r>
            <a:r>
              <a:rPr lang="zh-CN" altLang="en-US" sz="2200" dirty="0">
                <a:solidFill>
                  <a:srgbClr val="00B050"/>
                </a:solidFill>
              </a:rPr>
              <a:t>个神经元</a:t>
            </a:r>
          </a:p>
          <a:p>
            <a:pPr lvl="2"/>
            <a:r>
              <a:rPr lang="zh-CN" altLang="en-US" sz="2200" dirty="0">
                <a:solidFill>
                  <a:srgbClr val="00B050"/>
                </a:solidFill>
              </a:rPr>
              <a:t> </a:t>
            </a:r>
            <a:r>
              <a:rPr lang="en-US" altLang="zh-CN" sz="2200" dirty="0">
                <a:solidFill>
                  <a:srgbClr val="00B050"/>
                </a:solidFill>
              </a:rPr>
              <a:t>self.fc2 = </a:t>
            </a:r>
            <a:r>
              <a:rPr lang="en-US" altLang="zh-CN" sz="2200" dirty="0" err="1">
                <a:solidFill>
                  <a:srgbClr val="00B050"/>
                </a:solidFill>
              </a:rPr>
              <a:t>nn.Linear</a:t>
            </a:r>
            <a:r>
              <a:rPr lang="en-US" altLang="zh-CN" sz="2200" dirty="0">
                <a:solidFill>
                  <a:srgbClr val="00B050"/>
                </a:solidFill>
              </a:rPr>
              <a:t>(4, 2)    	#</a:t>
            </a:r>
            <a:r>
              <a:rPr lang="zh-CN" altLang="en-US" sz="2200" dirty="0">
                <a:solidFill>
                  <a:srgbClr val="00B050"/>
                </a:solidFill>
              </a:rPr>
              <a:t>用于构建神经网络的第 </a:t>
            </a:r>
            <a:r>
              <a:rPr lang="en-US" altLang="zh-CN" sz="2200" dirty="0">
                <a:solidFill>
                  <a:srgbClr val="00B050"/>
                </a:solidFill>
              </a:rPr>
              <a:t>2 </a:t>
            </a:r>
            <a:r>
              <a:rPr lang="zh-CN" altLang="en-US" sz="2200" dirty="0">
                <a:solidFill>
                  <a:srgbClr val="00B050"/>
                </a:solidFill>
              </a:rPr>
              <a:t>层（输出层），</a:t>
            </a:r>
          </a:p>
          <a:p>
            <a:pPr lvl="2"/>
            <a:r>
              <a:rPr lang="en-US" altLang="zh-CN" sz="2200" dirty="0">
                <a:solidFill>
                  <a:srgbClr val="00B050"/>
                </a:solidFill>
              </a:rPr>
              <a:t>                                               	#</a:t>
            </a:r>
            <a:r>
              <a:rPr lang="zh-CN" altLang="en-US" sz="2200" dirty="0">
                <a:solidFill>
                  <a:srgbClr val="00B050"/>
                </a:solidFill>
              </a:rPr>
              <a:t>其中包含 </a:t>
            </a:r>
            <a:r>
              <a:rPr lang="en-US" altLang="zh-CN" sz="2200" dirty="0">
                <a:solidFill>
                  <a:srgbClr val="00B050"/>
                </a:solidFill>
              </a:rPr>
              <a:t>2 </a:t>
            </a:r>
            <a:r>
              <a:rPr lang="zh-CN" altLang="en-US" sz="2200" dirty="0">
                <a:solidFill>
                  <a:srgbClr val="00B050"/>
                </a:solidFill>
              </a:rPr>
              <a:t>个神经元，因为有 </a:t>
            </a:r>
            <a:r>
              <a:rPr lang="en-US" altLang="zh-CN" sz="2200" dirty="0">
                <a:solidFill>
                  <a:srgbClr val="00B050"/>
                </a:solidFill>
              </a:rPr>
              <a:t>2 </a:t>
            </a:r>
            <a:r>
              <a:rPr lang="zh-CN" altLang="en-US" sz="2200" dirty="0">
                <a:solidFill>
                  <a:srgbClr val="00B050"/>
                </a:solidFill>
              </a:rPr>
              <a:t>个类别</a:t>
            </a:r>
          </a:p>
          <a:p>
            <a:pPr lvl="1"/>
            <a:r>
              <a:rPr lang="zh-CN" altLang="en-US" sz="2200" dirty="0">
                <a:solidFill>
                  <a:srgbClr val="00B050"/>
                </a:solidFill>
              </a:rPr>
              <a:t> </a:t>
            </a:r>
            <a:r>
              <a:rPr lang="en-US" altLang="zh-CN" sz="2200" dirty="0">
                <a:solidFill>
                  <a:srgbClr val="00B050"/>
                </a:solidFill>
              </a:rPr>
              <a:t>def forward(</a:t>
            </a:r>
            <a:r>
              <a:rPr lang="en-US" altLang="zh-CN" sz="2200" dirty="0" err="1">
                <a:solidFill>
                  <a:srgbClr val="00B050"/>
                </a:solidFill>
              </a:rPr>
              <a:t>self,x</a:t>
            </a:r>
            <a:r>
              <a:rPr lang="en-US" altLang="zh-CN" sz="2200" dirty="0">
                <a:solidFill>
                  <a:srgbClr val="00B050"/>
                </a:solidFill>
              </a:rPr>
              <a:t>): #</a:t>
            </a:r>
            <a:r>
              <a:rPr lang="zh-CN" altLang="en-US" sz="2200" dirty="0">
                <a:solidFill>
                  <a:srgbClr val="00B050"/>
                </a:solidFill>
              </a:rPr>
              <a:t>在该方法中实现网络的逻辑结构</a:t>
            </a:r>
          </a:p>
          <a:p>
            <a:pPr lvl="2"/>
            <a:r>
              <a:rPr lang="zh-CN" altLang="en-US" sz="2200" dirty="0">
                <a:solidFill>
                  <a:srgbClr val="00B050"/>
                </a:solidFill>
              </a:rPr>
              <a:t> </a:t>
            </a:r>
            <a:r>
              <a:rPr lang="en-US" altLang="zh-CN" sz="2200" dirty="0">
                <a:solidFill>
                  <a:srgbClr val="00B050"/>
                </a:solidFill>
              </a:rPr>
              <a:t>out = self.fc1(x)</a:t>
            </a:r>
          </a:p>
          <a:p>
            <a:pPr lvl="2"/>
            <a:r>
              <a:rPr lang="en-US" altLang="zh-CN" sz="2200" dirty="0">
                <a:solidFill>
                  <a:srgbClr val="00B050"/>
                </a:solidFill>
              </a:rPr>
              <a:t> out = </a:t>
            </a:r>
            <a:r>
              <a:rPr lang="en-US" altLang="zh-CN" sz="2200" dirty="0" err="1">
                <a:solidFill>
                  <a:srgbClr val="00B050"/>
                </a:solidFill>
              </a:rPr>
              <a:t>torch.tanh</a:t>
            </a:r>
            <a:r>
              <a:rPr lang="en-US" altLang="zh-CN" sz="2200" dirty="0">
                <a:solidFill>
                  <a:srgbClr val="00B050"/>
                </a:solidFill>
              </a:rPr>
              <a:t>(out) #</a:t>
            </a:r>
            <a:r>
              <a:rPr lang="zh-CN" altLang="en-US" sz="2200" dirty="0">
                <a:solidFill>
                  <a:srgbClr val="00B050"/>
                </a:solidFill>
              </a:rPr>
              <a:t>该激活函数可用可不用</a:t>
            </a:r>
          </a:p>
          <a:p>
            <a:pPr lvl="2"/>
            <a:r>
              <a:rPr lang="zh-CN" altLang="en-US" sz="2200" dirty="0">
                <a:solidFill>
                  <a:srgbClr val="00B050"/>
                </a:solidFill>
              </a:rPr>
              <a:t> </a:t>
            </a:r>
            <a:r>
              <a:rPr lang="en-US" altLang="zh-CN" sz="2200" dirty="0">
                <a:solidFill>
                  <a:srgbClr val="00B050"/>
                </a:solidFill>
              </a:rPr>
              <a:t>out = self.fc2(out)</a:t>
            </a:r>
          </a:p>
          <a:p>
            <a:pPr lvl="2"/>
            <a:r>
              <a:rPr lang="en-US" altLang="zh-CN" sz="2200" dirty="0">
                <a:solidFill>
                  <a:srgbClr val="00B050"/>
                </a:solidFill>
              </a:rPr>
              <a:t> #</a:t>
            </a:r>
            <a:r>
              <a:rPr lang="zh-CN" altLang="en-US" sz="2200" dirty="0">
                <a:solidFill>
                  <a:srgbClr val="00B050"/>
                </a:solidFill>
              </a:rPr>
              <a:t>此处不宜用激活函数 </a:t>
            </a:r>
            <a:r>
              <a:rPr lang="en-US" altLang="zh-CN" sz="2200" dirty="0">
                <a:solidFill>
                  <a:srgbClr val="00B050"/>
                </a:solidFill>
              </a:rPr>
              <a:t>sigmoid</a:t>
            </a:r>
            <a:r>
              <a:rPr lang="zh-CN" altLang="en-US" sz="2200" dirty="0">
                <a:solidFill>
                  <a:srgbClr val="00B050"/>
                </a:solidFill>
              </a:rPr>
              <a:t>，因为下面的损失函数会用到</a:t>
            </a:r>
          </a:p>
          <a:p>
            <a:pPr lvl="2"/>
            <a:r>
              <a:rPr lang="zh-CN" altLang="en-US" sz="2200" dirty="0">
                <a:solidFill>
                  <a:srgbClr val="00B050"/>
                </a:solidFill>
              </a:rPr>
              <a:t> </a:t>
            </a:r>
            <a:r>
              <a:rPr lang="en-US" altLang="zh-CN" sz="2200" dirty="0">
                <a:solidFill>
                  <a:srgbClr val="00B050"/>
                </a:solidFill>
              </a:rPr>
              <a:t>return out </a:t>
            </a:r>
          </a:p>
          <a:p>
            <a:endParaRPr lang="en-US" altLang="zh-CN" sz="2200" b="1" dirty="0"/>
          </a:p>
          <a:p>
            <a:endParaRPr lang="zh-CN" altLang="zh-CN" sz="2200" b="1" dirty="0"/>
          </a:p>
        </p:txBody>
      </p:sp>
    </p:spTree>
    <p:extLst>
      <p:ext uri="{BB962C8B-B14F-4D97-AF65-F5344CB8AC3E}">
        <p14:creationId xmlns:p14="http://schemas.microsoft.com/office/powerpoint/2010/main" val="3813555118"/>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3.1.2 </a:t>
            </a:r>
            <a:r>
              <a:rPr lang="zh-CN" altLang="en-US" sz="2800" b="1" dirty="0">
                <a:solidFill>
                  <a:srgbClr val="C00000"/>
                </a:solidFill>
              </a:rPr>
              <a:t>程序代码解释及网络层的构建方法</a:t>
            </a:r>
            <a:endParaRPr lang="zh-CN" altLang="zh-CN" sz="2800" b="1" dirty="0">
              <a:solidFill>
                <a:srgbClr val="C00000"/>
              </a:solidFill>
            </a:endParaRPr>
          </a:p>
        </p:txBody>
      </p:sp>
      <p:sp>
        <p:nvSpPr>
          <p:cNvPr id="7" name="文本框 6">
            <a:extLst>
              <a:ext uri="{FF2B5EF4-FFF2-40B4-BE49-F238E27FC236}">
                <a16:creationId xmlns:a16="http://schemas.microsoft.com/office/drawing/2014/main" id="{9E9B5582-4D45-8273-2E6A-D8CCBD3B748C}"/>
              </a:ext>
            </a:extLst>
          </p:cNvPr>
          <p:cNvSpPr txBox="1"/>
          <p:nvPr/>
        </p:nvSpPr>
        <p:spPr>
          <a:xfrm>
            <a:off x="509953" y="1780520"/>
            <a:ext cx="6119446" cy="3939540"/>
          </a:xfrm>
          <a:prstGeom prst="rect">
            <a:avLst/>
          </a:prstGeom>
          <a:noFill/>
        </p:spPr>
        <p:txBody>
          <a:bodyPr wrap="square">
            <a:spAutoFit/>
          </a:bodyPr>
          <a:lstStyle/>
          <a:p>
            <a:pPr>
              <a:spcBef>
                <a:spcPts val="600"/>
              </a:spcBef>
              <a:spcAft>
                <a:spcPts val="600"/>
              </a:spcAft>
            </a:pPr>
            <a:endParaRPr lang="en-US" altLang="zh-CN" sz="2200" dirty="0"/>
          </a:p>
          <a:p>
            <a:pPr>
              <a:spcBef>
                <a:spcPts val="600"/>
              </a:spcBef>
              <a:spcAft>
                <a:spcPts val="600"/>
              </a:spcAft>
            </a:pPr>
            <a:r>
              <a:rPr lang="zh-CN" altLang="en-US" sz="2200" dirty="0"/>
              <a:t>（</a:t>
            </a:r>
            <a:r>
              <a:rPr lang="en-US" altLang="zh-CN" sz="2200" dirty="0"/>
              <a:t>1</a:t>
            </a:r>
            <a:r>
              <a:rPr lang="zh-CN" altLang="en-US" sz="2200" dirty="0"/>
              <a:t>）</a:t>
            </a:r>
            <a:r>
              <a:rPr lang="zh-CN" altLang="en-US" sz="2200" b="1" dirty="0"/>
              <a:t>读取文件</a:t>
            </a:r>
            <a:r>
              <a:rPr lang="en-US" altLang="zh-CN" sz="2200" dirty="0"/>
              <a:t>"</a:t>
            </a:r>
            <a:r>
              <a:rPr lang="zh-CN" altLang="en-US" sz="2200" dirty="0"/>
              <a:t>例 </a:t>
            </a:r>
            <a:r>
              <a:rPr lang="en-US" altLang="zh-CN" sz="2200" dirty="0"/>
              <a:t>3.1 </a:t>
            </a:r>
            <a:r>
              <a:rPr lang="zh-CN" altLang="en-US" sz="2200" dirty="0"/>
              <a:t>数据</a:t>
            </a:r>
            <a:r>
              <a:rPr lang="en-US" altLang="zh-CN" sz="2200" dirty="0"/>
              <a:t>.txt"</a:t>
            </a:r>
            <a:r>
              <a:rPr lang="zh-CN" altLang="en-US" sz="2200" dirty="0"/>
              <a:t>中的数据，并组装特征值张量 </a:t>
            </a:r>
            <a:r>
              <a:rPr lang="en-US" altLang="zh-CN" sz="2200" dirty="0"/>
              <a:t>X </a:t>
            </a:r>
            <a:r>
              <a:rPr lang="zh-CN" altLang="en-US" sz="2200" dirty="0"/>
              <a:t>和标记张量 </a:t>
            </a:r>
            <a:r>
              <a:rPr lang="en-US" altLang="zh-CN" sz="2200" dirty="0"/>
              <a:t>Y</a:t>
            </a:r>
            <a:r>
              <a:rPr lang="zh-CN" altLang="en-US" sz="2200" dirty="0"/>
              <a:t>，它们的形状分别为 </a:t>
            </a:r>
            <a:r>
              <a:rPr lang="en-US" altLang="zh-CN" sz="2200" dirty="0" err="1"/>
              <a:t>torch.Size</a:t>
            </a:r>
            <a:r>
              <a:rPr lang="en-US" altLang="zh-CN" sz="2200" dirty="0"/>
              <a:t>([2040, 3])</a:t>
            </a:r>
            <a:r>
              <a:rPr lang="zh-CN" altLang="en-US" sz="2200" dirty="0"/>
              <a:t>和 </a:t>
            </a:r>
            <a:r>
              <a:rPr lang="en-US" altLang="zh-CN" sz="2200" dirty="0" err="1"/>
              <a:t>torch.Size</a:t>
            </a:r>
            <a:r>
              <a:rPr lang="en-US" altLang="zh-CN" sz="2200" dirty="0"/>
              <a:t>([2040])</a:t>
            </a:r>
            <a:r>
              <a:rPr lang="zh-CN" altLang="en-US" sz="2200" dirty="0"/>
              <a:t>。</a:t>
            </a:r>
            <a:endParaRPr lang="en-US" altLang="zh-CN" sz="2200" dirty="0"/>
          </a:p>
          <a:p>
            <a:pPr>
              <a:spcBef>
                <a:spcPts val="600"/>
              </a:spcBef>
              <a:spcAft>
                <a:spcPts val="600"/>
              </a:spcAft>
            </a:pPr>
            <a:r>
              <a:rPr lang="zh-CN" altLang="en-US" sz="2200" dirty="0"/>
              <a:t>先将数据集中的四列数据分别</a:t>
            </a:r>
            <a:r>
              <a:rPr lang="zh-CN" altLang="en-US" sz="2200" b="1" dirty="0"/>
              <a:t>保存到列表</a:t>
            </a:r>
            <a:r>
              <a:rPr lang="en-US" altLang="zh-CN" sz="2200" dirty="0"/>
              <a:t>X1,X2,X3,Y </a:t>
            </a:r>
            <a:r>
              <a:rPr lang="zh-CN" altLang="en-US" sz="2200" dirty="0"/>
              <a:t>中， 然后将它们分别转换为四个一维张量，形状均为 </a:t>
            </a:r>
            <a:r>
              <a:rPr lang="en-US" altLang="zh-CN" sz="2200" dirty="0" err="1"/>
              <a:t>torch.Size</a:t>
            </a:r>
            <a:r>
              <a:rPr lang="en-US" altLang="zh-CN" sz="2200" dirty="0"/>
              <a:t>([2040])</a:t>
            </a:r>
            <a:r>
              <a:rPr lang="zh-CN" altLang="en-US" sz="2200" dirty="0"/>
              <a:t>，</a:t>
            </a:r>
            <a:endParaRPr lang="en-US" altLang="zh-CN" sz="2200" dirty="0"/>
          </a:p>
          <a:p>
            <a:pPr>
              <a:spcBef>
                <a:spcPts val="600"/>
              </a:spcBef>
              <a:spcAft>
                <a:spcPts val="600"/>
              </a:spcAft>
            </a:pPr>
            <a:r>
              <a:rPr lang="zh-CN" altLang="en-US" sz="2200" dirty="0"/>
              <a:t>最后将这四个“竖着放” 的一维张量沿水平方向</a:t>
            </a:r>
            <a:r>
              <a:rPr lang="zh-CN" altLang="en-US" sz="2200" b="1" dirty="0"/>
              <a:t>“靠拢”</a:t>
            </a:r>
            <a:r>
              <a:rPr lang="zh-CN" altLang="en-US" sz="2200" dirty="0"/>
              <a:t>在一起，形成张量 </a:t>
            </a:r>
            <a:r>
              <a:rPr lang="en-US" altLang="zh-CN" sz="2200" dirty="0"/>
              <a:t>X</a:t>
            </a:r>
            <a:r>
              <a:rPr lang="zh-CN" altLang="en-US" sz="2200" dirty="0"/>
              <a:t>，其形状为 </a:t>
            </a:r>
            <a:r>
              <a:rPr lang="en-US" altLang="zh-CN" sz="2200" dirty="0" err="1"/>
              <a:t>torch.Size</a:t>
            </a:r>
            <a:r>
              <a:rPr lang="en-US" altLang="zh-CN" sz="2200" dirty="0"/>
              <a:t>([2040, 3])</a:t>
            </a:r>
            <a:r>
              <a:rPr lang="zh-CN" altLang="en-US" sz="2200" dirty="0"/>
              <a:t>。</a:t>
            </a:r>
          </a:p>
        </p:txBody>
      </p:sp>
      <p:sp>
        <p:nvSpPr>
          <p:cNvPr id="9" name="文本框 8">
            <a:extLst>
              <a:ext uri="{FF2B5EF4-FFF2-40B4-BE49-F238E27FC236}">
                <a16:creationId xmlns:a16="http://schemas.microsoft.com/office/drawing/2014/main" id="{5FBBA610-BC5D-DE6C-66AD-7917728B443D}"/>
              </a:ext>
            </a:extLst>
          </p:cNvPr>
          <p:cNvSpPr txBox="1"/>
          <p:nvPr/>
        </p:nvSpPr>
        <p:spPr>
          <a:xfrm>
            <a:off x="6998676" y="2272962"/>
            <a:ext cx="4510455" cy="3816429"/>
          </a:xfrm>
          <a:prstGeom prst="rect">
            <a:avLst/>
          </a:prstGeom>
          <a:noFill/>
        </p:spPr>
        <p:txBody>
          <a:bodyPr wrap="square">
            <a:spAutoFit/>
          </a:bodyPr>
          <a:lstStyle/>
          <a:p>
            <a:r>
              <a:rPr lang="zh-CN" altLang="en-US" sz="2200" dirty="0"/>
              <a:t>“靠拢” 操作用下面语句实现：</a:t>
            </a:r>
            <a:endParaRPr lang="en-US" altLang="zh-CN" sz="2200" dirty="0"/>
          </a:p>
          <a:p>
            <a:endParaRPr lang="en-US" altLang="zh-CN" sz="2200" dirty="0">
              <a:solidFill>
                <a:srgbClr val="00B050"/>
              </a:solidFill>
            </a:endParaRPr>
          </a:p>
          <a:p>
            <a:r>
              <a:rPr lang="en-US" altLang="zh-CN" sz="2200" dirty="0">
                <a:solidFill>
                  <a:srgbClr val="00B050"/>
                </a:solidFill>
              </a:rPr>
              <a:t>X = </a:t>
            </a:r>
            <a:r>
              <a:rPr lang="en-US" altLang="zh-CN" sz="2200" dirty="0" err="1">
                <a:solidFill>
                  <a:srgbClr val="00B050"/>
                </a:solidFill>
              </a:rPr>
              <a:t>torch.stack</a:t>
            </a:r>
            <a:r>
              <a:rPr lang="en-US" altLang="zh-CN" sz="2200" dirty="0">
                <a:solidFill>
                  <a:srgbClr val="00B050"/>
                </a:solidFill>
              </a:rPr>
              <a:t>((X1, X2, X3), dim=1) </a:t>
            </a:r>
          </a:p>
          <a:p>
            <a:endParaRPr lang="en-US" altLang="zh-CN" sz="2200" dirty="0">
              <a:solidFill>
                <a:srgbClr val="00B050"/>
              </a:solidFill>
            </a:endParaRPr>
          </a:p>
          <a:p>
            <a:r>
              <a:rPr lang="zh-CN" altLang="en-US" sz="2200" dirty="0"/>
              <a:t>该语句</a:t>
            </a:r>
            <a:r>
              <a:rPr lang="zh-CN" altLang="en-US" sz="2200" b="1" dirty="0"/>
              <a:t>等价</a:t>
            </a:r>
            <a:r>
              <a:rPr lang="zh-CN" altLang="en-US" sz="2200" dirty="0"/>
              <a:t>于下列语句：</a:t>
            </a:r>
            <a:endParaRPr lang="en-US" altLang="zh-CN" sz="2200" dirty="0"/>
          </a:p>
          <a:p>
            <a:endParaRPr lang="en-US" altLang="zh-CN" sz="2200" dirty="0"/>
          </a:p>
          <a:p>
            <a:r>
              <a:rPr lang="zh-CN" altLang="en-US" sz="2200" dirty="0"/>
              <a:t> </a:t>
            </a:r>
            <a:r>
              <a:rPr lang="en-US" altLang="zh-CN" sz="2200" dirty="0">
                <a:solidFill>
                  <a:srgbClr val="00B050"/>
                </a:solidFill>
              </a:rPr>
              <a:t>X = torch.cat((X1.view(-1,1),X2.view(-1,1),X3.view(-1,1)),dim=1) </a:t>
            </a:r>
          </a:p>
          <a:p>
            <a:endParaRPr lang="en-US" altLang="zh-CN" sz="2200" dirty="0"/>
          </a:p>
          <a:p>
            <a:r>
              <a:rPr lang="zh-CN" altLang="en-US" sz="2200" dirty="0"/>
              <a:t>这样，整个数据集就转变为</a:t>
            </a:r>
            <a:r>
              <a:rPr lang="zh-CN" altLang="en-US" sz="2200" b="1" dirty="0"/>
              <a:t>张量</a:t>
            </a:r>
            <a:r>
              <a:rPr lang="zh-CN" altLang="en-US" sz="2200" dirty="0"/>
              <a:t> </a:t>
            </a:r>
            <a:r>
              <a:rPr lang="en-US" altLang="zh-CN" sz="2200" dirty="0"/>
              <a:t>X </a:t>
            </a:r>
            <a:r>
              <a:rPr lang="zh-CN" altLang="en-US" sz="2200" dirty="0"/>
              <a:t>和 </a:t>
            </a:r>
            <a:r>
              <a:rPr lang="en-US" altLang="zh-CN" sz="2200" dirty="0"/>
              <a:t>Y </a:t>
            </a:r>
            <a:r>
              <a:rPr lang="zh-CN" altLang="en-US" sz="2200" dirty="0"/>
              <a:t>了，以为送入网络模型做准备。</a:t>
            </a:r>
          </a:p>
        </p:txBody>
      </p:sp>
    </p:spTree>
    <p:extLst>
      <p:ext uri="{BB962C8B-B14F-4D97-AF65-F5344CB8AC3E}">
        <p14:creationId xmlns:p14="http://schemas.microsoft.com/office/powerpoint/2010/main" val="380491307"/>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3.1.2 </a:t>
            </a:r>
            <a:r>
              <a:rPr lang="zh-CN" altLang="en-US" sz="2800" b="1" dirty="0">
                <a:solidFill>
                  <a:srgbClr val="C00000"/>
                </a:solidFill>
              </a:rPr>
              <a:t>程序代码解释及网络层的构建方法</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1760200"/>
            <a:ext cx="7292077" cy="4231928"/>
          </a:xfrm>
          <a:prstGeom prst="rect">
            <a:avLst/>
          </a:prstGeom>
          <a:noFill/>
        </p:spPr>
        <p:txBody>
          <a:bodyPr wrap="square" rtlCol="0">
            <a:spAutoFit/>
          </a:bodyPr>
          <a:lstStyle/>
          <a:p>
            <a:pPr>
              <a:spcBef>
                <a:spcPts val="600"/>
              </a:spcBef>
              <a:spcAft>
                <a:spcPts val="600"/>
              </a:spcAft>
            </a:pPr>
            <a:r>
              <a:rPr lang="zh-CN" altLang="en-US" sz="2200" dirty="0"/>
              <a:t>（</a:t>
            </a:r>
            <a:r>
              <a:rPr lang="en-US" altLang="zh-CN" sz="2200" dirty="0"/>
              <a:t>2</a:t>
            </a:r>
            <a:r>
              <a:rPr lang="zh-CN" altLang="en-US" sz="2200" dirty="0"/>
              <a:t>）</a:t>
            </a:r>
            <a:r>
              <a:rPr lang="zh-CN" altLang="en-US" sz="2200" b="1" dirty="0"/>
              <a:t>定义类 </a:t>
            </a:r>
            <a:r>
              <a:rPr lang="en-US" altLang="zh-CN" sz="2200" b="1" dirty="0"/>
              <a:t>Model3_1</a:t>
            </a:r>
            <a:r>
              <a:rPr lang="zh-CN" altLang="en-US" sz="2200" dirty="0"/>
              <a:t>。该类的实例即为我们要构建的神经网络模型。</a:t>
            </a:r>
            <a:endParaRPr lang="en-US" altLang="zh-CN" sz="2200" dirty="0"/>
          </a:p>
          <a:p>
            <a:pPr>
              <a:spcBef>
                <a:spcPts val="600"/>
              </a:spcBef>
              <a:spcAft>
                <a:spcPts val="600"/>
              </a:spcAft>
            </a:pPr>
            <a:r>
              <a:rPr lang="zh-CN" altLang="en-US" sz="2200" dirty="0"/>
              <a:t>在其</a:t>
            </a:r>
            <a:r>
              <a:rPr lang="en-US" altLang="zh-CN" sz="2200" dirty="0"/>
              <a:t>__</a:t>
            </a:r>
            <a:r>
              <a:rPr lang="en-US" altLang="zh-CN" sz="2200" dirty="0" err="1"/>
              <a:t>init</a:t>
            </a:r>
            <a:r>
              <a:rPr lang="en-US" altLang="zh-CN" sz="2200" dirty="0"/>
              <a:t>__(self )</a:t>
            </a:r>
          </a:p>
          <a:p>
            <a:pPr>
              <a:lnSpc>
                <a:spcPct val="150000"/>
              </a:lnSpc>
              <a:spcBef>
                <a:spcPts val="600"/>
              </a:spcBef>
              <a:spcAft>
                <a:spcPts val="600"/>
              </a:spcAft>
            </a:pPr>
            <a:r>
              <a:rPr lang="zh-CN" altLang="en-US" sz="2200" dirty="0"/>
              <a:t>方法中用函数 </a:t>
            </a:r>
            <a:r>
              <a:rPr lang="en-US" altLang="zh-CN" sz="2200" b="1" dirty="0" err="1"/>
              <a:t>nn.Linear</a:t>
            </a:r>
            <a:r>
              <a:rPr lang="en-US" altLang="zh-CN" sz="2200" b="1" dirty="0"/>
              <a:t>()</a:t>
            </a:r>
            <a:r>
              <a:rPr lang="zh-CN" altLang="en-US" sz="2200" dirty="0"/>
              <a:t>来定义了两个全连接神经网络层：</a:t>
            </a:r>
            <a:endParaRPr lang="en-US" altLang="zh-CN" sz="2200" dirty="0"/>
          </a:p>
          <a:p>
            <a:pPr>
              <a:lnSpc>
                <a:spcPct val="150000"/>
              </a:lnSpc>
              <a:spcBef>
                <a:spcPts val="600"/>
              </a:spcBef>
              <a:spcAft>
                <a:spcPts val="600"/>
              </a:spcAft>
            </a:pPr>
            <a:r>
              <a:rPr lang="en-US" altLang="zh-CN" sz="2200" dirty="0">
                <a:solidFill>
                  <a:srgbClr val="00B050"/>
                </a:solidFill>
              </a:rPr>
              <a:t>self.fc1 = </a:t>
            </a:r>
            <a:r>
              <a:rPr lang="en-US" altLang="zh-CN" sz="2200" dirty="0" err="1">
                <a:solidFill>
                  <a:srgbClr val="00B050"/>
                </a:solidFill>
              </a:rPr>
              <a:t>nn.Linear</a:t>
            </a:r>
            <a:r>
              <a:rPr lang="en-US" altLang="zh-CN" sz="2200" dirty="0">
                <a:solidFill>
                  <a:srgbClr val="00B050"/>
                </a:solidFill>
              </a:rPr>
              <a:t>(3, 4)</a:t>
            </a:r>
          </a:p>
          <a:p>
            <a:pPr>
              <a:spcBef>
                <a:spcPts val="600"/>
              </a:spcBef>
              <a:spcAft>
                <a:spcPts val="600"/>
              </a:spcAft>
            </a:pPr>
            <a:r>
              <a:rPr lang="en-US" altLang="zh-CN" sz="2200" dirty="0">
                <a:solidFill>
                  <a:srgbClr val="00B050"/>
                </a:solidFill>
              </a:rPr>
              <a:t>self.fc2 = </a:t>
            </a:r>
            <a:r>
              <a:rPr lang="en-US" altLang="zh-CN" sz="2200" dirty="0" err="1">
                <a:solidFill>
                  <a:srgbClr val="00B050"/>
                </a:solidFill>
              </a:rPr>
              <a:t>nn.Linear</a:t>
            </a:r>
            <a:r>
              <a:rPr lang="en-US" altLang="zh-CN" sz="2200" dirty="0">
                <a:solidFill>
                  <a:srgbClr val="00B050"/>
                </a:solidFill>
              </a:rPr>
              <a:t>(4, 2)</a:t>
            </a:r>
          </a:p>
          <a:p>
            <a:pPr>
              <a:lnSpc>
                <a:spcPct val="150000"/>
              </a:lnSpc>
              <a:spcBef>
                <a:spcPts val="600"/>
              </a:spcBef>
              <a:spcAft>
                <a:spcPts val="600"/>
              </a:spcAft>
            </a:pPr>
            <a:r>
              <a:rPr lang="zh-CN" altLang="en-US" sz="2200" dirty="0"/>
              <a:t>其中，</a:t>
            </a:r>
            <a:r>
              <a:rPr lang="en-US" altLang="zh-CN" sz="2200" dirty="0" err="1"/>
              <a:t>nn.Linear</a:t>
            </a:r>
            <a:r>
              <a:rPr lang="en-US" altLang="zh-CN" sz="2200" dirty="0"/>
              <a:t>(3, 4)</a:t>
            </a:r>
            <a:r>
              <a:rPr lang="zh-CN" altLang="en-US" sz="2200" b="1" dirty="0"/>
              <a:t>等效于</a:t>
            </a:r>
            <a:r>
              <a:rPr lang="zh-CN" altLang="en-US" sz="2200" dirty="0"/>
              <a:t>：</a:t>
            </a:r>
          </a:p>
          <a:p>
            <a:pPr>
              <a:spcBef>
                <a:spcPts val="600"/>
              </a:spcBef>
              <a:spcAft>
                <a:spcPts val="600"/>
              </a:spcAft>
            </a:pPr>
            <a:r>
              <a:rPr lang="en-US" altLang="zh-CN" sz="2200" dirty="0" err="1">
                <a:solidFill>
                  <a:srgbClr val="00B050"/>
                </a:solidFill>
              </a:rPr>
              <a:t>nn.Linear</a:t>
            </a:r>
            <a:r>
              <a:rPr lang="en-US" altLang="zh-CN" sz="2200" dirty="0">
                <a:solidFill>
                  <a:srgbClr val="00B050"/>
                </a:solidFill>
              </a:rPr>
              <a:t>(</a:t>
            </a:r>
            <a:r>
              <a:rPr lang="en-US" altLang="zh-CN" sz="2200" dirty="0" err="1">
                <a:solidFill>
                  <a:srgbClr val="00B050"/>
                </a:solidFill>
              </a:rPr>
              <a:t>in_features</a:t>
            </a:r>
            <a:r>
              <a:rPr lang="en-US" altLang="zh-CN" sz="2200" dirty="0">
                <a:solidFill>
                  <a:srgbClr val="00B050"/>
                </a:solidFill>
              </a:rPr>
              <a:t>=3, </a:t>
            </a:r>
            <a:r>
              <a:rPr lang="en-US" altLang="zh-CN" sz="2200" dirty="0" err="1">
                <a:solidFill>
                  <a:srgbClr val="00B050"/>
                </a:solidFill>
              </a:rPr>
              <a:t>out_features</a:t>
            </a:r>
            <a:r>
              <a:rPr lang="en-US" altLang="zh-CN" sz="2200" dirty="0">
                <a:solidFill>
                  <a:srgbClr val="00B050"/>
                </a:solidFill>
              </a:rPr>
              <a:t>=4, bias=True) </a:t>
            </a:r>
          </a:p>
        </p:txBody>
      </p:sp>
      <p:pic>
        <p:nvPicPr>
          <p:cNvPr id="6" name="图片 5">
            <a:extLst>
              <a:ext uri="{FF2B5EF4-FFF2-40B4-BE49-F238E27FC236}">
                <a16:creationId xmlns:a16="http://schemas.microsoft.com/office/drawing/2014/main" id="{80C70D5E-1C6A-F8B2-27C8-38CB14A1CF4F}"/>
              </a:ext>
            </a:extLst>
          </p:cNvPr>
          <p:cNvPicPr>
            <a:picLocks noChangeAspect="1"/>
          </p:cNvPicPr>
          <p:nvPr/>
        </p:nvPicPr>
        <p:blipFill>
          <a:blip r:embed="rId3"/>
          <a:stretch>
            <a:fillRect/>
          </a:stretch>
        </p:blipFill>
        <p:spPr>
          <a:xfrm>
            <a:off x="7701280" y="1413275"/>
            <a:ext cx="3192191" cy="2616466"/>
          </a:xfrm>
          <a:prstGeom prst="rect">
            <a:avLst/>
          </a:prstGeom>
        </p:spPr>
      </p:pic>
      <p:pic>
        <p:nvPicPr>
          <p:cNvPr id="8" name="图片 7">
            <a:extLst>
              <a:ext uri="{FF2B5EF4-FFF2-40B4-BE49-F238E27FC236}">
                <a16:creationId xmlns:a16="http://schemas.microsoft.com/office/drawing/2014/main" id="{DF8FDE1F-3F7F-22ED-8D80-31B316483737}"/>
              </a:ext>
            </a:extLst>
          </p:cNvPr>
          <p:cNvPicPr>
            <a:picLocks noChangeAspect="1"/>
          </p:cNvPicPr>
          <p:nvPr/>
        </p:nvPicPr>
        <p:blipFill>
          <a:blip r:embed="rId4"/>
          <a:stretch>
            <a:fillRect/>
          </a:stretch>
        </p:blipFill>
        <p:spPr>
          <a:xfrm>
            <a:off x="7701280" y="4035014"/>
            <a:ext cx="2998210" cy="2329306"/>
          </a:xfrm>
          <a:prstGeom prst="rect">
            <a:avLst/>
          </a:prstGeom>
        </p:spPr>
      </p:pic>
    </p:spTree>
    <p:extLst>
      <p:ext uri="{BB962C8B-B14F-4D97-AF65-F5344CB8AC3E}">
        <p14:creationId xmlns:p14="http://schemas.microsoft.com/office/powerpoint/2010/main" val="319855873"/>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3.1.2 </a:t>
            </a:r>
            <a:r>
              <a:rPr lang="zh-CN" altLang="en-US" sz="2800" b="1" dirty="0">
                <a:solidFill>
                  <a:srgbClr val="C00000"/>
                </a:solidFill>
              </a:rPr>
              <a:t>程序代码解释及网络层的构建方法</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239090" y="1654692"/>
            <a:ext cx="7292077" cy="4262705"/>
          </a:xfrm>
          <a:prstGeom prst="rect">
            <a:avLst/>
          </a:prstGeom>
          <a:noFill/>
        </p:spPr>
        <p:txBody>
          <a:bodyPr wrap="square" rtlCol="0">
            <a:spAutoFit/>
          </a:bodyPr>
          <a:lstStyle/>
          <a:p>
            <a:pPr>
              <a:spcBef>
                <a:spcPts val="600"/>
              </a:spcBef>
              <a:spcAft>
                <a:spcPts val="600"/>
              </a:spcAft>
            </a:pPr>
            <a:endParaRPr lang="en-US" altLang="zh-CN" sz="2200" dirty="0"/>
          </a:p>
          <a:p>
            <a:pPr>
              <a:spcBef>
                <a:spcPts val="600"/>
              </a:spcBef>
              <a:spcAft>
                <a:spcPts val="600"/>
              </a:spcAft>
            </a:pPr>
            <a:r>
              <a:rPr lang="zh-CN" altLang="en-US" sz="2200" dirty="0"/>
              <a:t>（</a:t>
            </a:r>
            <a:r>
              <a:rPr lang="en-US" altLang="zh-CN" sz="2200" dirty="0"/>
              <a:t>3</a:t>
            </a:r>
            <a:r>
              <a:rPr lang="zh-CN" altLang="en-US" sz="2200" dirty="0"/>
              <a:t>）网络的</a:t>
            </a:r>
            <a:r>
              <a:rPr lang="zh-CN" altLang="en-US" sz="2200" b="1" dirty="0"/>
              <a:t>训练</a:t>
            </a:r>
            <a:r>
              <a:rPr lang="zh-CN" altLang="en-US" sz="2200" dirty="0"/>
              <a:t>。神经网络的训练通过两层循环来进行。其中，每执行一次内层循环，就遍历一次数据集，而对数据集的每一次遍历通常称为</a:t>
            </a:r>
            <a:r>
              <a:rPr lang="zh-CN" altLang="en-US" sz="2200" b="1" dirty="0">
                <a:solidFill>
                  <a:srgbClr val="0033CC"/>
                </a:solidFill>
              </a:rPr>
              <a:t>一代</a:t>
            </a:r>
            <a:r>
              <a:rPr lang="zh-CN" altLang="en-US" sz="2200" dirty="0"/>
              <a:t>或者</a:t>
            </a:r>
            <a:r>
              <a:rPr lang="zh-CN" altLang="en-US" sz="2200" b="1" dirty="0">
                <a:solidFill>
                  <a:srgbClr val="0033CC"/>
                </a:solidFill>
              </a:rPr>
              <a:t>一轮</a:t>
            </a:r>
            <a:r>
              <a:rPr lang="zh-CN" altLang="en-US" sz="2200" dirty="0"/>
              <a:t>（</a:t>
            </a:r>
            <a:r>
              <a:rPr lang="en-US" altLang="zh-CN" sz="2200" dirty="0"/>
              <a:t>epoch</a:t>
            </a:r>
            <a:r>
              <a:rPr lang="zh-CN" altLang="en-US" sz="2200" dirty="0"/>
              <a:t>）。</a:t>
            </a:r>
            <a:endParaRPr lang="en-US" altLang="zh-CN" sz="2200" dirty="0"/>
          </a:p>
          <a:p>
            <a:pPr>
              <a:spcBef>
                <a:spcPts val="600"/>
              </a:spcBef>
              <a:spcAft>
                <a:spcPts val="600"/>
              </a:spcAft>
            </a:pPr>
            <a:r>
              <a:rPr lang="zh-CN" altLang="en-US" sz="2200" dirty="0"/>
              <a:t>在训练过程中，使用了下面一条语句：</a:t>
            </a:r>
          </a:p>
          <a:p>
            <a:pPr>
              <a:lnSpc>
                <a:spcPct val="150000"/>
              </a:lnSpc>
              <a:spcBef>
                <a:spcPts val="600"/>
              </a:spcBef>
              <a:spcAft>
                <a:spcPts val="600"/>
              </a:spcAft>
            </a:pPr>
            <a:r>
              <a:rPr lang="en-US" altLang="zh-CN" sz="2200" dirty="0">
                <a:solidFill>
                  <a:srgbClr val="00B050"/>
                </a:solidFill>
              </a:rPr>
              <a:t>x = </a:t>
            </a:r>
            <a:r>
              <a:rPr lang="en-US" altLang="zh-CN" sz="2200" dirty="0" err="1">
                <a:solidFill>
                  <a:srgbClr val="00B050"/>
                </a:solidFill>
              </a:rPr>
              <a:t>x.unsqueeze</a:t>
            </a:r>
            <a:r>
              <a:rPr lang="en-US" altLang="zh-CN" sz="2200" dirty="0">
                <a:solidFill>
                  <a:srgbClr val="00B050"/>
                </a:solidFill>
              </a:rPr>
              <a:t>(0)</a:t>
            </a:r>
          </a:p>
          <a:p>
            <a:pPr>
              <a:spcBef>
                <a:spcPts val="600"/>
              </a:spcBef>
              <a:spcAft>
                <a:spcPts val="600"/>
              </a:spcAft>
            </a:pPr>
            <a:r>
              <a:rPr lang="zh-CN" altLang="en-US" sz="2200" dirty="0"/>
              <a:t>其作用是将 </a:t>
            </a:r>
            <a:r>
              <a:rPr lang="en-US" altLang="zh-CN" sz="2200" dirty="0"/>
              <a:t>x </a:t>
            </a:r>
            <a:r>
              <a:rPr lang="zh-CN" altLang="en-US" sz="2200" dirty="0"/>
              <a:t>的形状由 </a:t>
            </a:r>
            <a:r>
              <a:rPr lang="en-US" altLang="zh-CN" sz="2200" dirty="0" err="1"/>
              <a:t>torch.Size</a:t>
            </a:r>
            <a:r>
              <a:rPr lang="en-US" altLang="zh-CN" sz="2200" dirty="0"/>
              <a:t>([3])</a:t>
            </a:r>
            <a:r>
              <a:rPr lang="zh-CN" altLang="en-US" sz="2200" dirty="0"/>
              <a:t>改为 </a:t>
            </a:r>
            <a:r>
              <a:rPr lang="en-US" altLang="zh-CN" sz="2200" dirty="0" err="1"/>
              <a:t>torch.Size</a:t>
            </a:r>
            <a:r>
              <a:rPr lang="en-US" altLang="zh-CN" sz="2200" dirty="0"/>
              <a:t>([1, 3])</a:t>
            </a:r>
            <a:r>
              <a:rPr lang="zh-CN" altLang="en-US" sz="2200" dirty="0"/>
              <a:t>。主要原因在于，</a:t>
            </a:r>
            <a:r>
              <a:rPr lang="en-US" altLang="zh-CN" sz="2200" dirty="0" err="1"/>
              <a:t>PyTorch</a:t>
            </a:r>
            <a:r>
              <a:rPr lang="en-US" altLang="zh-CN" sz="2200" dirty="0"/>
              <a:t> </a:t>
            </a:r>
            <a:r>
              <a:rPr lang="zh-CN" altLang="en-US" sz="2200" dirty="0"/>
              <a:t>程序默认支持批量梯度下降算法。对于输入的张量，它的第一个维的大小一般表示批量中样本的数量。</a:t>
            </a:r>
            <a:endParaRPr lang="en-US" altLang="zh-CN" sz="2200" dirty="0"/>
          </a:p>
        </p:txBody>
      </p:sp>
    </p:spTree>
    <p:extLst>
      <p:ext uri="{BB962C8B-B14F-4D97-AF65-F5344CB8AC3E}">
        <p14:creationId xmlns:p14="http://schemas.microsoft.com/office/powerpoint/2010/main" val="3407039401"/>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3.1.2 </a:t>
            </a:r>
            <a:r>
              <a:rPr lang="zh-CN" altLang="en-US" sz="2800" b="1" dirty="0">
                <a:solidFill>
                  <a:srgbClr val="C00000"/>
                </a:solidFill>
              </a:rPr>
              <a:t>程序代码解释及网络层的构建方法</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2058441"/>
            <a:ext cx="9614028" cy="1261884"/>
          </a:xfrm>
          <a:prstGeom prst="rect">
            <a:avLst/>
          </a:prstGeom>
          <a:noFill/>
        </p:spPr>
        <p:txBody>
          <a:bodyPr wrap="square" rtlCol="0">
            <a:spAutoFit/>
          </a:bodyPr>
          <a:lstStyle/>
          <a:p>
            <a:pPr>
              <a:spcBef>
                <a:spcPts val="600"/>
              </a:spcBef>
              <a:spcAft>
                <a:spcPts val="600"/>
              </a:spcAft>
            </a:pPr>
            <a:r>
              <a:rPr lang="zh-CN" altLang="en-US" sz="2200" dirty="0"/>
              <a:t>（</a:t>
            </a:r>
            <a:r>
              <a:rPr lang="en-US" altLang="zh-CN" sz="2200" dirty="0"/>
              <a:t>4</a:t>
            </a:r>
            <a:r>
              <a:rPr lang="zh-CN" altLang="en-US" sz="2200" dirty="0"/>
              <a:t>）多分类问题常使用的损失函数</a:t>
            </a:r>
            <a:r>
              <a:rPr lang="en-US" altLang="zh-CN" sz="2200" dirty="0"/>
              <a:t>—</a:t>
            </a:r>
            <a:r>
              <a:rPr lang="en-US" altLang="zh-CN" sz="2200" dirty="0" err="1"/>
              <a:t>nn.CrossEntropyLoss</a:t>
            </a:r>
            <a:r>
              <a:rPr lang="en-US" altLang="zh-CN" sz="2200" dirty="0"/>
              <a:t>()</a:t>
            </a:r>
            <a:r>
              <a:rPr lang="zh-CN" altLang="en-US" sz="2200" dirty="0"/>
              <a:t>。</a:t>
            </a:r>
            <a:endParaRPr lang="en-US" altLang="zh-CN" sz="2200" dirty="0"/>
          </a:p>
          <a:p>
            <a:pPr>
              <a:spcBef>
                <a:spcPts val="600"/>
              </a:spcBef>
              <a:spcAft>
                <a:spcPts val="600"/>
              </a:spcAft>
            </a:pPr>
            <a:r>
              <a:rPr lang="zh-CN" altLang="en-US" sz="2200" dirty="0"/>
              <a:t>训练过程中还运用到一个新的损失函数</a:t>
            </a:r>
            <a:r>
              <a:rPr lang="en-US" altLang="zh-CN" sz="2200" dirty="0"/>
              <a:t>——</a:t>
            </a:r>
            <a:r>
              <a:rPr lang="en-US" altLang="zh-CN" sz="2200" b="1" dirty="0" err="1"/>
              <a:t>nn.CrossEntropyLoss</a:t>
            </a:r>
            <a:r>
              <a:rPr lang="en-US" altLang="zh-CN" sz="2200" b="1" dirty="0"/>
              <a:t>()</a:t>
            </a:r>
            <a:r>
              <a:rPr lang="zh-CN" altLang="en-US" sz="2200" dirty="0"/>
              <a:t>。该函数是一种交叉熵损失函数，它经常在多分类问题用作损失函数。</a:t>
            </a:r>
            <a:endParaRPr lang="en-US" altLang="zh-CN" sz="2200" dirty="0"/>
          </a:p>
        </p:txBody>
      </p:sp>
      <p:pic>
        <p:nvPicPr>
          <p:cNvPr id="4" name="图片 3">
            <a:extLst>
              <a:ext uri="{FF2B5EF4-FFF2-40B4-BE49-F238E27FC236}">
                <a16:creationId xmlns:a16="http://schemas.microsoft.com/office/drawing/2014/main" id="{AF736A23-5304-5D0A-3EC8-61E7A6C137A3}"/>
              </a:ext>
            </a:extLst>
          </p:cNvPr>
          <p:cNvPicPr>
            <a:picLocks noChangeAspect="1"/>
          </p:cNvPicPr>
          <p:nvPr/>
        </p:nvPicPr>
        <p:blipFill>
          <a:blip r:embed="rId3"/>
          <a:stretch>
            <a:fillRect/>
          </a:stretch>
        </p:blipFill>
        <p:spPr>
          <a:xfrm>
            <a:off x="409203" y="3429000"/>
            <a:ext cx="5398477" cy="2554513"/>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BAD6798-82D4-6C02-963D-00548D023E63}"/>
                  </a:ext>
                </a:extLst>
              </p:cNvPr>
              <p:cNvSpPr txBox="1"/>
              <p:nvPr/>
            </p:nvSpPr>
            <p:spPr>
              <a:xfrm>
                <a:off x="6025664" y="3470004"/>
                <a:ext cx="5431818" cy="1446550"/>
              </a:xfrm>
              <a:prstGeom prst="rect">
                <a:avLst/>
              </a:prstGeom>
              <a:noFill/>
            </p:spPr>
            <p:txBody>
              <a:bodyPr wrap="square">
                <a:spAutoFit/>
              </a:bodyPr>
              <a:lstStyle/>
              <a:p>
                <a:r>
                  <a:rPr lang="zh-CN" altLang="en-US" sz="2200" dirty="0"/>
                  <a:t>令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b="0" i="1" dirty="0" smtClean="0">
                            <a:latin typeface="Cambria Math" panose="02040503050406030204" pitchFamily="18" charset="0"/>
                          </a:rPr>
                          <m:t>𝑘</m:t>
                        </m:r>
                      </m:sub>
                    </m:sSub>
                  </m:oMath>
                </a14:m>
                <a:r>
                  <a:rPr lang="zh-CN" altLang="en-US" sz="2200" dirty="0"/>
                  <a:t>表示 </a:t>
                </a:r>
                <a:r>
                  <a:rPr lang="en-US" altLang="zh-CN" sz="2200" dirty="0"/>
                  <a:t>y </a:t>
                </a:r>
                <a:r>
                  <a:rPr lang="zh-CN" altLang="en-US" sz="2200" dirty="0"/>
                  <a:t>中第 </a:t>
                </a:r>
                <a:r>
                  <a:rPr lang="en-US" altLang="zh-CN" sz="2200" dirty="0"/>
                  <a:t>k </a:t>
                </a:r>
                <a:r>
                  <a:rPr lang="zh-CN" altLang="en-US" sz="2200" dirty="0"/>
                  <a:t>个分量的值（整型），则 </a:t>
                </a:r>
                <a:r>
                  <a:rPr lang="en-US" altLang="zh-CN" sz="2200" dirty="0" err="1"/>
                  <a:t>pre_y</a:t>
                </a:r>
                <a:r>
                  <a:rPr lang="en-US" altLang="zh-CN" sz="2200" dirty="0"/>
                  <a:t> </a:t>
                </a:r>
                <a:r>
                  <a:rPr lang="zh-CN" altLang="en-US" sz="2200" dirty="0"/>
                  <a:t>和 </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𝑦</m:t>
                        </m:r>
                      </m:e>
                      <m:sub>
                        <m:r>
                          <a:rPr lang="en-US" altLang="zh-CN" sz="2200" i="1" dirty="0">
                            <a:latin typeface="Cambria Math" panose="02040503050406030204" pitchFamily="18" charset="0"/>
                          </a:rPr>
                          <m:t>𝑘</m:t>
                        </m:r>
                      </m:sub>
                    </m:sSub>
                  </m:oMath>
                </a14:m>
                <a:r>
                  <a:rPr lang="zh-CN" altLang="en-US" sz="2200" dirty="0"/>
                  <a:t>共同表示矩阵 </a:t>
                </a:r>
                <a:r>
                  <a:rPr lang="en-US" altLang="zh-CN" sz="2200" dirty="0" err="1"/>
                  <a:t>pre_y</a:t>
                </a:r>
                <a:r>
                  <a:rPr lang="en-US" altLang="zh-CN" sz="2200" dirty="0"/>
                  <a:t> </a:t>
                </a:r>
                <a:r>
                  <a:rPr lang="zh-CN" altLang="en-US" sz="2200" dirty="0"/>
                  <a:t>中第 </a:t>
                </a:r>
                <a:r>
                  <a:rPr lang="en-US" altLang="zh-CN" sz="2200" dirty="0"/>
                  <a:t>k </a:t>
                </a:r>
                <a:r>
                  <a:rPr lang="zh-CN" altLang="en-US" sz="2200" dirty="0"/>
                  <a:t>行上 第 </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𝑦</m:t>
                        </m:r>
                      </m:e>
                      <m:sub>
                        <m:r>
                          <a:rPr lang="en-US" altLang="zh-CN" sz="2200" i="1" dirty="0">
                            <a:latin typeface="Cambria Math" panose="02040503050406030204" pitchFamily="18" charset="0"/>
                          </a:rPr>
                          <m:t>𝑘</m:t>
                        </m:r>
                      </m:sub>
                    </m:sSub>
                  </m:oMath>
                </a14:m>
                <a:r>
                  <a:rPr lang="zh-CN" altLang="en-US" sz="2200" dirty="0"/>
                  <a:t>列中的元素。这种对应关系可用图 </a:t>
                </a:r>
                <a:r>
                  <a:rPr lang="en-US" altLang="zh-CN" sz="2200" dirty="0"/>
                  <a:t>3-4 </a:t>
                </a:r>
                <a:r>
                  <a:rPr lang="zh-CN" altLang="en-US" sz="2200" dirty="0"/>
                  <a:t>来表示。</a:t>
                </a:r>
              </a:p>
            </p:txBody>
          </p:sp>
        </mc:Choice>
        <mc:Fallback xmlns="">
          <p:sp>
            <p:nvSpPr>
              <p:cNvPr id="6" name="文本框 5">
                <a:extLst>
                  <a:ext uri="{FF2B5EF4-FFF2-40B4-BE49-F238E27FC236}">
                    <a16:creationId xmlns:a16="http://schemas.microsoft.com/office/drawing/2014/main" id="{0BAD6798-82D4-6C02-963D-00548D023E63}"/>
                  </a:ext>
                </a:extLst>
              </p:cNvPr>
              <p:cNvSpPr txBox="1">
                <a:spLocks noRot="1" noChangeAspect="1" noMove="1" noResize="1" noEditPoints="1" noAdjustHandles="1" noChangeArrowheads="1" noChangeShapeType="1" noTextEdit="1"/>
              </p:cNvSpPr>
              <p:nvPr/>
            </p:nvSpPr>
            <p:spPr>
              <a:xfrm>
                <a:off x="6025664" y="3470004"/>
                <a:ext cx="5431818" cy="1446550"/>
              </a:xfrm>
              <a:prstGeom prst="rect">
                <a:avLst/>
              </a:prstGeom>
              <a:blipFill>
                <a:blip r:embed="rId4"/>
                <a:stretch>
                  <a:fillRect l="-1457" t="-2941" r="-897" b="-7983"/>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D5F2DFC-47C6-0545-C706-8D94249B1346}"/>
              </a:ext>
            </a:extLst>
          </p:cNvPr>
          <p:cNvSpPr txBox="1"/>
          <p:nvPr/>
        </p:nvSpPr>
        <p:spPr>
          <a:xfrm>
            <a:off x="6025663" y="5277534"/>
            <a:ext cx="6119446" cy="646331"/>
          </a:xfrm>
          <a:prstGeom prst="rect">
            <a:avLst/>
          </a:prstGeom>
          <a:noFill/>
        </p:spPr>
        <p:txBody>
          <a:bodyPr wrap="square">
            <a:spAutoFit/>
          </a:bodyPr>
          <a:lstStyle/>
          <a:p>
            <a:r>
              <a:rPr lang="zh-CN" altLang="en-US" b="1" dirty="0"/>
              <a:t>注</a:t>
            </a:r>
            <a:r>
              <a:rPr lang="zh-CN" altLang="en-US" dirty="0"/>
              <a:t>：行和列分别都是从第 </a:t>
            </a:r>
            <a:r>
              <a:rPr lang="en-US" altLang="zh-CN" dirty="0"/>
              <a:t>0 </a:t>
            </a:r>
            <a:r>
              <a:rPr lang="zh-CN" altLang="en-US" dirty="0"/>
              <a:t>行和第 </a:t>
            </a:r>
            <a:r>
              <a:rPr lang="en-US" altLang="zh-CN" dirty="0"/>
              <a:t>0 </a:t>
            </a:r>
            <a:r>
              <a:rPr lang="zh-CN" altLang="en-US" dirty="0"/>
              <a:t>列开始编号， 本书均采用这种编号</a:t>
            </a:r>
          </a:p>
        </p:txBody>
      </p:sp>
    </p:spTree>
    <p:extLst>
      <p:ext uri="{BB962C8B-B14F-4D97-AF65-F5344CB8AC3E}">
        <p14:creationId xmlns:p14="http://schemas.microsoft.com/office/powerpoint/2010/main" val="1334114067"/>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3.1 </a:t>
            </a:r>
            <a:r>
              <a:rPr lang="zh-CN" altLang="en-US" sz="3200" b="1" dirty="0">
                <a:solidFill>
                  <a:prstClr val="white"/>
                </a:solidFill>
                <a:latin typeface="微软雅黑" panose="020B0503020204020204" pitchFamily="34" charset="-122"/>
                <a:ea typeface="微软雅黑" panose="020B0503020204020204" pitchFamily="34" charset="-122"/>
              </a:rPr>
              <a:t>构建一个简单的全连接神经网络</a:t>
            </a:r>
            <a:r>
              <a:rPr lang="en-US" altLang="zh-CN" sz="3200" b="1" dirty="0">
                <a:solidFill>
                  <a:prstClr val="white"/>
                </a:solidFill>
                <a:latin typeface="微软雅黑" panose="020B0503020204020204" pitchFamily="34" charset="-122"/>
                <a:ea typeface="微软雅黑" panose="020B0503020204020204" pitchFamily="34" charset="-122"/>
              </a:rPr>
              <a:t>——</a:t>
            </a:r>
            <a:r>
              <a:rPr lang="zh-CN" altLang="en-US" sz="3200" b="1" dirty="0">
                <a:solidFill>
                  <a:prstClr val="white"/>
                </a:solidFill>
                <a:latin typeface="微软雅黑" panose="020B0503020204020204" pitchFamily="34" charset="-122"/>
                <a:ea typeface="微软雅黑" panose="020B0503020204020204" pitchFamily="34" charset="-122"/>
              </a:rPr>
              <a:t>解决二分类问题</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3.1.2 </a:t>
            </a:r>
            <a:r>
              <a:rPr lang="zh-CN" altLang="en-US" sz="2800" b="1" dirty="0">
                <a:solidFill>
                  <a:srgbClr val="C00000"/>
                </a:solidFill>
              </a:rPr>
              <a:t>程序代码解释及网络层的构建方法</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2022984"/>
            <a:ext cx="5991597" cy="3293209"/>
          </a:xfrm>
          <a:prstGeom prst="rect">
            <a:avLst/>
          </a:prstGeom>
          <a:noFill/>
        </p:spPr>
        <p:txBody>
          <a:bodyPr wrap="square" rtlCol="0">
            <a:spAutoFit/>
          </a:bodyPr>
          <a:lstStyle/>
          <a:p>
            <a:pPr>
              <a:spcBef>
                <a:spcPts val="600"/>
              </a:spcBef>
              <a:spcAft>
                <a:spcPts val="600"/>
              </a:spcAft>
            </a:pPr>
            <a:r>
              <a:rPr lang="zh-CN" altLang="en-US" sz="2200" dirty="0"/>
              <a:t>（</a:t>
            </a:r>
            <a:r>
              <a:rPr lang="en-US" altLang="zh-CN" sz="2200" dirty="0"/>
              <a:t>4</a:t>
            </a:r>
            <a:r>
              <a:rPr lang="zh-CN" altLang="en-US" sz="2200" dirty="0"/>
              <a:t>）显示训练过程中</a:t>
            </a:r>
            <a:r>
              <a:rPr lang="zh-CN" altLang="en-US" sz="2200" b="1" dirty="0"/>
              <a:t>损失</a:t>
            </a:r>
            <a:r>
              <a:rPr lang="zh-CN" altLang="en-US" sz="2200" dirty="0"/>
              <a:t>函数值的</a:t>
            </a:r>
            <a:r>
              <a:rPr lang="zh-CN" altLang="en-US" sz="2200" b="1" dirty="0"/>
              <a:t>变化趋势</a:t>
            </a:r>
            <a:r>
              <a:rPr lang="zh-CN" altLang="en-US" sz="2200" dirty="0"/>
              <a:t>。每处理 </a:t>
            </a:r>
            <a:r>
              <a:rPr lang="en-US" altLang="zh-CN" sz="2200" dirty="0"/>
              <a:t>50 </a:t>
            </a:r>
            <a:r>
              <a:rPr lang="zh-CN" altLang="en-US" sz="2200" dirty="0"/>
              <a:t>个样本，我们对损失函数值进行一次采样保存，最后绘制在一个坐标系，结果如图 </a:t>
            </a:r>
            <a:r>
              <a:rPr lang="en-US" altLang="zh-CN" sz="2200" dirty="0"/>
              <a:t>3-5 </a:t>
            </a:r>
            <a:r>
              <a:rPr lang="zh-CN" altLang="en-US" sz="2200" dirty="0"/>
              <a:t>所示。</a:t>
            </a:r>
            <a:endParaRPr lang="en-US" altLang="zh-CN" sz="2200" dirty="0"/>
          </a:p>
          <a:p>
            <a:pPr>
              <a:spcBef>
                <a:spcPts val="600"/>
              </a:spcBef>
              <a:spcAft>
                <a:spcPts val="600"/>
              </a:spcAft>
            </a:pPr>
            <a:r>
              <a:rPr lang="zh-CN" altLang="en-US" sz="2200" dirty="0"/>
              <a:t> 从图中可以看出，损失函数值虽然在局部上有波动，但在总体上呈现迅速降低的趋势，以至于后面降低到 </a:t>
            </a:r>
            <a:r>
              <a:rPr lang="en-US" altLang="zh-CN" sz="2200" dirty="0"/>
              <a:t>0</a:t>
            </a:r>
            <a:r>
              <a:rPr lang="zh-CN" altLang="en-US" sz="2200" dirty="0"/>
              <a:t>。这说明构建的全连接神经网络对给定的数据集是有效的，网络模型是</a:t>
            </a:r>
            <a:r>
              <a:rPr lang="zh-CN" altLang="en-US" sz="2200" b="1" dirty="0"/>
              <a:t>收敛</a:t>
            </a:r>
            <a:r>
              <a:rPr lang="zh-CN" altLang="en-US" sz="2200" dirty="0"/>
              <a:t>的，在经过充分训练后可以实现对给定数据的分类。</a:t>
            </a:r>
          </a:p>
        </p:txBody>
      </p:sp>
      <p:pic>
        <p:nvPicPr>
          <p:cNvPr id="4" name="图片 3">
            <a:extLst>
              <a:ext uri="{FF2B5EF4-FFF2-40B4-BE49-F238E27FC236}">
                <a16:creationId xmlns:a16="http://schemas.microsoft.com/office/drawing/2014/main" id="{196B67FC-D531-4D09-B1FF-C0399F4AB6DC}"/>
              </a:ext>
            </a:extLst>
          </p:cNvPr>
          <p:cNvPicPr>
            <a:picLocks noChangeAspect="1"/>
          </p:cNvPicPr>
          <p:nvPr/>
        </p:nvPicPr>
        <p:blipFill>
          <a:blip r:embed="rId3"/>
          <a:stretch>
            <a:fillRect/>
          </a:stretch>
        </p:blipFill>
        <p:spPr>
          <a:xfrm>
            <a:off x="6523892" y="1804162"/>
            <a:ext cx="4938006" cy="4069409"/>
          </a:xfrm>
          <a:prstGeom prst="rect">
            <a:avLst/>
          </a:prstGeom>
        </p:spPr>
      </p:pic>
    </p:spTree>
    <p:extLst>
      <p:ext uri="{BB962C8B-B14F-4D97-AF65-F5344CB8AC3E}">
        <p14:creationId xmlns:p14="http://schemas.microsoft.com/office/powerpoint/2010/main" val="2803116489"/>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a:srcRect t="2070" r="1004"/>
          <a:stretch/>
        </p:blipFill>
        <p:spPr>
          <a:xfrm>
            <a:off x="-496" y="-27384"/>
            <a:ext cx="3360192" cy="6885384"/>
          </a:xfrm>
          <a:prstGeom prst="rect">
            <a:avLst/>
          </a:prstGeom>
        </p:spPr>
      </p:pic>
      <p:sp>
        <p:nvSpPr>
          <p:cNvPr id="9" name="文本框 6"/>
          <p:cNvSpPr txBox="1"/>
          <p:nvPr/>
        </p:nvSpPr>
        <p:spPr>
          <a:xfrm>
            <a:off x="649714" y="2558062"/>
            <a:ext cx="2133918" cy="523220"/>
          </a:xfrm>
          <a:prstGeom prst="rect">
            <a:avLst/>
          </a:prstGeom>
          <a:noFill/>
        </p:spPr>
        <p:txBody>
          <a:bodyPr wrap="none" rtlCol="0">
            <a:spAutoFit/>
          </a:bodyPr>
          <a:lstStyle/>
          <a:p>
            <a:r>
              <a:rPr lang="zh-CN" altLang="en-US" sz="2800" spc="1000" dirty="0">
                <a:solidFill>
                  <a:schemeClr val="bg1"/>
                </a:solidFill>
                <a:cs typeface="+mn-ea"/>
                <a:sym typeface="+mn-lt"/>
              </a:rPr>
              <a:t>本章内容</a:t>
            </a:r>
          </a:p>
        </p:txBody>
      </p:sp>
      <p:sp>
        <p:nvSpPr>
          <p:cNvPr id="10" name="文本框 11"/>
          <p:cNvSpPr txBox="1"/>
          <p:nvPr/>
        </p:nvSpPr>
        <p:spPr>
          <a:xfrm>
            <a:off x="1032610" y="3238388"/>
            <a:ext cx="1239442" cy="461665"/>
          </a:xfrm>
          <a:prstGeom prst="rect">
            <a:avLst/>
          </a:prstGeom>
          <a:noFill/>
        </p:spPr>
        <p:txBody>
          <a:bodyPr wrap="none" rtlCol="0">
            <a:spAutoFit/>
          </a:bodyPr>
          <a:lstStyle/>
          <a:p>
            <a:r>
              <a:rPr lang="en-US" altLang="zh-CN" sz="2400" dirty="0">
                <a:solidFill>
                  <a:schemeClr val="bg1"/>
                </a:solidFill>
                <a:cs typeface="+mn-ea"/>
                <a:sym typeface="+mn-lt"/>
              </a:rPr>
              <a:t>contents</a:t>
            </a:r>
            <a:endParaRPr lang="zh-CN" altLang="en-US" sz="2400" dirty="0">
              <a:solidFill>
                <a:schemeClr val="bg1"/>
              </a:solidFill>
              <a:cs typeface="+mn-ea"/>
              <a:sym typeface="+mn-lt"/>
            </a:endParaRPr>
          </a:p>
        </p:txBody>
      </p:sp>
      <p:cxnSp>
        <p:nvCxnSpPr>
          <p:cNvPr id="11" name="直接连接符 10"/>
          <p:cNvCxnSpPr/>
          <p:nvPr/>
        </p:nvCxnSpPr>
        <p:spPr>
          <a:xfrm flipH="1">
            <a:off x="367517"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8818"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内容占位符 2"/>
          <p:cNvSpPr txBox="1">
            <a:spLocks/>
          </p:cNvSpPr>
          <p:nvPr/>
        </p:nvSpPr>
        <p:spPr>
          <a:xfrm>
            <a:off x="4009907" y="1506189"/>
            <a:ext cx="7978894" cy="4387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None/>
            </a:pPr>
            <a:r>
              <a:rPr lang="en-US" altLang="zh-CN" b="1" dirty="0">
                <a:latin typeface="微软雅黑" panose="020B0503020204020204" pitchFamily="34" charset="-122"/>
                <a:ea typeface="微软雅黑" panose="020B0503020204020204" pitchFamily="34" charset="-122"/>
              </a:rPr>
              <a:t>3.1  </a:t>
            </a:r>
            <a:r>
              <a:rPr lang="zh-CN" altLang="en-US" b="1" dirty="0">
                <a:latin typeface="微软雅黑" panose="020B0503020204020204" pitchFamily="34" charset="-122"/>
                <a:ea typeface="微软雅黑" panose="020B0503020204020204" pitchFamily="34" charset="-122"/>
              </a:rPr>
              <a:t>构建一个简单的全连接神经网络</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解决二分类问题</a:t>
            </a:r>
          </a:p>
          <a:p>
            <a:pPr>
              <a:lnSpc>
                <a:spcPct val="150000"/>
              </a:lnSpc>
              <a:buNone/>
            </a:pPr>
            <a:r>
              <a:rPr lang="en-US" altLang="zh-CN" b="1" dirty="0">
                <a:solidFill>
                  <a:srgbClr val="C00000"/>
                </a:solidFill>
                <a:latin typeface="微软雅黑" panose="020B0503020204020204" pitchFamily="34" charset="-122"/>
                <a:ea typeface="微软雅黑" panose="020B0503020204020204" pitchFamily="34" charset="-122"/>
              </a:rPr>
              <a:t>3.2  </a:t>
            </a:r>
            <a:r>
              <a:rPr lang="zh-CN" altLang="en-US" b="1" dirty="0">
                <a:solidFill>
                  <a:srgbClr val="C00000"/>
                </a:solidFill>
                <a:latin typeface="微软雅黑" panose="020B0503020204020204" pitchFamily="34" charset="-122"/>
                <a:ea typeface="微软雅黑" panose="020B0503020204020204" pitchFamily="34" charset="-122"/>
              </a:rPr>
              <a:t>全连接神经网络的构造方法</a:t>
            </a:r>
          </a:p>
          <a:p>
            <a:pPr>
              <a:lnSpc>
                <a:spcPct val="150000"/>
              </a:lnSpc>
              <a:buNone/>
            </a:pPr>
            <a:r>
              <a:rPr lang="en-US" altLang="zh-CN" b="1" dirty="0">
                <a:latin typeface="微软雅黑" panose="020B0503020204020204" pitchFamily="34" charset="-122"/>
                <a:ea typeface="微软雅黑" panose="020B0503020204020204" pitchFamily="34" charset="-122"/>
              </a:rPr>
              <a:t>3.3  </a:t>
            </a:r>
            <a:r>
              <a:rPr lang="zh-CN" altLang="en-US" b="1" dirty="0">
                <a:latin typeface="微软雅黑" panose="020B0503020204020204" pitchFamily="34" charset="-122"/>
                <a:ea typeface="微软雅黑" panose="020B0503020204020204" pitchFamily="34" charset="-122"/>
              </a:rPr>
              <a:t>几种主流的损失函数</a:t>
            </a:r>
          </a:p>
          <a:p>
            <a:pPr>
              <a:lnSpc>
                <a:spcPct val="150000"/>
              </a:lnSpc>
              <a:buNone/>
            </a:pPr>
            <a:r>
              <a:rPr lang="en-US" altLang="zh-CN" b="1" dirty="0">
                <a:latin typeface="微软雅黑" panose="020B0503020204020204" pitchFamily="34" charset="-122"/>
                <a:ea typeface="微软雅黑" panose="020B0503020204020204" pitchFamily="34" charset="-122"/>
              </a:rPr>
              <a:t>3.4  </a:t>
            </a:r>
            <a:r>
              <a:rPr lang="zh-CN" altLang="en-US" b="1" dirty="0">
                <a:latin typeface="微软雅黑" panose="020B0503020204020204" pitchFamily="34" charset="-122"/>
                <a:ea typeface="微软雅黑" panose="020B0503020204020204" pitchFamily="34" charset="-122"/>
              </a:rPr>
              <a:t>网络模型的训练与测试</a:t>
            </a:r>
          </a:p>
          <a:p>
            <a:pPr>
              <a:lnSpc>
                <a:spcPct val="150000"/>
              </a:lnSpc>
              <a:buNone/>
            </a:pPr>
            <a:r>
              <a:rPr lang="en-US" altLang="zh-CN" b="1" dirty="0">
                <a:latin typeface="微软雅黑" panose="020B0503020204020204" pitchFamily="34" charset="-122"/>
                <a:ea typeface="微软雅黑" panose="020B0503020204020204" pitchFamily="34" charset="-122"/>
              </a:rPr>
              <a:t>3.5  </a:t>
            </a:r>
            <a:r>
              <a:rPr lang="zh-CN" altLang="en-US" b="1" dirty="0">
                <a:latin typeface="微软雅黑" panose="020B0503020204020204" pitchFamily="34" charset="-122"/>
                <a:ea typeface="微软雅黑" panose="020B0503020204020204" pitchFamily="34" charset="-122"/>
              </a:rPr>
              <a:t>正向计算和反向梯度传播的理论分析</a:t>
            </a:r>
          </a:p>
        </p:txBody>
      </p:sp>
      <p:pic>
        <p:nvPicPr>
          <p:cNvPr id="13" name="图片 12">
            <a:extLst>
              <a:ext uri="{FF2B5EF4-FFF2-40B4-BE49-F238E27FC236}">
                <a16:creationId xmlns:a16="http://schemas.microsoft.com/office/drawing/2014/main" id="{B7A089C7-0418-4B24-B026-E43BD2558A41}"/>
              </a:ext>
            </a:extLst>
          </p:cNvPr>
          <p:cNvPicPr>
            <a:picLocks noChangeAspect="1"/>
          </p:cNvPicPr>
          <p:nvPr/>
        </p:nvPicPr>
        <p:blipFill rotWithShape="1">
          <a:blip r:embed="rId4"/>
          <a:srcRect l="18793" t="3704" r="17232" b="4677"/>
          <a:stretch/>
        </p:blipFill>
        <p:spPr>
          <a:xfrm>
            <a:off x="1207159" y="449739"/>
            <a:ext cx="944881" cy="1353180"/>
          </a:xfrm>
          <a:prstGeom prst="rect">
            <a:avLst/>
          </a:prstGeom>
        </p:spPr>
      </p:pic>
    </p:spTree>
    <p:extLst>
      <p:ext uri="{BB962C8B-B14F-4D97-AF65-F5344CB8AC3E}">
        <p14:creationId xmlns:p14="http://schemas.microsoft.com/office/powerpoint/2010/main" val="2224409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3.2.1 </a:t>
            </a:r>
            <a:r>
              <a:rPr lang="zh-CN" altLang="en-US" sz="2800" b="1" dirty="0">
                <a:solidFill>
                  <a:srgbClr val="C00000"/>
                </a:solidFill>
              </a:rPr>
              <a:t>网络层的定义</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1760200"/>
            <a:ext cx="10994420" cy="4385816"/>
          </a:xfrm>
          <a:prstGeom prst="rect">
            <a:avLst/>
          </a:prstGeom>
          <a:noFill/>
        </p:spPr>
        <p:txBody>
          <a:bodyPr wrap="square" rtlCol="0">
            <a:spAutoFit/>
          </a:bodyPr>
          <a:lstStyle/>
          <a:p>
            <a:pPr>
              <a:spcBef>
                <a:spcPts val="600"/>
              </a:spcBef>
              <a:spcAft>
                <a:spcPts val="600"/>
              </a:spcAft>
            </a:pPr>
            <a:r>
              <a:rPr lang="zh-CN" altLang="en-US" sz="2200" dirty="0"/>
              <a:t>一个</a:t>
            </a:r>
            <a:r>
              <a:rPr lang="zh-CN" altLang="en-US" sz="2200" b="1" dirty="0"/>
              <a:t>全连接网络层</a:t>
            </a:r>
            <a:r>
              <a:rPr lang="zh-CN" altLang="en-US" sz="2200" dirty="0"/>
              <a:t>（简称</a:t>
            </a:r>
            <a:r>
              <a:rPr lang="zh-CN" altLang="en-US" sz="2200" b="1" dirty="0"/>
              <a:t>网络层</a:t>
            </a:r>
            <a:r>
              <a:rPr lang="zh-CN" altLang="en-US" sz="2200" dirty="0"/>
              <a:t>）是由 </a:t>
            </a:r>
            <a:r>
              <a:rPr lang="en-US" altLang="zh-CN" sz="2200" b="1" dirty="0" err="1"/>
              <a:t>nn.Linear</a:t>
            </a:r>
            <a:r>
              <a:rPr lang="en-US" altLang="zh-CN" sz="2200" b="1" dirty="0"/>
              <a:t>()</a:t>
            </a:r>
            <a:r>
              <a:rPr lang="zh-CN" altLang="en-US" sz="2200" dirty="0"/>
              <a:t>函数来定义的，该函数的调用格式可简化说明如下：</a:t>
            </a:r>
          </a:p>
          <a:p>
            <a:pPr>
              <a:lnSpc>
                <a:spcPct val="150000"/>
              </a:lnSpc>
              <a:spcBef>
                <a:spcPts val="600"/>
              </a:spcBef>
              <a:spcAft>
                <a:spcPts val="600"/>
              </a:spcAft>
            </a:pPr>
            <a:r>
              <a:rPr lang="en-US" altLang="zh-CN" sz="2200" dirty="0" err="1">
                <a:solidFill>
                  <a:srgbClr val="00B050"/>
                </a:solidFill>
              </a:rPr>
              <a:t>nn.Linear</a:t>
            </a:r>
            <a:r>
              <a:rPr lang="en-US" altLang="zh-CN" sz="2200" dirty="0">
                <a:solidFill>
                  <a:srgbClr val="00B050"/>
                </a:solidFill>
              </a:rPr>
              <a:t>(</a:t>
            </a:r>
            <a:r>
              <a:rPr lang="en-US" altLang="zh-CN" sz="2200" dirty="0" err="1">
                <a:solidFill>
                  <a:srgbClr val="00B050"/>
                </a:solidFill>
              </a:rPr>
              <a:t>in_features</a:t>
            </a:r>
            <a:r>
              <a:rPr lang="en-US" altLang="zh-CN" sz="2200" dirty="0">
                <a:solidFill>
                  <a:srgbClr val="00B050"/>
                </a:solidFill>
              </a:rPr>
              <a:t>=m, </a:t>
            </a:r>
            <a:r>
              <a:rPr lang="en-US" altLang="zh-CN" sz="2200" dirty="0" err="1">
                <a:solidFill>
                  <a:srgbClr val="00B050"/>
                </a:solidFill>
              </a:rPr>
              <a:t>out_features</a:t>
            </a:r>
            <a:r>
              <a:rPr lang="en-US" altLang="zh-CN" sz="2200" dirty="0">
                <a:solidFill>
                  <a:srgbClr val="00B050"/>
                </a:solidFill>
              </a:rPr>
              <a:t>=k, bias=True/False)</a:t>
            </a:r>
          </a:p>
          <a:p>
            <a:pPr>
              <a:spcBef>
                <a:spcPts val="600"/>
              </a:spcBef>
              <a:spcAft>
                <a:spcPts val="600"/>
              </a:spcAft>
            </a:pPr>
            <a:r>
              <a:rPr lang="zh-CN" altLang="en-US" sz="2200" dirty="0"/>
              <a:t>其中：</a:t>
            </a:r>
          </a:p>
          <a:p>
            <a:pPr>
              <a:spcBef>
                <a:spcPts val="600"/>
              </a:spcBef>
              <a:spcAft>
                <a:spcPts val="600"/>
              </a:spcAft>
            </a:pPr>
            <a:r>
              <a:rPr lang="en-US" altLang="zh-CN" sz="2200" b="1" dirty="0"/>
              <a:t>--</a:t>
            </a:r>
            <a:r>
              <a:rPr lang="en-US" altLang="zh-CN" sz="2200" b="1" dirty="0" err="1"/>
              <a:t>in_features</a:t>
            </a:r>
            <a:r>
              <a:rPr lang="en-US" altLang="zh-CN" sz="2200" b="1" dirty="0"/>
              <a:t>=m</a:t>
            </a:r>
            <a:r>
              <a:rPr lang="zh-CN" altLang="en-US" sz="2200" dirty="0"/>
              <a:t>：表示有 </a:t>
            </a:r>
            <a:r>
              <a:rPr lang="en-US" altLang="zh-CN" sz="2200" dirty="0"/>
              <a:t>m </a:t>
            </a:r>
            <a:r>
              <a:rPr lang="zh-CN" altLang="en-US" sz="2200" dirty="0"/>
              <a:t>个</a:t>
            </a:r>
            <a:r>
              <a:rPr lang="zh-CN" altLang="en-US" sz="2200" b="1" dirty="0"/>
              <a:t>输入节点</a:t>
            </a:r>
            <a:r>
              <a:rPr lang="zh-CN" altLang="en-US" sz="2200" dirty="0"/>
              <a:t>，能够接收特征个数为 </a:t>
            </a:r>
            <a:r>
              <a:rPr lang="en-US" altLang="zh-CN" sz="2200" dirty="0"/>
              <a:t>m </a:t>
            </a:r>
            <a:r>
              <a:rPr lang="zh-CN" altLang="en-US" sz="2200" dirty="0"/>
              <a:t>的特征向量的输入；</a:t>
            </a:r>
          </a:p>
          <a:p>
            <a:pPr>
              <a:spcBef>
                <a:spcPts val="600"/>
              </a:spcBef>
              <a:spcAft>
                <a:spcPts val="600"/>
              </a:spcAft>
            </a:pPr>
            <a:r>
              <a:rPr lang="en-US" altLang="zh-CN" sz="2200" b="1" dirty="0"/>
              <a:t>--</a:t>
            </a:r>
            <a:r>
              <a:rPr lang="en-US" altLang="zh-CN" sz="2200" b="1" dirty="0" err="1"/>
              <a:t>out_features</a:t>
            </a:r>
            <a:r>
              <a:rPr lang="en-US" altLang="zh-CN" sz="2200" b="1" dirty="0"/>
              <a:t>= k</a:t>
            </a:r>
            <a:r>
              <a:rPr lang="zh-CN" altLang="en-US" sz="2200" dirty="0"/>
              <a:t>：表示有 </a:t>
            </a:r>
            <a:r>
              <a:rPr lang="en-US" altLang="zh-CN" sz="2200" dirty="0"/>
              <a:t>k </a:t>
            </a:r>
            <a:r>
              <a:rPr lang="zh-CN" altLang="en-US" sz="2200" dirty="0"/>
              <a:t>个神经元，因而也有 </a:t>
            </a:r>
            <a:r>
              <a:rPr lang="en-US" altLang="zh-CN" sz="2200" dirty="0"/>
              <a:t>k </a:t>
            </a:r>
            <a:r>
              <a:rPr lang="zh-CN" altLang="en-US" sz="2200" dirty="0"/>
              <a:t>个</a:t>
            </a:r>
            <a:r>
              <a:rPr lang="zh-CN" altLang="en-US" sz="2200" b="1" dirty="0"/>
              <a:t>输出节点</a:t>
            </a:r>
            <a:r>
              <a:rPr lang="zh-CN" altLang="en-US" sz="2200" dirty="0"/>
              <a:t>（每个神经元仅有一</a:t>
            </a:r>
          </a:p>
          <a:p>
            <a:pPr>
              <a:spcBef>
                <a:spcPts val="600"/>
              </a:spcBef>
              <a:spcAft>
                <a:spcPts val="600"/>
              </a:spcAft>
            </a:pPr>
            <a:r>
              <a:rPr lang="zh-CN" altLang="en-US" sz="2200" dirty="0"/>
              <a:t>个输出）；</a:t>
            </a:r>
          </a:p>
          <a:p>
            <a:pPr>
              <a:spcBef>
                <a:spcPts val="600"/>
              </a:spcBef>
              <a:spcAft>
                <a:spcPts val="600"/>
              </a:spcAft>
            </a:pPr>
            <a:r>
              <a:rPr lang="en-US" altLang="zh-CN" sz="2200" b="1" dirty="0"/>
              <a:t>--bias=True/False</a:t>
            </a:r>
            <a:r>
              <a:rPr lang="zh-CN" altLang="en-US" sz="2200" dirty="0"/>
              <a:t>：当选择 </a:t>
            </a:r>
            <a:r>
              <a:rPr lang="en-US" altLang="zh-CN" sz="2200" dirty="0"/>
              <a:t>bias=True </a:t>
            </a:r>
            <a:r>
              <a:rPr lang="zh-CN" altLang="en-US" sz="2200" dirty="0"/>
              <a:t>时，表示为每个神经设置一个</a:t>
            </a:r>
            <a:r>
              <a:rPr lang="zh-CN" altLang="en-US" sz="2200" b="1" dirty="0"/>
              <a:t>偏置项</a:t>
            </a:r>
            <a:r>
              <a:rPr lang="zh-CN" altLang="en-US" sz="2200" dirty="0"/>
              <a:t>（默认设置）；</a:t>
            </a:r>
          </a:p>
          <a:p>
            <a:pPr>
              <a:spcBef>
                <a:spcPts val="600"/>
              </a:spcBef>
              <a:spcAft>
                <a:spcPts val="600"/>
              </a:spcAft>
            </a:pPr>
            <a:r>
              <a:rPr lang="zh-CN" altLang="en-US" sz="2200" dirty="0"/>
              <a:t>当选择 </a:t>
            </a:r>
            <a:r>
              <a:rPr lang="en-US" altLang="zh-CN" sz="2200" dirty="0"/>
              <a:t>bias=False </a:t>
            </a:r>
            <a:r>
              <a:rPr lang="zh-CN" altLang="en-US" sz="2200" dirty="0"/>
              <a:t>时，表示所有神经元都没有偏置项。</a:t>
            </a:r>
            <a:endParaRPr lang="en-US" altLang="zh-CN" sz="2200" dirty="0"/>
          </a:p>
        </p:txBody>
      </p:sp>
    </p:spTree>
    <p:extLst>
      <p:ext uri="{BB962C8B-B14F-4D97-AF65-F5344CB8AC3E}">
        <p14:creationId xmlns:p14="http://schemas.microsoft.com/office/powerpoint/2010/main" val="3299864697"/>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3.2.1 </a:t>
            </a:r>
            <a:r>
              <a:rPr lang="zh-CN" altLang="en-US" sz="2800" b="1" dirty="0">
                <a:solidFill>
                  <a:srgbClr val="C00000"/>
                </a:solidFill>
              </a:rPr>
              <a:t>网络层的定义</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2" y="2180956"/>
            <a:ext cx="6800489" cy="3262432"/>
          </a:xfrm>
          <a:prstGeom prst="rect">
            <a:avLst/>
          </a:prstGeom>
          <a:noFill/>
        </p:spPr>
        <p:txBody>
          <a:bodyPr wrap="square" rtlCol="0">
            <a:spAutoFit/>
          </a:bodyPr>
          <a:lstStyle/>
          <a:p>
            <a:pPr>
              <a:spcBef>
                <a:spcPts val="600"/>
              </a:spcBef>
              <a:spcAft>
                <a:spcPts val="600"/>
              </a:spcAft>
            </a:pPr>
            <a:r>
              <a:rPr lang="zh-CN" altLang="en-US" sz="2200" dirty="0"/>
              <a:t>该函数用于创建这样的一个网络层：该网络层一共有 </a:t>
            </a:r>
            <a:r>
              <a:rPr lang="en-US" altLang="zh-CN" sz="2200" b="1" dirty="0" err="1"/>
              <a:t>m×k+k</a:t>
            </a:r>
            <a:r>
              <a:rPr lang="en-US" altLang="zh-CN" sz="2200" b="1" dirty="0"/>
              <a:t> </a:t>
            </a:r>
            <a:r>
              <a:rPr lang="zh-CN" altLang="en-US" sz="2200" dirty="0"/>
              <a:t>个参数（如果</a:t>
            </a:r>
            <a:r>
              <a:rPr lang="en-US" altLang="zh-CN" sz="2200" b="1" dirty="0"/>
              <a:t>bias=True</a:t>
            </a:r>
            <a:r>
              <a:rPr lang="zh-CN" altLang="en-US" sz="2200" dirty="0"/>
              <a:t>）或 </a:t>
            </a:r>
            <a:r>
              <a:rPr lang="en-US" altLang="zh-CN" sz="2200" b="1" dirty="0" err="1"/>
              <a:t>m×k</a:t>
            </a:r>
            <a:r>
              <a:rPr lang="en-US" altLang="zh-CN" sz="2200" dirty="0"/>
              <a:t> </a:t>
            </a:r>
            <a:r>
              <a:rPr lang="zh-CN" altLang="en-US" sz="2200" dirty="0"/>
              <a:t>个参数（</a:t>
            </a:r>
            <a:r>
              <a:rPr lang="en-US" altLang="zh-CN" sz="2200" b="1" dirty="0"/>
              <a:t>bias=False</a:t>
            </a:r>
            <a:r>
              <a:rPr lang="zh-CN" altLang="en-US" sz="2200" dirty="0"/>
              <a:t>）需要学习；</a:t>
            </a:r>
            <a:endParaRPr lang="en-US" altLang="zh-CN" sz="2200" dirty="0"/>
          </a:p>
          <a:p>
            <a:pPr>
              <a:spcBef>
                <a:spcPts val="600"/>
              </a:spcBef>
              <a:spcAft>
                <a:spcPts val="600"/>
              </a:spcAft>
            </a:pPr>
            <a:r>
              <a:rPr lang="zh-CN" altLang="en-US" sz="2200" dirty="0"/>
              <a:t>如果用函数 </a:t>
            </a:r>
            <a:r>
              <a:rPr lang="en-US" altLang="zh-CN" sz="2200" dirty="0" err="1"/>
              <a:t>nn.Linear</a:t>
            </a:r>
            <a:r>
              <a:rPr lang="en-US" altLang="zh-CN" sz="2200" dirty="0"/>
              <a:t>()</a:t>
            </a:r>
            <a:r>
              <a:rPr lang="zh-CN" altLang="en-US" sz="2200" dirty="0"/>
              <a:t>的参数来表示整个网络层的参数个数，那么上述两种情况的神经元个数分别为</a:t>
            </a:r>
          </a:p>
          <a:p>
            <a:pPr>
              <a:spcBef>
                <a:spcPts val="600"/>
              </a:spcBef>
              <a:spcAft>
                <a:spcPts val="600"/>
              </a:spcAft>
            </a:pPr>
            <a:r>
              <a:rPr lang="en-US" altLang="zh-CN" sz="2200" dirty="0" err="1"/>
              <a:t>in_features×out_features+out_features</a:t>
            </a:r>
            <a:r>
              <a:rPr lang="en-US" altLang="zh-CN" sz="2200" dirty="0"/>
              <a:t> </a:t>
            </a:r>
            <a:r>
              <a:rPr lang="zh-CN" altLang="en-US" sz="2200" dirty="0"/>
              <a:t>和 </a:t>
            </a:r>
            <a:r>
              <a:rPr lang="en-US" altLang="zh-CN" sz="2200" dirty="0" err="1"/>
              <a:t>in_features×out_features</a:t>
            </a:r>
            <a:r>
              <a:rPr lang="zh-CN" altLang="en-US" sz="2200" dirty="0"/>
              <a:t>。</a:t>
            </a:r>
            <a:endParaRPr lang="en-US" altLang="zh-CN" sz="2200" dirty="0"/>
          </a:p>
          <a:p>
            <a:pPr>
              <a:spcBef>
                <a:spcPts val="600"/>
              </a:spcBef>
              <a:spcAft>
                <a:spcPts val="600"/>
              </a:spcAft>
            </a:pPr>
            <a:r>
              <a:rPr lang="zh-CN" altLang="en-US" sz="2200" dirty="0"/>
              <a:t>该函数构建的</a:t>
            </a:r>
            <a:r>
              <a:rPr lang="zh-CN" altLang="en-US" sz="2200" b="1" dirty="0"/>
              <a:t>网络层的结构</a:t>
            </a:r>
            <a:r>
              <a:rPr lang="zh-CN" altLang="en-US" sz="2200" dirty="0"/>
              <a:t>如图 </a:t>
            </a:r>
            <a:r>
              <a:rPr lang="en-US" altLang="zh-CN" sz="2200" dirty="0"/>
              <a:t>3-6 </a:t>
            </a:r>
            <a:r>
              <a:rPr lang="zh-CN" altLang="en-US" sz="2200" dirty="0"/>
              <a:t>所示。</a:t>
            </a:r>
          </a:p>
        </p:txBody>
      </p:sp>
      <p:pic>
        <p:nvPicPr>
          <p:cNvPr id="4" name="图片 3">
            <a:extLst>
              <a:ext uri="{FF2B5EF4-FFF2-40B4-BE49-F238E27FC236}">
                <a16:creationId xmlns:a16="http://schemas.microsoft.com/office/drawing/2014/main" id="{6B449DDF-6AF8-7121-A0B3-D3AE1D697D66}"/>
              </a:ext>
            </a:extLst>
          </p:cNvPr>
          <p:cNvPicPr>
            <a:picLocks noChangeAspect="1"/>
          </p:cNvPicPr>
          <p:nvPr/>
        </p:nvPicPr>
        <p:blipFill>
          <a:blip r:embed="rId3"/>
          <a:stretch>
            <a:fillRect/>
          </a:stretch>
        </p:blipFill>
        <p:spPr>
          <a:xfrm>
            <a:off x="7138151" y="1688123"/>
            <a:ext cx="4265472" cy="4362572"/>
          </a:xfrm>
          <a:prstGeom prst="rect">
            <a:avLst/>
          </a:prstGeom>
        </p:spPr>
      </p:pic>
    </p:spTree>
    <p:extLst>
      <p:ext uri="{BB962C8B-B14F-4D97-AF65-F5344CB8AC3E}">
        <p14:creationId xmlns:p14="http://schemas.microsoft.com/office/powerpoint/2010/main" val="553397592"/>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3.2.1 </a:t>
            </a:r>
            <a:r>
              <a:rPr lang="zh-CN" altLang="en-US" sz="2800" b="1" dirty="0">
                <a:solidFill>
                  <a:srgbClr val="C00000"/>
                </a:solidFill>
              </a:rPr>
              <a:t>网络层的定义</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664181" y="1907780"/>
            <a:ext cx="5622320" cy="4078039"/>
          </a:xfrm>
          <a:prstGeom prst="rect">
            <a:avLst/>
          </a:prstGeom>
          <a:noFill/>
        </p:spPr>
        <p:txBody>
          <a:bodyPr wrap="square" rtlCol="0">
            <a:spAutoFit/>
          </a:bodyPr>
          <a:lstStyle/>
          <a:p>
            <a:pPr>
              <a:spcBef>
                <a:spcPts val="600"/>
              </a:spcBef>
              <a:spcAft>
                <a:spcPts val="600"/>
              </a:spcAft>
            </a:pPr>
            <a:r>
              <a:rPr lang="zh-CN" altLang="en-US" sz="2200" dirty="0"/>
              <a:t>例如，下列代码定义了一个 </a:t>
            </a:r>
            <a:r>
              <a:rPr lang="en-US" altLang="zh-CN" sz="2200" dirty="0"/>
              <a:t>50×30 </a:t>
            </a:r>
            <a:r>
              <a:rPr lang="zh-CN" altLang="en-US" sz="2200" dirty="0"/>
              <a:t>的全连接神经网络层：</a:t>
            </a:r>
          </a:p>
          <a:p>
            <a:pPr>
              <a:lnSpc>
                <a:spcPct val="150000"/>
              </a:lnSpc>
              <a:spcBef>
                <a:spcPts val="600"/>
              </a:spcBef>
              <a:spcAft>
                <a:spcPts val="600"/>
              </a:spcAft>
            </a:pPr>
            <a:r>
              <a:rPr lang="en-US" altLang="zh-CN" sz="2200" dirty="0" err="1">
                <a:solidFill>
                  <a:srgbClr val="00B050"/>
                </a:solidFill>
              </a:rPr>
              <a:t>fc_layer</a:t>
            </a:r>
            <a:r>
              <a:rPr lang="en-US" altLang="zh-CN" sz="2200" dirty="0">
                <a:solidFill>
                  <a:srgbClr val="00B050"/>
                </a:solidFill>
              </a:rPr>
              <a:t> = </a:t>
            </a:r>
            <a:r>
              <a:rPr lang="en-US" altLang="zh-CN" sz="2200" dirty="0" err="1">
                <a:solidFill>
                  <a:srgbClr val="00B050"/>
                </a:solidFill>
              </a:rPr>
              <a:t>nn.Linear</a:t>
            </a:r>
            <a:r>
              <a:rPr lang="en-US" altLang="zh-CN" sz="2200" dirty="0">
                <a:solidFill>
                  <a:srgbClr val="00B050"/>
                </a:solidFill>
              </a:rPr>
              <a:t>(30, 50, bias=True)</a:t>
            </a:r>
          </a:p>
          <a:p>
            <a:pPr>
              <a:spcBef>
                <a:spcPts val="600"/>
              </a:spcBef>
              <a:spcAft>
                <a:spcPts val="600"/>
              </a:spcAft>
            </a:pPr>
            <a:r>
              <a:rPr lang="zh-CN" altLang="en-US" sz="2200" dirty="0"/>
              <a:t>其中，该网络层含有 </a:t>
            </a:r>
            <a:r>
              <a:rPr lang="en-US" altLang="zh-CN" sz="2200" b="1" dirty="0"/>
              <a:t>30 </a:t>
            </a:r>
            <a:r>
              <a:rPr lang="zh-CN" altLang="en-US" sz="2200" b="1" dirty="0"/>
              <a:t>个输入</a:t>
            </a:r>
            <a:r>
              <a:rPr lang="zh-CN" altLang="en-US" sz="2200" dirty="0"/>
              <a:t>节点和 </a:t>
            </a:r>
            <a:r>
              <a:rPr lang="en-US" altLang="zh-CN" sz="2200" b="1" dirty="0"/>
              <a:t>50 </a:t>
            </a:r>
            <a:r>
              <a:rPr lang="zh-CN" altLang="en-US" sz="2200" b="1" dirty="0"/>
              <a:t>个输出</a:t>
            </a:r>
            <a:r>
              <a:rPr lang="zh-CN" altLang="en-US" sz="2200" dirty="0"/>
              <a:t>节点（神经元节点），同时包含 </a:t>
            </a:r>
            <a:r>
              <a:rPr lang="en-US" altLang="zh-CN" sz="2200" b="1" dirty="0"/>
              <a:t>50 </a:t>
            </a:r>
            <a:r>
              <a:rPr lang="zh-CN" altLang="en-US" sz="2200" b="1" dirty="0"/>
              <a:t>个偏</a:t>
            </a:r>
          </a:p>
          <a:p>
            <a:pPr>
              <a:spcBef>
                <a:spcPts val="600"/>
              </a:spcBef>
              <a:spcAft>
                <a:spcPts val="600"/>
              </a:spcAft>
            </a:pPr>
            <a:r>
              <a:rPr lang="zh-CN" altLang="en-US" sz="2200" b="1" dirty="0"/>
              <a:t>置项</a:t>
            </a:r>
            <a:r>
              <a:rPr lang="zh-CN" altLang="en-US" sz="2200" dirty="0"/>
              <a:t>。</a:t>
            </a:r>
          </a:p>
          <a:p>
            <a:pPr>
              <a:spcBef>
                <a:spcPts val="600"/>
              </a:spcBef>
              <a:spcAft>
                <a:spcPts val="600"/>
              </a:spcAft>
            </a:pPr>
            <a:r>
              <a:rPr lang="zh-CN" altLang="en-US" sz="2200" dirty="0"/>
              <a:t>右侧代码定义的</a:t>
            </a:r>
            <a:r>
              <a:rPr lang="zh-CN" altLang="en-US" sz="2200" b="1" dirty="0"/>
              <a:t>张量 </a:t>
            </a:r>
            <a:r>
              <a:rPr lang="en-US" altLang="zh-CN" sz="2200" b="1" dirty="0"/>
              <a:t>x1,x2,x3 </a:t>
            </a:r>
            <a:r>
              <a:rPr lang="zh-CN" altLang="en-US" sz="2200" dirty="0"/>
              <a:t>都能被上述定义的网络层接收，而</a:t>
            </a:r>
            <a:r>
              <a:rPr lang="zh-CN" altLang="en-US" sz="2200" b="1" dirty="0"/>
              <a:t>张量 </a:t>
            </a:r>
            <a:r>
              <a:rPr lang="en-US" altLang="zh-CN" sz="2200" b="1" dirty="0"/>
              <a:t>x4</a:t>
            </a:r>
            <a:r>
              <a:rPr lang="en-US" altLang="zh-CN" sz="2200" dirty="0"/>
              <a:t> </a:t>
            </a:r>
            <a:r>
              <a:rPr lang="zh-CN" altLang="en-US" sz="2200" dirty="0"/>
              <a:t>则不能被接收：</a:t>
            </a:r>
          </a:p>
          <a:p>
            <a:pPr>
              <a:spcBef>
                <a:spcPts val="600"/>
              </a:spcBef>
              <a:spcAft>
                <a:spcPts val="600"/>
              </a:spcAft>
            </a:pPr>
            <a:r>
              <a:rPr lang="en-US" altLang="zh-CN" sz="2200" dirty="0"/>
              <a:t>y4 = </a:t>
            </a:r>
            <a:r>
              <a:rPr lang="en-US" altLang="zh-CN" sz="2200" dirty="0" err="1"/>
              <a:t>fc_layer</a:t>
            </a:r>
            <a:r>
              <a:rPr lang="en-US" altLang="zh-CN" sz="2200" dirty="0"/>
              <a:t>(x4) #</a:t>
            </a:r>
            <a:r>
              <a:rPr lang="zh-CN" altLang="en-US" sz="2200" dirty="0"/>
              <a:t>执行时产生错误 </a:t>
            </a:r>
          </a:p>
        </p:txBody>
      </p:sp>
      <p:sp>
        <p:nvSpPr>
          <p:cNvPr id="7" name="文本框 6">
            <a:extLst>
              <a:ext uri="{FF2B5EF4-FFF2-40B4-BE49-F238E27FC236}">
                <a16:creationId xmlns:a16="http://schemas.microsoft.com/office/drawing/2014/main" id="{022C7A3B-E08F-99F3-6951-D0F2E2A367E9}"/>
              </a:ext>
            </a:extLst>
          </p:cNvPr>
          <p:cNvSpPr txBox="1"/>
          <p:nvPr/>
        </p:nvSpPr>
        <p:spPr>
          <a:xfrm>
            <a:off x="6286501" y="1797812"/>
            <a:ext cx="5975839" cy="4154984"/>
          </a:xfrm>
          <a:prstGeom prst="rect">
            <a:avLst/>
          </a:prstGeom>
          <a:noFill/>
        </p:spPr>
        <p:txBody>
          <a:bodyPr wrap="square">
            <a:spAutoFit/>
          </a:bodyPr>
          <a:lstStyle/>
          <a:p>
            <a:r>
              <a:rPr lang="en-US" altLang="zh-CN" sz="2200" dirty="0">
                <a:solidFill>
                  <a:srgbClr val="00B050"/>
                </a:solidFill>
              </a:rPr>
              <a:t>x1 = </a:t>
            </a:r>
            <a:r>
              <a:rPr lang="en-US" altLang="zh-CN" sz="2200" dirty="0" err="1">
                <a:solidFill>
                  <a:srgbClr val="00B050"/>
                </a:solidFill>
              </a:rPr>
              <a:t>torch.randn</a:t>
            </a:r>
            <a:r>
              <a:rPr lang="en-US" altLang="zh-CN" sz="2200" dirty="0">
                <a:solidFill>
                  <a:srgbClr val="00B050"/>
                </a:solidFill>
              </a:rPr>
              <a:t>(32,30)</a:t>
            </a:r>
          </a:p>
          <a:p>
            <a:r>
              <a:rPr lang="en-US" altLang="zh-CN" sz="2200" dirty="0">
                <a:solidFill>
                  <a:srgbClr val="00B050"/>
                </a:solidFill>
              </a:rPr>
              <a:t>y1 = </a:t>
            </a:r>
            <a:r>
              <a:rPr lang="en-US" altLang="zh-CN" sz="2200" dirty="0" err="1">
                <a:solidFill>
                  <a:srgbClr val="00B050"/>
                </a:solidFill>
              </a:rPr>
              <a:t>fc_layer</a:t>
            </a:r>
            <a:r>
              <a:rPr lang="en-US" altLang="zh-CN" sz="2200" dirty="0">
                <a:solidFill>
                  <a:srgbClr val="00B050"/>
                </a:solidFill>
              </a:rPr>
              <a:t>(x1) # </a:t>
            </a:r>
            <a:r>
              <a:rPr lang="en-US" altLang="zh-CN" sz="2200" dirty="0" err="1">
                <a:solidFill>
                  <a:srgbClr val="00B050"/>
                </a:solidFill>
              </a:rPr>
              <a:t>torch.Size</a:t>
            </a:r>
            <a:r>
              <a:rPr lang="en-US" altLang="zh-CN" sz="2200" dirty="0">
                <a:solidFill>
                  <a:srgbClr val="00B050"/>
                </a:solidFill>
              </a:rPr>
              <a:t>([32, 30]) ---&gt; </a:t>
            </a:r>
            <a:r>
              <a:rPr lang="en-US" altLang="zh-CN" sz="2200" dirty="0" err="1">
                <a:solidFill>
                  <a:srgbClr val="00B050"/>
                </a:solidFill>
              </a:rPr>
              <a:t>torch.Size</a:t>
            </a:r>
            <a:r>
              <a:rPr lang="en-US" altLang="zh-CN" sz="2200" dirty="0">
                <a:solidFill>
                  <a:srgbClr val="00B050"/>
                </a:solidFill>
              </a:rPr>
              <a:t>([32, 50])</a:t>
            </a:r>
          </a:p>
          <a:p>
            <a:r>
              <a:rPr lang="en-US" altLang="zh-CN" sz="2200" dirty="0">
                <a:solidFill>
                  <a:srgbClr val="00B050"/>
                </a:solidFill>
              </a:rPr>
              <a:t>x2 = </a:t>
            </a:r>
            <a:r>
              <a:rPr lang="en-US" altLang="zh-CN" sz="2200" dirty="0" err="1">
                <a:solidFill>
                  <a:srgbClr val="00B050"/>
                </a:solidFill>
              </a:rPr>
              <a:t>torch.randn</a:t>
            </a:r>
            <a:r>
              <a:rPr lang="en-US" altLang="zh-CN" sz="2200" dirty="0">
                <a:solidFill>
                  <a:srgbClr val="00B050"/>
                </a:solidFill>
              </a:rPr>
              <a:t>(32,5,30)</a:t>
            </a:r>
          </a:p>
          <a:p>
            <a:r>
              <a:rPr lang="en-US" altLang="zh-CN" sz="2200" dirty="0">
                <a:solidFill>
                  <a:srgbClr val="00B050"/>
                </a:solidFill>
              </a:rPr>
              <a:t>y2 = </a:t>
            </a:r>
            <a:r>
              <a:rPr lang="en-US" altLang="zh-CN" sz="2200" dirty="0" err="1">
                <a:solidFill>
                  <a:srgbClr val="00B050"/>
                </a:solidFill>
              </a:rPr>
              <a:t>fc_layer</a:t>
            </a:r>
            <a:r>
              <a:rPr lang="en-US" altLang="zh-CN" sz="2200" dirty="0">
                <a:solidFill>
                  <a:srgbClr val="00B050"/>
                </a:solidFill>
              </a:rPr>
              <a:t>(x2) # </a:t>
            </a:r>
            <a:r>
              <a:rPr lang="en-US" altLang="zh-CN" sz="2200" dirty="0" err="1">
                <a:solidFill>
                  <a:srgbClr val="00B050"/>
                </a:solidFill>
              </a:rPr>
              <a:t>torch.Size</a:t>
            </a:r>
            <a:r>
              <a:rPr lang="en-US" altLang="zh-CN" sz="2200" dirty="0">
                <a:solidFill>
                  <a:srgbClr val="00B050"/>
                </a:solidFill>
              </a:rPr>
              <a:t>([32, 5, 30]) ---&gt; </a:t>
            </a:r>
            <a:r>
              <a:rPr lang="en-US" altLang="zh-CN" sz="2200" dirty="0" err="1">
                <a:solidFill>
                  <a:srgbClr val="00B050"/>
                </a:solidFill>
              </a:rPr>
              <a:t>torch.Size</a:t>
            </a:r>
            <a:r>
              <a:rPr lang="en-US" altLang="zh-CN" sz="2200" dirty="0">
                <a:solidFill>
                  <a:srgbClr val="00B050"/>
                </a:solidFill>
              </a:rPr>
              <a:t>([32, 5, 50])</a:t>
            </a:r>
          </a:p>
          <a:p>
            <a:r>
              <a:rPr lang="en-US" altLang="zh-CN" sz="2200" dirty="0">
                <a:solidFill>
                  <a:srgbClr val="00B050"/>
                </a:solidFill>
              </a:rPr>
              <a:t>x3 = </a:t>
            </a:r>
            <a:r>
              <a:rPr lang="en-US" altLang="zh-CN" sz="2200" dirty="0" err="1">
                <a:solidFill>
                  <a:srgbClr val="00B050"/>
                </a:solidFill>
              </a:rPr>
              <a:t>torch.randn</a:t>
            </a:r>
            <a:r>
              <a:rPr lang="en-US" altLang="zh-CN" sz="2200" dirty="0">
                <a:solidFill>
                  <a:srgbClr val="00B050"/>
                </a:solidFill>
              </a:rPr>
              <a:t>(1,2,3,30)</a:t>
            </a:r>
          </a:p>
          <a:p>
            <a:r>
              <a:rPr lang="en-US" altLang="zh-CN" sz="2200" dirty="0">
                <a:solidFill>
                  <a:srgbClr val="00B050"/>
                </a:solidFill>
              </a:rPr>
              <a:t>y3 = </a:t>
            </a:r>
            <a:r>
              <a:rPr lang="en-US" altLang="zh-CN" sz="2200" dirty="0" err="1">
                <a:solidFill>
                  <a:srgbClr val="00B050"/>
                </a:solidFill>
              </a:rPr>
              <a:t>fc_layer</a:t>
            </a:r>
            <a:r>
              <a:rPr lang="en-US" altLang="zh-CN" sz="2200" dirty="0">
                <a:solidFill>
                  <a:srgbClr val="00B050"/>
                </a:solidFill>
              </a:rPr>
              <a:t>(x3) # </a:t>
            </a:r>
            <a:r>
              <a:rPr lang="en-US" altLang="zh-CN" sz="2200" dirty="0" err="1">
                <a:solidFill>
                  <a:srgbClr val="00B050"/>
                </a:solidFill>
              </a:rPr>
              <a:t>torch.Size</a:t>
            </a:r>
            <a:r>
              <a:rPr lang="en-US" altLang="zh-CN" sz="2200" dirty="0">
                <a:solidFill>
                  <a:srgbClr val="00B050"/>
                </a:solidFill>
              </a:rPr>
              <a:t>([1, 2, 3, 30]) ---&gt; </a:t>
            </a:r>
            <a:r>
              <a:rPr lang="en-US" altLang="zh-CN" sz="2200" dirty="0" err="1">
                <a:solidFill>
                  <a:srgbClr val="00B050"/>
                </a:solidFill>
              </a:rPr>
              <a:t>torch.Size</a:t>
            </a:r>
            <a:r>
              <a:rPr lang="en-US" altLang="zh-CN" sz="2200" dirty="0">
                <a:solidFill>
                  <a:srgbClr val="00B050"/>
                </a:solidFill>
              </a:rPr>
              <a:t>([1, 2, 3, 50])</a:t>
            </a:r>
          </a:p>
          <a:p>
            <a:r>
              <a:rPr lang="en-US" altLang="zh-CN" sz="2200" dirty="0">
                <a:solidFill>
                  <a:srgbClr val="00B050"/>
                </a:solidFill>
              </a:rPr>
              <a:t>x4 = </a:t>
            </a:r>
            <a:r>
              <a:rPr lang="en-US" altLang="zh-CN" sz="2200" dirty="0" err="1">
                <a:solidFill>
                  <a:srgbClr val="00B050"/>
                </a:solidFill>
              </a:rPr>
              <a:t>torch.randn</a:t>
            </a:r>
            <a:r>
              <a:rPr lang="en-US" altLang="zh-CN" sz="2200" dirty="0">
                <a:solidFill>
                  <a:srgbClr val="00B050"/>
                </a:solidFill>
              </a:rPr>
              <a:t>(32,5,15) #</a:t>
            </a:r>
            <a:r>
              <a:rPr lang="zh-CN" altLang="en-US" sz="2200" dirty="0">
                <a:solidFill>
                  <a:srgbClr val="00B050"/>
                </a:solidFill>
              </a:rPr>
              <a:t>不能被网络层 </a:t>
            </a:r>
            <a:r>
              <a:rPr lang="en-US" altLang="zh-CN" sz="2200" dirty="0" err="1">
                <a:solidFill>
                  <a:srgbClr val="00B050"/>
                </a:solidFill>
              </a:rPr>
              <a:t>fc_layer</a:t>
            </a:r>
            <a:r>
              <a:rPr lang="en-US" altLang="zh-CN" sz="2200" dirty="0">
                <a:solidFill>
                  <a:srgbClr val="00B050"/>
                </a:solidFill>
              </a:rPr>
              <a:t> </a:t>
            </a:r>
            <a:r>
              <a:rPr lang="zh-CN" altLang="en-US" sz="2200" dirty="0">
                <a:solidFill>
                  <a:srgbClr val="00B050"/>
                </a:solidFill>
              </a:rPr>
              <a:t>接收</a:t>
            </a:r>
          </a:p>
          <a:p>
            <a:r>
              <a:rPr lang="en-US" altLang="zh-CN" sz="2200" dirty="0">
                <a:solidFill>
                  <a:srgbClr val="00B050"/>
                </a:solidFill>
              </a:rPr>
              <a:t>y4 = </a:t>
            </a:r>
            <a:r>
              <a:rPr lang="en-US" altLang="zh-CN" sz="2200" dirty="0" err="1">
                <a:solidFill>
                  <a:srgbClr val="00B050"/>
                </a:solidFill>
              </a:rPr>
              <a:t>fc_layer</a:t>
            </a:r>
            <a:r>
              <a:rPr lang="en-US" altLang="zh-CN" sz="2200" dirty="0">
                <a:solidFill>
                  <a:srgbClr val="00B050"/>
                </a:solidFill>
              </a:rPr>
              <a:t>(x4) #</a:t>
            </a:r>
            <a:r>
              <a:rPr lang="zh-CN" altLang="en-US" sz="2200" dirty="0">
                <a:solidFill>
                  <a:srgbClr val="00B050"/>
                </a:solidFill>
              </a:rPr>
              <a:t>执行时产生错误 </a:t>
            </a:r>
          </a:p>
        </p:txBody>
      </p:sp>
    </p:spTree>
    <p:extLst>
      <p:ext uri="{BB962C8B-B14F-4D97-AF65-F5344CB8AC3E}">
        <p14:creationId xmlns:p14="http://schemas.microsoft.com/office/powerpoint/2010/main" val="228903200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3.2.2 </a:t>
            </a:r>
            <a:r>
              <a:rPr lang="zh-CN" altLang="en-US" sz="2800" b="1" dirty="0">
                <a:solidFill>
                  <a:srgbClr val="C00000"/>
                </a:solidFill>
              </a:rPr>
              <a:t>网络结构的实现</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1760200"/>
            <a:ext cx="6422420" cy="769441"/>
          </a:xfrm>
          <a:prstGeom prst="rect">
            <a:avLst/>
          </a:prstGeom>
          <a:noFill/>
        </p:spPr>
        <p:txBody>
          <a:bodyPr wrap="square" rtlCol="0">
            <a:spAutoFit/>
          </a:bodyPr>
          <a:lstStyle/>
          <a:p>
            <a:pPr>
              <a:spcBef>
                <a:spcPts val="600"/>
              </a:spcBef>
              <a:spcAft>
                <a:spcPts val="600"/>
              </a:spcAft>
            </a:pPr>
            <a:r>
              <a:rPr lang="en-US" altLang="zh-CN" sz="2200" b="1" dirty="0"/>
              <a:t>【</a:t>
            </a:r>
            <a:r>
              <a:rPr lang="zh-CN" altLang="en-US" sz="2200" b="1" dirty="0"/>
              <a:t>例 </a:t>
            </a:r>
            <a:r>
              <a:rPr lang="en-US" altLang="zh-CN" sz="2200" b="1" dirty="0"/>
              <a:t>3.2】</a:t>
            </a:r>
            <a:r>
              <a:rPr lang="zh-CN" altLang="en-US" sz="2200" dirty="0"/>
              <a:t>利用 </a:t>
            </a:r>
            <a:r>
              <a:rPr lang="en-US" altLang="zh-CN" sz="2200" b="1" dirty="0" err="1"/>
              <a:t>nn.Linear</a:t>
            </a:r>
            <a:r>
              <a:rPr lang="en-US" altLang="zh-CN" sz="2200" b="1" dirty="0"/>
              <a:t>()</a:t>
            </a:r>
            <a:r>
              <a:rPr lang="zh-CN" altLang="en-US" sz="2200" dirty="0"/>
              <a:t>函数，构建如图 </a:t>
            </a:r>
            <a:r>
              <a:rPr lang="en-US" altLang="zh-CN" sz="2200" dirty="0"/>
              <a:t>3-7 </a:t>
            </a:r>
            <a:r>
              <a:rPr lang="zh-CN" altLang="en-US" sz="2200" dirty="0"/>
              <a:t>所示的全连接神经网络。</a:t>
            </a:r>
          </a:p>
        </p:txBody>
      </p:sp>
      <p:pic>
        <p:nvPicPr>
          <p:cNvPr id="6" name="图片 5">
            <a:extLst>
              <a:ext uri="{FF2B5EF4-FFF2-40B4-BE49-F238E27FC236}">
                <a16:creationId xmlns:a16="http://schemas.microsoft.com/office/drawing/2014/main" id="{EFF0776D-92D8-1B08-62EA-977019C94AF6}"/>
              </a:ext>
            </a:extLst>
          </p:cNvPr>
          <p:cNvPicPr>
            <a:picLocks noChangeAspect="1"/>
          </p:cNvPicPr>
          <p:nvPr/>
        </p:nvPicPr>
        <p:blipFill>
          <a:blip r:embed="rId3"/>
          <a:stretch>
            <a:fillRect/>
          </a:stretch>
        </p:blipFill>
        <p:spPr>
          <a:xfrm>
            <a:off x="3174427" y="2285631"/>
            <a:ext cx="6795646" cy="4085458"/>
          </a:xfrm>
          <a:prstGeom prst="rect">
            <a:avLst/>
          </a:prstGeom>
        </p:spPr>
      </p:pic>
    </p:spTree>
    <p:extLst>
      <p:ext uri="{BB962C8B-B14F-4D97-AF65-F5344CB8AC3E}">
        <p14:creationId xmlns:p14="http://schemas.microsoft.com/office/powerpoint/2010/main" val="78470794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3.2.2 </a:t>
            </a:r>
            <a:r>
              <a:rPr lang="zh-CN" altLang="en-US" sz="2800" b="1" dirty="0">
                <a:solidFill>
                  <a:srgbClr val="C00000"/>
                </a:solidFill>
              </a:rPr>
              <a:t>网络结构的实现</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97126" y="2309268"/>
            <a:ext cx="5988668" cy="4093428"/>
          </a:xfrm>
          <a:prstGeom prst="rect">
            <a:avLst/>
          </a:prstGeom>
          <a:noFill/>
        </p:spPr>
        <p:txBody>
          <a:bodyPr wrap="square" rtlCol="0">
            <a:spAutoFit/>
          </a:bodyPr>
          <a:lstStyle/>
          <a:p>
            <a:pPr>
              <a:spcBef>
                <a:spcPts val="600"/>
              </a:spcBef>
              <a:spcAft>
                <a:spcPts val="600"/>
              </a:spcAft>
            </a:pPr>
            <a:r>
              <a:rPr lang="zh-CN" altLang="en-US" sz="2200" dirty="0"/>
              <a:t>显然，该网络是由 </a:t>
            </a:r>
            <a:r>
              <a:rPr lang="en-US" altLang="zh-CN" sz="2200" dirty="0"/>
              <a:t>4 </a:t>
            </a:r>
            <a:r>
              <a:rPr lang="zh-CN" altLang="en-US" sz="2200" dirty="0"/>
              <a:t>个</a:t>
            </a:r>
            <a:r>
              <a:rPr lang="zh-CN" altLang="en-US" sz="2200" b="1" dirty="0"/>
              <a:t>全连接网络层</a:t>
            </a:r>
            <a:r>
              <a:rPr lang="zh-CN" altLang="en-US" sz="2200" dirty="0"/>
              <a:t>组成，可通过右边的代码一来定义这些网络层。</a:t>
            </a:r>
            <a:endParaRPr lang="en-US" altLang="zh-CN" sz="2200" dirty="0"/>
          </a:p>
          <a:p>
            <a:pPr>
              <a:spcBef>
                <a:spcPts val="600"/>
              </a:spcBef>
              <a:spcAft>
                <a:spcPts val="600"/>
              </a:spcAft>
            </a:pPr>
            <a:endParaRPr lang="en-US" altLang="zh-CN" sz="2200" dirty="0"/>
          </a:p>
          <a:p>
            <a:pPr>
              <a:spcBef>
                <a:spcPts val="600"/>
              </a:spcBef>
              <a:spcAft>
                <a:spcPts val="600"/>
              </a:spcAft>
            </a:pPr>
            <a:r>
              <a:rPr lang="zh-CN" altLang="en-US" sz="2200" dirty="0"/>
              <a:t>代码一种四个语句分别用于构建图 </a:t>
            </a:r>
            <a:r>
              <a:rPr lang="en-US" altLang="zh-CN" sz="2200" dirty="0"/>
              <a:t>3-7 </a:t>
            </a:r>
            <a:r>
              <a:rPr lang="zh-CN" altLang="en-US" sz="2200" dirty="0"/>
              <a:t>中的第 </a:t>
            </a:r>
            <a:r>
              <a:rPr lang="en-US" altLang="zh-CN" sz="2200" dirty="0"/>
              <a:t>1 </a:t>
            </a:r>
            <a:r>
              <a:rPr lang="zh-CN" altLang="en-US" sz="2200" dirty="0"/>
              <a:t>层、第 </a:t>
            </a:r>
            <a:r>
              <a:rPr lang="en-US" altLang="zh-CN" sz="2200" dirty="0"/>
              <a:t>2 </a:t>
            </a:r>
            <a:r>
              <a:rPr lang="zh-CN" altLang="en-US" sz="2200" dirty="0"/>
              <a:t>层、第 </a:t>
            </a:r>
            <a:r>
              <a:rPr lang="en-US" altLang="zh-CN" sz="2200" dirty="0"/>
              <a:t>3 </a:t>
            </a:r>
            <a:r>
              <a:rPr lang="zh-CN" altLang="en-US" sz="2200" dirty="0"/>
              <a:t>层和第 </a:t>
            </a:r>
            <a:r>
              <a:rPr lang="en-US" altLang="zh-CN" sz="2200" dirty="0"/>
              <a:t>4 </a:t>
            </a:r>
            <a:r>
              <a:rPr lang="zh-CN" altLang="en-US" sz="2200" dirty="0"/>
              <a:t>层网络。但这些网络层是</a:t>
            </a:r>
            <a:r>
              <a:rPr lang="zh-CN" altLang="en-US" sz="2200" b="1" dirty="0"/>
              <a:t>独立</a:t>
            </a:r>
            <a:r>
              <a:rPr lang="zh-CN" altLang="en-US" sz="2200" dirty="0"/>
              <a:t>的，需要使用类似右边的代码二将它们“</a:t>
            </a:r>
            <a:r>
              <a:rPr lang="zh-CN" altLang="en-US" sz="2200" b="1" dirty="0"/>
              <a:t>连接</a:t>
            </a:r>
            <a:r>
              <a:rPr lang="zh-CN" altLang="en-US" sz="2200" dirty="0"/>
              <a:t>”起来（一般在 </a:t>
            </a:r>
            <a:r>
              <a:rPr lang="en-US" altLang="zh-CN" sz="2200" b="1" dirty="0"/>
              <a:t>forward()</a:t>
            </a:r>
            <a:r>
              <a:rPr lang="zh-CN" altLang="en-US" sz="2200" dirty="0"/>
              <a:t>方法中实现），形成逻辑上的网络：</a:t>
            </a:r>
          </a:p>
          <a:p>
            <a:pPr>
              <a:spcBef>
                <a:spcPts val="600"/>
              </a:spcBef>
              <a:spcAft>
                <a:spcPts val="600"/>
              </a:spcAft>
            </a:pPr>
            <a:endParaRPr lang="zh-CN" altLang="en-US" sz="2200" dirty="0"/>
          </a:p>
          <a:p>
            <a:pPr>
              <a:spcBef>
                <a:spcPts val="600"/>
              </a:spcBef>
              <a:spcAft>
                <a:spcPts val="600"/>
              </a:spcAft>
            </a:pPr>
            <a:endParaRPr lang="zh-CN" altLang="en-US" sz="2200" dirty="0"/>
          </a:p>
        </p:txBody>
      </p:sp>
      <p:sp>
        <p:nvSpPr>
          <p:cNvPr id="8" name="文本框 7">
            <a:extLst>
              <a:ext uri="{FF2B5EF4-FFF2-40B4-BE49-F238E27FC236}">
                <a16:creationId xmlns:a16="http://schemas.microsoft.com/office/drawing/2014/main" id="{E2D7D0BB-37E5-6CE0-10CE-705A7647CCB3}"/>
              </a:ext>
            </a:extLst>
          </p:cNvPr>
          <p:cNvSpPr txBox="1"/>
          <p:nvPr/>
        </p:nvSpPr>
        <p:spPr>
          <a:xfrm>
            <a:off x="6978893" y="1936720"/>
            <a:ext cx="6119446" cy="1785104"/>
          </a:xfrm>
          <a:prstGeom prst="rect">
            <a:avLst/>
          </a:prstGeom>
          <a:noFill/>
        </p:spPr>
        <p:txBody>
          <a:bodyPr wrap="square">
            <a:spAutoFit/>
          </a:bodyPr>
          <a:lstStyle/>
          <a:p>
            <a:r>
              <a:rPr lang="zh-CN" altLang="en-US" sz="2200" b="1" dirty="0"/>
              <a:t>代码一</a:t>
            </a:r>
            <a:r>
              <a:rPr lang="en-US" altLang="zh-CN" sz="2200" b="1" dirty="0"/>
              <a:t>:</a:t>
            </a:r>
          </a:p>
          <a:p>
            <a:r>
              <a:rPr lang="en-US" altLang="zh-CN" sz="2200" dirty="0">
                <a:solidFill>
                  <a:srgbClr val="00B050"/>
                </a:solidFill>
              </a:rPr>
              <a:t>self.fc1 = </a:t>
            </a:r>
            <a:r>
              <a:rPr lang="en-US" altLang="zh-CN" sz="2200" dirty="0" err="1">
                <a:solidFill>
                  <a:srgbClr val="00B050"/>
                </a:solidFill>
              </a:rPr>
              <a:t>nn.Linear</a:t>
            </a:r>
            <a:r>
              <a:rPr lang="en-US" altLang="zh-CN" sz="2200" dirty="0">
                <a:solidFill>
                  <a:srgbClr val="00B050"/>
                </a:solidFill>
              </a:rPr>
              <a:t>(4, 5)</a:t>
            </a:r>
          </a:p>
          <a:p>
            <a:r>
              <a:rPr lang="en-US" altLang="zh-CN" sz="2200" dirty="0">
                <a:solidFill>
                  <a:srgbClr val="00B050"/>
                </a:solidFill>
              </a:rPr>
              <a:t>self.fc2 = </a:t>
            </a:r>
            <a:r>
              <a:rPr lang="en-US" altLang="zh-CN" sz="2200" dirty="0" err="1">
                <a:solidFill>
                  <a:srgbClr val="00B050"/>
                </a:solidFill>
              </a:rPr>
              <a:t>nn.Linear</a:t>
            </a:r>
            <a:r>
              <a:rPr lang="en-US" altLang="zh-CN" sz="2200" dirty="0">
                <a:solidFill>
                  <a:srgbClr val="00B050"/>
                </a:solidFill>
              </a:rPr>
              <a:t>(5, 6)</a:t>
            </a:r>
          </a:p>
          <a:p>
            <a:r>
              <a:rPr lang="en-US" altLang="zh-CN" sz="2200" dirty="0">
                <a:solidFill>
                  <a:srgbClr val="00B050"/>
                </a:solidFill>
              </a:rPr>
              <a:t>self.fc3 = </a:t>
            </a:r>
            <a:r>
              <a:rPr lang="en-US" altLang="zh-CN" sz="2200" dirty="0" err="1">
                <a:solidFill>
                  <a:srgbClr val="00B050"/>
                </a:solidFill>
              </a:rPr>
              <a:t>nn.Linear</a:t>
            </a:r>
            <a:r>
              <a:rPr lang="en-US" altLang="zh-CN" sz="2200" dirty="0">
                <a:solidFill>
                  <a:srgbClr val="00B050"/>
                </a:solidFill>
              </a:rPr>
              <a:t>(6, 4)</a:t>
            </a:r>
          </a:p>
          <a:p>
            <a:r>
              <a:rPr lang="en-US" altLang="zh-CN" sz="2200" dirty="0">
                <a:solidFill>
                  <a:srgbClr val="00B050"/>
                </a:solidFill>
              </a:rPr>
              <a:t>self.fc4 = </a:t>
            </a:r>
            <a:r>
              <a:rPr lang="en-US" altLang="zh-CN" sz="2200" dirty="0" err="1">
                <a:solidFill>
                  <a:srgbClr val="00B050"/>
                </a:solidFill>
              </a:rPr>
              <a:t>nn.Linear</a:t>
            </a:r>
            <a:r>
              <a:rPr lang="en-US" altLang="zh-CN" sz="2200" dirty="0">
                <a:solidFill>
                  <a:srgbClr val="00B050"/>
                </a:solidFill>
              </a:rPr>
              <a:t>(4, 3) </a:t>
            </a:r>
            <a:endParaRPr lang="zh-CN" altLang="en-US" sz="2200" dirty="0">
              <a:solidFill>
                <a:srgbClr val="00B050"/>
              </a:solidFill>
            </a:endParaRPr>
          </a:p>
        </p:txBody>
      </p:sp>
      <p:sp>
        <p:nvSpPr>
          <p:cNvPr id="12" name="文本框 11">
            <a:extLst>
              <a:ext uri="{FF2B5EF4-FFF2-40B4-BE49-F238E27FC236}">
                <a16:creationId xmlns:a16="http://schemas.microsoft.com/office/drawing/2014/main" id="{56E9540B-7B36-D31F-EE20-64AD968AC8E7}"/>
              </a:ext>
            </a:extLst>
          </p:cNvPr>
          <p:cNvSpPr txBox="1"/>
          <p:nvPr/>
        </p:nvSpPr>
        <p:spPr>
          <a:xfrm>
            <a:off x="6978893" y="3878024"/>
            <a:ext cx="6396404" cy="1785104"/>
          </a:xfrm>
          <a:prstGeom prst="rect">
            <a:avLst/>
          </a:prstGeom>
          <a:noFill/>
        </p:spPr>
        <p:txBody>
          <a:bodyPr wrap="square">
            <a:spAutoFit/>
          </a:bodyPr>
          <a:lstStyle/>
          <a:p>
            <a:r>
              <a:rPr lang="zh-CN" altLang="en-US" sz="2200" b="1" dirty="0"/>
              <a:t>代码二</a:t>
            </a:r>
            <a:r>
              <a:rPr lang="en-US" altLang="zh-CN" sz="2200" b="1" dirty="0"/>
              <a:t>:</a:t>
            </a:r>
          </a:p>
          <a:p>
            <a:r>
              <a:rPr lang="en-US" altLang="zh-CN" sz="2200" dirty="0">
                <a:solidFill>
                  <a:srgbClr val="00B050"/>
                </a:solidFill>
              </a:rPr>
              <a:t>out = self.fc1(x)</a:t>
            </a:r>
          </a:p>
          <a:p>
            <a:r>
              <a:rPr lang="en-US" altLang="zh-CN" sz="2200" dirty="0">
                <a:solidFill>
                  <a:srgbClr val="00B050"/>
                </a:solidFill>
              </a:rPr>
              <a:t>out = self.fc2(out)</a:t>
            </a:r>
          </a:p>
          <a:p>
            <a:r>
              <a:rPr lang="en-US" altLang="zh-CN" sz="2200" dirty="0">
                <a:solidFill>
                  <a:srgbClr val="00B050"/>
                </a:solidFill>
              </a:rPr>
              <a:t>out = self.fc3(out)</a:t>
            </a:r>
          </a:p>
          <a:p>
            <a:r>
              <a:rPr lang="en-US" altLang="zh-CN" sz="2200" dirty="0">
                <a:solidFill>
                  <a:srgbClr val="00B050"/>
                </a:solidFill>
              </a:rPr>
              <a:t>out = self.fc4(out)</a:t>
            </a:r>
            <a:endParaRPr lang="zh-CN" altLang="en-US" sz="2200" dirty="0">
              <a:solidFill>
                <a:srgbClr val="00B050"/>
              </a:solidFill>
            </a:endParaRPr>
          </a:p>
        </p:txBody>
      </p:sp>
    </p:spTree>
    <p:extLst>
      <p:ext uri="{BB962C8B-B14F-4D97-AF65-F5344CB8AC3E}">
        <p14:creationId xmlns:p14="http://schemas.microsoft.com/office/powerpoint/2010/main" val="3071757397"/>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3.2.2 </a:t>
            </a:r>
            <a:r>
              <a:rPr lang="zh-CN" altLang="en-US" sz="2800" b="1" dirty="0">
                <a:solidFill>
                  <a:srgbClr val="C00000"/>
                </a:solidFill>
              </a:rPr>
              <a:t>网络结构的实现</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335805" y="1869191"/>
            <a:ext cx="12093459" cy="1415772"/>
          </a:xfrm>
          <a:prstGeom prst="rect">
            <a:avLst/>
          </a:prstGeom>
          <a:noFill/>
        </p:spPr>
        <p:txBody>
          <a:bodyPr wrap="square" rtlCol="0">
            <a:spAutoFit/>
          </a:bodyPr>
          <a:lstStyle/>
          <a:p>
            <a:pPr>
              <a:spcBef>
                <a:spcPts val="600"/>
              </a:spcBef>
              <a:spcAft>
                <a:spcPts val="600"/>
              </a:spcAft>
            </a:pPr>
            <a:r>
              <a:rPr lang="zh-CN" altLang="en-US" sz="2200" dirty="0"/>
              <a:t>但上述代码并未给相应神经元启用</a:t>
            </a:r>
            <a:r>
              <a:rPr lang="zh-CN" altLang="en-US" sz="2200" b="1" dirty="0"/>
              <a:t>激活函数</a:t>
            </a:r>
            <a:r>
              <a:rPr lang="zh-CN" altLang="en-US" sz="2200" dirty="0"/>
              <a:t>。如果希望设置 </a:t>
            </a:r>
            <a:r>
              <a:rPr lang="en-US" altLang="zh-CN" sz="2200" b="1" dirty="0"/>
              <a:t>tanh()</a:t>
            </a:r>
            <a:r>
              <a:rPr lang="zh-CN" altLang="en-US" sz="2200" b="1" dirty="0"/>
              <a:t>函数</a:t>
            </a:r>
            <a:r>
              <a:rPr lang="zh-CN" altLang="en-US" sz="2200" dirty="0"/>
              <a:t>为第 </a:t>
            </a:r>
            <a:r>
              <a:rPr lang="en-US" altLang="zh-CN" sz="2200" dirty="0"/>
              <a:t>1 </a:t>
            </a:r>
            <a:r>
              <a:rPr lang="zh-CN" altLang="en-US" sz="2200" dirty="0"/>
              <a:t>层神经元</a:t>
            </a:r>
          </a:p>
          <a:p>
            <a:pPr>
              <a:spcBef>
                <a:spcPts val="600"/>
              </a:spcBef>
              <a:spcAft>
                <a:spcPts val="600"/>
              </a:spcAft>
            </a:pPr>
            <a:r>
              <a:rPr lang="zh-CN" altLang="en-US" sz="2200" dirty="0"/>
              <a:t>的激活函数，</a:t>
            </a:r>
            <a:r>
              <a:rPr lang="en-US" altLang="zh-CN" sz="2200" b="1" dirty="0"/>
              <a:t>rule()</a:t>
            </a:r>
            <a:r>
              <a:rPr lang="zh-CN" altLang="en-US" sz="2200" b="1" dirty="0"/>
              <a:t>函数</a:t>
            </a:r>
            <a:r>
              <a:rPr lang="zh-CN" altLang="en-US" sz="2200" dirty="0"/>
              <a:t>为第 </a:t>
            </a:r>
            <a:r>
              <a:rPr lang="en-US" altLang="zh-CN" sz="2200" dirty="0"/>
              <a:t>2 </a:t>
            </a:r>
            <a:r>
              <a:rPr lang="zh-CN" altLang="en-US" sz="2200" dirty="0"/>
              <a:t>层神经元的激活函数，</a:t>
            </a:r>
            <a:r>
              <a:rPr lang="en-US" altLang="zh-CN" sz="2200" b="1" dirty="0"/>
              <a:t>sigmoid()</a:t>
            </a:r>
            <a:r>
              <a:rPr lang="zh-CN" altLang="en-US" sz="2200" b="1" dirty="0"/>
              <a:t>函数</a:t>
            </a:r>
            <a:r>
              <a:rPr lang="zh-CN" altLang="en-US" sz="2200" dirty="0"/>
              <a:t>为第 </a:t>
            </a:r>
            <a:r>
              <a:rPr lang="en-US" altLang="zh-CN" sz="2200" dirty="0"/>
              <a:t>3 </a:t>
            </a:r>
            <a:r>
              <a:rPr lang="zh-CN" altLang="en-US" sz="2200" dirty="0"/>
              <a:t>层神经元的激活</a:t>
            </a:r>
          </a:p>
          <a:p>
            <a:pPr>
              <a:spcBef>
                <a:spcPts val="600"/>
              </a:spcBef>
              <a:spcAft>
                <a:spcPts val="600"/>
              </a:spcAft>
            </a:pPr>
            <a:r>
              <a:rPr lang="zh-CN" altLang="en-US" sz="2200" dirty="0"/>
              <a:t>函数，则可以用下列代码来实现：</a:t>
            </a:r>
          </a:p>
        </p:txBody>
      </p:sp>
      <p:sp>
        <p:nvSpPr>
          <p:cNvPr id="7" name="文本框 6">
            <a:extLst>
              <a:ext uri="{FF2B5EF4-FFF2-40B4-BE49-F238E27FC236}">
                <a16:creationId xmlns:a16="http://schemas.microsoft.com/office/drawing/2014/main" id="{D1AAF199-21A3-1164-96C9-A163CFFB6FE1}"/>
              </a:ext>
            </a:extLst>
          </p:cNvPr>
          <p:cNvSpPr txBox="1"/>
          <p:nvPr/>
        </p:nvSpPr>
        <p:spPr>
          <a:xfrm>
            <a:off x="409202" y="3443225"/>
            <a:ext cx="6519135" cy="2462213"/>
          </a:xfrm>
          <a:prstGeom prst="rect">
            <a:avLst/>
          </a:prstGeom>
          <a:noFill/>
        </p:spPr>
        <p:txBody>
          <a:bodyPr wrap="square">
            <a:spAutoFit/>
          </a:bodyPr>
          <a:lstStyle/>
          <a:p>
            <a:r>
              <a:rPr lang="en-US" altLang="zh-CN" sz="2200" dirty="0">
                <a:solidFill>
                  <a:srgbClr val="00B050"/>
                </a:solidFill>
              </a:rPr>
              <a:t>out = self.fc1(x)</a:t>
            </a:r>
          </a:p>
          <a:p>
            <a:r>
              <a:rPr lang="en-US" altLang="zh-CN" sz="2200" dirty="0">
                <a:solidFill>
                  <a:srgbClr val="00B050"/>
                </a:solidFill>
              </a:rPr>
              <a:t>out = </a:t>
            </a:r>
            <a:r>
              <a:rPr lang="en-US" altLang="zh-CN" sz="2200" dirty="0" err="1">
                <a:solidFill>
                  <a:srgbClr val="00B050"/>
                </a:solidFill>
              </a:rPr>
              <a:t>torch.tanh</a:t>
            </a:r>
            <a:r>
              <a:rPr lang="en-US" altLang="zh-CN" sz="2200" dirty="0">
                <a:solidFill>
                  <a:srgbClr val="00B050"/>
                </a:solidFill>
              </a:rPr>
              <a:t>(out) #</a:t>
            </a:r>
            <a:r>
              <a:rPr lang="zh-CN" altLang="en-US" sz="2200" dirty="0">
                <a:solidFill>
                  <a:srgbClr val="00B050"/>
                </a:solidFill>
              </a:rPr>
              <a:t>以 </a:t>
            </a:r>
            <a:r>
              <a:rPr lang="en-US" altLang="zh-CN" sz="2200" dirty="0">
                <a:solidFill>
                  <a:srgbClr val="00B050"/>
                </a:solidFill>
              </a:rPr>
              <a:t>tanh()</a:t>
            </a:r>
            <a:r>
              <a:rPr lang="zh-CN" altLang="en-US" sz="2200" dirty="0">
                <a:solidFill>
                  <a:srgbClr val="00B050"/>
                </a:solidFill>
              </a:rPr>
              <a:t>函数为激活函数</a:t>
            </a:r>
          </a:p>
          <a:p>
            <a:r>
              <a:rPr lang="en-US" altLang="zh-CN" sz="2200" dirty="0">
                <a:solidFill>
                  <a:srgbClr val="00B050"/>
                </a:solidFill>
              </a:rPr>
              <a:t>out = self.fc2(out)</a:t>
            </a:r>
          </a:p>
          <a:p>
            <a:r>
              <a:rPr lang="en-US" altLang="zh-CN" sz="2200" dirty="0">
                <a:solidFill>
                  <a:srgbClr val="00B050"/>
                </a:solidFill>
              </a:rPr>
              <a:t>out = </a:t>
            </a:r>
            <a:r>
              <a:rPr lang="en-US" altLang="zh-CN" sz="2200" dirty="0" err="1">
                <a:solidFill>
                  <a:srgbClr val="00B050"/>
                </a:solidFill>
              </a:rPr>
              <a:t>torch.rule</a:t>
            </a:r>
            <a:r>
              <a:rPr lang="en-US" altLang="zh-CN" sz="2200" dirty="0">
                <a:solidFill>
                  <a:srgbClr val="00B050"/>
                </a:solidFill>
              </a:rPr>
              <a:t>(out) #</a:t>
            </a:r>
            <a:r>
              <a:rPr lang="zh-CN" altLang="en-US" sz="2200" dirty="0">
                <a:solidFill>
                  <a:srgbClr val="00B050"/>
                </a:solidFill>
              </a:rPr>
              <a:t>以 </a:t>
            </a:r>
            <a:r>
              <a:rPr lang="en-US" altLang="zh-CN" sz="2200" dirty="0">
                <a:solidFill>
                  <a:srgbClr val="00B050"/>
                </a:solidFill>
              </a:rPr>
              <a:t>rule()</a:t>
            </a:r>
            <a:r>
              <a:rPr lang="zh-CN" altLang="en-US" sz="2200" dirty="0">
                <a:solidFill>
                  <a:srgbClr val="00B050"/>
                </a:solidFill>
              </a:rPr>
              <a:t>函数为激活函数</a:t>
            </a:r>
          </a:p>
          <a:p>
            <a:r>
              <a:rPr lang="en-US" altLang="zh-CN" sz="2200" dirty="0">
                <a:solidFill>
                  <a:srgbClr val="00B050"/>
                </a:solidFill>
              </a:rPr>
              <a:t>out = self.fc3(out)</a:t>
            </a:r>
          </a:p>
          <a:p>
            <a:r>
              <a:rPr lang="en-US" altLang="zh-CN" sz="2200" dirty="0">
                <a:solidFill>
                  <a:srgbClr val="00B050"/>
                </a:solidFill>
              </a:rPr>
              <a:t>out = </a:t>
            </a:r>
            <a:r>
              <a:rPr lang="en-US" altLang="zh-CN" sz="2200" dirty="0" err="1">
                <a:solidFill>
                  <a:srgbClr val="00B050"/>
                </a:solidFill>
              </a:rPr>
              <a:t>torch.sigmoid</a:t>
            </a:r>
            <a:r>
              <a:rPr lang="en-US" altLang="zh-CN" sz="2200" dirty="0">
                <a:solidFill>
                  <a:srgbClr val="00B050"/>
                </a:solidFill>
              </a:rPr>
              <a:t>(out) #</a:t>
            </a:r>
            <a:r>
              <a:rPr lang="zh-CN" altLang="en-US" sz="2200" dirty="0">
                <a:solidFill>
                  <a:srgbClr val="00B050"/>
                </a:solidFill>
              </a:rPr>
              <a:t>以 </a:t>
            </a:r>
            <a:r>
              <a:rPr lang="en-US" altLang="zh-CN" sz="2200" dirty="0">
                <a:solidFill>
                  <a:srgbClr val="00B050"/>
                </a:solidFill>
              </a:rPr>
              <a:t>sigmoid()</a:t>
            </a:r>
            <a:r>
              <a:rPr lang="zh-CN" altLang="en-US" sz="2200" dirty="0">
                <a:solidFill>
                  <a:srgbClr val="00B050"/>
                </a:solidFill>
              </a:rPr>
              <a:t>函数为激活函数</a:t>
            </a:r>
          </a:p>
          <a:p>
            <a:r>
              <a:rPr lang="en-US" altLang="zh-CN" sz="2200" dirty="0">
                <a:solidFill>
                  <a:srgbClr val="00B050"/>
                </a:solidFill>
              </a:rPr>
              <a:t>out = self.fc4(out) </a:t>
            </a:r>
            <a:endParaRPr lang="zh-CN" altLang="en-US" sz="2200" dirty="0">
              <a:solidFill>
                <a:srgbClr val="00B050"/>
              </a:solidFill>
            </a:endParaRPr>
          </a:p>
        </p:txBody>
      </p:sp>
    </p:spTree>
    <p:extLst>
      <p:ext uri="{BB962C8B-B14F-4D97-AF65-F5344CB8AC3E}">
        <p14:creationId xmlns:p14="http://schemas.microsoft.com/office/powerpoint/2010/main" val="388807624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3.2.2 </a:t>
            </a:r>
            <a:r>
              <a:rPr lang="zh-CN" altLang="en-US" sz="2800" b="1" dirty="0">
                <a:solidFill>
                  <a:srgbClr val="C00000"/>
                </a:solidFill>
              </a:rPr>
              <a:t>网络结构的实现</a:t>
            </a:r>
            <a:endParaRPr lang="zh-CN" altLang="zh-CN" sz="2800" b="1" dirty="0">
              <a:solidFill>
                <a:srgbClr val="C00000"/>
              </a:solidFill>
            </a:endParaRPr>
          </a:p>
        </p:txBody>
      </p:sp>
      <p:sp>
        <p:nvSpPr>
          <p:cNvPr id="8" name="文本框 7">
            <a:extLst>
              <a:ext uri="{FF2B5EF4-FFF2-40B4-BE49-F238E27FC236}">
                <a16:creationId xmlns:a16="http://schemas.microsoft.com/office/drawing/2014/main" id="{33576327-B6D6-EBC4-D0DB-35D68A8A49DD}"/>
              </a:ext>
            </a:extLst>
          </p:cNvPr>
          <p:cNvSpPr txBox="1"/>
          <p:nvPr/>
        </p:nvSpPr>
        <p:spPr>
          <a:xfrm>
            <a:off x="555612" y="1780520"/>
            <a:ext cx="10513903" cy="4912114"/>
          </a:xfrm>
          <a:prstGeom prst="rect">
            <a:avLst/>
          </a:prstGeom>
          <a:noFill/>
        </p:spPr>
        <p:txBody>
          <a:bodyPr wrap="square">
            <a:spAutoFit/>
          </a:bodyPr>
          <a:lstStyle/>
          <a:p>
            <a:pPr>
              <a:lnSpc>
                <a:spcPct val="90000"/>
              </a:lnSpc>
            </a:pPr>
            <a:r>
              <a:rPr lang="en-US" altLang="zh-CN" sz="2200" dirty="0">
                <a:solidFill>
                  <a:srgbClr val="00B050"/>
                </a:solidFill>
              </a:rPr>
              <a:t>class </a:t>
            </a:r>
            <a:r>
              <a:rPr lang="en-US" altLang="zh-CN" sz="2200" dirty="0" err="1">
                <a:solidFill>
                  <a:srgbClr val="00B050"/>
                </a:solidFill>
              </a:rPr>
              <a:t>AFullNet</a:t>
            </a:r>
            <a:r>
              <a:rPr lang="en-US" altLang="zh-CN" sz="2200" dirty="0">
                <a:solidFill>
                  <a:srgbClr val="00B050"/>
                </a:solidFill>
              </a:rPr>
              <a:t>(</a:t>
            </a:r>
            <a:r>
              <a:rPr lang="en-US" altLang="zh-CN" sz="2200" dirty="0" err="1">
                <a:solidFill>
                  <a:srgbClr val="00B050"/>
                </a:solidFill>
              </a:rPr>
              <a:t>nn.Module</a:t>
            </a:r>
            <a:r>
              <a:rPr lang="en-US" altLang="zh-CN" sz="2200" dirty="0">
                <a:solidFill>
                  <a:srgbClr val="00B050"/>
                </a:solidFill>
              </a:rPr>
              <a:t>):</a:t>
            </a:r>
          </a:p>
          <a:p>
            <a:pPr>
              <a:lnSpc>
                <a:spcPct val="90000"/>
              </a:lnSpc>
            </a:pPr>
            <a:r>
              <a:rPr lang="en-US" altLang="zh-CN" sz="2200" dirty="0">
                <a:solidFill>
                  <a:srgbClr val="00B050"/>
                </a:solidFill>
              </a:rPr>
              <a:t> def __</a:t>
            </a:r>
            <a:r>
              <a:rPr lang="en-US" altLang="zh-CN" sz="2200" dirty="0" err="1">
                <a:solidFill>
                  <a:srgbClr val="00B050"/>
                </a:solidFill>
              </a:rPr>
              <a:t>init</a:t>
            </a:r>
            <a:r>
              <a:rPr lang="en-US" altLang="zh-CN" sz="2200" dirty="0">
                <a:solidFill>
                  <a:srgbClr val="00B050"/>
                </a:solidFill>
              </a:rPr>
              <a:t>__(self): #</a:t>
            </a:r>
            <a:r>
              <a:rPr lang="zh-CN" altLang="en-US" sz="2200" dirty="0">
                <a:solidFill>
                  <a:srgbClr val="00B050"/>
                </a:solidFill>
              </a:rPr>
              <a:t>在该函数中定义网络层</a:t>
            </a:r>
          </a:p>
          <a:p>
            <a:pPr>
              <a:lnSpc>
                <a:spcPct val="90000"/>
              </a:lnSpc>
            </a:pPr>
            <a:r>
              <a:rPr lang="zh-CN" altLang="en-US" sz="2200" dirty="0">
                <a:solidFill>
                  <a:srgbClr val="00B050"/>
                </a:solidFill>
              </a:rPr>
              <a:t> </a:t>
            </a:r>
            <a:r>
              <a:rPr lang="en-US" altLang="zh-CN" sz="2200" dirty="0">
                <a:solidFill>
                  <a:srgbClr val="00B050"/>
                </a:solidFill>
              </a:rPr>
              <a:t>super().__</a:t>
            </a:r>
            <a:r>
              <a:rPr lang="en-US" altLang="zh-CN" sz="2200" dirty="0" err="1">
                <a:solidFill>
                  <a:srgbClr val="00B050"/>
                </a:solidFill>
              </a:rPr>
              <a:t>init</a:t>
            </a:r>
            <a:r>
              <a:rPr lang="en-US" altLang="zh-CN" sz="2200" dirty="0">
                <a:solidFill>
                  <a:srgbClr val="00B050"/>
                </a:solidFill>
              </a:rPr>
              <a:t>__() </a:t>
            </a:r>
          </a:p>
          <a:p>
            <a:pPr>
              <a:lnSpc>
                <a:spcPct val="90000"/>
              </a:lnSpc>
            </a:pPr>
            <a:r>
              <a:rPr lang="en-US" altLang="zh-CN" sz="2200" dirty="0">
                <a:solidFill>
                  <a:srgbClr val="00B050"/>
                </a:solidFill>
              </a:rPr>
              <a:t>#</a:t>
            </a:r>
            <a:r>
              <a:rPr lang="zh-CN" altLang="en-US" sz="2200" dirty="0">
                <a:solidFill>
                  <a:srgbClr val="00B050"/>
                </a:solidFill>
              </a:rPr>
              <a:t>下面创建 </a:t>
            </a:r>
            <a:r>
              <a:rPr lang="en-US" altLang="zh-CN" sz="2200" dirty="0">
                <a:solidFill>
                  <a:srgbClr val="00B050"/>
                </a:solidFill>
              </a:rPr>
              <a:t>4 </a:t>
            </a:r>
            <a:r>
              <a:rPr lang="zh-CN" altLang="en-US" sz="2200" dirty="0">
                <a:solidFill>
                  <a:srgbClr val="00B050"/>
                </a:solidFill>
              </a:rPr>
              <a:t>个全连接网络层：</a:t>
            </a:r>
          </a:p>
          <a:p>
            <a:pPr>
              <a:lnSpc>
                <a:spcPct val="90000"/>
              </a:lnSpc>
            </a:pPr>
            <a:r>
              <a:rPr lang="zh-CN" altLang="en-US" sz="2200" dirty="0">
                <a:solidFill>
                  <a:srgbClr val="00B050"/>
                </a:solidFill>
              </a:rPr>
              <a:t> </a:t>
            </a:r>
            <a:r>
              <a:rPr lang="en-US" altLang="zh-CN" sz="2200" dirty="0">
                <a:solidFill>
                  <a:srgbClr val="00B050"/>
                </a:solidFill>
              </a:rPr>
              <a:t>self.fc1 = </a:t>
            </a:r>
            <a:r>
              <a:rPr lang="en-US" altLang="zh-CN" sz="2200" dirty="0" err="1">
                <a:solidFill>
                  <a:srgbClr val="00B050"/>
                </a:solidFill>
              </a:rPr>
              <a:t>nn.Linear</a:t>
            </a:r>
            <a:r>
              <a:rPr lang="en-US" altLang="zh-CN" sz="2200" dirty="0">
                <a:solidFill>
                  <a:srgbClr val="00B050"/>
                </a:solidFill>
              </a:rPr>
              <a:t>(4, 5) #</a:t>
            </a:r>
            <a:r>
              <a:rPr lang="zh-CN" altLang="en-US" sz="2200" dirty="0">
                <a:solidFill>
                  <a:srgbClr val="00B050"/>
                </a:solidFill>
              </a:rPr>
              <a:t>如果不设置偏置项</a:t>
            </a:r>
            <a:r>
              <a:rPr lang="en-US" altLang="zh-CN" sz="2200" dirty="0">
                <a:solidFill>
                  <a:srgbClr val="00B050"/>
                </a:solidFill>
              </a:rPr>
              <a:t>,</a:t>
            </a:r>
            <a:r>
              <a:rPr lang="zh-CN" altLang="en-US" sz="2200" dirty="0">
                <a:solidFill>
                  <a:srgbClr val="00B050"/>
                </a:solidFill>
              </a:rPr>
              <a:t>则添加 </a:t>
            </a:r>
            <a:r>
              <a:rPr lang="en-US" altLang="zh-CN" sz="2200" dirty="0">
                <a:solidFill>
                  <a:srgbClr val="00B050"/>
                </a:solidFill>
              </a:rPr>
              <a:t>bias=False </a:t>
            </a:r>
            <a:r>
              <a:rPr lang="zh-CN" altLang="en-US" sz="2200" dirty="0">
                <a:solidFill>
                  <a:srgbClr val="00B050"/>
                </a:solidFill>
              </a:rPr>
              <a:t>即可</a:t>
            </a:r>
            <a:r>
              <a:rPr lang="en-US" altLang="zh-CN" sz="2200" dirty="0">
                <a:solidFill>
                  <a:srgbClr val="00B050"/>
                </a:solidFill>
              </a:rPr>
              <a:t>,</a:t>
            </a:r>
            <a:r>
              <a:rPr lang="zh-CN" altLang="en-US" sz="2200" dirty="0">
                <a:solidFill>
                  <a:srgbClr val="00B050"/>
                </a:solidFill>
              </a:rPr>
              <a:t>下同</a:t>
            </a:r>
          </a:p>
          <a:p>
            <a:pPr>
              <a:lnSpc>
                <a:spcPct val="90000"/>
              </a:lnSpc>
            </a:pPr>
            <a:r>
              <a:rPr lang="zh-CN" altLang="en-US" sz="2200" dirty="0">
                <a:solidFill>
                  <a:srgbClr val="00B050"/>
                </a:solidFill>
              </a:rPr>
              <a:t> </a:t>
            </a:r>
            <a:r>
              <a:rPr lang="en-US" altLang="zh-CN" sz="2200" dirty="0">
                <a:solidFill>
                  <a:srgbClr val="00B050"/>
                </a:solidFill>
              </a:rPr>
              <a:t>self.fc2 = </a:t>
            </a:r>
            <a:r>
              <a:rPr lang="en-US" altLang="zh-CN" sz="2200" dirty="0" err="1">
                <a:solidFill>
                  <a:srgbClr val="00B050"/>
                </a:solidFill>
              </a:rPr>
              <a:t>nn.Linear</a:t>
            </a:r>
            <a:r>
              <a:rPr lang="en-US" altLang="zh-CN" sz="2200" dirty="0">
                <a:solidFill>
                  <a:srgbClr val="00B050"/>
                </a:solidFill>
              </a:rPr>
              <a:t>(5, 6)</a:t>
            </a:r>
          </a:p>
          <a:p>
            <a:pPr>
              <a:lnSpc>
                <a:spcPct val="90000"/>
              </a:lnSpc>
            </a:pPr>
            <a:r>
              <a:rPr lang="en-US" altLang="zh-CN" sz="2200" dirty="0">
                <a:solidFill>
                  <a:srgbClr val="00B050"/>
                </a:solidFill>
              </a:rPr>
              <a:t> self.fc3 = </a:t>
            </a:r>
            <a:r>
              <a:rPr lang="en-US" altLang="zh-CN" sz="2200" dirty="0" err="1">
                <a:solidFill>
                  <a:srgbClr val="00B050"/>
                </a:solidFill>
              </a:rPr>
              <a:t>nn.Linear</a:t>
            </a:r>
            <a:r>
              <a:rPr lang="en-US" altLang="zh-CN" sz="2200" dirty="0">
                <a:solidFill>
                  <a:srgbClr val="00B050"/>
                </a:solidFill>
              </a:rPr>
              <a:t>(6, 4)</a:t>
            </a:r>
          </a:p>
          <a:p>
            <a:pPr>
              <a:lnSpc>
                <a:spcPct val="90000"/>
              </a:lnSpc>
            </a:pPr>
            <a:r>
              <a:rPr lang="en-US" altLang="zh-CN" sz="2200" dirty="0">
                <a:solidFill>
                  <a:srgbClr val="00B050"/>
                </a:solidFill>
              </a:rPr>
              <a:t> self.fc4 = </a:t>
            </a:r>
            <a:r>
              <a:rPr lang="en-US" altLang="zh-CN" sz="2200" dirty="0" err="1">
                <a:solidFill>
                  <a:srgbClr val="00B050"/>
                </a:solidFill>
              </a:rPr>
              <a:t>nn.Linear</a:t>
            </a:r>
            <a:r>
              <a:rPr lang="en-US" altLang="zh-CN" sz="2200" dirty="0">
                <a:solidFill>
                  <a:srgbClr val="00B050"/>
                </a:solidFill>
              </a:rPr>
              <a:t>(4, 3)</a:t>
            </a:r>
          </a:p>
          <a:p>
            <a:pPr>
              <a:lnSpc>
                <a:spcPct val="90000"/>
              </a:lnSpc>
            </a:pPr>
            <a:r>
              <a:rPr lang="en-US" altLang="zh-CN" sz="2200" dirty="0">
                <a:solidFill>
                  <a:srgbClr val="00B050"/>
                </a:solidFill>
              </a:rPr>
              <a:t> def forward(self, x): #</a:t>
            </a:r>
            <a:r>
              <a:rPr lang="zh-CN" altLang="en-US" sz="2200" dirty="0">
                <a:solidFill>
                  <a:srgbClr val="00B050"/>
                </a:solidFill>
              </a:rPr>
              <a:t>在该方法中将各个网络层连接起来</a:t>
            </a:r>
            <a:r>
              <a:rPr lang="en-US" altLang="zh-CN" sz="2200" dirty="0">
                <a:solidFill>
                  <a:srgbClr val="00B050"/>
                </a:solidFill>
              </a:rPr>
              <a:t>,</a:t>
            </a:r>
            <a:r>
              <a:rPr lang="zh-CN" altLang="en-US" sz="2200" dirty="0">
                <a:solidFill>
                  <a:srgbClr val="00B050"/>
                </a:solidFill>
              </a:rPr>
              <a:t>构成一个完整的网络</a:t>
            </a:r>
          </a:p>
          <a:p>
            <a:pPr>
              <a:lnSpc>
                <a:spcPct val="90000"/>
              </a:lnSpc>
            </a:pPr>
            <a:r>
              <a:rPr lang="zh-CN" altLang="en-US" sz="2200" dirty="0">
                <a:solidFill>
                  <a:srgbClr val="00B050"/>
                </a:solidFill>
              </a:rPr>
              <a:t> </a:t>
            </a:r>
            <a:r>
              <a:rPr lang="en-US" altLang="zh-CN" sz="2200" dirty="0">
                <a:solidFill>
                  <a:srgbClr val="00B050"/>
                </a:solidFill>
              </a:rPr>
              <a:t>out = sef.fc1(x)</a:t>
            </a:r>
          </a:p>
          <a:p>
            <a:pPr>
              <a:lnSpc>
                <a:spcPct val="90000"/>
              </a:lnSpc>
            </a:pPr>
            <a:r>
              <a:rPr lang="en-US" altLang="zh-CN" sz="2200" dirty="0">
                <a:solidFill>
                  <a:srgbClr val="00B050"/>
                </a:solidFill>
              </a:rPr>
              <a:t> out = self.fc2(out)</a:t>
            </a:r>
          </a:p>
          <a:p>
            <a:pPr>
              <a:lnSpc>
                <a:spcPct val="90000"/>
              </a:lnSpc>
            </a:pPr>
            <a:r>
              <a:rPr lang="en-US" altLang="zh-CN" sz="2200" dirty="0">
                <a:solidFill>
                  <a:srgbClr val="00B050"/>
                </a:solidFill>
              </a:rPr>
              <a:t> out = self.fc3(out)</a:t>
            </a:r>
          </a:p>
          <a:p>
            <a:pPr>
              <a:lnSpc>
                <a:spcPct val="90000"/>
              </a:lnSpc>
            </a:pPr>
            <a:r>
              <a:rPr lang="en-US" altLang="zh-CN" sz="2200" dirty="0">
                <a:solidFill>
                  <a:srgbClr val="00B050"/>
                </a:solidFill>
              </a:rPr>
              <a:t>l out = self.fc4(out)</a:t>
            </a:r>
          </a:p>
          <a:p>
            <a:pPr>
              <a:lnSpc>
                <a:spcPct val="90000"/>
              </a:lnSpc>
            </a:pPr>
            <a:r>
              <a:rPr lang="en-US" altLang="zh-CN" sz="2200" dirty="0">
                <a:solidFill>
                  <a:srgbClr val="00B050"/>
                </a:solidFill>
              </a:rPr>
              <a:t> return out</a:t>
            </a:r>
          </a:p>
          <a:p>
            <a:r>
              <a:rPr lang="zh-CN" altLang="en-US" b="1" dirty="0"/>
              <a:t>该程序的核心代码（全部代码见教材</a:t>
            </a:r>
            <a:r>
              <a:rPr lang="en-US" altLang="zh-CN" b="1" dirty="0" err="1"/>
              <a:t>P61</a:t>
            </a:r>
            <a:r>
              <a:rPr lang="zh-CN" altLang="en-US" b="1" dirty="0"/>
              <a:t>）</a:t>
            </a:r>
          </a:p>
          <a:p>
            <a:endParaRPr lang="zh-CN" altLang="en-US" dirty="0">
              <a:solidFill>
                <a:srgbClr val="00B050"/>
              </a:solidFill>
            </a:endParaRPr>
          </a:p>
        </p:txBody>
      </p:sp>
    </p:spTree>
    <p:extLst>
      <p:ext uri="{BB962C8B-B14F-4D97-AF65-F5344CB8AC3E}">
        <p14:creationId xmlns:p14="http://schemas.microsoft.com/office/powerpoint/2010/main" val="267909556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3.2.2 </a:t>
            </a:r>
            <a:r>
              <a:rPr lang="zh-CN" altLang="en-US" sz="2800" b="1" dirty="0">
                <a:solidFill>
                  <a:srgbClr val="C00000"/>
                </a:solidFill>
              </a:rPr>
              <a:t>网络结构的实现</a:t>
            </a:r>
            <a:endParaRPr lang="zh-CN" altLang="zh-CN" sz="2800" b="1" dirty="0">
              <a:solidFill>
                <a:srgbClr val="C00000"/>
              </a:solidFill>
            </a:endParaRPr>
          </a:p>
        </p:txBody>
      </p:sp>
      <p:sp>
        <p:nvSpPr>
          <p:cNvPr id="6" name="文本框 5">
            <a:extLst>
              <a:ext uri="{FF2B5EF4-FFF2-40B4-BE49-F238E27FC236}">
                <a16:creationId xmlns:a16="http://schemas.microsoft.com/office/drawing/2014/main" id="{1BFA96C5-38D8-4EEF-F20E-39B09F46E1F9}"/>
              </a:ext>
            </a:extLst>
          </p:cNvPr>
          <p:cNvSpPr txBox="1"/>
          <p:nvPr/>
        </p:nvSpPr>
        <p:spPr>
          <a:xfrm>
            <a:off x="523990" y="1811160"/>
            <a:ext cx="10111153" cy="2462213"/>
          </a:xfrm>
          <a:prstGeom prst="rect">
            <a:avLst/>
          </a:prstGeom>
          <a:noFill/>
        </p:spPr>
        <p:txBody>
          <a:bodyPr wrap="square">
            <a:spAutoFit/>
          </a:bodyPr>
          <a:lstStyle/>
          <a:p>
            <a:r>
              <a:rPr lang="zh-CN" altLang="en-US" sz="2200" dirty="0"/>
              <a:t>按照前面介绍的参数量计算方法，该网络的参数量为：</a:t>
            </a:r>
            <a:endParaRPr lang="en-US" altLang="zh-CN" sz="2200" dirty="0"/>
          </a:p>
          <a:p>
            <a:r>
              <a:rPr lang="zh-CN" altLang="en-US" sz="2200" dirty="0"/>
              <a:t> </a:t>
            </a:r>
            <a:r>
              <a:rPr lang="en-US" altLang="zh-CN" sz="2200" dirty="0"/>
              <a:t>(4*5+5)+ (5*6+6) + (6*4+4) +(4*3+3)=104</a:t>
            </a:r>
            <a:r>
              <a:rPr lang="zh-CN" altLang="en-US" sz="2200" dirty="0"/>
              <a:t>，</a:t>
            </a:r>
            <a:endParaRPr lang="en-US" altLang="zh-CN" sz="2200" dirty="0"/>
          </a:p>
          <a:p>
            <a:r>
              <a:rPr lang="zh-CN" altLang="en-US" sz="2200" dirty="0"/>
              <a:t>这与运行结果是一致的。</a:t>
            </a:r>
            <a:endParaRPr lang="en-US" altLang="zh-CN" sz="2200" dirty="0"/>
          </a:p>
          <a:p>
            <a:r>
              <a:rPr lang="zh-CN" altLang="en-US" sz="2200" dirty="0"/>
              <a:t>这从一个侧面反映我们创建的全连接网络是正确的。</a:t>
            </a:r>
            <a:endParaRPr lang="en-US" altLang="zh-CN" sz="2200" dirty="0"/>
          </a:p>
          <a:p>
            <a:endParaRPr lang="en-US" altLang="zh-CN" sz="2200" dirty="0"/>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srgbClr val="00B050"/>
                </a:solidFill>
                <a:effectLst/>
                <a:uLnTx/>
                <a:uFillTx/>
                <a:latin typeface="Calibri" panose="020F0502020204030204"/>
                <a:ea typeface="等线" panose="02010600030101010101" pitchFamily="2" charset="-122"/>
                <a:cs typeface="+mn-cs"/>
              </a:rPr>
              <a:t>print('</a:t>
            </a:r>
            <a:r>
              <a:rPr kumimoji="0" lang="zh-CN" altLang="en-US" sz="2200" b="0" i="0" u="none" strike="noStrike" kern="1200" cap="none" spc="0" normalizeH="0" baseline="0" noProof="0" dirty="0">
                <a:ln>
                  <a:noFill/>
                </a:ln>
                <a:solidFill>
                  <a:srgbClr val="00B050"/>
                </a:solidFill>
                <a:effectLst/>
                <a:uLnTx/>
                <a:uFillTx/>
                <a:latin typeface="Calibri" panose="020F0502020204030204"/>
                <a:ea typeface="等线" panose="02010600030101010101" pitchFamily="2" charset="-122"/>
                <a:cs typeface="+mn-cs"/>
              </a:rPr>
              <a:t>该网络参数总量：</a:t>
            </a:r>
            <a:r>
              <a:rPr kumimoji="0" lang="en-US" altLang="zh-CN" sz="2200" b="0" i="0" u="none" strike="noStrike" kern="1200" cap="none" spc="0" normalizeH="0" baseline="0" noProof="0" dirty="0">
                <a:ln>
                  <a:noFill/>
                </a:ln>
                <a:solidFill>
                  <a:srgbClr val="00B050"/>
                </a:solidFill>
                <a:effectLst/>
                <a:uLnTx/>
                <a:uFillTx/>
                <a:latin typeface="Calibri" panose="020F0502020204030204"/>
                <a:ea typeface="等线" panose="02010600030101010101" pitchFamily="2" charset="-122"/>
                <a:cs typeface="+mn-cs"/>
              </a:rPr>
              <a:t>%</a:t>
            </a:r>
            <a:r>
              <a:rPr kumimoji="0" lang="en-US" altLang="zh-CN" sz="2200" b="0" i="0" u="none" strike="noStrike" kern="1200" cap="none" spc="0" normalizeH="0" baseline="0" noProof="0" dirty="0" err="1">
                <a:ln>
                  <a:noFill/>
                </a:ln>
                <a:solidFill>
                  <a:srgbClr val="00B050"/>
                </a:solidFill>
                <a:effectLst/>
                <a:uLnTx/>
                <a:uFillTx/>
                <a:latin typeface="Calibri" panose="020F0502020204030204"/>
                <a:ea typeface="等线" panose="02010600030101010101" pitchFamily="2" charset="-122"/>
                <a:cs typeface="+mn-cs"/>
              </a:rPr>
              <a:t>d'%sum</a:t>
            </a:r>
            <a:r>
              <a:rPr kumimoji="0" lang="en-US" altLang="zh-CN" sz="2200" b="0" i="0" u="none" strike="noStrike" kern="1200" cap="none" spc="0" normalizeH="0" baseline="0" noProof="0" dirty="0">
                <a:ln>
                  <a:noFill/>
                </a:ln>
                <a:solidFill>
                  <a:srgbClr val="00B050"/>
                </a:solidFill>
                <a:effectLst/>
                <a:uLnTx/>
                <a:uFillTx/>
                <a:latin typeface="Calibri" panose="020F0502020204030204"/>
                <a:ea typeface="等线" panose="02010600030101010101" pitchFamily="2" charset="-122"/>
                <a:cs typeface="+mn-cs"/>
              </a:rPr>
              <a:t>) </a:t>
            </a:r>
          </a:p>
          <a:p>
            <a:endParaRPr lang="zh-CN" altLang="en-US" sz="2200" dirty="0"/>
          </a:p>
        </p:txBody>
      </p:sp>
      <p:pic>
        <p:nvPicPr>
          <p:cNvPr id="10" name="图片 9">
            <a:extLst>
              <a:ext uri="{FF2B5EF4-FFF2-40B4-BE49-F238E27FC236}">
                <a16:creationId xmlns:a16="http://schemas.microsoft.com/office/drawing/2014/main" id="{41A5DFDB-8178-CED3-E40B-BD297CE5C611}"/>
              </a:ext>
            </a:extLst>
          </p:cNvPr>
          <p:cNvPicPr>
            <a:picLocks noChangeAspect="1"/>
          </p:cNvPicPr>
          <p:nvPr/>
        </p:nvPicPr>
        <p:blipFill>
          <a:blip r:embed="rId3"/>
          <a:stretch>
            <a:fillRect/>
          </a:stretch>
        </p:blipFill>
        <p:spPr>
          <a:xfrm>
            <a:off x="523990" y="5235897"/>
            <a:ext cx="9487722" cy="563929"/>
          </a:xfrm>
          <a:prstGeom prst="rect">
            <a:avLst/>
          </a:prstGeom>
        </p:spPr>
      </p:pic>
      <p:sp>
        <p:nvSpPr>
          <p:cNvPr id="2" name="箭头: 下 1">
            <a:extLst>
              <a:ext uri="{FF2B5EF4-FFF2-40B4-BE49-F238E27FC236}">
                <a16:creationId xmlns:a16="http://schemas.microsoft.com/office/drawing/2014/main" id="{781F0F49-DABD-8B0E-0073-AD7705F00E96}"/>
              </a:ext>
            </a:extLst>
          </p:cNvPr>
          <p:cNvSpPr/>
          <p:nvPr/>
        </p:nvSpPr>
        <p:spPr>
          <a:xfrm>
            <a:off x="2760784" y="4066521"/>
            <a:ext cx="668215" cy="888023"/>
          </a:xfrm>
          <a:prstGeom prst="downArrow">
            <a:avLst>
              <a:gd name="adj1" fmla="val 34211"/>
              <a:gd name="adj2" fmla="val 52631"/>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98704858"/>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3.2 </a:t>
            </a:r>
            <a:r>
              <a:rPr lang="zh-CN" altLang="en-US" sz="3200" b="1" dirty="0">
                <a:solidFill>
                  <a:prstClr val="white"/>
                </a:solidFill>
                <a:latin typeface="微软雅黑" panose="020B0503020204020204" pitchFamily="34" charset="-122"/>
                <a:ea typeface="微软雅黑" panose="020B0503020204020204" pitchFamily="34" charset="-122"/>
              </a:rPr>
              <a:t>全连接神经网络的构造方法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3.2.3 </a:t>
            </a:r>
            <a:r>
              <a:rPr lang="zh-CN" altLang="en-US" sz="2800" b="1" dirty="0">
                <a:solidFill>
                  <a:srgbClr val="C00000"/>
                </a:solidFill>
              </a:rPr>
              <a:t>从网络结构判断网络的功能</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3FD19DC2-30B7-4737-AF6B-4C953CDEC652}"/>
              </a:ext>
            </a:extLst>
          </p:cNvPr>
          <p:cNvSpPr txBox="1"/>
          <p:nvPr/>
        </p:nvSpPr>
        <p:spPr>
          <a:xfrm>
            <a:off x="409203" y="2006384"/>
            <a:ext cx="11117512" cy="3477875"/>
          </a:xfrm>
          <a:prstGeom prst="rect">
            <a:avLst/>
          </a:prstGeom>
          <a:noFill/>
        </p:spPr>
        <p:txBody>
          <a:bodyPr wrap="square" rtlCol="0">
            <a:spAutoFit/>
          </a:bodyPr>
          <a:lstStyle/>
          <a:p>
            <a:pPr>
              <a:spcBef>
                <a:spcPts val="600"/>
              </a:spcBef>
              <a:spcAft>
                <a:spcPts val="600"/>
              </a:spcAft>
            </a:pPr>
            <a:r>
              <a:rPr lang="zh-CN" altLang="en-US" sz="2200" dirty="0"/>
              <a:t>对于给定的一个</a:t>
            </a:r>
            <a:r>
              <a:rPr lang="zh-CN" altLang="en-US" sz="2200" b="1" dirty="0"/>
              <a:t>全连接神经网络</a:t>
            </a:r>
            <a:r>
              <a:rPr lang="zh-CN" altLang="en-US" sz="2200" dirty="0"/>
              <a:t>，不管它的结构是简单的还是复杂的，从其输入节点和 输出节点的数量就可以大致判断其基本特点和功能。 </a:t>
            </a:r>
            <a:r>
              <a:rPr lang="zh-CN" altLang="en-US" sz="2200" b="1" dirty="0"/>
              <a:t>输入节点</a:t>
            </a:r>
            <a:r>
              <a:rPr lang="zh-CN" altLang="en-US" sz="2200" dirty="0"/>
              <a:t>的数量越大，表示其能够处理的样本的</a:t>
            </a:r>
            <a:r>
              <a:rPr lang="zh-CN" altLang="en-US" sz="2200" b="1" dirty="0"/>
              <a:t>特征维度</a:t>
            </a:r>
            <a:r>
              <a:rPr lang="zh-CN" altLang="en-US" sz="2200" dirty="0"/>
              <a:t>越大，意味着能够处理越复杂的问题。在这种情况，其</a:t>
            </a:r>
            <a:r>
              <a:rPr lang="zh-CN" altLang="en-US" sz="2200" b="1" dirty="0"/>
              <a:t>隐含层节点</a:t>
            </a:r>
            <a:r>
              <a:rPr lang="zh-CN" altLang="en-US" sz="2200" dirty="0"/>
              <a:t>的数量一般也比较多，整个网络的</a:t>
            </a:r>
            <a:r>
              <a:rPr lang="zh-CN" altLang="en-US" sz="2200" b="1" dirty="0"/>
              <a:t>参数量</a:t>
            </a:r>
            <a:r>
              <a:rPr lang="zh-CN" altLang="en-US" sz="2200" dirty="0"/>
              <a:t>也应该</a:t>
            </a:r>
            <a:r>
              <a:rPr lang="zh-CN" altLang="en-US" sz="2200" b="1" dirty="0"/>
              <a:t>比较大</a:t>
            </a:r>
            <a:r>
              <a:rPr lang="zh-CN" altLang="en-US" sz="2200" dirty="0"/>
              <a:t>， 需要的训练数据也比较多。</a:t>
            </a:r>
            <a:r>
              <a:rPr lang="zh-CN" altLang="en-US" sz="2200" b="1" dirty="0"/>
              <a:t>相反</a:t>
            </a:r>
            <a:r>
              <a:rPr lang="zh-CN" altLang="en-US" sz="2200" dirty="0"/>
              <a:t>，如果输入节点的数量比较少，那么该网络的功能一般比较弱，处理的问题相对简单。 从网络</a:t>
            </a:r>
            <a:r>
              <a:rPr lang="zh-CN" altLang="en-US" sz="2200" b="1" dirty="0"/>
              <a:t>输出层节</a:t>
            </a:r>
            <a:r>
              <a:rPr lang="zh-CN" altLang="en-US" sz="2200" dirty="0"/>
              <a:t>点的数量看，我们大致能够判断该网络是用于</a:t>
            </a:r>
            <a:r>
              <a:rPr lang="zh-CN" altLang="en-US" sz="2200" b="1" dirty="0"/>
              <a:t>回归</a:t>
            </a:r>
            <a:r>
              <a:rPr lang="zh-CN" altLang="en-US" sz="2200" dirty="0"/>
              <a:t>还是</a:t>
            </a:r>
            <a:r>
              <a:rPr lang="zh-CN" altLang="en-US" sz="2200" b="1" dirty="0"/>
              <a:t>分类</a:t>
            </a:r>
            <a:r>
              <a:rPr lang="zh-CN" altLang="en-US" sz="2200" dirty="0"/>
              <a:t>。一般情况 下，仅有一个输出节点的网络多用于预测，属于</a:t>
            </a:r>
            <a:r>
              <a:rPr lang="zh-CN" altLang="en-US" sz="2200" b="1" dirty="0"/>
              <a:t>回归分析</a:t>
            </a:r>
            <a:r>
              <a:rPr lang="zh-CN" altLang="en-US" sz="2200" dirty="0"/>
              <a:t>，但也有的通过逻辑回归用于解决二分类问题。有两个或两个以上输出节点的网络一般用于解决多分类问题。一般地，对于 </a:t>
            </a:r>
            <a:r>
              <a:rPr lang="en-US" altLang="zh-CN" sz="2200" b="1" dirty="0"/>
              <a:t>c </a:t>
            </a:r>
            <a:r>
              <a:rPr lang="zh-CN" altLang="en-US" sz="2200" b="1" dirty="0"/>
              <a:t>分类问题</a:t>
            </a:r>
            <a:r>
              <a:rPr lang="zh-CN" altLang="en-US" sz="2200" dirty="0"/>
              <a:t>，相应网络有 </a:t>
            </a:r>
            <a:r>
              <a:rPr lang="en-US" altLang="zh-CN" sz="2200" dirty="0"/>
              <a:t>c </a:t>
            </a:r>
            <a:r>
              <a:rPr lang="zh-CN" altLang="en-US" sz="2200" dirty="0"/>
              <a:t>个输出节点：每个节点输出一个数值，在进行 </a:t>
            </a:r>
            <a:r>
              <a:rPr lang="en-US" altLang="zh-CN" sz="2200" b="1" dirty="0" err="1"/>
              <a:t>softmax</a:t>
            </a:r>
            <a:r>
              <a:rPr lang="en-US" altLang="zh-CN" sz="2200" b="1" dirty="0"/>
              <a:t> </a:t>
            </a:r>
            <a:r>
              <a:rPr lang="zh-CN" altLang="en-US" sz="2200" b="1" dirty="0"/>
              <a:t>归一化</a:t>
            </a:r>
            <a:r>
              <a:rPr lang="zh-CN" altLang="en-US" sz="2200" dirty="0"/>
              <a:t>以后 得到长度为 </a:t>
            </a:r>
            <a:r>
              <a:rPr lang="en-US" altLang="zh-CN" sz="2200" dirty="0"/>
              <a:t>c </a:t>
            </a:r>
            <a:r>
              <a:rPr lang="zh-CN" altLang="en-US" sz="2200" dirty="0"/>
              <a:t>的概率分布，其中最大概率值所对应的类即为预测的类。</a:t>
            </a:r>
          </a:p>
        </p:txBody>
      </p:sp>
    </p:spTree>
    <p:extLst>
      <p:ext uri="{BB962C8B-B14F-4D97-AF65-F5344CB8AC3E}">
        <p14:creationId xmlns:p14="http://schemas.microsoft.com/office/powerpoint/2010/main" val="3742596757"/>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a:srcRect t="2070" r="1004"/>
          <a:stretch/>
        </p:blipFill>
        <p:spPr>
          <a:xfrm>
            <a:off x="-496" y="-27384"/>
            <a:ext cx="3360192" cy="6885384"/>
          </a:xfrm>
          <a:prstGeom prst="rect">
            <a:avLst/>
          </a:prstGeom>
        </p:spPr>
      </p:pic>
      <p:sp>
        <p:nvSpPr>
          <p:cNvPr id="9" name="文本框 6"/>
          <p:cNvSpPr txBox="1"/>
          <p:nvPr/>
        </p:nvSpPr>
        <p:spPr>
          <a:xfrm>
            <a:off x="649714" y="2558062"/>
            <a:ext cx="2133918" cy="523220"/>
          </a:xfrm>
          <a:prstGeom prst="rect">
            <a:avLst/>
          </a:prstGeom>
          <a:noFill/>
        </p:spPr>
        <p:txBody>
          <a:bodyPr wrap="none" rtlCol="0">
            <a:spAutoFit/>
          </a:bodyPr>
          <a:lstStyle/>
          <a:p>
            <a:r>
              <a:rPr lang="zh-CN" altLang="en-US" sz="2800" spc="1000" dirty="0">
                <a:solidFill>
                  <a:schemeClr val="bg1"/>
                </a:solidFill>
                <a:cs typeface="+mn-ea"/>
                <a:sym typeface="+mn-lt"/>
              </a:rPr>
              <a:t>本章内容</a:t>
            </a:r>
          </a:p>
        </p:txBody>
      </p:sp>
      <p:sp>
        <p:nvSpPr>
          <p:cNvPr id="10" name="文本框 11"/>
          <p:cNvSpPr txBox="1"/>
          <p:nvPr/>
        </p:nvSpPr>
        <p:spPr>
          <a:xfrm>
            <a:off x="1032610" y="3238388"/>
            <a:ext cx="1239442" cy="461665"/>
          </a:xfrm>
          <a:prstGeom prst="rect">
            <a:avLst/>
          </a:prstGeom>
          <a:noFill/>
        </p:spPr>
        <p:txBody>
          <a:bodyPr wrap="none" rtlCol="0">
            <a:spAutoFit/>
          </a:bodyPr>
          <a:lstStyle/>
          <a:p>
            <a:r>
              <a:rPr lang="en-US" altLang="zh-CN" sz="2400" dirty="0">
                <a:solidFill>
                  <a:schemeClr val="bg1"/>
                </a:solidFill>
                <a:cs typeface="+mn-ea"/>
                <a:sym typeface="+mn-lt"/>
              </a:rPr>
              <a:t>contents</a:t>
            </a:r>
            <a:endParaRPr lang="zh-CN" altLang="en-US" sz="2400" dirty="0">
              <a:solidFill>
                <a:schemeClr val="bg1"/>
              </a:solidFill>
              <a:cs typeface="+mn-ea"/>
              <a:sym typeface="+mn-lt"/>
            </a:endParaRPr>
          </a:p>
        </p:txBody>
      </p:sp>
      <p:cxnSp>
        <p:nvCxnSpPr>
          <p:cNvPr id="11" name="直接连接符 10"/>
          <p:cNvCxnSpPr/>
          <p:nvPr/>
        </p:nvCxnSpPr>
        <p:spPr>
          <a:xfrm flipH="1">
            <a:off x="367517"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8818"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内容占位符 2"/>
          <p:cNvSpPr txBox="1">
            <a:spLocks/>
          </p:cNvSpPr>
          <p:nvPr/>
        </p:nvSpPr>
        <p:spPr>
          <a:xfrm>
            <a:off x="4009907" y="1506189"/>
            <a:ext cx="7978894" cy="4387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None/>
            </a:pPr>
            <a:r>
              <a:rPr lang="en-US" altLang="zh-CN" b="1" dirty="0">
                <a:latin typeface="微软雅黑" panose="020B0503020204020204" pitchFamily="34" charset="-122"/>
                <a:ea typeface="微软雅黑" panose="020B0503020204020204" pitchFamily="34" charset="-122"/>
              </a:rPr>
              <a:t>3.1  </a:t>
            </a:r>
            <a:r>
              <a:rPr lang="zh-CN" altLang="en-US" b="1" dirty="0">
                <a:latin typeface="微软雅黑" panose="020B0503020204020204" pitchFamily="34" charset="-122"/>
                <a:ea typeface="微软雅黑" panose="020B0503020204020204" pitchFamily="34" charset="-122"/>
              </a:rPr>
              <a:t>构建一个简单的全连接神经网络</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解决二分类问题</a:t>
            </a:r>
          </a:p>
          <a:p>
            <a:pPr>
              <a:lnSpc>
                <a:spcPct val="150000"/>
              </a:lnSpc>
              <a:buNone/>
            </a:pPr>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全连接神经网络的构造方法</a:t>
            </a:r>
          </a:p>
          <a:p>
            <a:pPr>
              <a:lnSpc>
                <a:spcPct val="150000"/>
              </a:lnSpc>
              <a:buNone/>
            </a:pPr>
            <a:r>
              <a:rPr lang="en-US" altLang="zh-CN" b="1" dirty="0">
                <a:solidFill>
                  <a:srgbClr val="C00000"/>
                </a:solidFill>
                <a:latin typeface="微软雅黑" panose="020B0503020204020204" pitchFamily="34" charset="-122"/>
                <a:ea typeface="微软雅黑" panose="020B0503020204020204" pitchFamily="34" charset="-122"/>
              </a:rPr>
              <a:t>3.3  </a:t>
            </a:r>
            <a:r>
              <a:rPr lang="zh-CN" altLang="en-US" b="1" dirty="0">
                <a:solidFill>
                  <a:srgbClr val="C00000"/>
                </a:solidFill>
                <a:latin typeface="微软雅黑" panose="020B0503020204020204" pitchFamily="34" charset="-122"/>
                <a:ea typeface="微软雅黑" panose="020B0503020204020204" pitchFamily="34" charset="-122"/>
              </a:rPr>
              <a:t>几种主流的损失函数</a:t>
            </a:r>
          </a:p>
          <a:p>
            <a:pPr>
              <a:lnSpc>
                <a:spcPct val="150000"/>
              </a:lnSpc>
              <a:buNone/>
            </a:pPr>
            <a:r>
              <a:rPr lang="en-US" altLang="zh-CN" b="1" dirty="0">
                <a:latin typeface="微软雅黑" panose="020B0503020204020204" pitchFamily="34" charset="-122"/>
                <a:ea typeface="微软雅黑" panose="020B0503020204020204" pitchFamily="34" charset="-122"/>
              </a:rPr>
              <a:t>3.4  </a:t>
            </a:r>
            <a:r>
              <a:rPr lang="zh-CN" altLang="en-US" b="1" dirty="0">
                <a:latin typeface="微软雅黑" panose="020B0503020204020204" pitchFamily="34" charset="-122"/>
                <a:ea typeface="微软雅黑" panose="020B0503020204020204" pitchFamily="34" charset="-122"/>
              </a:rPr>
              <a:t>网络模型的训练与测试</a:t>
            </a:r>
          </a:p>
          <a:p>
            <a:pPr>
              <a:lnSpc>
                <a:spcPct val="150000"/>
              </a:lnSpc>
              <a:buNone/>
            </a:pPr>
            <a:r>
              <a:rPr lang="en-US" altLang="zh-CN" b="1" dirty="0">
                <a:latin typeface="微软雅黑" panose="020B0503020204020204" pitchFamily="34" charset="-122"/>
                <a:ea typeface="微软雅黑" panose="020B0503020204020204" pitchFamily="34" charset="-122"/>
              </a:rPr>
              <a:t>3.5  </a:t>
            </a:r>
            <a:r>
              <a:rPr lang="zh-CN" altLang="en-US" b="1" dirty="0">
                <a:latin typeface="微软雅黑" panose="020B0503020204020204" pitchFamily="34" charset="-122"/>
                <a:ea typeface="微软雅黑" panose="020B0503020204020204" pitchFamily="34" charset="-122"/>
              </a:rPr>
              <a:t>正向计算和反向梯度传播的理论分析</a:t>
            </a:r>
          </a:p>
        </p:txBody>
      </p:sp>
      <p:pic>
        <p:nvPicPr>
          <p:cNvPr id="13" name="图片 12">
            <a:extLst>
              <a:ext uri="{FF2B5EF4-FFF2-40B4-BE49-F238E27FC236}">
                <a16:creationId xmlns:a16="http://schemas.microsoft.com/office/drawing/2014/main" id="{B7A089C7-0418-4B24-B026-E43BD2558A41}"/>
              </a:ext>
            </a:extLst>
          </p:cNvPr>
          <p:cNvPicPr>
            <a:picLocks noChangeAspect="1"/>
          </p:cNvPicPr>
          <p:nvPr/>
        </p:nvPicPr>
        <p:blipFill rotWithShape="1">
          <a:blip r:embed="rId4"/>
          <a:srcRect l="18793" t="3704" r="17232" b="4677"/>
          <a:stretch/>
        </p:blipFill>
        <p:spPr>
          <a:xfrm>
            <a:off x="1207159" y="449739"/>
            <a:ext cx="944881" cy="1353180"/>
          </a:xfrm>
          <a:prstGeom prst="rect">
            <a:avLst/>
          </a:prstGeom>
        </p:spPr>
      </p:pic>
    </p:spTree>
    <p:extLst>
      <p:ext uri="{BB962C8B-B14F-4D97-AF65-F5344CB8AC3E}">
        <p14:creationId xmlns:p14="http://schemas.microsoft.com/office/powerpoint/2010/main" val="210362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FD19DC2-30B7-4737-AF6B-4C953CDEC652}"/>
                  </a:ext>
                </a:extLst>
              </p:cNvPr>
              <p:cNvSpPr txBox="1"/>
              <p:nvPr/>
            </p:nvSpPr>
            <p:spPr>
              <a:xfrm>
                <a:off x="409203" y="1962424"/>
                <a:ext cx="11117512" cy="4001095"/>
              </a:xfrm>
              <a:prstGeom prst="rect">
                <a:avLst/>
              </a:prstGeom>
              <a:noFill/>
            </p:spPr>
            <p:txBody>
              <a:bodyPr wrap="square" rtlCol="0">
                <a:spAutoFit/>
              </a:bodyPr>
              <a:lstStyle/>
              <a:p>
                <a:pPr>
                  <a:spcBef>
                    <a:spcPts val="600"/>
                  </a:spcBef>
                  <a:spcAft>
                    <a:spcPts val="600"/>
                  </a:spcAft>
                </a:pPr>
                <a:r>
                  <a:rPr lang="zh-CN" altLang="en-US" sz="2200" dirty="0"/>
                  <a:t>在</a:t>
                </a:r>
                <a:r>
                  <a:rPr lang="zh-CN" altLang="en-US" sz="2200" b="1" dirty="0"/>
                  <a:t>有监督学习</a:t>
                </a:r>
                <a:r>
                  <a:rPr lang="zh-CN" altLang="en-US" sz="2200" dirty="0"/>
                  <a:t>中，样本标记构成了一个固定的</a:t>
                </a:r>
                <a:r>
                  <a:rPr lang="zh-CN" altLang="en-US" sz="2200" b="1" dirty="0"/>
                  <a:t>数据分布</a:t>
                </a:r>
                <a:r>
                  <a:rPr lang="zh-CN" altLang="en-US" sz="2200" dirty="0"/>
                  <a:t>，而模型的输出又是另外一个跟模型参数相关的数据分布。显然，我们需要一个能够衡量这两种分布</a:t>
                </a:r>
                <a:r>
                  <a:rPr lang="zh-CN" altLang="en-US" sz="2200" b="1" dirty="0"/>
                  <a:t>相似程度的函数</a:t>
                </a:r>
                <a:r>
                  <a:rPr lang="zh-CN" altLang="en-US" sz="2200" dirty="0"/>
                  <a:t>，而</a:t>
                </a:r>
                <a:r>
                  <a:rPr lang="zh-CN" altLang="en-US" sz="2200" b="1" dirty="0"/>
                  <a:t>交叉熵</a:t>
                </a:r>
                <a:r>
                  <a:rPr lang="zh-CN" altLang="en-US" sz="2200" dirty="0"/>
                  <a:t>正是用来衡量两个分布之间相似性的一种度量函数。</a:t>
                </a:r>
                <a:endParaRPr lang="en-US" altLang="zh-CN" sz="2200" dirty="0"/>
              </a:p>
              <a:p>
                <a:pPr>
                  <a:spcBef>
                    <a:spcPts val="600"/>
                  </a:spcBef>
                  <a:spcAft>
                    <a:spcPts val="600"/>
                  </a:spcAft>
                </a:pPr>
                <a:r>
                  <a:rPr lang="zh-CN" altLang="en-US" sz="2200" dirty="0"/>
                  <a:t>假设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𝑝</m:t>
                        </m:r>
                      </m:e>
                      <m:sub>
                        <m:r>
                          <a:rPr lang="en-US" altLang="zh-CN" sz="2200" b="0" i="1" dirty="0" smtClean="0">
                            <a:latin typeface="Cambria Math" panose="02040503050406030204" pitchFamily="18" charset="0"/>
                          </a:rPr>
                          <m:t>1</m:t>
                        </m:r>
                      </m:sub>
                    </m:sSub>
                  </m:oMath>
                </a14:m>
                <a:r>
                  <a:rPr lang="en-US" altLang="zh-CN" sz="2200" dirty="0"/>
                  <a:t>, </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𝑝</m:t>
                        </m:r>
                      </m:e>
                      <m:sub>
                        <m:r>
                          <a:rPr lang="en-US" altLang="zh-CN" sz="2200" b="0" i="1" dirty="0" smtClean="0">
                            <a:latin typeface="Cambria Math" panose="02040503050406030204" pitchFamily="18" charset="0"/>
                          </a:rPr>
                          <m:t>2</m:t>
                        </m:r>
                      </m:sub>
                    </m:sSub>
                  </m:oMath>
                </a14:m>
                <a:r>
                  <a:rPr lang="en-US" altLang="zh-CN" sz="2200" dirty="0"/>
                  <a:t>,…, </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𝑝</m:t>
                        </m:r>
                      </m:e>
                      <m:sub>
                        <m:r>
                          <a:rPr lang="en-US" altLang="zh-CN" sz="2200" b="0" i="1" dirty="0" smtClean="0">
                            <a:latin typeface="Cambria Math" panose="02040503050406030204" pitchFamily="18" charset="0"/>
                          </a:rPr>
                          <m:t>𝑚</m:t>
                        </m:r>
                      </m:sub>
                    </m:sSub>
                  </m:oMath>
                </a14:m>
                <a:r>
                  <a:rPr lang="en-US" altLang="zh-CN" sz="2200" dirty="0"/>
                  <a:t> </a:t>
                </a:r>
                <a:r>
                  <a:rPr lang="zh-CN" altLang="en-US" sz="2200" dirty="0"/>
                  <a:t>和 </a:t>
                </a:r>
                <a14:m>
                  <m:oMath xmlns:m="http://schemas.openxmlformats.org/officeDocument/2006/math">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𝑞</m:t>
                        </m:r>
                      </m:e>
                      <m:sub>
                        <m:r>
                          <a:rPr lang="en-US" altLang="zh-CN" sz="2200" i="1" dirty="0">
                            <a:latin typeface="Cambria Math" panose="02040503050406030204" pitchFamily="18" charset="0"/>
                          </a:rPr>
                          <m:t>1</m:t>
                        </m:r>
                      </m:sub>
                    </m:sSub>
                  </m:oMath>
                </a14:m>
                <a:r>
                  <a:rPr lang="en-US" altLang="zh-CN" sz="2200" dirty="0"/>
                  <a:t>, </a:t>
                </a:r>
                <a14:m>
                  <m:oMath xmlns:m="http://schemas.openxmlformats.org/officeDocument/2006/math">
                    <m:r>
                      <a:rPr lang="en-US" altLang="zh-CN" sz="2200" i="1" dirty="0" smtClean="0">
                        <a:latin typeface="Cambria Math" panose="02040503050406030204" pitchFamily="18" charset="0"/>
                      </a:rPr>
                      <m:t>𝑞</m:t>
                    </m:r>
                  </m:oMath>
                </a14:m>
                <a:r>
                  <a:rPr lang="en-US" altLang="zh-CN" sz="2200" dirty="0"/>
                  <a:t>, …, </a:t>
                </a:r>
                <a14:m>
                  <m:oMath xmlns:m="http://schemas.openxmlformats.org/officeDocument/2006/math">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𝑞</m:t>
                        </m:r>
                      </m:e>
                      <m:sub>
                        <m:r>
                          <a:rPr lang="en-US" altLang="zh-CN" sz="2200" b="0" i="1" dirty="0" smtClean="0">
                            <a:latin typeface="Cambria Math" panose="02040503050406030204" pitchFamily="18" charset="0"/>
                          </a:rPr>
                          <m:t>𝑚</m:t>
                        </m:r>
                      </m:sub>
                    </m:sSub>
                  </m:oMath>
                </a14:m>
                <a:r>
                  <a:rPr lang="en-US" altLang="zh-CN" sz="2200" dirty="0"/>
                  <a:t> </a:t>
                </a:r>
                <a:r>
                  <a:rPr lang="zh-CN" altLang="en-US" sz="2200" dirty="0"/>
                  <a:t>为两个分布，则二者的交叉熵可表示为：</a:t>
                </a:r>
                <a:endParaRPr lang="en-US" altLang="zh-CN" sz="2200" dirty="0"/>
              </a:p>
              <a:p>
                <a:pPr>
                  <a:spcBef>
                    <a:spcPts val="600"/>
                  </a:spcBef>
                  <a:spcAft>
                    <a:spcPts val="600"/>
                  </a:spcAft>
                </a:pPr>
                <a:endParaRPr lang="en-US" altLang="zh-CN" sz="2200" dirty="0"/>
              </a:p>
              <a:p>
                <a:pPr>
                  <a:spcBef>
                    <a:spcPts val="600"/>
                  </a:spcBef>
                  <a:spcAft>
                    <a:spcPts val="600"/>
                  </a:spcAft>
                </a:pPr>
                <a:endParaRPr lang="en-US" altLang="zh-CN" sz="2400" dirty="0"/>
              </a:p>
              <a:p>
                <a:pPr>
                  <a:spcBef>
                    <a:spcPts val="600"/>
                  </a:spcBef>
                  <a:spcAft>
                    <a:spcPts val="600"/>
                  </a:spcAft>
                </a:pPr>
                <a:r>
                  <a:rPr lang="zh-CN" altLang="en-US" sz="2200" dirty="0"/>
                  <a:t>该交叉熵的值越小，则表示两个分布越接近。我们的目标是，通过不断更新模型参数， 使得模型输出的数据分布不断接近样本标记构成的数据分布。</a:t>
                </a:r>
                <a:endParaRPr lang="en-US" altLang="zh-CN" sz="2200" dirty="0"/>
              </a:p>
              <a:p>
                <a:pPr>
                  <a:spcBef>
                    <a:spcPts val="600"/>
                  </a:spcBef>
                  <a:spcAft>
                    <a:spcPts val="600"/>
                  </a:spcAft>
                </a:pPr>
                <a:endParaRPr lang="zh-CN" altLang="en-US" sz="2200" dirty="0"/>
              </a:p>
            </p:txBody>
          </p:sp>
        </mc:Choice>
        <mc:Fallback xmlns="">
          <p:sp>
            <p:nvSpPr>
              <p:cNvPr id="2" name="文本框 1">
                <a:extLst>
                  <a:ext uri="{FF2B5EF4-FFF2-40B4-BE49-F238E27FC236}">
                    <a16:creationId xmlns:a16="http://schemas.microsoft.com/office/drawing/2014/main" id="{3FD19DC2-30B7-4737-AF6B-4C953CDEC652}"/>
                  </a:ext>
                </a:extLst>
              </p:cNvPr>
              <p:cNvSpPr txBox="1">
                <a:spLocks noRot="1" noChangeAspect="1" noMove="1" noResize="1" noEditPoints="1" noAdjustHandles="1" noChangeArrowheads="1" noChangeShapeType="1" noTextEdit="1"/>
              </p:cNvSpPr>
              <p:nvPr/>
            </p:nvSpPr>
            <p:spPr>
              <a:xfrm>
                <a:off x="409203" y="1962424"/>
                <a:ext cx="11117512" cy="4001095"/>
              </a:xfrm>
              <a:prstGeom prst="rect">
                <a:avLst/>
              </a:prstGeom>
              <a:blipFill>
                <a:blip r:embed="rId3"/>
                <a:stretch>
                  <a:fillRect l="-713" t="-915" r="-54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F37A274-1C2A-919A-A145-9607AD763B8A}"/>
              </a:ext>
            </a:extLst>
          </p:cNvPr>
          <p:cNvPicPr>
            <a:picLocks noChangeAspect="1"/>
          </p:cNvPicPr>
          <p:nvPr/>
        </p:nvPicPr>
        <p:blipFill>
          <a:blip r:embed="rId4"/>
          <a:stretch>
            <a:fillRect/>
          </a:stretch>
        </p:blipFill>
        <p:spPr>
          <a:xfrm>
            <a:off x="4281852" y="3631223"/>
            <a:ext cx="2083777" cy="913260"/>
          </a:xfrm>
          <a:prstGeom prst="rect">
            <a:avLst/>
          </a:prstGeom>
        </p:spPr>
      </p:pic>
    </p:spTree>
    <p:extLst>
      <p:ext uri="{BB962C8B-B14F-4D97-AF65-F5344CB8AC3E}">
        <p14:creationId xmlns:p14="http://schemas.microsoft.com/office/powerpoint/2010/main" val="46747825"/>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FD19DC2-30B7-4737-AF6B-4C953CDEC652}"/>
                  </a:ext>
                </a:extLst>
              </p:cNvPr>
              <p:cNvSpPr txBox="1"/>
              <p:nvPr/>
            </p:nvSpPr>
            <p:spPr>
              <a:xfrm>
                <a:off x="409203" y="1900877"/>
                <a:ext cx="11117512" cy="3908762"/>
              </a:xfrm>
              <a:prstGeom prst="rect">
                <a:avLst/>
              </a:prstGeom>
              <a:noFill/>
            </p:spPr>
            <p:txBody>
              <a:bodyPr wrap="square" rtlCol="0">
                <a:spAutoFit/>
              </a:bodyPr>
              <a:lstStyle/>
              <a:p>
                <a:pPr>
                  <a:spcBef>
                    <a:spcPts val="600"/>
                  </a:spcBef>
                  <a:spcAft>
                    <a:spcPts val="600"/>
                  </a:spcAft>
                </a:pPr>
                <a:r>
                  <a:rPr lang="zh-CN" altLang="en-US" sz="2200" dirty="0"/>
                  <a:t>在运用上述公式之前，一般</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i="1" dirty="0">
                            <a:latin typeface="Cambria Math" panose="02040503050406030204" pitchFamily="18" charset="0"/>
                          </a:rPr>
                          <m:t>𝑝</m:t>
                        </m:r>
                      </m:e>
                      <m:sub>
                        <m:r>
                          <a:rPr lang="en-US" altLang="zh-CN" sz="2200" b="0" i="1" dirty="0" smtClean="0">
                            <a:latin typeface="Cambria Math" panose="02040503050406030204" pitchFamily="18" charset="0"/>
                          </a:rPr>
                          <m:t>𝑖</m:t>
                        </m:r>
                      </m:sub>
                    </m:sSub>
                  </m:oMath>
                </a14:m>
                <a:r>
                  <a:rPr lang="zh-CN" altLang="en-US" sz="2200" dirty="0"/>
                  <a:t>和</a:t>
                </a:r>
                <a14:m>
                  <m:oMath xmlns:m="http://schemas.openxmlformats.org/officeDocument/2006/math">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𝑞</m:t>
                        </m:r>
                      </m:e>
                      <m:sub>
                        <m:r>
                          <a:rPr lang="en-US" altLang="zh-CN" sz="2200" b="0" i="1" dirty="0" smtClean="0">
                            <a:latin typeface="Cambria Math" panose="02040503050406030204" pitchFamily="18" charset="0"/>
                          </a:rPr>
                          <m:t>𝑖</m:t>
                        </m:r>
                      </m:sub>
                    </m:sSub>
                  </m:oMath>
                </a14:m>
                <a:r>
                  <a:rPr lang="zh-CN" altLang="en-US" sz="2200" dirty="0"/>
                  <a:t>都应先做 </a:t>
                </a:r>
                <a:r>
                  <a:rPr lang="en-US" altLang="zh-CN" sz="2200" b="1" dirty="0" err="1"/>
                  <a:t>softmax</a:t>
                </a:r>
                <a:r>
                  <a:rPr lang="en-US" altLang="zh-CN" sz="2200" b="1" dirty="0"/>
                  <a:t> </a:t>
                </a:r>
                <a:r>
                  <a:rPr lang="zh-CN" altLang="en-US" sz="2200" b="1" dirty="0"/>
                  <a:t>归一化</a:t>
                </a:r>
                <a:r>
                  <a:rPr lang="zh-CN" altLang="en-US" sz="2200" dirty="0"/>
                  <a:t>，即对两个分布进行概率归一化。就 </a:t>
                </a:r>
                <a:r>
                  <a:rPr lang="en-US" altLang="zh-CN" sz="2200" dirty="0"/>
                  <a:t>c </a:t>
                </a:r>
                <a:r>
                  <a:rPr lang="zh-CN" altLang="en-US" sz="2200" dirty="0"/>
                  <a:t>分类问题（即有 </a:t>
                </a:r>
                <a:r>
                  <a:rPr lang="en-US" altLang="zh-CN" sz="2200" dirty="0"/>
                  <a:t>c </a:t>
                </a:r>
                <a:r>
                  <a:rPr lang="zh-CN" altLang="en-US" sz="2200" dirty="0"/>
                  <a:t>个类别的分类问题）而言，令 </a:t>
                </a:r>
                <a:r>
                  <a:rPr lang="en-US" altLang="zh-CN" sz="2200" dirty="0"/>
                  <a:t>x </a:t>
                </a:r>
                <a:r>
                  <a:rPr lang="zh-CN" altLang="en-US" sz="2200" dirty="0"/>
                  <a:t>表示样本的特征向量，</a:t>
                </a:r>
                <a:r>
                  <a:rPr lang="en-US" altLang="zh-CN" sz="2200" dirty="0"/>
                  <a:t>y </a:t>
                </a:r>
                <a:r>
                  <a:rPr lang="zh-CN" altLang="en-US" sz="2200" dirty="0"/>
                  <a:t>为类别索引（整数），不妨假设 </a:t>
                </a:r>
                <a:r>
                  <a:rPr lang="en-US" altLang="zh-CN" sz="2200" dirty="0"/>
                  <a:t>y = k</a:t>
                </a:r>
                <a:r>
                  <a:rPr lang="zh-CN" altLang="en-US" sz="2200" dirty="0"/>
                  <a:t>。由于样本 </a:t>
                </a:r>
                <a:r>
                  <a:rPr lang="en-US" altLang="zh-CN" sz="2200" dirty="0"/>
                  <a:t>x </a:t>
                </a:r>
                <a:r>
                  <a:rPr lang="zh-CN" altLang="en-US" sz="2200" dirty="0"/>
                  <a:t>只能属于一个类别，所以 </a:t>
                </a:r>
                <a:r>
                  <a:rPr lang="en-US" altLang="zh-CN" sz="2200" dirty="0"/>
                  <a:t>y </a:t>
                </a:r>
                <a:r>
                  <a:rPr lang="zh-CN" altLang="en-US" sz="2200" dirty="0"/>
                  <a:t>的分布式表示为：</a:t>
                </a:r>
                <a:endParaRPr lang="en-US" altLang="zh-CN" sz="2200" dirty="0"/>
              </a:p>
              <a:p>
                <a:pPr>
                  <a:spcBef>
                    <a:spcPts val="600"/>
                  </a:spcBef>
                  <a:spcAft>
                    <a:spcPts val="600"/>
                  </a:spcAft>
                </a:pPr>
                <a:endParaRPr lang="en-US" altLang="zh-CN" sz="2200" dirty="0"/>
              </a:p>
              <a:p>
                <a:pPr>
                  <a:spcBef>
                    <a:spcPts val="600"/>
                  </a:spcBef>
                  <a:spcAft>
                    <a:spcPts val="600"/>
                  </a:spcAft>
                </a:pPr>
                <a:endParaRPr lang="en-US" altLang="zh-CN" sz="2200" dirty="0"/>
              </a:p>
              <a:p>
                <a:pPr>
                  <a:spcBef>
                    <a:spcPts val="600"/>
                  </a:spcBef>
                  <a:spcAft>
                    <a:spcPts val="600"/>
                  </a:spcAft>
                </a:pPr>
                <a:r>
                  <a:rPr lang="zh-CN" altLang="en-US" sz="2200" dirty="0"/>
                  <a:t>其中，第 </a:t>
                </a:r>
                <a:r>
                  <a:rPr lang="en-US" altLang="zh-CN" sz="2200" dirty="0"/>
                  <a:t>k </a:t>
                </a:r>
                <a:r>
                  <a:rPr lang="zh-CN" altLang="en-US" sz="2200" dirty="0"/>
                  <a:t>个元素为 </a:t>
                </a:r>
                <a:r>
                  <a:rPr lang="en-US" altLang="zh-CN" sz="2200" dirty="0"/>
                  <a:t>1</a:t>
                </a:r>
                <a:r>
                  <a:rPr lang="zh-CN" altLang="en-US" sz="2200" dirty="0"/>
                  <a:t>，其他元素为 </a:t>
                </a:r>
                <a:r>
                  <a:rPr lang="en-US" altLang="zh-CN" sz="2200" dirty="0"/>
                  <a:t>0</a:t>
                </a:r>
                <a:r>
                  <a:rPr lang="zh-CN" altLang="en-US" sz="2200" dirty="0"/>
                  <a:t>。可以看到，该分布已经概率归一化了。假设输入样本 </a:t>
                </a:r>
                <a:r>
                  <a:rPr lang="en-US" altLang="zh-CN" sz="2200" dirty="0"/>
                  <a:t>x </a:t>
                </a:r>
                <a:r>
                  <a:rPr lang="zh-CN" altLang="en-US" sz="2200" dirty="0"/>
                  <a:t>后，模型在这 </a:t>
                </a:r>
                <a:r>
                  <a:rPr lang="en-US" altLang="zh-CN" sz="2200" dirty="0"/>
                  <a:t>c </a:t>
                </a:r>
                <a:r>
                  <a:rPr lang="zh-CN" altLang="en-US" sz="2200" dirty="0"/>
                  <a:t>个类别上的输出分别为 </a:t>
                </a:r>
                <a14:m>
                  <m:oMath xmlns:m="http://schemas.openxmlformats.org/officeDocument/2006/math">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𝑣</m:t>
                        </m:r>
                      </m:e>
                      <m:sub>
                        <m:r>
                          <a:rPr lang="en-US" altLang="zh-CN" sz="2200" b="0" i="1" dirty="0" smtClean="0">
                            <a:latin typeface="Cambria Math" panose="02040503050406030204" pitchFamily="18" charset="0"/>
                          </a:rPr>
                          <m:t>1</m:t>
                        </m:r>
                      </m:sub>
                    </m:sSub>
                  </m:oMath>
                </a14:m>
                <a:r>
                  <a:rPr lang="en-US" altLang="zh-CN" sz="2200" dirty="0"/>
                  <a:t>,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𝑣</m:t>
                        </m:r>
                      </m:e>
                      <m:sub>
                        <m:r>
                          <a:rPr lang="en-US" altLang="zh-CN" sz="2200" b="0" i="1" dirty="0" smtClean="0">
                            <a:latin typeface="Cambria Math" panose="02040503050406030204" pitchFamily="18" charset="0"/>
                          </a:rPr>
                          <m:t>2</m:t>
                        </m:r>
                      </m:sub>
                    </m:sSub>
                  </m:oMath>
                </a14:m>
                <a:r>
                  <a:rPr lang="en-US" altLang="zh-CN" sz="2200" dirty="0"/>
                  <a:t>, …, </a:t>
                </a:r>
                <a14:m>
                  <m:oMath xmlns:m="http://schemas.openxmlformats.org/officeDocument/2006/math">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𝑣</m:t>
                        </m:r>
                      </m:e>
                      <m:sub>
                        <m:r>
                          <a:rPr lang="en-US" altLang="zh-CN" sz="2200" b="0" i="1" dirty="0" smtClean="0">
                            <a:latin typeface="Cambria Math" panose="02040503050406030204" pitchFamily="18" charset="0"/>
                          </a:rPr>
                          <m:t>𝑐</m:t>
                        </m:r>
                      </m:sub>
                    </m:sSub>
                    <m:r>
                      <a:rPr lang="en-US" altLang="zh-CN" sz="2200" i="1" dirty="0">
                        <a:latin typeface="Cambria Math" panose="02040503050406030204" pitchFamily="18" charset="0"/>
                      </a:rPr>
                      <m:t> </m:t>
                    </m:r>
                  </m:oMath>
                </a14:m>
                <a:r>
                  <a:rPr lang="zh-CN" altLang="en-US" sz="2200" dirty="0"/>
                  <a:t>，即模型输出</a:t>
                </a:r>
                <a14:m>
                  <m:oMath xmlns:m="http://schemas.openxmlformats.org/officeDocument/2006/math">
                    <m:acc>
                      <m:accPr>
                        <m:chr m:val="̂"/>
                        <m:ctrlPr>
                          <a:rPr lang="zh-CN" altLang="en-US" sz="2200" b="1" i="1" smtClean="0">
                            <a:latin typeface="Cambria Math" panose="02040503050406030204" pitchFamily="18" charset="0"/>
                          </a:rPr>
                        </m:ctrlPr>
                      </m:accPr>
                      <m:e>
                        <m:r>
                          <a:rPr lang="en-US" altLang="zh-CN" sz="2200" b="1" i="1" smtClean="0">
                            <a:latin typeface="Cambria Math" panose="02040503050406030204" pitchFamily="18" charset="0"/>
                          </a:rPr>
                          <m:t>𝒚</m:t>
                        </m:r>
                      </m:e>
                    </m:acc>
                  </m:oMath>
                </a14:m>
                <a:r>
                  <a:rPr lang="zh-CN" altLang="en-US" sz="2200" dirty="0"/>
                  <a:t>的分</a:t>
                </a:r>
              </a:p>
              <a:p>
                <a:pPr>
                  <a:spcBef>
                    <a:spcPts val="600"/>
                  </a:spcBef>
                  <a:spcAft>
                    <a:spcPts val="600"/>
                  </a:spcAft>
                </a:pPr>
                <a:r>
                  <a:rPr lang="zh-CN" altLang="en-US" sz="2200" dirty="0"/>
                  <a:t>布式表示为：</a:t>
                </a:r>
                <a:endParaRPr lang="en-US" altLang="zh-CN" sz="2200" dirty="0"/>
              </a:p>
              <a:p>
                <a:pPr>
                  <a:spcBef>
                    <a:spcPts val="600"/>
                  </a:spcBef>
                  <a:spcAft>
                    <a:spcPts val="600"/>
                  </a:spcAft>
                </a:pPr>
                <a:endParaRPr lang="zh-CN" altLang="en-US" sz="2200" dirty="0"/>
              </a:p>
            </p:txBody>
          </p:sp>
        </mc:Choice>
        <mc:Fallback xmlns="">
          <p:sp>
            <p:nvSpPr>
              <p:cNvPr id="2" name="文本框 1">
                <a:extLst>
                  <a:ext uri="{FF2B5EF4-FFF2-40B4-BE49-F238E27FC236}">
                    <a16:creationId xmlns:a16="http://schemas.microsoft.com/office/drawing/2014/main" id="{3FD19DC2-30B7-4737-AF6B-4C953CDEC652}"/>
                  </a:ext>
                </a:extLst>
              </p:cNvPr>
              <p:cNvSpPr txBox="1">
                <a:spLocks noRot="1" noChangeAspect="1" noMove="1" noResize="1" noEditPoints="1" noAdjustHandles="1" noChangeArrowheads="1" noChangeShapeType="1" noTextEdit="1"/>
              </p:cNvSpPr>
              <p:nvPr/>
            </p:nvSpPr>
            <p:spPr>
              <a:xfrm>
                <a:off x="409203" y="1900877"/>
                <a:ext cx="11117512" cy="3908762"/>
              </a:xfrm>
              <a:prstGeom prst="rect">
                <a:avLst/>
              </a:prstGeom>
              <a:blipFill>
                <a:blip r:embed="rId3"/>
                <a:stretch>
                  <a:fillRect l="-713" t="-1092" r="-2577"/>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29B60A1D-1D81-9B74-9400-A673698030B0}"/>
              </a:ext>
            </a:extLst>
          </p:cNvPr>
          <p:cNvPicPr>
            <a:picLocks noChangeAspect="1"/>
          </p:cNvPicPr>
          <p:nvPr/>
        </p:nvPicPr>
        <p:blipFill>
          <a:blip r:embed="rId4"/>
          <a:stretch>
            <a:fillRect/>
          </a:stretch>
        </p:blipFill>
        <p:spPr>
          <a:xfrm>
            <a:off x="2835904" y="3158466"/>
            <a:ext cx="4656223" cy="541067"/>
          </a:xfrm>
          <a:prstGeom prst="rect">
            <a:avLst/>
          </a:prstGeom>
        </p:spPr>
      </p:pic>
      <p:pic>
        <p:nvPicPr>
          <p:cNvPr id="7" name="图片 6">
            <a:extLst>
              <a:ext uri="{FF2B5EF4-FFF2-40B4-BE49-F238E27FC236}">
                <a16:creationId xmlns:a16="http://schemas.microsoft.com/office/drawing/2014/main" id="{4F38CFB1-36F4-5389-AD5C-4CBF27751D09}"/>
              </a:ext>
            </a:extLst>
          </p:cNvPr>
          <p:cNvPicPr>
            <a:picLocks noChangeAspect="1"/>
          </p:cNvPicPr>
          <p:nvPr/>
        </p:nvPicPr>
        <p:blipFill>
          <a:blip r:embed="rId5"/>
          <a:stretch>
            <a:fillRect/>
          </a:stretch>
        </p:blipFill>
        <p:spPr>
          <a:xfrm>
            <a:off x="4017070" y="5078799"/>
            <a:ext cx="1950889" cy="487722"/>
          </a:xfrm>
          <a:prstGeom prst="rect">
            <a:avLst/>
          </a:prstGeom>
        </p:spPr>
      </p:pic>
    </p:spTree>
    <p:extLst>
      <p:ext uri="{BB962C8B-B14F-4D97-AF65-F5344CB8AC3E}">
        <p14:creationId xmlns:p14="http://schemas.microsoft.com/office/powerpoint/2010/main" val="419045585"/>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FD19DC2-30B7-4737-AF6B-4C953CDEC652}"/>
                  </a:ext>
                </a:extLst>
              </p:cNvPr>
              <p:cNvSpPr txBox="1"/>
              <p:nvPr/>
            </p:nvSpPr>
            <p:spPr>
              <a:xfrm>
                <a:off x="409203" y="1760200"/>
                <a:ext cx="11117512" cy="923330"/>
              </a:xfrm>
              <a:prstGeom prst="rect">
                <a:avLst/>
              </a:prstGeom>
              <a:noFill/>
            </p:spPr>
            <p:txBody>
              <a:bodyPr wrap="square" rtlCol="0">
                <a:spAutoFit/>
              </a:bodyPr>
              <a:lstStyle/>
              <a:p>
                <a:pPr>
                  <a:spcBef>
                    <a:spcPts val="600"/>
                  </a:spcBef>
                  <a:spcAft>
                    <a:spcPts val="600"/>
                  </a:spcAft>
                </a:pPr>
                <a:r>
                  <a:rPr lang="zh-CN" altLang="en-US" sz="2200" dirty="0"/>
                  <a:t>不妨将</a:t>
                </a:r>
                <a14:m>
                  <m:oMath xmlns:m="http://schemas.openxmlformats.org/officeDocument/2006/math">
                    <m:acc>
                      <m:accPr>
                        <m:chr m:val="̂"/>
                        <m:ctrlPr>
                          <a:rPr lang="zh-CN" altLang="en-US" sz="2200" i="1" smtClean="0">
                            <a:latin typeface="Cambria Math" panose="02040503050406030204" pitchFamily="18" charset="0"/>
                          </a:rPr>
                        </m:ctrlPr>
                      </m:accPr>
                      <m:e>
                        <m:r>
                          <a:rPr lang="en-US" altLang="zh-CN" sz="2200" b="0" i="1" smtClean="0">
                            <a:latin typeface="Cambria Math" panose="02040503050406030204" pitchFamily="18" charset="0"/>
                          </a:rPr>
                          <m:t>𝑦</m:t>
                        </m:r>
                      </m:e>
                    </m:acc>
                  </m:oMath>
                </a14:m>
                <a:r>
                  <a:rPr lang="zh-CN" altLang="en-US" sz="2200" dirty="0"/>
                  <a:t>表示为： </a:t>
                </a:r>
                <a14:m>
                  <m:oMath xmlns:m="http://schemas.openxmlformats.org/officeDocument/2006/math">
                    <m:acc>
                      <m:accPr>
                        <m:chr m:val="̂"/>
                        <m:ctrlPr>
                          <a:rPr lang="zh-CN" altLang="en-US" sz="2200" i="1">
                            <a:latin typeface="Cambria Math" panose="02040503050406030204" pitchFamily="18" charset="0"/>
                          </a:rPr>
                        </m:ctrlPr>
                      </m:accPr>
                      <m:e>
                        <m:r>
                          <a:rPr lang="en-US" altLang="zh-CN" sz="2200" i="1">
                            <a:latin typeface="Cambria Math" panose="02040503050406030204" pitchFamily="18" charset="0"/>
                          </a:rPr>
                          <m:t>𝑦</m:t>
                        </m:r>
                      </m:e>
                    </m:acc>
                    <m:r>
                      <a:rPr lang="en-US" altLang="zh-CN" sz="2200" b="0" i="1" smtClean="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𝑣</m:t>
                        </m:r>
                      </m:e>
                      <m:sub>
                        <m:r>
                          <a:rPr lang="en-US" altLang="zh-CN" sz="2200" i="1" dirty="0">
                            <a:latin typeface="Cambria Math" panose="02040503050406030204" pitchFamily="18" charset="0"/>
                          </a:rPr>
                          <m:t>1</m:t>
                        </m:r>
                      </m:sub>
                    </m:sSub>
                    <m:r>
                      <m:rPr>
                        <m:nor/>
                      </m:rPr>
                      <a:rPr lang="en-US" altLang="zh-CN" sz="2200" dirty="0"/>
                      <m:t>, </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𝑣</m:t>
                        </m:r>
                      </m:e>
                      <m:sub>
                        <m:r>
                          <a:rPr lang="en-US" altLang="zh-CN" sz="2200" i="1" dirty="0">
                            <a:latin typeface="Cambria Math" panose="02040503050406030204" pitchFamily="18" charset="0"/>
                          </a:rPr>
                          <m:t>2</m:t>
                        </m:r>
                      </m:sub>
                    </m:sSub>
                    <m:r>
                      <m:rPr>
                        <m:nor/>
                      </m:rPr>
                      <a:rPr lang="en-US" altLang="zh-CN" sz="2200" dirty="0"/>
                      <m:t>, …, </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𝑣</m:t>
                        </m:r>
                      </m:e>
                      <m:sub>
                        <m:r>
                          <a:rPr lang="en-US" altLang="zh-CN" sz="2200" i="1" dirty="0">
                            <a:latin typeface="Cambria Math" panose="02040503050406030204" pitchFamily="18" charset="0"/>
                          </a:rPr>
                          <m:t>𝑐</m:t>
                        </m:r>
                      </m:sub>
                    </m:sSub>
                    <m:r>
                      <a:rPr lang="en-US" altLang="zh-CN" sz="2200" b="0" i="1" smtClean="0">
                        <a:latin typeface="Cambria Math" panose="02040503050406030204" pitchFamily="18" charset="0"/>
                      </a:rPr>
                      <m:t>)</m:t>
                    </m:r>
                    <m:r>
                      <a:rPr lang="en-US" altLang="zh-CN" sz="2200" i="1">
                        <a:latin typeface="Cambria Math" panose="02040503050406030204" pitchFamily="18" charset="0"/>
                      </a:rPr>
                      <m:t> </m:t>
                    </m:r>
                  </m:oMath>
                </a14:m>
                <a:r>
                  <a:rPr lang="zh-CN" altLang="en-US" sz="2200" dirty="0"/>
                  <a:t>。于是，对该分布的 </a:t>
                </a:r>
                <a:r>
                  <a:rPr lang="en-US" altLang="zh-CN" sz="2200" b="1" dirty="0" err="1"/>
                  <a:t>softmax</a:t>
                </a:r>
                <a:r>
                  <a:rPr lang="en-US" altLang="zh-CN" sz="2200" b="1" dirty="0"/>
                  <a:t> </a:t>
                </a:r>
                <a:r>
                  <a:rPr lang="zh-CN" altLang="en-US" sz="2200" b="1" dirty="0"/>
                  <a:t>归一化</a:t>
                </a:r>
                <a:r>
                  <a:rPr lang="zh-CN" altLang="en-US" sz="2200" dirty="0"/>
                  <a:t>公式为：</a:t>
                </a:r>
                <a:endParaRPr lang="en-US" altLang="zh-CN" sz="2200" dirty="0"/>
              </a:p>
              <a:p>
                <a:pPr>
                  <a:spcBef>
                    <a:spcPts val="600"/>
                  </a:spcBef>
                  <a:spcAft>
                    <a:spcPts val="600"/>
                  </a:spcAft>
                </a:pPr>
                <a:endParaRPr lang="en-US" altLang="zh-CN" sz="2200" dirty="0"/>
              </a:p>
            </p:txBody>
          </p:sp>
        </mc:Choice>
        <mc:Fallback xmlns="">
          <p:sp>
            <p:nvSpPr>
              <p:cNvPr id="2" name="文本框 1">
                <a:extLst>
                  <a:ext uri="{FF2B5EF4-FFF2-40B4-BE49-F238E27FC236}">
                    <a16:creationId xmlns:a16="http://schemas.microsoft.com/office/drawing/2014/main" id="{3FD19DC2-30B7-4737-AF6B-4C953CDEC652}"/>
                  </a:ext>
                </a:extLst>
              </p:cNvPr>
              <p:cNvSpPr txBox="1">
                <a:spLocks noRot="1" noChangeAspect="1" noMove="1" noResize="1" noEditPoints="1" noAdjustHandles="1" noChangeArrowheads="1" noChangeShapeType="1" noTextEdit="1"/>
              </p:cNvSpPr>
              <p:nvPr/>
            </p:nvSpPr>
            <p:spPr>
              <a:xfrm>
                <a:off x="409203" y="1760200"/>
                <a:ext cx="11117512" cy="923330"/>
              </a:xfrm>
              <a:prstGeom prst="rect">
                <a:avLst/>
              </a:prstGeom>
              <a:blipFill>
                <a:blip r:embed="rId3"/>
                <a:stretch>
                  <a:fillRect l="-713" t="-463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5ABDA863-BBF4-22E9-D0AD-2907DDD655A5}"/>
              </a:ext>
            </a:extLst>
          </p:cNvPr>
          <p:cNvPicPr>
            <a:picLocks noChangeAspect="1"/>
          </p:cNvPicPr>
          <p:nvPr/>
        </p:nvPicPr>
        <p:blipFill>
          <a:blip r:embed="rId4"/>
          <a:stretch>
            <a:fillRect/>
          </a:stretch>
        </p:blipFill>
        <p:spPr>
          <a:xfrm>
            <a:off x="3557819" y="2218001"/>
            <a:ext cx="3124471" cy="823031"/>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974EA9-469E-9296-577D-DA50F0D6E5E0}"/>
                  </a:ext>
                </a:extLst>
              </p:cNvPr>
              <p:cNvSpPr txBox="1"/>
              <p:nvPr/>
            </p:nvSpPr>
            <p:spPr>
              <a:xfrm>
                <a:off x="409203" y="3014198"/>
                <a:ext cx="10589974" cy="1107996"/>
              </a:xfrm>
              <a:prstGeom prst="rect">
                <a:avLst/>
              </a:prstGeom>
              <a:noFill/>
            </p:spPr>
            <p:txBody>
              <a:bodyPr wrap="square">
                <a:spAutoFit/>
              </a:bodyPr>
              <a:lstStyle/>
              <a:p>
                <a:r>
                  <a:rPr lang="zh-CN" altLang="en-US" sz="2200" dirty="0"/>
                  <a:t>显然，归一化后，该分布转变为一种概率分布，即该分布中每个分量值均为</a:t>
                </a:r>
                <a:r>
                  <a:rPr lang="en-US" altLang="zh-CN" sz="2200" dirty="0"/>
                  <a:t>[0, 1]</a:t>
                </a:r>
                <a:r>
                  <a:rPr lang="zh-CN" altLang="en-US" sz="2200" dirty="0"/>
                  <a:t>中的 实数，它们之和为 </a:t>
                </a:r>
                <a:r>
                  <a:rPr lang="en-US" altLang="zh-CN" sz="2200" dirty="0"/>
                  <a:t>1</a:t>
                </a:r>
                <a:r>
                  <a:rPr lang="zh-CN" altLang="en-US" sz="2200" dirty="0"/>
                  <a:t>。 这样，我们可以用上述</a:t>
                </a:r>
                <a:r>
                  <a:rPr lang="zh-CN" altLang="en-US" sz="2200" b="1" dirty="0"/>
                  <a:t>交叉熵</a:t>
                </a:r>
                <a:r>
                  <a:rPr lang="zh-CN" altLang="en-US" sz="2200" dirty="0"/>
                  <a:t>公式来表示模型关于标记 </a:t>
                </a:r>
                <a:r>
                  <a:rPr lang="en-US" altLang="zh-CN" sz="2200" dirty="0"/>
                  <a:t>y </a:t>
                </a:r>
                <a:r>
                  <a:rPr lang="zh-CN" altLang="en-US" sz="2200" dirty="0"/>
                  <a:t>和输出</a:t>
                </a:r>
                <a14:m>
                  <m:oMath xmlns:m="http://schemas.openxmlformats.org/officeDocument/2006/math">
                    <m:acc>
                      <m:accPr>
                        <m:chr m:val="̂"/>
                        <m:ctrlPr>
                          <a:rPr lang="zh-CN" altLang="en-US" sz="2200" i="1" smtClean="0">
                            <a:latin typeface="Cambria Math" panose="02040503050406030204" pitchFamily="18" charset="0"/>
                          </a:rPr>
                        </m:ctrlPr>
                      </m:accPr>
                      <m:e>
                        <m:r>
                          <a:rPr lang="en-US" altLang="zh-CN" sz="2200" i="1">
                            <a:latin typeface="Cambria Math" panose="02040503050406030204" pitchFamily="18" charset="0"/>
                          </a:rPr>
                          <m:t>𝑦</m:t>
                        </m:r>
                      </m:e>
                    </m:acc>
                  </m:oMath>
                </a14:m>
                <a:r>
                  <a:rPr lang="zh-CN" altLang="en-US" sz="2200" dirty="0"/>
                  <a:t>的</a:t>
                </a:r>
                <a:r>
                  <a:rPr lang="zh-CN" altLang="en-US" sz="2200" b="1" dirty="0"/>
                  <a:t>损失函数：</a:t>
                </a:r>
              </a:p>
            </p:txBody>
          </p:sp>
        </mc:Choice>
        <mc:Fallback xmlns="">
          <p:sp>
            <p:nvSpPr>
              <p:cNvPr id="6" name="文本框 5">
                <a:extLst>
                  <a:ext uri="{FF2B5EF4-FFF2-40B4-BE49-F238E27FC236}">
                    <a16:creationId xmlns:a16="http://schemas.microsoft.com/office/drawing/2014/main" id="{03974EA9-469E-9296-577D-DA50F0D6E5E0}"/>
                  </a:ext>
                </a:extLst>
              </p:cNvPr>
              <p:cNvSpPr txBox="1">
                <a:spLocks noRot="1" noChangeAspect="1" noMove="1" noResize="1" noEditPoints="1" noAdjustHandles="1" noChangeArrowheads="1" noChangeShapeType="1" noTextEdit="1"/>
              </p:cNvSpPr>
              <p:nvPr/>
            </p:nvSpPr>
            <p:spPr>
              <a:xfrm>
                <a:off x="409203" y="3014198"/>
                <a:ext cx="10589974" cy="1107996"/>
              </a:xfrm>
              <a:prstGeom prst="rect">
                <a:avLst/>
              </a:prstGeom>
              <a:blipFill>
                <a:blip r:embed="rId5"/>
                <a:stretch>
                  <a:fillRect l="-748" t="-3297" r="-403" b="-10989"/>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D0C3DC7D-E0C5-99BB-9CBC-232F9C5B8B0F}"/>
              </a:ext>
            </a:extLst>
          </p:cNvPr>
          <p:cNvPicPr>
            <a:picLocks noChangeAspect="1"/>
          </p:cNvPicPr>
          <p:nvPr/>
        </p:nvPicPr>
        <p:blipFill>
          <a:blip r:embed="rId6"/>
          <a:stretch>
            <a:fillRect/>
          </a:stretch>
        </p:blipFill>
        <p:spPr>
          <a:xfrm>
            <a:off x="3086556" y="3937556"/>
            <a:ext cx="4066996" cy="1766473"/>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52D08F4-F3BD-5700-33F3-3BFE76251D31}"/>
                  </a:ext>
                </a:extLst>
              </p:cNvPr>
              <p:cNvSpPr txBox="1"/>
              <p:nvPr/>
            </p:nvSpPr>
            <p:spPr>
              <a:xfrm>
                <a:off x="692574" y="5704029"/>
                <a:ext cx="10023231" cy="430887"/>
              </a:xfrm>
              <a:prstGeom prst="rect">
                <a:avLst/>
              </a:prstGeom>
              <a:noFill/>
            </p:spPr>
            <p:txBody>
              <a:bodyPr wrap="square">
                <a:spAutoFit/>
              </a:bodyPr>
              <a:lstStyle/>
              <a:p>
                <a14:m>
                  <m:oMath xmlns:m="http://schemas.openxmlformats.org/officeDocument/2006/math">
                    <m:r>
                      <a:rPr lang="en-US" altLang="zh-CN" sz="2200" i="1" smtClean="0">
                        <a:latin typeface="Cambria Math" panose="02040503050406030204" pitchFamily="18" charset="0"/>
                        <a:ea typeface="Cambria Math" panose="02040503050406030204" pitchFamily="18" charset="0"/>
                      </a:rPr>
                      <m:t>ℒ</m:t>
                    </m:r>
                    <m:r>
                      <a:rPr lang="en-US" altLang="zh-CN" sz="2200" b="0" i="1" smtClean="0">
                        <a:latin typeface="Cambria Math" panose="02040503050406030204" pitchFamily="18" charset="0"/>
                        <a:ea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i="1">
                            <a:latin typeface="Cambria Math" panose="02040503050406030204" pitchFamily="18" charset="0"/>
                          </a:rPr>
                          <m:t>𝑦</m:t>
                        </m:r>
                      </m:e>
                    </m:acc>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𝑦</m:t>
                    </m:r>
                    <m:r>
                      <a:rPr lang="en-US" altLang="zh-CN" sz="2200" b="0" i="1" smtClean="0">
                        <a:latin typeface="Cambria Math" panose="02040503050406030204" pitchFamily="18" charset="0"/>
                        <a:ea typeface="Cambria Math" panose="02040503050406030204" pitchFamily="18" charset="0"/>
                      </a:rPr>
                      <m:t>)</m:t>
                    </m:r>
                  </m:oMath>
                </a14:m>
                <a:r>
                  <a:rPr lang="zh-CN" altLang="en-US" sz="2200" dirty="0"/>
                  <a:t>就是针对单条样本 </a:t>
                </a:r>
                <a:r>
                  <a:rPr lang="en-US" altLang="zh-CN" sz="2200" dirty="0"/>
                  <a:t>x </a:t>
                </a:r>
                <a:r>
                  <a:rPr lang="zh-CN" altLang="en-US" sz="2200" dirty="0"/>
                  <a:t>及其标记 </a:t>
                </a:r>
                <a:r>
                  <a:rPr lang="en-US" altLang="zh-CN" sz="2200" dirty="0"/>
                  <a:t>y </a:t>
                </a:r>
                <a:r>
                  <a:rPr lang="zh-CN" altLang="en-US" sz="2200" dirty="0"/>
                  <a:t>的</a:t>
                </a:r>
                <a:r>
                  <a:rPr lang="zh-CN" altLang="en-US" sz="2200" dirty="0">
                    <a:solidFill>
                      <a:srgbClr val="0033CC"/>
                    </a:solidFill>
                  </a:rPr>
                  <a:t>交叉熵损失函数</a:t>
                </a:r>
                <a:r>
                  <a:rPr lang="zh-CN" altLang="en-US" sz="2200" dirty="0"/>
                  <a:t>，其中</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𝑦</m:t>
                        </m:r>
                      </m:e>
                    </m:acc>
                  </m:oMath>
                </a14:m>
                <a:r>
                  <a:rPr lang="zh-CN" altLang="en-US" sz="2200" dirty="0"/>
                  <a:t>为模型的输出。 </a:t>
                </a:r>
              </a:p>
            </p:txBody>
          </p:sp>
        </mc:Choice>
        <mc:Fallback xmlns="">
          <p:sp>
            <p:nvSpPr>
              <p:cNvPr id="7" name="文本框 6">
                <a:extLst>
                  <a:ext uri="{FF2B5EF4-FFF2-40B4-BE49-F238E27FC236}">
                    <a16:creationId xmlns:a16="http://schemas.microsoft.com/office/drawing/2014/main" id="{252D08F4-F3BD-5700-33F3-3BFE76251D31}"/>
                  </a:ext>
                </a:extLst>
              </p:cNvPr>
              <p:cNvSpPr txBox="1">
                <a:spLocks noRot="1" noChangeAspect="1" noMove="1" noResize="1" noEditPoints="1" noAdjustHandles="1" noChangeArrowheads="1" noChangeShapeType="1" noTextEdit="1"/>
              </p:cNvSpPr>
              <p:nvPr/>
            </p:nvSpPr>
            <p:spPr>
              <a:xfrm>
                <a:off x="692574" y="5704029"/>
                <a:ext cx="10023231" cy="430887"/>
              </a:xfrm>
              <a:prstGeom prst="rect">
                <a:avLst/>
              </a:prstGeom>
              <a:blipFill>
                <a:blip r:embed="rId7"/>
                <a:stretch>
                  <a:fillRect l="-61" t="-10000" r="-3589" b="-3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9028610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974EA9-469E-9296-577D-DA50F0D6E5E0}"/>
                  </a:ext>
                </a:extLst>
              </p:cNvPr>
              <p:cNvSpPr txBox="1"/>
              <p:nvPr/>
            </p:nvSpPr>
            <p:spPr>
              <a:xfrm>
                <a:off x="335805" y="2029460"/>
                <a:ext cx="10589974" cy="1794337"/>
              </a:xfrm>
              <a:prstGeom prst="rect">
                <a:avLst/>
              </a:prstGeom>
              <a:noFill/>
            </p:spPr>
            <p:txBody>
              <a:bodyPr wrap="square">
                <a:spAutoFit/>
              </a:bodyPr>
              <a:lstStyle/>
              <a:p>
                <a:r>
                  <a:rPr lang="zh-CN" altLang="en-US" sz="2200" dirty="0"/>
                  <a:t>按照这种思路，我们也可以构造针对</a:t>
                </a:r>
                <a:r>
                  <a:rPr lang="zh-CN" altLang="en-US" sz="2200" b="1" dirty="0"/>
                  <a:t>多条样本</a:t>
                </a:r>
                <a:r>
                  <a:rPr lang="zh-CN" altLang="en-US" sz="2200" dirty="0"/>
                  <a:t>的</a:t>
                </a:r>
                <a:r>
                  <a:rPr lang="zh-CN" altLang="en-US" sz="2200" b="1" dirty="0"/>
                  <a:t>交叉熵损失</a:t>
                </a:r>
                <a:r>
                  <a:rPr lang="zh-CN" altLang="en-US" sz="2200" dirty="0"/>
                  <a:t>函数。</a:t>
                </a:r>
                <a:endParaRPr lang="en-US" altLang="zh-CN" sz="2200" dirty="0"/>
              </a:p>
              <a:p>
                <a:r>
                  <a:rPr lang="zh-CN" altLang="en-US" sz="2200" dirty="0"/>
                  <a:t>假设一个数据批量 </a:t>
                </a:r>
                <a:r>
                  <a:rPr lang="en-US" altLang="zh-CN" sz="2200" dirty="0"/>
                  <a:t>X </a:t>
                </a:r>
                <a:r>
                  <a:rPr lang="zh-CN" altLang="en-US" sz="2200" dirty="0"/>
                  <a:t>由 </a:t>
                </a:r>
                <a:r>
                  <a:rPr lang="en-US" altLang="zh-CN" sz="2200" dirty="0"/>
                  <a:t>n </a:t>
                </a:r>
                <a:r>
                  <a:rPr lang="zh-CN" altLang="en-US" sz="2200" dirty="0"/>
                  <a:t>条样本构成，</a:t>
                </a:r>
                <a:r>
                  <a:rPr lang="en-US" altLang="zh-CN" sz="2200" dirty="0"/>
                  <a:t>Y </a:t>
                </a:r>
                <a:r>
                  <a:rPr lang="zh-CN" altLang="en-US" sz="2200" dirty="0"/>
                  <a:t>是与其对应的标记向量，并假设 </a:t>
                </a:r>
                <a:r>
                  <a:rPr lang="en-US" altLang="zh-CN" sz="2200" dirty="0"/>
                  <a:t>X =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𝑥</m:t>
                        </m:r>
                      </m:e>
                      <m:sub>
                        <m:r>
                          <a:rPr lang="en-US" altLang="zh-CN" sz="2200" i="1" dirty="0">
                            <a:latin typeface="Cambria Math" panose="02040503050406030204" pitchFamily="18" charset="0"/>
                          </a:rPr>
                          <m:t>1</m:t>
                        </m:r>
                      </m:sub>
                    </m:sSub>
                    <m:r>
                      <m:rPr>
                        <m:nor/>
                      </m:rPr>
                      <a:rPr lang="en-US" altLang="zh-CN" sz="2200" dirty="0"/>
                      <m:t>,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𝑥</m:t>
                        </m:r>
                      </m:e>
                      <m:sub>
                        <m:r>
                          <a:rPr lang="en-US" altLang="zh-CN" sz="2200" i="1" dirty="0">
                            <a:latin typeface="Cambria Math" panose="02040503050406030204" pitchFamily="18" charset="0"/>
                          </a:rPr>
                          <m:t>2</m:t>
                        </m:r>
                      </m:sub>
                    </m:sSub>
                    <m:r>
                      <m:rPr>
                        <m:nor/>
                      </m:rPr>
                      <a:rPr lang="en-US" altLang="zh-CN" sz="2200" dirty="0"/>
                      <m:t>, …,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𝑥</m:t>
                        </m:r>
                      </m:e>
                      <m:sub>
                        <m:r>
                          <a:rPr lang="en-US" altLang="zh-CN" sz="2200" b="0" i="1" dirty="0" smtClean="0">
                            <a:latin typeface="Cambria Math" panose="02040503050406030204" pitchFamily="18" charset="0"/>
                          </a:rPr>
                          <m:t>𝑛</m:t>
                        </m:r>
                      </m:sub>
                    </m:sSub>
                  </m:oMath>
                </a14:m>
                <a:r>
                  <a:rPr lang="en-US" altLang="zh-CN" sz="2200" dirty="0"/>
                  <a:t>)</a:t>
                </a:r>
                <a:r>
                  <a:rPr lang="zh-CN" altLang="en-US" sz="2200" dirty="0"/>
                  <a:t>，</a:t>
                </a:r>
                <a:r>
                  <a:rPr lang="en-US" altLang="zh-CN" sz="2200" dirty="0"/>
                  <a:t>Y =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𝑦</m:t>
                        </m:r>
                      </m:e>
                      <m:sub>
                        <m:r>
                          <a:rPr lang="en-US" altLang="zh-CN" sz="2200" i="1" dirty="0">
                            <a:latin typeface="Cambria Math" panose="02040503050406030204" pitchFamily="18" charset="0"/>
                          </a:rPr>
                          <m:t>1</m:t>
                        </m:r>
                      </m:sub>
                    </m:sSub>
                    <m:r>
                      <m:rPr>
                        <m:nor/>
                      </m:rPr>
                      <a:rPr lang="en-US" altLang="zh-CN" sz="2200" dirty="0"/>
                      <m:t>,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i="1" dirty="0">
                            <a:latin typeface="Cambria Math" panose="02040503050406030204" pitchFamily="18" charset="0"/>
                          </a:rPr>
                          <m:t>2</m:t>
                        </m:r>
                      </m:sub>
                    </m:sSub>
                    <m:r>
                      <m:rPr>
                        <m:nor/>
                      </m:rPr>
                      <a:rPr lang="en-US" altLang="zh-CN" sz="2200" dirty="0"/>
                      <m:t>, …,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b="0" i="1" dirty="0" smtClean="0">
                            <a:latin typeface="Cambria Math" panose="02040503050406030204" pitchFamily="18" charset="0"/>
                          </a:rPr>
                          <m:t>𝑛</m:t>
                        </m:r>
                      </m:sub>
                    </m:sSub>
                    <m:r>
                      <a:rPr lang="en-US" altLang="zh-CN" sz="2200" i="1" dirty="0">
                        <a:latin typeface="Cambria Math" panose="02040503050406030204" pitchFamily="18" charset="0"/>
                      </a:rPr>
                      <m:t> </m:t>
                    </m:r>
                  </m:oMath>
                </a14:m>
                <a:r>
                  <a:rPr lang="en-US" altLang="zh-CN" sz="2200" dirty="0"/>
                  <a:t>)</a:t>
                </a:r>
                <a:r>
                  <a:rPr lang="zh-CN" altLang="en-US" sz="2200" dirty="0"/>
                  <a:t>，其中 </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𝑦</m:t>
                        </m:r>
                      </m:e>
                      <m:sub>
                        <m:r>
                          <a:rPr lang="en-US" altLang="zh-CN" sz="2200" i="1" dirty="0">
                            <a:latin typeface="Cambria Math" panose="02040503050406030204" pitchFamily="18" charset="0"/>
                          </a:rPr>
                          <m:t>1</m:t>
                        </m:r>
                      </m:sub>
                    </m:sSub>
                    <m:r>
                      <m:rPr>
                        <m:nor/>
                      </m:rPr>
                      <a:rPr lang="en-US" altLang="zh-CN" sz="2200" dirty="0"/>
                      <m:t>, </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𝑦</m:t>
                        </m:r>
                      </m:e>
                      <m:sub>
                        <m:r>
                          <a:rPr lang="en-US" altLang="zh-CN" sz="2200" i="1" dirty="0">
                            <a:latin typeface="Cambria Math" panose="02040503050406030204" pitchFamily="18" charset="0"/>
                          </a:rPr>
                          <m:t>2</m:t>
                        </m:r>
                      </m:sub>
                    </m:sSub>
                    <m:r>
                      <m:rPr>
                        <m:nor/>
                      </m:rPr>
                      <a:rPr lang="en-US" altLang="zh-CN" sz="2200" dirty="0"/>
                      <m:t>, …, </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𝑦</m:t>
                        </m:r>
                      </m:e>
                      <m:sub>
                        <m:r>
                          <a:rPr lang="en-US" altLang="zh-CN" sz="2200" i="1" dirty="0">
                            <a:latin typeface="Cambria Math" panose="02040503050406030204" pitchFamily="18" charset="0"/>
                          </a:rPr>
                          <m:t>𝑛</m:t>
                        </m:r>
                      </m:sub>
                    </m:sSub>
                  </m:oMath>
                </a14:m>
                <a:r>
                  <a:rPr lang="zh-CN" altLang="en-US" sz="2200" dirty="0"/>
                  <a:t>取值在</a:t>
                </a:r>
                <a:r>
                  <a:rPr lang="en-US" altLang="zh-CN" sz="2200" dirty="0"/>
                  <a:t>[0, c-1]</a:t>
                </a:r>
                <a:r>
                  <a:rPr lang="zh-CN" altLang="en-US" sz="2200" dirty="0"/>
                  <a:t>之间的整数，</a:t>
                </a:r>
                <a:r>
                  <a:rPr lang="en-US" altLang="zh-CN" sz="2200" dirty="0"/>
                  <a:t>c </a:t>
                </a:r>
                <a:r>
                  <a:rPr lang="zh-CN" altLang="en-US" sz="2200" dirty="0"/>
                  <a:t>为类别的个数，</a:t>
                </a:r>
                <a:r>
                  <a:rPr lang="en-US" altLang="zh-CN" sz="2200" dirty="0"/>
                  <a:t>m </a:t>
                </a:r>
                <a:r>
                  <a:rPr lang="zh-CN" altLang="en-US" sz="2200" dirty="0"/>
                  <a:t>为特征的个数。</a:t>
                </a:r>
                <a:endParaRPr lang="en-US" altLang="zh-CN" sz="2200" dirty="0"/>
              </a:p>
              <a:p>
                <a:r>
                  <a:rPr lang="zh-CN" altLang="en-US" sz="2200" dirty="0"/>
                  <a:t>假设在 </a:t>
                </a:r>
                <a:r>
                  <a:rPr lang="en-US" altLang="zh-CN" sz="2200" dirty="0"/>
                  <a:t>X </a:t>
                </a:r>
                <a:r>
                  <a:rPr lang="zh-CN" altLang="en-US" sz="2200" dirty="0"/>
                  <a:t>输入模型后得到的输出是</a:t>
                </a:r>
                <a14:m>
                  <m:oMath xmlns:m="http://schemas.openxmlformats.org/officeDocument/2006/math">
                    <m:acc>
                      <m:accPr>
                        <m:chr m:val="̂"/>
                        <m:ctrlPr>
                          <a:rPr lang="zh-CN" altLang="en-US" sz="2200" i="1" smtClean="0">
                            <a:latin typeface="Cambria Math" panose="02040503050406030204" pitchFamily="18" charset="0"/>
                          </a:rPr>
                        </m:ctrlPr>
                      </m:accPr>
                      <m:e>
                        <m:r>
                          <a:rPr lang="en-US" altLang="zh-CN" sz="2200" b="0" i="1" smtClean="0">
                            <a:latin typeface="Cambria Math" panose="02040503050406030204" pitchFamily="18" charset="0"/>
                          </a:rPr>
                          <m:t>𝑌</m:t>
                        </m:r>
                      </m:e>
                    </m:acc>
                    <m:r>
                      <a:rPr lang="en-US" altLang="zh-CN" sz="2200" i="1">
                        <a:latin typeface="Cambria Math" panose="02040503050406030204" pitchFamily="18" charset="0"/>
                      </a:rPr>
                      <m:t> </m:t>
                    </m:r>
                  </m:oMath>
                </a14:m>
                <a:r>
                  <a:rPr lang="zh-CN" altLang="en-US" sz="2200" dirty="0"/>
                  <a:t>，易知</a:t>
                </a:r>
                <a14:m>
                  <m:oMath xmlns:m="http://schemas.openxmlformats.org/officeDocument/2006/math">
                    <m:acc>
                      <m:accPr>
                        <m:chr m:val="̂"/>
                        <m:ctrlPr>
                          <a:rPr lang="zh-CN" altLang="en-US" sz="2200" i="1">
                            <a:latin typeface="Cambria Math" panose="02040503050406030204" pitchFamily="18" charset="0"/>
                          </a:rPr>
                        </m:ctrlPr>
                      </m:accPr>
                      <m:e>
                        <m:r>
                          <a:rPr lang="en-US" altLang="zh-CN" sz="2200" b="0" i="1" smtClean="0">
                            <a:latin typeface="Cambria Math" panose="02040503050406030204" pitchFamily="18" charset="0"/>
                          </a:rPr>
                          <m:t>𝑌</m:t>
                        </m:r>
                      </m:e>
                    </m:acc>
                    <m:r>
                      <a:rPr lang="en-US" altLang="zh-CN" sz="2200" i="1">
                        <a:latin typeface="Cambria Math" panose="02040503050406030204" pitchFamily="18" charset="0"/>
                      </a:rPr>
                      <m:t> </m:t>
                    </m:r>
                  </m:oMath>
                </a14:m>
                <a:r>
                  <a:rPr lang="zh-CN" altLang="en-US" sz="2200" dirty="0"/>
                  <a:t>是一个 </a:t>
                </a:r>
                <a:r>
                  <a:rPr lang="en-US" altLang="zh-CN" sz="2200" dirty="0" err="1"/>
                  <a:t>n×c</a:t>
                </a:r>
                <a:r>
                  <a:rPr lang="en-US" altLang="zh-CN" sz="2200" dirty="0"/>
                  <a:t> </a:t>
                </a:r>
                <a:r>
                  <a:rPr lang="zh-CN" altLang="en-US" sz="2200" dirty="0"/>
                  <a:t>的矩阵，表示如下：</a:t>
                </a:r>
              </a:p>
            </p:txBody>
          </p:sp>
        </mc:Choice>
        <mc:Fallback xmlns="">
          <p:sp>
            <p:nvSpPr>
              <p:cNvPr id="6" name="文本框 5">
                <a:extLst>
                  <a:ext uri="{FF2B5EF4-FFF2-40B4-BE49-F238E27FC236}">
                    <a16:creationId xmlns:a16="http://schemas.microsoft.com/office/drawing/2014/main" id="{03974EA9-469E-9296-577D-DA50F0D6E5E0}"/>
                  </a:ext>
                </a:extLst>
              </p:cNvPr>
              <p:cNvSpPr txBox="1">
                <a:spLocks noRot="1" noChangeAspect="1" noMove="1" noResize="1" noEditPoints="1" noAdjustHandles="1" noChangeArrowheads="1" noChangeShapeType="1" noTextEdit="1"/>
              </p:cNvSpPr>
              <p:nvPr/>
            </p:nvSpPr>
            <p:spPr>
              <a:xfrm>
                <a:off x="335805" y="2029460"/>
                <a:ext cx="10589974" cy="1794337"/>
              </a:xfrm>
              <a:prstGeom prst="rect">
                <a:avLst/>
              </a:prstGeom>
              <a:blipFill>
                <a:blip r:embed="rId3"/>
                <a:stretch>
                  <a:fillRect l="-748" t="-2041" r="-748" b="-6463"/>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17D47EA7-2E41-E7EF-9850-7C4D48411DD4}"/>
              </a:ext>
            </a:extLst>
          </p:cNvPr>
          <p:cNvPicPr>
            <a:picLocks noChangeAspect="1"/>
          </p:cNvPicPr>
          <p:nvPr/>
        </p:nvPicPr>
        <p:blipFill>
          <a:blip r:embed="rId4"/>
          <a:stretch>
            <a:fillRect/>
          </a:stretch>
        </p:blipFill>
        <p:spPr>
          <a:xfrm>
            <a:off x="3261794" y="3874341"/>
            <a:ext cx="3505504" cy="1859441"/>
          </a:xfrm>
          <a:prstGeom prst="rect">
            <a:avLst/>
          </a:prstGeom>
        </p:spPr>
      </p:pic>
    </p:spTree>
    <p:extLst>
      <p:ext uri="{BB962C8B-B14F-4D97-AF65-F5344CB8AC3E}">
        <p14:creationId xmlns:p14="http://schemas.microsoft.com/office/powerpoint/2010/main" val="319051258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974EA9-469E-9296-577D-DA50F0D6E5E0}"/>
                  </a:ext>
                </a:extLst>
              </p:cNvPr>
              <p:cNvSpPr txBox="1"/>
              <p:nvPr/>
            </p:nvSpPr>
            <p:spPr>
              <a:xfrm>
                <a:off x="409203" y="2029460"/>
                <a:ext cx="10589974" cy="1107996"/>
              </a:xfrm>
              <a:prstGeom prst="rect">
                <a:avLst/>
              </a:prstGeom>
              <a:noFill/>
            </p:spPr>
            <p:txBody>
              <a:bodyPr wrap="square">
                <a:spAutoFit/>
              </a:bodyPr>
              <a:lstStyle/>
              <a:p>
                <a:r>
                  <a:rPr lang="zh-CN" altLang="en-US" sz="2200" dirty="0"/>
                  <a:t>然后，取出𝒀在第 </a:t>
                </a:r>
                <a:r>
                  <a:rPr lang="en-US" altLang="zh-CN" sz="2200" dirty="0"/>
                  <a:t>1 </a:t>
                </a:r>
                <a:r>
                  <a:rPr lang="zh-CN" altLang="en-US" sz="2200" dirty="0"/>
                  <a:t>至 </a:t>
                </a:r>
                <a:r>
                  <a:rPr lang="en-US" altLang="zh-CN" sz="2200" dirty="0"/>
                  <a:t>n </a:t>
                </a:r>
                <a:r>
                  <a:rPr lang="zh-CN" altLang="en-US" sz="2200" dirty="0"/>
                  <a:t>行中分别以 </a:t>
                </a:r>
                <a14:m>
                  <m:oMath xmlns:m="http://schemas.openxmlformats.org/officeDocument/2006/math">
                    <m:sSub>
                      <m:sSubPr>
                        <m:ctrlPr>
                          <a:rPr lang="en-US" altLang="zh-CN" sz="2200" i="1" dirty="0" smtClean="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i="1" dirty="0">
                            <a:latin typeface="Cambria Math" panose="02040503050406030204" pitchFamily="18" charset="0"/>
                          </a:rPr>
                          <m:t>1</m:t>
                        </m:r>
                      </m:sub>
                    </m:sSub>
                    <m:r>
                      <m:rPr>
                        <m:nor/>
                      </m:rPr>
                      <a:rPr lang="en-US" altLang="zh-CN" sz="2200" dirty="0"/>
                      <m:t>,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i="1" dirty="0">
                            <a:latin typeface="Cambria Math" panose="02040503050406030204" pitchFamily="18" charset="0"/>
                          </a:rPr>
                          <m:t>2</m:t>
                        </m:r>
                      </m:sub>
                    </m:sSub>
                    <m:r>
                      <m:rPr>
                        <m:nor/>
                      </m:rPr>
                      <a:rPr lang="en-US" altLang="zh-CN" sz="2200" dirty="0"/>
                      <m:t>, …, </m:t>
                    </m:r>
                    <m:sSub>
                      <m:sSubPr>
                        <m:ctrlPr>
                          <a:rPr lang="en-US" altLang="zh-CN" sz="2200" i="1" dirty="0">
                            <a:latin typeface="Cambria Math" panose="02040503050406030204" pitchFamily="18" charset="0"/>
                          </a:rPr>
                        </m:ctrlPr>
                      </m:sSubPr>
                      <m:e>
                        <m:r>
                          <a:rPr lang="en-US" altLang="zh-CN" sz="2200" b="0" i="1" dirty="0" smtClean="0">
                            <a:latin typeface="Cambria Math" panose="02040503050406030204" pitchFamily="18" charset="0"/>
                          </a:rPr>
                          <m:t>𝑦</m:t>
                        </m:r>
                      </m:e>
                      <m:sub>
                        <m:r>
                          <a:rPr lang="en-US" altLang="zh-CN" sz="2200" b="0" i="1" dirty="0" smtClean="0">
                            <a:latin typeface="Cambria Math" panose="02040503050406030204" pitchFamily="18" charset="0"/>
                          </a:rPr>
                          <m:t>𝑛</m:t>
                        </m:r>
                      </m:sub>
                    </m:sSub>
                  </m:oMath>
                </a14:m>
                <a:r>
                  <a:rPr lang="zh-CN" altLang="en-US" sz="2200" dirty="0"/>
                  <a:t>为下标的元素，接着按照上述方法分别计算它们的</a:t>
                </a:r>
                <a:r>
                  <a:rPr lang="zh-CN" altLang="en-US" sz="2200" b="1" dirty="0"/>
                  <a:t>交叉熵损失</a:t>
                </a:r>
                <a:r>
                  <a:rPr lang="zh-CN" altLang="en-US" sz="2200" dirty="0"/>
                  <a:t>函数的</a:t>
                </a:r>
                <a:r>
                  <a:rPr lang="zh-CN" altLang="en-US" sz="2200" b="1" dirty="0"/>
                  <a:t>值</a:t>
                </a:r>
                <a:r>
                  <a:rPr lang="zh-CN" altLang="en-US" sz="2200" dirty="0"/>
                  <a:t>，最后以这些损失函数值的</a:t>
                </a:r>
                <a:r>
                  <a:rPr lang="zh-CN" altLang="en-US" sz="2200" b="1" dirty="0"/>
                  <a:t>平均值</a:t>
                </a:r>
                <a:r>
                  <a:rPr lang="zh-CN" altLang="en-US" sz="2200" dirty="0"/>
                  <a:t>作为这个数据</a:t>
                </a:r>
                <a:r>
                  <a:rPr lang="zh-CN" altLang="en-US" sz="2200" b="1" dirty="0"/>
                  <a:t>批</a:t>
                </a:r>
                <a:r>
                  <a:rPr lang="zh-CN" altLang="en-US" sz="2200" dirty="0"/>
                  <a:t>量 </a:t>
                </a:r>
                <a:r>
                  <a:rPr lang="en-US" altLang="zh-CN" sz="2200" b="1" dirty="0"/>
                  <a:t>X</a:t>
                </a:r>
                <a:r>
                  <a:rPr lang="en-US" altLang="zh-CN" sz="2200" dirty="0"/>
                  <a:t> </a:t>
                </a:r>
                <a:r>
                  <a:rPr lang="zh-CN" altLang="en-US" sz="2200" dirty="0"/>
                  <a:t>的交叉熵损失函数值：：</a:t>
                </a:r>
              </a:p>
            </p:txBody>
          </p:sp>
        </mc:Choice>
        <mc:Fallback xmlns="">
          <p:sp>
            <p:nvSpPr>
              <p:cNvPr id="6" name="文本框 5">
                <a:extLst>
                  <a:ext uri="{FF2B5EF4-FFF2-40B4-BE49-F238E27FC236}">
                    <a16:creationId xmlns:a16="http://schemas.microsoft.com/office/drawing/2014/main" id="{03974EA9-469E-9296-577D-DA50F0D6E5E0}"/>
                  </a:ext>
                </a:extLst>
              </p:cNvPr>
              <p:cNvSpPr txBox="1">
                <a:spLocks noRot="1" noChangeAspect="1" noMove="1" noResize="1" noEditPoints="1" noAdjustHandles="1" noChangeArrowheads="1" noChangeShapeType="1" noTextEdit="1"/>
              </p:cNvSpPr>
              <p:nvPr/>
            </p:nvSpPr>
            <p:spPr>
              <a:xfrm>
                <a:off x="409203" y="2029460"/>
                <a:ext cx="10589974" cy="1107996"/>
              </a:xfrm>
              <a:prstGeom prst="rect">
                <a:avLst/>
              </a:prstGeom>
              <a:blipFill>
                <a:blip r:embed="rId3"/>
                <a:stretch>
                  <a:fillRect l="-748" t="-4945" r="-288" b="-10440"/>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A9C8DD3-AB2B-4EA0-3086-19799463D80D}"/>
              </a:ext>
            </a:extLst>
          </p:cNvPr>
          <p:cNvPicPr>
            <a:picLocks noChangeAspect="1"/>
          </p:cNvPicPr>
          <p:nvPr/>
        </p:nvPicPr>
        <p:blipFill>
          <a:blip r:embed="rId4"/>
          <a:stretch>
            <a:fillRect/>
          </a:stretch>
        </p:blipFill>
        <p:spPr>
          <a:xfrm>
            <a:off x="2430114" y="3597433"/>
            <a:ext cx="6401355" cy="883997"/>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8F18D02-36EE-5556-F4CA-E877D70AEE62}"/>
                  </a:ext>
                </a:extLst>
              </p:cNvPr>
              <p:cNvSpPr txBox="1"/>
              <p:nvPr/>
            </p:nvSpPr>
            <p:spPr>
              <a:xfrm>
                <a:off x="1714499" y="4954369"/>
                <a:ext cx="8088923" cy="440120"/>
              </a:xfrm>
              <a:prstGeom prst="rect">
                <a:avLst/>
              </a:prstGeom>
              <a:noFill/>
            </p:spPr>
            <p:txBody>
              <a:bodyPr wrap="square">
                <a:spAutoFit/>
              </a:bodyPr>
              <a:lstStyle/>
              <a:p>
                <a14:m>
                  <m:oMath xmlns:m="http://schemas.openxmlformats.org/officeDocument/2006/math">
                    <m:r>
                      <a:rPr lang="en-US" altLang="zh-CN" sz="2200" b="1" i="1" smtClean="0">
                        <a:latin typeface="Cambria Math" panose="02040503050406030204" pitchFamily="18" charset="0"/>
                      </a:rPr>
                      <m:t>𝓛</m:t>
                    </m:r>
                    <m:r>
                      <a:rPr lang="en-US" altLang="zh-CN" sz="2200" b="1" smtClean="0">
                        <a:latin typeface="Cambria Math" panose="02040503050406030204" pitchFamily="18" charset="0"/>
                      </a:rPr>
                      <m:t>(</m:t>
                    </m:r>
                    <m:acc>
                      <m:accPr>
                        <m:chr m:val="̂"/>
                        <m:ctrlPr>
                          <a:rPr lang="zh-CN" altLang="en-US" sz="2200" b="1" i="1">
                            <a:latin typeface="Cambria Math" panose="02040503050406030204" pitchFamily="18" charset="0"/>
                          </a:rPr>
                        </m:ctrlPr>
                      </m:accPr>
                      <m:e>
                        <m:r>
                          <a:rPr lang="en-US" altLang="zh-CN" sz="2200" b="1" i="1">
                            <a:latin typeface="Cambria Math" panose="02040503050406030204" pitchFamily="18" charset="0"/>
                          </a:rPr>
                          <m:t>𝐘</m:t>
                        </m:r>
                      </m:e>
                    </m:acc>
                    <m:r>
                      <a:rPr lang="en-US" altLang="zh-CN" sz="2200" b="1">
                        <a:latin typeface="Cambria Math" panose="02040503050406030204" pitchFamily="18" charset="0"/>
                      </a:rPr>
                      <m:t>,</m:t>
                    </m:r>
                    <m:r>
                      <a:rPr lang="en-US" altLang="zh-CN" sz="2200" b="1" i="1">
                        <a:latin typeface="Cambria Math" panose="02040503050406030204" pitchFamily="18" charset="0"/>
                      </a:rPr>
                      <m:t>𝐘</m:t>
                    </m:r>
                    <m:r>
                      <a:rPr lang="en-US" altLang="zh-CN" sz="2200" b="1">
                        <a:latin typeface="Cambria Math" panose="02040503050406030204" pitchFamily="18" charset="0"/>
                      </a:rPr>
                      <m:t>)</m:t>
                    </m:r>
                  </m:oMath>
                </a14:m>
                <a:r>
                  <a:rPr lang="zh-CN" altLang="en-US" sz="2200" dirty="0"/>
                  <a:t>就是数据批量 </a:t>
                </a:r>
                <a:r>
                  <a:rPr lang="en-US" altLang="zh-CN" sz="2200" dirty="0"/>
                  <a:t>X </a:t>
                </a:r>
                <a:r>
                  <a:rPr lang="zh-CN" altLang="en-US" sz="2200" dirty="0"/>
                  <a:t>的</a:t>
                </a:r>
                <a:r>
                  <a:rPr lang="zh-CN" altLang="en-US" sz="2200" dirty="0">
                    <a:solidFill>
                      <a:srgbClr val="0033CC"/>
                    </a:solidFill>
                  </a:rPr>
                  <a:t>交叉熵损失函数</a:t>
                </a:r>
                <a:r>
                  <a:rPr lang="zh-CN" altLang="en-US" sz="2200" dirty="0"/>
                  <a:t>，其中</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为模型的输出。</a:t>
                </a:r>
              </a:p>
            </p:txBody>
          </p:sp>
        </mc:Choice>
        <mc:Fallback xmlns="">
          <p:sp>
            <p:nvSpPr>
              <p:cNvPr id="7" name="文本框 6">
                <a:extLst>
                  <a:ext uri="{FF2B5EF4-FFF2-40B4-BE49-F238E27FC236}">
                    <a16:creationId xmlns:a16="http://schemas.microsoft.com/office/drawing/2014/main" id="{B8F18D02-36EE-5556-F4CA-E877D70AEE62}"/>
                  </a:ext>
                </a:extLst>
              </p:cNvPr>
              <p:cNvSpPr txBox="1">
                <a:spLocks noRot="1" noChangeAspect="1" noMove="1" noResize="1" noEditPoints="1" noAdjustHandles="1" noChangeArrowheads="1" noChangeShapeType="1" noTextEdit="1"/>
              </p:cNvSpPr>
              <p:nvPr/>
            </p:nvSpPr>
            <p:spPr>
              <a:xfrm>
                <a:off x="1714499" y="4954369"/>
                <a:ext cx="8088923" cy="440120"/>
              </a:xfrm>
              <a:prstGeom prst="rect">
                <a:avLst/>
              </a:prstGeom>
              <a:blipFill>
                <a:blip r:embed="rId5"/>
                <a:stretch>
                  <a:fillRect l="-75" t="-6944" r="-4371" b="-29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4861346"/>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974EA9-469E-9296-577D-DA50F0D6E5E0}"/>
                  </a:ext>
                </a:extLst>
              </p:cNvPr>
              <p:cNvSpPr txBox="1"/>
              <p:nvPr/>
            </p:nvSpPr>
            <p:spPr>
              <a:xfrm>
                <a:off x="335805" y="2029460"/>
                <a:ext cx="10589974" cy="4164217"/>
              </a:xfrm>
              <a:prstGeom prst="rect">
                <a:avLst/>
              </a:prstGeom>
              <a:noFill/>
            </p:spPr>
            <p:txBody>
              <a:bodyPr wrap="square">
                <a:spAutoFit/>
              </a:bodyPr>
              <a:lstStyle/>
              <a:p>
                <a:r>
                  <a:rPr lang="zh-CN" altLang="en-US" sz="2200" dirty="0"/>
                  <a:t>在</a:t>
                </a:r>
                <a:r>
                  <a:rPr lang="zh-CN" altLang="en-US" sz="2200" b="1" dirty="0"/>
                  <a:t> </a:t>
                </a:r>
                <a:r>
                  <a:rPr lang="en-US" altLang="zh-CN" sz="2200" b="1" dirty="0" err="1"/>
                  <a:t>PyTorch</a:t>
                </a:r>
                <a:r>
                  <a:rPr lang="en-US" altLang="zh-CN" sz="2200" b="1" dirty="0"/>
                  <a:t> </a:t>
                </a:r>
                <a:r>
                  <a:rPr lang="zh-CN" altLang="en-US" sz="2200" dirty="0"/>
                  <a:t>中，𝒀可理解为二维实值</a:t>
                </a:r>
                <a:r>
                  <a:rPr lang="zh-CN" altLang="en-US" sz="2200" b="1" dirty="0"/>
                  <a:t>张量</a:t>
                </a:r>
                <a:r>
                  <a:rPr lang="zh-CN" altLang="en-US" sz="2200" dirty="0"/>
                  <a:t>，其中第一维的大小为 </a:t>
                </a:r>
                <a:r>
                  <a:rPr lang="en-US" altLang="zh-CN" sz="2200" dirty="0"/>
                  <a:t>n</a:t>
                </a:r>
                <a:r>
                  <a:rPr lang="zh-CN" altLang="en-US" sz="2200" dirty="0"/>
                  <a:t>，第二维的大小为 </a:t>
                </a:r>
                <a:r>
                  <a:rPr lang="en-US" altLang="zh-CN" sz="2200" dirty="0"/>
                  <a:t>c</a:t>
                </a:r>
                <a:r>
                  <a:rPr lang="zh-CN" altLang="en-US" sz="2200" dirty="0"/>
                  <a:t>；</a:t>
                </a:r>
                <a:r>
                  <a:rPr lang="en-US" altLang="zh-CN" sz="2200" dirty="0"/>
                  <a:t>Y </a:t>
                </a:r>
                <a:r>
                  <a:rPr lang="zh-CN" altLang="en-US" sz="2200" dirty="0"/>
                  <a:t>理解为一维整型张量，其维的大小为 </a:t>
                </a:r>
                <a:r>
                  <a:rPr lang="en-US" altLang="zh-CN" sz="2200" dirty="0"/>
                  <a:t>n</a:t>
                </a:r>
                <a:r>
                  <a:rPr lang="zh-CN" altLang="en-US" sz="2200" dirty="0"/>
                  <a:t>。于是，我们可用 </a:t>
                </a:r>
                <a:r>
                  <a:rPr lang="en-US" altLang="zh-CN" sz="2200" b="1" dirty="0" err="1"/>
                  <a:t>nn.CrossEntropyLoss</a:t>
                </a:r>
                <a:r>
                  <a:rPr lang="en-US" altLang="zh-CN" sz="2200" b="1" dirty="0"/>
                  <a:t>()</a:t>
                </a:r>
                <a:r>
                  <a:rPr lang="zh-CN" altLang="en-US" sz="2200" dirty="0"/>
                  <a:t>函数来计算交叉熵损失函数</a:t>
                </a:r>
                <a14:m>
                  <m:oMath xmlns:m="http://schemas.openxmlformats.org/officeDocument/2006/math">
                    <m:r>
                      <a:rPr lang="en-US" altLang="zh-CN" sz="2200">
                        <a:latin typeface="Cambria Math" panose="02040503050406030204" pitchFamily="18" charset="0"/>
                      </a:rPr>
                      <m:t>ℒ</m:t>
                    </m:r>
                    <m:r>
                      <a:rPr lang="en-US" altLang="zh-CN" sz="220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lang="zh-CN" altLang="en-US" sz="2200" dirty="0"/>
                  <a:t>的值。</a:t>
                </a:r>
                <a:endParaRPr lang="en-US" altLang="zh-CN" sz="2200" dirty="0"/>
              </a:p>
              <a:p>
                <a:endParaRPr lang="en-US" altLang="zh-CN" sz="2200" dirty="0"/>
              </a:p>
              <a:p>
                <a:pPr>
                  <a:lnSpc>
                    <a:spcPct val="150000"/>
                  </a:lnSpc>
                </a:pPr>
                <a:r>
                  <a:rPr lang="zh-CN" altLang="en-US" sz="2200" dirty="0"/>
                  <a:t>例如，给定如下两个张量 </a:t>
                </a:r>
                <a:r>
                  <a:rPr lang="en-US" altLang="zh-CN" sz="2200" dirty="0" err="1"/>
                  <a:t>pre_y</a:t>
                </a:r>
                <a:r>
                  <a:rPr lang="en-US" altLang="zh-CN" sz="2200" dirty="0"/>
                  <a:t> </a:t>
                </a:r>
                <a:r>
                  <a:rPr lang="zh-CN" altLang="en-US" sz="2200" dirty="0"/>
                  <a:t>和 </a:t>
                </a:r>
                <a:r>
                  <a:rPr lang="en-US" altLang="zh-CN" sz="2200" dirty="0"/>
                  <a:t>y</a:t>
                </a:r>
                <a:r>
                  <a:rPr lang="zh-CN" altLang="en-US" sz="2200" dirty="0"/>
                  <a:t>（分别对应上述公式中的෡和𝒀）：</a:t>
                </a:r>
                <a:endParaRPr lang="en-US" altLang="zh-CN" sz="2200" dirty="0"/>
              </a:p>
              <a:p>
                <a:pPr>
                  <a:lnSpc>
                    <a:spcPct val="150000"/>
                  </a:lnSpc>
                </a:pPr>
                <a:r>
                  <a:rPr lang="en-US" altLang="zh-CN" sz="2200" dirty="0" err="1">
                    <a:solidFill>
                      <a:srgbClr val="00B050"/>
                    </a:solidFill>
                  </a:rPr>
                  <a:t>pre_y</a:t>
                </a:r>
                <a:r>
                  <a:rPr lang="en-US" altLang="zh-CN" sz="2200" dirty="0">
                    <a:solidFill>
                      <a:srgbClr val="00B050"/>
                    </a:solidFill>
                  </a:rPr>
                  <a:t> = [[5, 9, 5, 5],</a:t>
                </a:r>
              </a:p>
              <a:p>
                <a:r>
                  <a:rPr lang="en-US" altLang="zh-CN" sz="2200" dirty="0">
                    <a:solidFill>
                      <a:srgbClr val="00B050"/>
                    </a:solidFill>
                  </a:rPr>
                  <a:t>                [9, 8, 7, 9],</a:t>
                </a:r>
              </a:p>
              <a:p>
                <a:r>
                  <a:rPr lang="en-US" altLang="zh-CN" sz="2200" dirty="0">
                    <a:solidFill>
                      <a:srgbClr val="00B050"/>
                    </a:solidFill>
                  </a:rPr>
                  <a:t>                [7, 5, 6, 5]]</a:t>
                </a:r>
              </a:p>
              <a:p>
                <a:r>
                  <a:rPr lang="en-US" altLang="zh-CN" sz="2200" dirty="0">
                    <a:solidFill>
                      <a:srgbClr val="00B050"/>
                    </a:solidFill>
                  </a:rPr>
                  <a:t>y = [0, 1, 2]                                  #</a:t>
                </a:r>
                <a:r>
                  <a:rPr lang="zh-CN" altLang="en-US" sz="2200" dirty="0">
                    <a:solidFill>
                      <a:srgbClr val="00B050"/>
                    </a:solidFill>
                  </a:rPr>
                  <a:t>分别指向第 </a:t>
                </a:r>
                <a:r>
                  <a:rPr lang="en-US" altLang="zh-CN" sz="2200" dirty="0">
                    <a:solidFill>
                      <a:srgbClr val="00B050"/>
                    </a:solidFill>
                  </a:rPr>
                  <a:t>1 </a:t>
                </a:r>
                <a:r>
                  <a:rPr lang="zh-CN" altLang="en-US" sz="2200" dirty="0">
                    <a:solidFill>
                      <a:srgbClr val="00B050"/>
                    </a:solidFill>
                  </a:rPr>
                  <a:t>行中的 </a:t>
                </a:r>
                <a:r>
                  <a:rPr lang="en-US" altLang="zh-CN" sz="2200" dirty="0">
                    <a:solidFill>
                      <a:srgbClr val="00B050"/>
                    </a:solidFill>
                  </a:rPr>
                  <a:t>5</a:t>
                </a:r>
                <a:r>
                  <a:rPr lang="zh-CN" altLang="en-US" sz="2200" dirty="0">
                    <a:solidFill>
                      <a:srgbClr val="00B050"/>
                    </a:solidFill>
                  </a:rPr>
                  <a:t>、第 </a:t>
                </a:r>
                <a:r>
                  <a:rPr lang="en-US" altLang="zh-CN" sz="2200" dirty="0">
                    <a:solidFill>
                      <a:srgbClr val="00B050"/>
                    </a:solidFill>
                  </a:rPr>
                  <a:t>2 </a:t>
                </a:r>
                <a:r>
                  <a:rPr lang="zh-CN" altLang="en-US" sz="2200" dirty="0">
                    <a:solidFill>
                      <a:srgbClr val="00B050"/>
                    </a:solidFill>
                  </a:rPr>
                  <a:t>行中的 </a:t>
                </a:r>
                <a:r>
                  <a:rPr lang="en-US" altLang="zh-CN" sz="2200" dirty="0">
                    <a:solidFill>
                      <a:srgbClr val="00B050"/>
                    </a:solidFill>
                  </a:rPr>
                  <a:t>8 </a:t>
                </a:r>
                <a:r>
                  <a:rPr lang="zh-CN" altLang="en-US" sz="2200" dirty="0">
                    <a:solidFill>
                      <a:srgbClr val="00B050"/>
                    </a:solidFill>
                  </a:rPr>
                  <a:t>和第 </a:t>
                </a:r>
                <a:r>
                  <a:rPr lang="en-US" altLang="zh-CN" sz="2200" dirty="0">
                    <a:solidFill>
                      <a:srgbClr val="00B050"/>
                    </a:solidFill>
                  </a:rPr>
                  <a:t>3 </a:t>
                </a:r>
                <a:r>
                  <a:rPr lang="zh-CN" altLang="en-US" sz="2200" dirty="0">
                    <a:solidFill>
                      <a:srgbClr val="00B050"/>
                    </a:solidFill>
                  </a:rPr>
                  <a:t>行中的 </a:t>
                </a:r>
                <a:r>
                  <a:rPr lang="en-US" altLang="zh-CN" sz="2200" dirty="0">
                    <a:solidFill>
                      <a:srgbClr val="00B050"/>
                    </a:solidFill>
                  </a:rPr>
                  <a:t>6</a:t>
                </a:r>
              </a:p>
              <a:p>
                <a:r>
                  <a:rPr lang="en-US" altLang="zh-CN" sz="2200" dirty="0" err="1">
                    <a:solidFill>
                      <a:srgbClr val="00B050"/>
                    </a:solidFill>
                  </a:rPr>
                  <a:t>pre_y</a:t>
                </a:r>
                <a:r>
                  <a:rPr lang="en-US" altLang="zh-CN" sz="2200" dirty="0">
                    <a:solidFill>
                      <a:srgbClr val="00B050"/>
                    </a:solidFill>
                  </a:rPr>
                  <a:t> = </a:t>
                </a:r>
                <a:r>
                  <a:rPr lang="en-US" altLang="zh-CN" sz="2200" dirty="0" err="1">
                    <a:solidFill>
                      <a:srgbClr val="00B050"/>
                    </a:solidFill>
                  </a:rPr>
                  <a:t>torch.Tensor</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a:t>
                </a:r>
                <a:r>
                  <a:rPr lang="zh-CN" altLang="en-US" sz="2200" dirty="0">
                    <a:solidFill>
                      <a:srgbClr val="00B050"/>
                    </a:solidFill>
                  </a:rPr>
                  <a:t>张量化</a:t>
                </a:r>
              </a:p>
              <a:p>
                <a:r>
                  <a:rPr lang="en-US" altLang="zh-CN" sz="2200" dirty="0">
                    <a:solidFill>
                      <a:srgbClr val="00B050"/>
                    </a:solidFill>
                  </a:rPr>
                  <a:t>y = </a:t>
                </a:r>
                <a:r>
                  <a:rPr lang="en-US" altLang="zh-CN" sz="2200" dirty="0" err="1">
                    <a:solidFill>
                      <a:srgbClr val="00B050"/>
                    </a:solidFill>
                  </a:rPr>
                  <a:t>torch.LongTensor</a:t>
                </a:r>
                <a:r>
                  <a:rPr lang="en-US" altLang="zh-CN" sz="2200" dirty="0">
                    <a:solidFill>
                      <a:srgbClr val="00B050"/>
                    </a:solidFill>
                  </a:rPr>
                  <a:t>(y)</a:t>
                </a:r>
              </a:p>
            </p:txBody>
          </p:sp>
        </mc:Choice>
        <mc:Fallback xmlns="">
          <p:sp>
            <p:nvSpPr>
              <p:cNvPr id="6" name="文本框 5">
                <a:extLst>
                  <a:ext uri="{FF2B5EF4-FFF2-40B4-BE49-F238E27FC236}">
                    <a16:creationId xmlns:a16="http://schemas.microsoft.com/office/drawing/2014/main" id="{03974EA9-469E-9296-577D-DA50F0D6E5E0}"/>
                  </a:ext>
                </a:extLst>
              </p:cNvPr>
              <p:cNvSpPr txBox="1">
                <a:spLocks noRot="1" noChangeAspect="1" noMove="1" noResize="1" noEditPoints="1" noAdjustHandles="1" noChangeArrowheads="1" noChangeShapeType="1" noTextEdit="1"/>
              </p:cNvSpPr>
              <p:nvPr/>
            </p:nvSpPr>
            <p:spPr>
              <a:xfrm>
                <a:off x="335805" y="2029460"/>
                <a:ext cx="10589974" cy="4164217"/>
              </a:xfrm>
              <a:prstGeom prst="rect">
                <a:avLst/>
              </a:prstGeom>
              <a:blipFill>
                <a:blip r:embed="rId3"/>
                <a:stretch>
                  <a:fillRect l="-748" t="-1318" r="-2130" b="-1903"/>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E13BC1C1-2A4B-4F34-ACD9-59889E809030}"/>
              </a:ext>
            </a:extLst>
          </p:cNvPr>
          <p:cNvPicPr>
            <a:picLocks noChangeAspect="1"/>
          </p:cNvPicPr>
          <p:nvPr/>
        </p:nvPicPr>
        <p:blipFill>
          <a:blip r:embed="rId4"/>
          <a:stretch>
            <a:fillRect/>
          </a:stretch>
        </p:blipFill>
        <p:spPr>
          <a:xfrm>
            <a:off x="7843837" y="3529012"/>
            <a:ext cx="238125" cy="333375"/>
          </a:xfrm>
          <a:prstGeom prst="rect">
            <a:avLst/>
          </a:prstGeom>
        </p:spPr>
      </p:pic>
    </p:spTree>
    <p:extLst>
      <p:ext uri="{BB962C8B-B14F-4D97-AF65-F5344CB8AC3E}">
        <p14:creationId xmlns:p14="http://schemas.microsoft.com/office/powerpoint/2010/main" val="2242815461"/>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6" name="文本框 5">
            <a:extLst>
              <a:ext uri="{FF2B5EF4-FFF2-40B4-BE49-F238E27FC236}">
                <a16:creationId xmlns:a16="http://schemas.microsoft.com/office/drawing/2014/main" id="{03974EA9-469E-9296-577D-DA50F0D6E5E0}"/>
              </a:ext>
            </a:extLst>
          </p:cNvPr>
          <p:cNvSpPr txBox="1"/>
          <p:nvPr/>
        </p:nvSpPr>
        <p:spPr>
          <a:xfrm>
            <a:off x="335805" y="2029460"/>
            <a:ext cx="10589974" cy="886268"/>
          </a:xfrm>
          <a:prstGeom prst="rect">
            <a:avLst/>
          </a:prstGeom>
          <a:noFill/>
        </p:spPr>
        <p:txBody>
          <a:bodyPr wrap="square">
            <a:spAutoFit/>
          </a:bodyPr>
          <a:lstStyle/>
          <a:p>
            <a:r>
              <a:rPr lang="zh-CN" altLang="en-US" sz="2200" dirty="0"/>
              <a:t>然后，执行下列语句：</a:t>
            </a:r>
            <a:endParaRPr lang="en-US" altLang="zh-CN" sz="2200" dirty="0"/>
          </a:p>
          <a:p>
            <a:pPr>
              <a:lnSpc>
                <a:spcPct val="150000"/>
              </a:lnSpc>
            </a:pPr>
            <a:r>
              <a:rPr lang="es-ES" altLang="zh-CN" sz="2200" dirty="0">
                <a:solidFill>
                  <a:srgbClr val="00B050"/>
                </a:solidFill>
              </a:rPr>
              <a:t>loss = nn.CrossEntropyLoss()(pre_y, y) </a:t>
            </a:r>
            <a:endParaRPr lang="en-US" altLang="zh-CN" sz="2200" dirty="0">
              <a:solidFill>
                <a:srgbClr val="00B050"/>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292B5DF-B1D3-9633-FF7D-8BB3887DB278}"/>
                  </a:ext>
                </a:extLst>
              </p:cNvPr>
              <p:cNvSpPr txBox="1"/>
              <p:nvPr/>
            </p:nvSpPr>
            <p:spPr>
              <a:xfrm>
                <a:off x="335804" y="2986286"/>
                <a:ext cx="7885003" cy="1046440"/>
              </a:xfrm>
              <a:prstGeom prst="rect">
                <a:avLst/>
              </a:prstGeom>
              <a:noFill/>
            </p:spPr>
            <p:txBody>
              <a:bodyPr wrap="square">
                <a:spAutoFit/>
              </a:bodyPr>
              <a:lstStyle/>
              <a:p>
                <a:r>
                  <a:rPr lang="zh-CN" altLang="en-US" sz="2200" dirty="0"/>
                  <a:t>结果 </a:t>
                </a:r>
                <a:r>
                  <a:rPr lang="en-US" altLang="zh-CN" sz="2200" dirty="0"/>
                  <a:t>loss </a:t>
                </a:r>
                <a:r>
                  <a:rPr lang="zh-CN" altLang="en-US" sz="2200" dirty="0"/>
                  <a:t>的值为 </a:t>
                </a:r>
                <a:r>
                  <a:rPr lang="en-US" altLang="zh-CN" sz="2200" b="1" dirty="0"/>
                  <a:t>2.4883</a:t>
                </a:r>
                <a:r>
                  <a:rPr lang="zh-CN" altLang="en-US" sz="2200" dirty="0"/>
                  <a:t>。 </a:t>
                </a:r>
                <a:endParaRPr lang="en-US" altLang="zh-CN" sz="2200" dirty="0"/>
              </a:p>
              <a:p>
                <a:r>
                  <a:rPr lang="zh-CN" altLang="en-US" sz="2200" dirty="0"/>
                  <a:t>如果按照上述</a:t>
                </a:r>
                <a14:m>
                  <m:oMath xmlns:m="http://schemas.openxmlformats.org/officeDocument/2006/math">
                    <m:r>
                      <a:rPr lang="en-US" altLang="zh-CN" sz="2200" smtClean="0">
                        <a:latin typeface="Cambria Math" panose="02040503050406030204" pitchFamily="18" charset="0"/>
                      </a:rPr>
                      <m:t>ℒ</m:t>
                    </m:r>
                    <m:r>
                      <a:rPr lang="en-US" altLang="zh-CN" sz="2200" smtClean="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lang="zh-CN" altLang="en-US" sz="2200" dirty="0"/>
                  <a:t>的公式，则得到如下的计算表达式： </a:t>
                </a:r>
                <a:endParaRPr lang="en-US" altLang="zh-CN" sz="2200" dirty="0"/>
              </a:p>
              <a:p>
                <a:endParaRPr lang="en-US" altLang="zh-CN" sz="1800" dirty="0"/>
              </a:p>
            </p:txBody>
          </p:sp>
        </mc:Choice>
        <mc:Fallback xmlns="">
          <p:sp>
            <p:nvSpPr>
              <p:cNvPr id="3" name="文本框 2">
                <a:extLst>
                  <a:ext uri="{FF2B5EF4-FFF2-40B4-BE49-F238E27FC236}">
                    <a16:creationId xmlns:a16="http://schemas.microsoft.com/office/drawing/2014/main" id="{2292B5DF-B1D3-9633-FF7D-8BB3887DB278}"/>
                  </a:ext>
                </a:extLst>
              </p:cNvPr>
              <p:cNvSpPr txBox="1">
                <a:spLocks noRot="1" noChangeAspect="1" noMove="1" noResize="1" noEditPoints="1" noAdjustHandles="1" noChangeArrowheads="1" noChangeShapeType="1" noTextEdit="1"/>
              </p:cNvSpPr>
              <p:nvPr/>
            </p:nvSpPr>
            <p:spPr>
              <a:xfrm>
                <a:off x="335804" y="2986286"/>
                <a:ext cx="7885003" cy="1046440"/>
              </a:xfrm>
              <a:prstGeom prst="rect">
                <a:avLst/>
              </a:prstGeom>
              <a:blipFill>
                <a:blip r:embed="rId3"/>
                <a:stretch>
                  <a:fillRect l="-1005" t="-407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C1A41CAD-3640-479C-1F6A-6AAD20FBBB0C}"/>
              </a:ext>
            </a:extLst>
          </p:cNvPr>
          <p:cNvPicPr>
            <a:picLocks noChangeAspect="1"/>
          </p:cNvPicPr>
          <p:nvPr/>
        </p:nvPicPr>
        <p:blipFill>
          <a:blip r:embed="rId4"/>
          <a:stretch>
            <a:fillRect/>
          </a:stretch>
        </p:blipFill>
        <p:spPr>
          <a:xfrm>
            <a:off x="361693" y="3749096"/>
            <a:ext cx="8382726" cy="754445"/>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F498029-E516-DB51-6B86-1602B41D9A84}"/>
                  </a:ext>
                </a:extLst>
              </p:cNvPr>
              <p:cNvSpPr txBox="1"/>
              <p:nvPr/>
            </p:nvSpPr>
            <p:spPr>
              <a:xfrm>
                <a:off x="335804" y="4698165"/>
                <a:ext cx="9323881" cy="778675"/>
              </a:xfrm>
              <a:prstGeom prst="rect">
                <a:avLst/>
              </a:prstGeom>
              <a:noFill/>
            </p:spPr>
            <p:txBody>
              <a:bodyPr wrap="square">
                <a:spAutoFit/>
              </a:bodyPr>
              <a:lstStyle/>
              <a:p>
                <a:r>
                  <a:rPr kumimoji="0" lang="zh-CN" altLang="en-US"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计算结果为 </a:t>
                </a:r>
                <a:r>
                  <a:rPr kumimoji="0" lang="en-US" altLang="zh-CN" sz="2200" b="1"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2.4883</a:t>
                </a:r>
                <a:r>
                  <a:rPr kumimoji="0" lang="zh-CN" altLang="en-US"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，这与 </a:t>
                </a:r>
                <a:r>
                  <a:rPr kumimoji="0" lang="en-US" altLang="zh-CN" sz="2200" b="0" i="0"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nn.CrossEntropyLoss</a:t>
                </a:r>
                <a:r>
                  <a:rPr kumimoji="0" lang="en-US" altLang="zh-CN"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zh-CN" altLang="en-US"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计算的结果是一样的。这说明，</a:t>
                </a:r>
                <a:r>
                  <a:rPr lang="en-US" altLang="zh-CN" sz="2200" dirty="0"/>
                  <a:t> </a:t>
                </a:r>
                <a14:m>
                  <m:oMath xmlns:m="http://schemas.openxmlformats.org/officeDocument/2006/math">
                    <m:r>
                      <a:rPr lang="en-US" altLang="zh-CN" sz="2200" smtClean="0">
                        <a:latin typeface="Cambria Math" panose="02040503050406030204" pitchFamily="18" charset="0"/>
                      </a:rPr>
                      <m:t>ℒ</m:t>
                    </m:r>
                    <m:r>
                      <a:rPr lang="en-US" altLang="zh-CN" sz="2200" smtClean="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kumimoji="0" lang="zh-CN" altLang="en-US"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和 </a:t>
                </a:r>
                <a:r>
                  <a:rPr kumimoji="0" lang="en-US" altLang="zh-CN" sz="2200" b="0" i="0"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nn.CrossEntropyLoss</a:t>
                </a:r>
                <a:r>
                  <a:rPr kumimoji="0" lang="en-US" altLang="zh-CN"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a:t>
                </a:r>
                <a:r>
                  <a:rPr kumimoji="0" lang="en-US" altLang="zh-CN" sz="2200" b="0" i="0"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pre_y</a:t>
                </a:r>
                <a:r>
                  <a:rPr kumimoji="0" lang="en-US" altLang="zh-CN"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y)</a:t>
                </a:r>
                <a:r>
                  <a:rPr kumimoji="0" lang="zh-CN" altLang="en-US" sz="2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确实是表达相同的含义。</a:t>
                </a:r>
                <a:endParaRPr lang="zh-CN" altLang="en-US" dirty="0"/>
              </a:p>
            </p:txBody>
          </p:sp>
        </mc:Choice>
        <mc:Fallback xmlns="">
          <p:sp>
            <p:nvSpPr>
              <p:cNvPr id="13" name="文本框 12">
                <a:extLst>
                  <a:ext uri="{FF2B5EF4-FFF2-40B4-BE49-F238E27FC236}">
                    <a16:creationId xmlns:a16="http://schemas.microsoft.com/office/drawing/2014/main" id="{3F498029-E516-DB51-6B86-1602B41D9A84}"/>
                  </a:ext>
                </a:extLst>
              </p:cNvPr>
              <p:cNvSpPr txBox="1">
                <a:spLocks noRot="1" noChangeAspect="1" noMove="1" noResize="1" noEditPoints="1" noAdjustHandles="1" noChangeArrowheads="1" noChangeShapeType="1" noTextEdit="1"/>
              </p:cNvSpPr>
              <p:nvPr/>
            </p:nvSpPr>
            <p:spPr>
              <a:xfrm>
                <a:off x="335804" y="4698165"/>
                <a:ext cx="9323881" cy="778675"/>
              </a:xfrm>
              <a:prstGeom prst="rect">
                <a:avLst/>
              </a:prstGeom>
              <a:blipFill>
                <a:blip r:embed="rId5"/>
                <a:stretch>
                  <a:fillRect l="-850" t="-5512" b="-165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27782435"/>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6" name="文本框 5">
            <a:extLst>
              <a:ext uri="{FF2B5EF4-FFF2-40B4-BE49-F238E27FC236}">
                <a16:creationId xmlns:a16="http://schemas.microsoft.com/office/drawing/2014/main" id="{03974EA9-469E-9296-577D-DA50F0D6E5E0}"/>
              </a:ext>
            </a:extLst>
          </p:cNvPr>
          <p:cNvSpPr txBox="1"/>
          <p:nvPr/>
        </p:nvSpPr>
        <p:spPr>
          <a:xfrm>
            <a:off x="335804" y="2029460"/>
            <a:ext cx="11032649" cy="3970318"/>
          </a:xfrm>
          <a:prstGeom prst="rect">
            <a:avLst/>
          </a:prstGeom>
          <a:noFill/>
        </p:spPr>
        <p:txBody>
          <a:bodyPr wrap="square">
            <a:spAutoFit/>
          </a:bodyPr>
          <a:lstStyle/>
          <a:p>
            <a:r>
              <a:rPr lang="zh-CN" altLang="en-US" sz="2200" dirty="0"/>
              <a:t>从上述公式推导中也可以看出，</a:t>
            </a:r>
            <a:r>
              <a:rPr lang="en-US" altLang="zh-CN" sz="2200" b="1" dirty="0" err="1"/>
              <a:t>nn.CrossEntropyLoss</a:t>
            </a:r>
            <a:r>
              <a:rPr lang="en-US" altLang="zh-CN" sz="2200" b="1" dirty="0"/>
              <a:t>(</a:t>
            </a:r>
            <a:r>
              <a:rPr lang="en-US" altLang="zh-CN" sz="2200" b="1" dirty="0" err="1"/>
              <a:t>pre_y</a:t>
            </a:r>
            <a:r>
              <a:rPr lang="en-US" altLang="zh-CN" sz="2200" b="1" dirty="0"/>
              <a:t>, y)</a:t>
            </a:r>
            <a:r>
              <a:rPr lang="zh-CN" altLang="en-US" sz="2200" dirty="0"/>
              <a:t>的计算过程大致分为三步：</a:t>
            </a:r>
            <a:endParaRPr lang="en-US" altLang="zh-CN" sz="2200" dirty="0"/>
          </a:p>
          <a:p>
            <a:endParaRPr lang="zh-CN" altLang="en-US" dirty="0">
              <a:solidFill>
                <a:srgbClr val="00B050"/>
              </a:solidFill>
            </a:endParaRPr>
          </a:p>
          <a:p>
            <a:r>
              <a:rPr lang="zh-CN" altLang="en-US" sz="2200" dirty="0"/>
              <a:t>（</a:t>
            </a:r>
            <a:r>
              <a:rPr lang="en-US" altLang="zh-CN" sz="2200" dirty="0"/>
              <a:t>1</a:t>
            </a:r>
            <a:r>
              <a:rPr lang="zh-CN" altLang="en-US" sz="2200" dirty="0"/>
              <a:t>）按水平方向计算矩阵 </a:t>
            </a:r>
            <a:r>
              <a:rPr lang="en-US" altLang="zh-CN" sz="2200" dirty="0" err="1"/>
              <a:t>pre_y</a:t>
            </a:r>
            <a:r>
              <a:rPr lang="en-US" altLang="zh-CN" sz="2200" dirty="0"/>
              <a:t> </a:t>
            </a:r>
            <a:r>
              <a:rPr lang="zh-CN" altLang="en-US" sz="2200" dirty="0"/>
              <a:t>中每一行上数值的概率分布，即按行进行 </a:t>
            </a:r>
            <a:r>
              <a:rPr lang="en-US" altLang="zh-CN" sz="2200" b="1" dirty="0" err="1"/>
              <a:t>softmax</a:t>
            </a:r>
            <a:r>
              <a:rPr lang="en-US" altLang="zh-CN" sz="2200" b="1" dirty="0"/>
              <a:t> </a:t>
            </a:r>
            <a:r>
              <a:rPr lang="zh-CN" altLang="en-US" sz="2200" b="1" dirty="0"/>
              <a:t>归一化</a:t>
            </a:r>
            <a:r>
              <a:rPr lang="zh-CN" altLang="en-US" sz="2200" dirty="0"/>
              <a:t>，可用 </a:t>
            </a:r>
            <a:r>
              <a:rPr lang="en-US" altLang="zh-CN" sz="2200" b="1" dirty="0" err="1"/>
              <a:t>torch.softmax</a:t>
            </a:r>
            <a:r>
              <a:rPr lang="en-US" altLang="zh-CN" sz="2200" b="1" dirty="0"/>
              <a:t>()</a:t>
            </a:r>
            <a:r>
              <a:rPr lang="zh-CN" altLang="en-US" sz="2200" dirty="0"/>
              <a:t>函数实现。</a:t>
            </a:r>
            <a:endParaRPr lang="en-US" altLang="zh-CN" sz="2200" dirty="0"/>
          </a:p>
          <a:p>
            <a:r>
              <a:rPr lang="zh-CN" altLang="en-US" sz="2200" dirty="0"/>
              <a:t>例如，对于上述张量 </a:t>
            </a:r>
            <a:r>
              <a:rPr lang="en-US" altLang="zh-CN" sz="2200" dirty="0" err="1"/>
              <a:t>pre_y</a:t>
            </a:r>
            <a:r>
              <a:rPr lang="zh-CN" altLang="en-US" sz="2200" dirty="0"/>
              <a:t>，对其 </a:t>
            </a:r>
            <a:r>
              <a:rPr lang="en-US" altLang="zh-CN" sz="2200" dirty="0" err="1"/>
              <a:t>softmax</a:t>
            </a:r>
            <a:r>
              <a:rPr lang="en-US" altLang="zh-CN" sz="2200" dirty="0"/>
              <a:t> </a:t>
            </a:r>
            <a:r>
              <a:rPr lang="zh-CN" altLang="en-US" sz="2200" dirty="0"/>
              <a:t>归一化的代码如下：</a:t>
            </a:r>
            <a:endParaRPr lang="en-US" altLang="zh-CN" sz="2200" dirty="0"/>
          </a:p>
          <a:p>
            <a:endParaRPr lang="en-US" altLang="zh-CN" sz="2200" dirty="0"/>
          </a:p>
          <a:p>
            <a:r>
              <a:rPr lang="es-ES" altLang="zh-CN" sz="2200" dirty="0">
                <a:solidFill>
                  <a:srgbClr val="00B050"/>
                </a:solidFill>
              </a:rPr>
              <a:t>pre_y2 = torch.softmax(pre_y, dim=1)</a:t>
            </a:r>
          </a:p>
          <a:p>
            <a:endParaRPr lang="es-ES" altLang="zh-CN" dirty="0"/>
          </a:p>
          <a:p>
            <a:r>
              <a:rPr lang="zh-CN" altLang="en-US" sz="2200" dirty="0"/>
              <a:t>（</a:t>
            </a:r>
            <a:r>
              <a:rPr lang="en-US" altLang="zh-CN" sz="2200" dirty="0"/>
              <a:t>2</a:t>
            </a:r>
            <a:r>
              <a:rPr lang="zh-CN" altLang="en-US" sz="2200" dirty="0"/>
              <a:t>）对矩阵 </a:t>
            </a:r>
            <a:r>
              <a:rPr lang="en-US" altLang="zh-CN" sz="2200" dirty="0" err="1"/>
              <a:t>pre_y</a:t>
            </a:r>
            <a:r>
              <a:rPr lang="en-US" altLang="zh-CN" sz="2200" dirty="0"/>
              <a:t> </a:t>
            </a:r>
            <a:r>
              <a:rPr lang="zh-CN" altLang="en-US" sz="2200" dirty="0"/>
              <a:t>中每个元素计算它们的自然对数，可用 </a:t>
            </a:r>
            <a:r>
              <a:rPr lang="en-US" altLang="zh-CN" sz="2200" dirty="0"/>
              <a:t>torch.log()</a:t>
            </a:r>
            <a:r>
              <a:rPr lang="zh-CN" altLang="en-US" sz="2200" dirty="0"/>
              <a:t>函数实现。</a:t>
            </a:r>
            <a:endParaRPr lang="en-US" altLang="zh-CN" sz="2200" dirty="0"/>
          </a:p>
          <a:p>
            <a:r>
              <a:rPr lang="zh-CN" altLang="en-US" sz="2200" dirty="0"/>
              <a:t>例如，对当前张量 </a:t>
            </a:r>
            <a:r>
              <a:rPr lang="en-US" altLang="zh-CN" sz="2200" dirty="0"/>
              <a:t>pre_y2 </a:t>
            </a:r>
            <a:r>
              <a:rPr lang="zh-CN" altLang="en-US" sz="2200" dirty="0"/>
              <a:t>运用 </a:t>
            </a:r>
            <a:r>
              <a:rPr lang="en-US" altLang="zh-CN" sz="2200" dirty="0"/>
              <a:t>torch.log()</a:t>
            </a:r>
            <a:r>
              <a:rPr lang="zh-CN" altLang="en-US" sz="2200" dirty="0"/>
              <a:t>函数：</a:t>
            </a:r>
            <a:endParaRPr lang="en-US" altLang="zh-CN" sz="2200" dirty="0"/>
          </a:p>
          <a:p>
            <a:endParaRPr lang="en-US" altLang="zh-CN" dirty="0">
              <a:solidFill>
                <a:srgbClr val="00B050"/>
              </a:solidFill>
            </a:endParaRPr>
          </a:p>
          <a:p>
            <a:r>
              <a:rPr lang="es-ES" altLang="zh-CN" sz="2200" dirty="0">
                <a:solidFill>
                  <a:srgbClr val="00B050"/>
                </a:solidFill>
              </a:rPr>
              <a:t>pre_y3 = torch.log(pre_y2) </a:t>
            </a:r>
          </a:p>
        </p:txBody>
      </p:sp>
    </p:spTree>
    <p:extLst>
      <p:ext uri="{BB962C8B-B14F-4D97-AF65-F5344CB8AC3E}">
        <p14:creationId xmlns:p14="http://schemas.microsoft.com/office/powerpoint/2010/main" val="393031031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6" name="文本框 5">
            <a:extLst>
              <a:ext uri="{FF2B5EF4-FFF2-40B4-BE49-F238E27FC236}">
                <a16:creationId xmlns:a16="http://schemas.microsoft.com/office/drawing/2014/main" id="{03974EA9-469E-9296-577D-DA50F0D6E5E0}"/>
              </a:ext>
            </a:extLst>
          </p:cNvPr>
          <p:cNvSpPr txBox="1"/>
          <p:nvPr/>
        </p:nvSpPr>
        <p:spPr>
          <a:xfrm>
            <a:off x="256673" y="1692597"/>
            <a:ext cx="11856196" cy="4780348"/>
          </a:xfrm>
          <a:prstGeom prst="rect">
            <a:avLst/>
          </a:prstGeom>
          <a:noFill/>
        </p:spPr>
        <p:txBody>
          <a:bodyPr wrap="square">
            <a:spAutoFit/>
          </a:bodyPr>
          <a:lstStyle/>
          <a:p>
            <a:r>
              <a:rPr lang="zh-CN" altLang="en-US" dirty="0"/>
              <a:t>（</a:t>
            </a:r>
            <a:r>
              <a:rPr lang="en-US" altLang="zh-CN" sz="2200" dirty="0"/>
              <a:t>3</a:t>
            </a:r>
            <a:r>
              <a:rPr lang="zh-CN" altLang="en-US" sz="2200" dirty="0"/>
              <a:t>）抽取当前矩阵 </a:t>
            </a:r>
            <a:r>
              <a:rPr lang="en-US" altLang="zh-CN" sz="2200" dirty="0" err="1"/>
              <a:t>pre_y</a:t>
            </a:r>
            <a:r>
              <a:rPr lang="en-US" altLang="zh-CN" sz="2200" dirty="0"/>
              <a:t> </a:t>
            </a:r>
            <a:r>
              <a:rPr lang="zh-CN" altLang="en-US" sz="2200" dirty="0"/>
              <a:t>中由 </a:t>
            </a:r>
            <a:r>
              <a:rPr lang="en-US" altLang="zh-CN" sz="2200" dirty="0"/>
              <a:t>y </a:t>
            </a:r>
            <a:r>
              <a:rPr lang="zh-CN" altLang="en-US" sz="2200" dirty="0"/>
              <a:t>指定的那些元素，计算它们的平均值，然后</a:t>
            </a:r>
            <a:r>
              <a:rPr lang="zh-CN" altLang="en-US" sz="2200" b="1" dirty="0"/>
              <a:t>取反</a:t>
            </a:r>
            <a:r>
              <a:rPr lang="zh-CN" altLang="en-US" sz="2200" dirty="0"/>
              <a:t>即为 </a:t>
            </a:r>
            <a:r>
              <a:rPr lang="en-US" altLang="zh-CN" sz="2200" b="1" dirty="0" err="1"/>
              <a:t>nn.CrossEntropyLoss</a:t>
            </a:r>
            <a:r>
              <a:rPr lang="en-US" altLang="zh-CN" sz="2200" b="1" dirty="0"/>
              <a:t>()</a:t>
            </a:r>
            <a:r>
              <a:rPr lang="zh-CN" altLang="en-US" sz="2200" dirty="0"/>
              <a:t>的计算结果，这可由 </a:t>
            </a:r>
            <a:r>
              <a:rPr lang="en-US" altLang="zh-CN" sz="2200" b="1" dirty="0" err="1"/>
              <a:t>nn.NLLLoss</a:t>
            </a:r>
            <a:r>
              <a:rPr lang="en-US" altLang="zh-CN" sz="2200" b="1" dirty="0"/>
              <a:t>()</a:t>
            </a:r>
            <a:r>
              <a:rPr lang="zh-CN" altLang="en-US" sz="2200" b="1" dirty="0"/>
              <a:t>函数</a:t>
            </a:r>
            <a:r>
              <a:rPr lang="zh-CN" altLang="en-US" sz="2200" dirty="0"/>
              <a:t>实现。</a:t>
            </a:r>
            <a:endParaRPr lang="en-US" altLang="zh-CN" sz="2200" dirty="0"/>
          </a:p>
          <a:p>
            <a:r>
              <a:rPr lang="zh-CN" altLang="en-US" sz="2200" dirty="0"/>
              <a:t>例如，由于 </a:t>
            </a:r>
            <a:r>
              <a:rPr lang="en-US" altLang="zh-CN" sz="2200" dirty="0"/>
              <a:t>y = [0, 1, 2]</a:t>
            </a:r>
            <a:r>
              <a:rPr lang="zh-CN" altLang="en-US" sz="2200" dirty="0"/>
              <a:t>， 所以 </a:t>
            </a:r>
            <a:r>
              <a:rPr lang="en-US" altLang="zh-CN" sz="2200" dirty="0"/>
              <a:t>y </a:t>
            </a:r>
            <a:r>
              <a:rPr lang="zh-CN" altLang="en-US" sz="2200" dirty="0"/>
              <a:t>分别指向第 </a:t>
            </a:r>
            <a:r>
              <a:rPr lang="en-US" altLang="zh-CN" sz="2200" dirty="0"/>
              <a:t>1 </a:t>
            </a:r>
            <a:r>
              <a:rPr lang="zh-CN" altLang="en-US" sz="2200" dirty="0"/>
              <a:t>行中的</a:t>
            </a:r>
            <a:r>
              <a:rPr lang="en-US" altLang="zh-CN" sz="2200" dirty="0"/>
              <a:t>-4.0535</a:t>
            </a:r>
            <a:r>
              <a:rPr lang="zh-CN" altLang="en-US" sz="2200" dirty="0"/>
              <a:t>、第 </a:t>
            </a:r>
            <a:r>
              <a:rPr lang="en-US" altLang="zh-CN" sz="2200" dirty="0"/>
              <a:t>2 </a:t>
            </a:r>
            <a:r>
              <a:rPr lang="zh-CN" altLang="en-US" sz="2200" dirty="0"/>
              <a:t>行中的</a:t>
            </a:r>
            <a:r>
              <a:rPr lang="en-US" altLang="zh-CN" sz="2200" dirty="0"/>
              <a:t>-1.9176 </a:t>
            </a:r>
            <a:r>
              <a:rPr lang="zh-CN" altLang="en-US" sz="2200" dirty="0"/>
              <a:t>和第 </a:t>
            </a:r>
            <a:r>
              <a:rPr lang="en-US" altLang="zh-CN" sz="2200" dirty="0"/>
              <a:t>3 </a:t>
            </a:r>
            <a:r>
              <a:rPr lang="zh-CN" altLang="en-US" sz="2200" dirty="0"/>
              <a:t>行中的</a:t>
            </a:r>
            <a:r>
              <a:rPr lang="en-US" altLang="zh-CN" sz="2200" dirty="0"/>
              <a:t>-1.4938</a:t>
            </a:r>
            <a:r>
              <a:rPr lang="zh-CN" altLang="en-US" sz="2200" dirty="0"/>
              <a:t>。这些元素的 平均值为</a:t>
            </a:r>
            <a:r>
              <a:rPr lang="en-US" altLang="zh-CN" sz="2200" dirty="0"/>
              <a:t>(-4.0535-1.9176-1.4938)/3 = </a:t>
            </a:r>
            <a:r>
              <a:rPr lang="en-US" altLang="zh-CN" sz="2200" b="1" dirty="0"/>
              <a:t>-2.4883</a:t>
            </a:r>
            <a:r>
              <a:rPr lang="zh-CN" altLang="en-US" sz="2200" dirty="0"/>
              <a:t>，对该结果取反后得到 </a:t>
            </a:r>
            <a:r>
              <a:rPr lang="en-US" altLang="zh-CN" sz="2200" dirty="0"/>
              <a:t>2.4883</a:t>
            </a:r>
            <a:r>
              <a:rPr lang="zh-CN" altLang="en-US" sz="2200" dirty="0"/>
              <a:t>。如果用 </a:t>
            </a:r>
            <a:r>
              <a:rPr lang="en-US" altLang="zh-CN" sz="2200" dirty="0" err="1"/>
              <a:t>nn.NLLLoss</a:t>
            </a:r>
            <a:r>
              <a:rPr lang="en-US" altLang="zh-CN" sz="2200" dirty="0"/>
              <a:t>()</a:t>
            </a:r>
            <a:r>
              <a:rPr lang="zh-CN" altLang="en-US" sz="2200" dirty="0"/>
              <a:t>函数计算，相应代码如下</a:t>
            </a:r>
            <a:r>
              <a:rPr lang="zh-CN" altLang="en-US" dirty="0"/>
              <a:t>：</a:t>
            </a:r>
            <a:endParaRPr lang="en-US" altLang="zh-CN" dirty="0"/>
          </a:p>
          <a:p>
            <a:pPr>
              <a:lnSpc>
                <a:spcPct val="150000"/>
              </a:lnSpc>
            </a:pPr>
            <a:r>
              <a:rPr lang="en-US" altLang="zh-CN" sz="2200" dirty="0">
                <a:solidFill>
                  <a:srgbClr val="00B050"/>
                </a:solidFill>
              </a:rPr>
              <a:t>loss = </a:t>
            </a:r>
            <a:r>
              <a:rPr lang="en-US" altLang="zh-CN" sz="2200" dirty="0" err="1">
                <a:solidFill>
                  <a:srgbClr val="00B050"/>
                </a:solidFill>
              </a:rPr>
              <a:t>nn.NLLLoss</a:t>
            </a:r>
            <a:r>
              <a:rPr lang="en-US" altLang="zh-CN" sz="2200" dirty="0">
                <a:solidFill>
                  <a:srgbClr val="00B050"/>
                </a:solidFill>
              </a:rPr>
              <a:t>()(pre_y3, y)</a:t>
            </a:r>
          </a:p>
          <a:p>
            <a:pPr>
              <a:lnSpc>
                <a:spcPct val="150000"/>
              </a:lnSpc>
            </a:pPr>
            <a:r>
              <a:rPr lang="zh-CN" altLang="en-US" sz="2200" dirty="0"/>
              <a:t>运行上述代码，结果可以发现 </a:t>
            </a:r>
            <a:r>
              <a:rPr lang="en-US" altLang="zh-CN" sz="2200" dirty="0"/>
              <a:t>loss </a:t>
            </a:r>
            <a:r>
              <a:rPr lang="zh-CN" altLang="en-US" sz="2200" dirty="0"/>
              <a:t>的值为</a:t>
            </a:r>
            <a:r>
              <a:rPr lang="zh-CN" altLang="en-US" sz="2200" b="1" dirty="0"/>
              <a:t> </a:t>
            </a:r>
            <a:r>
              <a:rPr lang="en-US" altLang="zh-CN" sz="2200" b="1" dirty="0"/>
              <a:t>2.4883</a:t>
            </a:r>
            <a:r>
              <a:rPr lang="zh-CN" altLang="en-US" sz="2200" dirty="0"/>
              <a:t>，这与上面手工计算结果是一致的。</a:t>
            </a:r>
          </a:p>
          <a:p>
            <a:r>
              <a:rPr lang="zh-CN" altLang="en-US" sz="2200" dirty="0"/>
              <a:t>也就是说，</a:t>
            </a:r>
            <a:r>
              <a:rPr lang="en-US" altLang="zh-CN" sz="2200" dirty="0" err="1"/>
              <a:t>nn.CrossEntropyLoss</a:t>
            </a:r>
            <a:r>
              <a:rPr lang="en-US" altLang="zh-CN" sz="2200" dirty="0"/>
              <a:t>()(</a:t>
            </a:r>
            <a:r>
              <a:rPr lang="en-US" altLang="zh-CN" sz="2200" dirty="0" err="1"/>
              <a:t>pre_y</a:t>
            </a:r>
            <a:r>
              <a:rPr lang="en-US" altLang="zh-CN" sz="2200" dirty="0"/>
              <a:t>, y)</a:t>
            </a:r>
            <a:r>
              <a:rPr lang="zh-CN" altLang="en-US" sz="2200" dirty="0"/>
              <a:t>语句等同于下列三条语句：</a:t>
            </a:r>
          </a:p>
          <a:p>
            <a:pPr>
              <a:lnSpc>
                <a:spcPct val="150000"/>
              </a:lnSpc>
            </a:pPr>
            <a:r>
              <a:rPr lang="en-US" altLang="zh-CN" sz="2200" dirty="0">
                <a:solidFill>
                  <a:srgbClr val="00B050"/>
                </a:solidFill>
              </a:rPr>
              <a:t>pre_y2 = </a:t>
            </a:r>
            <a:r>
              <a:rPr lang="en-US" altLang="zh-CN" sz="2200" dirty="0" err="1">
                <a:solidFill>
                  <a:srgbClr val="00B050"/>
                </a:solidFill>
              </a:rPr>
              <a:t>torch.softmax</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dim=1)</a:t>
            </a:r>
          </a:p>
          <a:p>
            <a:r>
              <a:rPr lang="en-US" altLang="zh-CN" sz="2200" dirty="0">
                <a:solidFill>
                  <a:srgbClr val="00B050"/>
                </a:solidFill>
              </a:rPr>
              <a:t>pre_y3 = torch.log(pre_y2)</a:t>
            </a:r>
          </a:p>
          <a:p>
            <a:r>
              <a:rPr lang="en-US" altLang="zh-CN" sz="2200" dirty="0">
                <a:solidFill>
                  <a:srgbClr val="00B050"/>
                </a:solidFill>
              </a:rPr>
              <a:t>loss = </a:t>
            </a:r>
            <a:r>
              <a:rPr lang="en-US" altLang="zh-CN" sz="2200" dirty="0" err="1">
                <a:solidFill>
                  <a:srgbClr val="00B050"/>
                </a:solidFill>
              </a:rPr>
              <a:t>nn.NLLLoss</a:t>
            </a:r>
            <a:r>
              <a:rPr lang="en-US" altLang="zh-CN" sz="2200" dirty="0">
                <a:solidFill>
                  <a:srgbClr val="00B050"/>
                </a:solidFill>
              </a:rPr>
              <a:t>()(pre_y3, y) </a:t>
            </a:r>
          </a:p>
          <a:p>
            <a:pPr>
              <a:lnSpc>
                <a:spcPct val="150000"/>
              </a:lnSpc>
            </a:pPr>
            <a:r>
              <a:rPr lang="en-US" altLang="zh-CN" sz="2200" dirty="0" err="1"/>
              <a:t>nn.NLLLoss</a:t>
            </a:r>
            <a:r>
              <a:rPr lang="en-US" altLang="zh-CN" sz="2200" dirty="0"/>
              <a:t>()</a:t>
            </a:r>
            <a:r>
              <a:rPr lang="zh-CN" altLang="en-US" sz="2200" dirty="0"/>
              <a:t>也是一种损失函数，称为</a:t>
            </a:r>
            <a:r>
              <a:rPr lang="zh-CN" altLang="en-US" sz="2200" dirty="0">
                <a:solidFill>
                  <a:srgbClr val="0033CC"/>
                </a:solidFill>
              </a:rPr>
              <a:t>负对数似然损失函数</a:t>
            </a:r>
            <a:r>
              <a:rPr lang="en-US" altLang="zh-CN" sz="2200" dirty="0"/>
              <a:t>(Negative Log Likelihood Loss Function)</a:t>
            </a:r>
            <a:r>
              <a:rPr lang="zh-CN" altLang="en-US" sz="2200" dirty="0"/>
              <a:t>。</a:t>
            </a:r>
            <a:endParaRPr lang="en-US" altLang="zh-CN" dirty="0">
              <a:solidFill>
                <a:srgbClr val="00B050"/>
              </a:solidFill>
            </a:endParaRPr>
          </a:p>
        </p:txBody>
      </p:sp>
    </p:spTree>
    <p:extLst>
      <p:ext uri="{BB962C8B-B14F-4D97-AF65-F5344CB8AC3E}">
        <p14:creationId xmlns:p14="http://schemas.microsoft.com/office/powerpoint/2010/main" val="286019966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6" name="文本框 5">
            <a:extLst>
              <a:ext uri="{FF2B5EF4-FFF2-40B4-BE49-F238E27FC236}">
                <a16:creationId xmlns:a16="http://schemas.microsoft.com/office/drawing/2014/main" id="{03974EA9-469E-9296-577D-DA50F0D6E5E0}"/>
              </a:ext>
            </a:extLst>
          </p:cNvPr>
          <p:cNvSpPr txBox="1"/>
          <p:nvPr/>
        </p:nvSpPr>
        <p:spPr>
          <a:xfrm>
            <a:off x="335804" y="1950329"/>
            <a:ext cx="11032649" cy="4493538"/>
          </a:xfrm>
          <a:prstGeom prst="rect">
            <a:avLst/>
          </a:prstGeom>
          <a:noFill/>
        </p:spPr>
        <p:txBody>
          <a:bodyPr wrap="square">
            <a:spAutoFit/>
          </a:bodyPr>
          <a:lstStyle/>
          <a:p>
            <a:r>
              <a:rPr lang="zh-CN" altLang="en-US" sz="2200" dirty="0"/>
              <a:t>对于下列调用格式：</a:t>
            </a:r>
          </a:p>
          <a:p>
            <a:pPr>
              <a:lnSpc>
                <a:spcPct val="150000"/>
              </a:lnSpc>
            </a:pPr>
            <a:r>
              <a:rPr lang="en-US" altLang="zh-CN" sz="2200" dirty="0">
                <a:solidFill>
                  <a:srgbClr val="00B050"/>
                </a:solidFill>
              </a:rPr>
              <a:t>loss = </a:t>
            </a:r>
            <a:r>
              <a:rPr lang="en-US" altLang="zh-CN" sz="2200" dirty="0" err="1">
                <a:solidFill>
                  <a:srgbClr val="00B050"/>
                </a:solidFill>
              </a:rPr>
              <a:t>nn.NLLLoss</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y) </a:t>
            </a:r>
          </a:p>
          <a:p>
            <a:pPr>
              <a:lnSpc>
                <a:spcPct val="150000"/>
              </a:lnSpc>
            </a:pPr>
            <a:r>
              <a:rPr lang="zh-CN" altLang="en-US" sz="2200" dirty="0"/>
              <a:t>其作用是，按 </a:t>
            </a:r>
            <a:r>
              <a:rPr lang="en-US" altLang="zh-CN" sz="2200" dirty="0"/>
              <a:t>y </a:t>
            </a:r>
            <a:r>
              <a:rPr lang="zh-CN" altLang="en-US" sz="2200" dirty="0"/>
              <a:t>给定的下标值，取出 </a:t>
            </a:r>
            <a:r>
              <a:rPr lang="en-US" altLang="zh-CN" sz="2200" dirty="0" err="1"/>
              <a:t>pre_y</a:t>
            </a:r>
            <a:r>
              <a:rPr lang="en-US" altLang="zh-CN" sz="2200" dirty="0"/>
              <a:t> </a:t>
            </a:r>
            <a:r>
              <a:rPr lang="zh-CN" altLang="en-US" sz="2200" dirty="0"/>
              <a:t>中相应元素进行相加，然后除以元素个数（即</a:t>
            </a:r>
          </a:p>
          <a:p>
            <a:r>
              <a:rPr lang="zh-CN" altLang="en-US" sz="2200" dirty="0"/>
              <a:t>求平均值），最后</a:t>
            </a:r>
            <a:r>
              <a:rPr lang="zh-CN" altLang="en-US" sz="2200" b="1" dirty="0"/>
              <a:t>取反</a:t>
            </a:r>
            <a:r>
              <a:rPr lang="zh-CN" altLang="en-US" sz="2200" dirty="0"/>
              <a:t>。例如，对于下列代码</a:t>
            </a:r>
            <a:r>
              <a:rPr lang="zh-CN" altLang="en-US" dirty="0"/>
              <a:t>：</a:t>
            </a:r>
          </a:p>
          <a:p>
            <a:pPr>
              <a:lnSpc>
                <a:spcPct val="150000"/>
              </a:lnSpc>
            </a:pPr>
            <a:r>
              <a:rPr lang="en-US" altLang="zh-CN" sz="2200" dirty="0" err="1">
                <a:solidFill>
                  <a:srgbClr val="00B050"/>
                </a:solidFill>
              </a:rPr>
              <a:t>pre_y</a:t>
            </a:r>
            <a:r>
              <a:rPr lang="en-US" altLang="zh-CN" sz="2200" dirty="0">
                <a:solidFill>
                  <a:srgbClr val="00B050"/>
                </a:solidFill>
              </a:rPr>
              <a:t> = </a:t>
            </a:r>
            <a:r>
              <a:rPr lang="en-US" altLang="zh-CN" sz="2200" dirty="0" err="1">
                <a:solidFill>
                  <a:srgbClr val="00B050"/>
                </a:solidFill>
              </a:rPr>
              <a:t>torch.tensor</a:t>
            </a:r>
            <a:r>
              <a:rPr lang="en-US" altLang="zh-CN" sz="2200" dirty="0">
                <a:solidFill>
                  <a:srgbClr val="00B050"/>
                </a:solidFill>
              </a:rPr>
              <a:t>([[4, 3, 4, 0],[0, 3, 3, 3],</a:t>
            </a:r>
          </a:p>
          <a:p>
            <a:r>
              <a:rPr lang="en-US" altLang="zh-CN" sz="2200" dirty="0">
                <a:solidFill>
                  <a:srgbClr val="00B050"/>
                </a:solidFill>
              </a:rPr>
              <a:t> [4, 3, 3, 2]]).float()</a:t>
            </a:r>
            <a:r>
              <a:rPr lang="en-US" altLang="zh-CN" sz="2200" dirty="0"/>
              <a:t> </a:t>
            </a:r>
            <a:endParaRPr lang="en-US" altLang="zh-CN" sz="2200" dirty="0">
              <a:solidFill>
                <a:srgbClr val="00B050"/>
              </a:solidFill>
            </a:endParaRPr>
          </a:p>
          <a:p>
            <a:r>
              <a:rPr lang="en-US" altLang="zh-CN" sz="2200" dirty="0">
                <a:solidFill>
                  <a:srgbClr val="00B050"/>
                </a:solidFill>
              </a:rPr>
              <a:t>y = [2, 1, 3]</a:t>
            </a:r>
          </a:p>
          <a:p>
            <a:r>
              <a:rPr lang="en-US" altLang="zh-CN" sz="2200" dirty="0">
                <a:solidFill>
                  <a:srgbClr val="00B050"/>
                </a:solidFill>
              </a:rPr>
              <a:t>y = </a:t>
            </a:r>
            <a:r>
              <a:rPr lang="en-US" altLang="zh-CN" sz="2200" dirty="0" err="1">
                <a:solidFill>
                  <a:srgbClr val="00B050"/>
                </a:solidFill>
              </a:rPr>
              <a:t>torch.LongTensor</a:t>
            </a:r>
            <a:r>
              <a:rPr lang="en-US" altLang="zh-CN" sz="2200" dirty="0">
                <a:solidFill>
                  <a:srgbClr val="00B050"/>
                </a:solidFill>
              </a:rPr>
              <a:t>(y)</a:t>
            </a:r>
          </a:p>
          <a:p>
            <a:r>
              <a:rPr lang="en-US" altLang="zh-CN" sz="2200" dirty="0">
                <a:solidFill>
                  <a:srgbClr val="00B050"/>
                </a:solidFill>
              </a:rPr>
              <a:t>loss = </a:t>
            </a:r>
            <a:r>
              <a:rPr lang="en-US" altLang="zh-CN" sz="2200" dirty="0" err="1">
                <a:solidFill>
                  <a:srgbClr val="00B050"/>
                </a:solidFill>
              </a:rPr>
              <a:t>nn.NLLLoss</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y)</a:t>
            </a:r>
          </a:p>
          <a:p>
            <a:endParaRPr lang="en-US" altLang="zh-CN" sz="1100" dirty="0">
              <a:solidFill>
                <a:srgbClr val="00B050"/>
              </a:solidFill>
            </a:endParaRPr>
          </a:p>
          <a:p>
            <a:r>
              <a:rPr lang="zh-CN" altLang="en-US" sz="2200" dirty="0"/>
              <a:t>按照上述 </a:t>
            </a:r>
            <a:r>
              <a:rPr lang="en-US" altLang="zh-CN" sz="2200" b="1" dirty="0" err="1"/>
              <a:t>nn.NLLLoss</a:t>
            </a:r>
            <a:r>
              <a:rPr lang="en-US" altLang="zh-CN" sz="2200" b="1" dirty="0"/>
              <a:t>()</a:t>
            </a:r>
            <a:r>
              <a:rPr lang="zh-CN" altLang="en-US" sz="2200" b="1" dirty="0"/>
              <a:t>函数</a:t>
            </a:r>
            <a:r>
              <a:rPr lang="zh-CN" altLang="en-US" sz="2200" dirty="0"/>
              <a:t>的功能介绍，</a:t>
            </a:r>
            <a:r>
              <a:rPr lang="en-US" altLang="zh-CN" sz="2200" dirty="0" err="1"/>
              <a:t>nn.NLLLoss</a:t>
            </a:r>
            <a:r>
              <a:rPr lang="en-US" altLang="zh-CN" sz="2200" dirty="0"/>
              <a:t>()(</a:t>
            </a:r>
            <a:r>
              <a:rPr lang="en-US" altLang="zh-CN" sz="2200" dirty="0" err="1"/>
              <a:t>pre_y</a:t>
            </a:r>
            <a:r>
              <a:rPr lang="en-US" altLang="zh-CN" sz="2200" dirty="0"/>
              <a:t>, y)</a:t>
            </a:r>
            <a:r>
              <a:rPr lang="zh-CN" altLang="en-US" sz="2200" dirty="0"/>
              <a:t>的值应该为</a:t>
            </a:r>
            <a:r>
              <a:rPr lang="en-US" altLang="zh-CN" sz="2200" dirty="0"/>
              <a:t>-(4+3+2)/3 =-3.0</a:t>
            </a:r>
            <a:r>
              <a:rPr lang="zh-CN" altLang="en-US" sz="2200" dirty="0"/>
              <a:t>，这与代码执行的结果是一致的。</a:t>
            </a:r>
            <a:endParaRPr lang="en-US" altLang="zh-CN" sz="2200" dirty="0"/>
          </a:p>
        </p:txBody>
      </p:sp>
      <p:sp>
        <p:nvSpPr>
          <p:cNvPr id="2" name="箭头: 右 1">
            <a:extLst>
              <a:ext uri="{FF2B5EF4-FFF2-40B4-BE49-F238E27FC236}">
                <a16:creationId xmlns:a16="http://schemas.microsoft.com/office/drawing/2014/main" id="{6D209CA2-D2EA-048E-9F7D-4B62CDA9A66D}"/>
              </a:ext>
            </a:extLst>
          </p:cNvPr>
          <p:cNvSpPr/>
          <p:nvPr/>
        </p:nvSpPr>
        <p:spPr>
          <a:xfrm>
            <a:off x="5135554" y="4494278"/>
            <a:ext cx="1433147" cy="404446"/>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C44010BC-990F-A88F-B020-6E0438B72397}"/>
              </a:ext>
            </a:extLst>
          </p:cNvPr>
          <p:cNvPicPr>
            <a:picLocks noChangeAspect="1"/>
          </p:cNvPicPr>
          <p:nvPr/>
        </p:nvPicPr>
        <p:blipFill>
          <a:blip r:embed="rId3"/>
          <a:stretch>
            <a:fillRect/>
          </a:stretch>
        </p:blipFill>
        <p:spPr>
          <a:xfrm>
            <a:off x="7630273" y="4450896"/>
            <a:ext cx="614011" cy="491209"/>
          </a:xfrm>
          <a:prstGeom prst="rect">
            <a:avLst/>
          </a:prstGeom>
        </p:spPr>
      </p:pic>
    </p:spTree>
    <p:extLst>
      <p:ext uri="{BB962C8B-B14F-4D97-AF65-F5344CB8AC3E}">
        <p14:creationId xmlns:p14="http://schemas.microsoft.com/office/powerpoint/2010/main" val="926650510"/>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3.3.1 </a:t>
            </a:r>
            <a:r>
              <a:rPr lang="en-US" altLang="zh-CN" sz="2800" b="1" dirty="0" err="1">
                <a:solidFill>
                  <a:srgbClr val="C00000"/>
                </a:solidFill>
              </a:rPr>
              <a:t>nn.CrossEntropyLoss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nn.NLLLoss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2" name="文本框 1">
            <a:extLst>
              <a:ext uri="{FF2B5EF4-FFF2-40B4-BE49-F238E27FC236}">
                <a16:creationId xmlns:a16="http://schemas.microsoft.com/office/drawing/2014/main" id="{F835353E-8B94-7802-CD85-B003B416B3DD}"/>
              </a:ext>
            </a:extLst>
          </p:cNvPr>
          <p:cNvSpPr txBox="1"/>
          <p:nvPr/>
        </p:nvSpPr>
        <p:spPr>
          <a:xfrm>
            <a:off x="509951" y="2499042"/>
            <a:ext cx="10594733" cy="2462213"/>
          </a:xfrm>
          <a:prstGeom prst="rect">
            <a:avLst/>
          </a:prstGeom>
          <a:noFill/>
        </p:spPr>
        <p:txBody>
          <a:bodyPr wrap="square">
            <a:spAutoFit/>
          </a:bodyPr>
          <a:lstStyle/>
          <a:p>
            <a:r>
              <a:rPr lang="zh-CN" altLang="en-US" sz="2200" dirty="0"/>
              <a:t>一般来说，</a:t>
            </a:r>
            <a:r>
              <a:rPr lang="en-US" altLang="zh-CN" sz="2200" b="1" dirty="0" err="1"/>
              <a:t>nn.NLLLoss</a:t>
            </a:r>
            <a:r>
              <a:rPr lang="en-US" altLang="zh-CN" sz="2200" b="1" dirty="0"/>
              <a:t>()</a:t>
            </a:r>
            <a:r>
              <a:rPr lang="zh-CN" altLang="en-US" sz="2200" b="1" dirty="0"/>
              <a:t>函数</a:t>
            </a:r>
            <a:r>
              <a:rPr lang="zh-CN" altLang="en-US" sz="2200" dirty="0"/>
              <a:t>甚少单独使用，往往跟 </a:t>
            </a:r>
            <a:r>
              <a:rPr lang="en-US" altLang="zh-CN" sz="2200" b="1" dirty="0" err="1"/>
              <a:t>torch.softmax</a:t>
            </a:r>
            <a:r>
              <a:rPr lang="en-US" altLang="zh-CN" sz="2200" b="1" dirty="0"/>
              <a:t>()</a:t>
            </a:r>
            <a:r>
              <a:rPr lang="zh-CN" altLang="en-US" sz="2200" b="1" dirty="0"/>
              <a:t>函数</a:t>
            </a:r>
            <a:r>
              <a:rPr lang="zh-CN" altLang="en-US" sz="2200" dirty="0"/>
              <a:t>和 </a:t>
            </a:r>
            <a:r>
              <a:rPr lang="en-US" altLang="zh-CN" sz="2200" b="1" dirty="0"/>
              <a:t>torch.log()</a:t>
            </a:r>
            <a:r>
              <a:rPr lang="zh-CN" altLang="en-US" sz="2200" b="1" dirty="0"/>
              <a:t>函数</a:t>
            </a:r>
            <a:r>
              <a:rPr lang="zh-CN" altLang="en-US" sz="2200" dirty="0"/>
              <a:t>结合使用。</a:t>
            </a:r>
            <a:endParaRPr lang="en-US" altLang="zh-CN" sz="2200" dirty="0"/>
          </a:p>
          <a:p>
            <a:r>
              <a:rPr lang="zh-CN" altLang="en-US" sz="2200" dirty="0"/>
              <a:t>实际上，通常先用 </a:t>
            </a:r>
            <a:r>
              <a:rPr lang="en-US" altLang="zh-CN" sz="2200" dirty="0" err="1"/>
              <a:t>torch.softmax</a:t>
            </a:r>
            <a:r>
              <a:rPr lang="en-US" altLang="zh-CN" sz="2200" dirty="0"/>
              <a:t>()</a:t>
            </a:r>
            <a:r>
              <a:rPr lang="zh-CN" altLang="en-US" sz="2200" dirty="0"/>
              <a:t>函数，然后再用 </a:t>
            </a:r>
            <a:r>
              <a:rPr lang="en-US" altLang="zh-CN" sz="2200" dirty="0"/>
              <a:t>torch.log()</a:t>
            </a:r>
            <a:r>
              <a:rPr lang="zh-CN" altLang="en-US" sz="2200" dirty="0"/>
              <a:t>函数，最后用</a:t>
            </a:r>
            <a:r>
              <a:rPr lang="en-US" altLang="zh-CN" sz="2200" dirty="0" err="1"/>
              <a:t>nn.NLLLoss</a:t>
            </a:r>
            <a:r>
              <a:rPr lang="en-US" altLang="zh-CN" sz="2200" dirty="0"/>
              <a:t>() </a:t>
            </a:r>
            <a:r>
              <a:rPr lang="zh-CN" altLang="en-US" sz="2200" dirty="0"/>
              <a:t>函数，其效果相当于使用 </a:t>
            </a:r>
            <a:r>
              <a:rPr lang="en-US" altLang="zh-CN" sz="2200" dirty="0" err="1"/>
              <a:t>nn.CrossEntropyLoss</a:t>
            </a:r>
            <a:r>
              <a:rPr lang="en-US" altLang="zh-CN" sz="2200" dirty="0"/>
              <a:t>() </a:t>
            </a:r>
            <a:r>
              <a:rPr lang="zh-CN" altLang="en-US" sz="2200" dirty="0"/>
              <a:t>函数。</a:t>
            </a:r>
            <a:endParaRPr lang="en-US" altLang="zh-CN" sz="2200" dirty="0"/>
          </a:p>
          <a:p>
            <a:endParaRPr lang="en-US" altLang="zh-CN" sz="2200" dirty="0"/>
          </a:p>
          <a:p>
            <a:r>
              <a:rPr lang="zh-CN" altLang="en-US" sz="2200" dirty="0"/>
              <a:t>简而言之， </a:t>
            </a:r>
            <a:r>
              <a:rPr lang="en-US" altLang="zh-CN" sz="2200" b="1" dirty="0" err="1"/>
              <a:t>nn.CrossEntropyLoss</a:t>
            </a:r>
            <a:r>
              <a:rPr lang="en-US" altLang="zh-CN" sz="2200" b="1" dirty="0"/>
              <a:t>() = </a:t>
            </a:r>
            <a:r>
              <a:rPr lang="en-US" altLang="zh-CN" sz="2200" b="1" dirty="0" err="1"/>
              <a:t>torch.softmax</a:t>
            </a:r>
            <a:r>
              <a:rPr lang="en-US" altLang="zh-CN" sz="2200" b="1" dirty="0"/>
              <a:t>()+torch.log()+</a:t>
            </a:r>
            <a:r>
              <a:rPr lang="en-US" altLang="zh-CN" sz="2200" b="1" dirty="0" err="1"/>
              <a:t>nn.NLLLoss</a:t>
            </a:r>
            <a:r>
              <a:rPr lang="en-US" altLang="zh-CN" sz="2200" b="1" dirty="0"/>
              <a:t>()</a:t>
            </a:r>
            <a:r>
              <a:rPr lang="zh-CN" altLang="en-US" sz="2200" dirty="0"/>
              <a:t>。 显然，</a:t>
            </a:r>
            <a:r>
              <a:rPr lang="en-US" altLang="zh-CN" sz="2200" dirty="0" err="1"/>
              <a:t>nn.CrossEntropyLoss</a:t>
            </a:r>
            <a:r>
              <a:rPr lang="en-US" altLang="zh-CN" sz="2200" dirty="0"/>
              <a:t>()</a:t>
            </a:r>
            <a:r>
              <a:rPr lang="zh-CN" altLang="en-US" sz="2200" dirty="0"/>
              <a:t>和 </a:t>
            </a:r>
            <a:r>
              <a:rPr lang="en-US" altLang="zh-CN" sz="2200" dirty="0" err="1"/>
              <a:t>nn.NLLLoss</a:t>
            </a:r>
            <a:r>
              <a:rPr lang="en-US" altLang="zh-CN" sz="2200" dirty="0"/>
              <a:t>()</a:t>
            </a:r>
            <a:r>
              <a:rPr lang="zh-CN" altLang="en-US" sz="2200" dirty="0"/>
              <a:t>主要用于</a:t>
            </a:r>
            <a:r>
              <a:rPr lang="zh-CN" altLang="en-US" sz="2200" b="1" dirty="0"/>
              <a:t>解决分类问题</a:t>
            </a:r>
            <a:r>
              <a:rPr lang="zh-CN" altLang="en-US" sz="2200" dirty="0"/>
              <a:t>。</a:t>
            </a:r>
            <a:endParaRPr lang="en-US" altLang="zh-CN" sz="2200" dirty="0"/>
          </a:p>
        </p:txBody>
      </p:sp>
    </p:spTree>
    <p:extLst>
      <p:ext uri="{BB962C8B-B14F-4D97-AF65-F5344CB8AC3E}">
        <p14:creationId xmlns:p14="http://schemas.microsoft.com/office/powerpoint/2010/main" val="3963568060"/>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3.3.2 </a:t>
            </a:r>
            <a:r>
              <a:rPr lang="en-US" altLang="zh-CN" sz="2800" b="1" dirty="0" err="1">
                <a:solidFill>
                  <a:srgbClr val="C00000"/>
                </a:solidFill>
              </a:rPr>
              <a:t>nn.MSELoss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3974EA9-469E-9296-577D-DA50F0D6E5E0}"/>
                  </a:ext>
                </a:extLst>
              </p:cNvPr>
              <p:cNvSpPr txBox="1"/>
              <p:nvPr/>
            </p:nvSpPr>
            <p:spPr>
              <a:xfrm>
                <a:off x="335804" y="2029460"/>
                <a:ext cx="11032649" cy="440120"/>
              </a:xfrm>
              <a:prstGeom prst="rect">
                <a:avLst/>
              </a:prstGeom>
              <a:noFill/>
            </p:spPr>
            <p:txBody>
              <a:bodyPr wrap="square">
                <a:spAutoFit/>
              </a:bodyPr>
              <a:lstStyle/>
              <a:p>
                <a:r>
                  <a:rPr lang="zh-CN" altLang="en-US" sz="2200" dirty="0"/>
                  <a:t>假设张量 </a:t>
                </a:r>
                <a:r>
                  <a:rPr lang="en-US" altLang="zh-CN" dirty="0"/>
                  <a:t>Y</a:t>
                </a:r>
                <a14:m>
                  <m:oMath xmlns:m="http://schemas.openxmlformats.org/officeDocument/2006/math">
                    <m:r>
                      <a:rPr lang="en-US" altLang="zh-CN" b="0" i="0" smtClean="0">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𝑦</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i="1">
                            <a:latin typeface="Cambria Math" panose="02040503050406030204" pitchFamily="18" charset="0"/>
                          </a:rPr>
                          <m:t>)</m:t>
                        </m:r>
                      </m:sup>
                    </m:sSup>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𝑦</m:t>
                        </m:r>
                      </m:e>
                      <m:sup>
                        <m:r>
                          <a:rPr lang="en-US" altLang="zh-CN" i="1">
                            <a:latin typeface="Cambria Math" panose="02040503050406030204" pitchFamily="18" charset="0"/>
                          </a:rPr>
                          <m:t>(</m:t>
                        </m:r>
                        <m:r>
                          <a:rPr lang="en-US" altLang="zh-CN" b="0" i="1" smtClean="0">
                            <a:latin typeface="Cambria Math" panose="02040503050406030204" pitchFamily="18" charset="0"/>
                          </a:rPr>
                          <m:t>𝑛</m:t>
                        </m:r>
                        <m:r>
                          <a:rPr lang="en-US" altLang="zh-CN" i="1">
                            <a:latin typeface="Cambria Math" panose="02040503050406030204" pitchFamily="18" charset="0"/>
                          </a:rPr>
                          <m:t>)</m:t>
                        </m:r>
                      </m:sup>
                    </m:sSup>
                  </m:oMath>
                </a14:m>
                <a:r>
                  <a:rPr lang="zh-CN" altLang="en-US" dirty="0"/>
                  <a:t> </a:t>
                </a:r>
                <a:r>
                  <a:rPr lang="en-US" altLang="zh-CN" dirty="0"/>
                  <a:t>,</a:t>
                </a:r>
                <a14:m>
                  <m:oMath xmlns:m="http://schemas.openxmlformats.org/officeDocument/2006/math">
                    <m:acc>
                      <m:accPr>
                        <m:chr m:val="̂"/>
                        <m:ctrlPr>
                          <a:rPr lang="zh-CN" altLang="en-US" i="1">
                            <a:latin typeface="Cambria Math" panose="02040503050406030204" pitchFamily="18" charset="0"/>
                          </a:rPr>
                        </m:ctrlPr>
                      </m:accPr>
                      <m:e>
                        <m:r>
                          <a:rPr lang="en-US" altLang="zh-CN">
                            <a:latin typeface="Cambria Math" panose="02040503050406030204" pitchFamily="18" charset="0"/>
                          </a:rPr>
                          <m:t>𝑌</m:t>
                        </m:r>
                      </m:e>
                    </m:acc>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acc>
                              <m:accPr>
                                <m:chr m:val="̂"/>
                                <m:ctrlPr>
                                  <a:rPr lang="zh-CN" altLang="en-US" i="1">
                                    <a:latin typeface="Cambria Math" panose="02040503050406030204" pitchFamily="18" charset="0"/>
                                  </a:rPr>
                                </m:ctrlPr>
                              </m:accPr>
                              <m:e>
                                <m:r>
                                  <a:rPr lang="en-US" altLang="zh-CN" b="0" i="1" smtClean="0">
                                    <a:latin typeface="Cambria Math" panose="02040503050406030204" pitchFamily="18" charset="0"/>
                                  </a:rPr>
                                  <m:t>𝑦</m:t>
                                </m:r>
                              </m:e>
                            </m:acc>
                          </m:e>
                          <m:sup>
                            <m:d>
                              <m:dPr>
                                <m:ctrlPr>
                                  <a:rPr lang="en-US" altLang="zh-CN" i="1">
                                    <a:latin typeface="Cambria Math" panose="02040503050406030204" pitchFamily="18" charset="0"/>
                                  </a:rPr>
                                </m:ctrlPr>
                              </m:dPr>
                              <m:e>
                                <m:r>
                                  <a:rPr lang="en-US" altLang="zh-CN" i="1">
                                    <a:latin typeface="Cambria Math" panose="02040503050406030204" pitchFamily="18" charset="0"/>
                                  </a:rPr>
                                  <m:t>1</m:t>
                                </m:r>
                              </m:e>
                            </m:d>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𝑦</m:t>
                                </m:r>
                              </m:e>
                            </m:acc>
                          </m:e>
                          <m:sup>
                            <m:d>
                              <m:dPr>
                                <m:ctrlPr>
                                  <a:rPr lang="en-US" altLang="zh-CN" i="1">
                                    <a:latin typeface="Cambria Math" panose="02040503050406030204" pitchFamily="18" charset="0"/>
                                  </a:rPr>
                                </m:ctrlPr>
                              </m:dPr>
                              <m:e>
                                <m:r>
                                  <a:rPr lang="en-US" altLang="zh-CN" b="0" i="1" smtClean="0">
                                    <a:latin typeface="Cambria Math" panose="02040503050406030204" pitchFamily="18" charset="0"/>
                                  </a:rPr>
                                  <m:t>2</m:t>
                                </m:r>
                              </m:e>
                            </m:d>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𝑦</m:t>
                                </m:r>
                              </m:e>
                            </m:acc>
                          </m:e>
                          <m:sup>
                            <m:d>
                              <m:dPr>
                                <m:ctrlPr>
                                  <a:rPr lang="en-US" altLang="zh-CN" b="0" i="1">
                                    <a:latin typeface="Cambria Math" panose="02040503050406030204" pitchFamily="18" charset="0"/>
                                  </a:rPr>
                                </m:ctrlPr>
                              </m:dPr>
                              <m:e>
                                <m:r>
                                  <a:rPr lang="en-US" altLang="zh-CN" b="0" i="1" smtClean="0">
                                    <a:latin typeface="Cambria Math" panose="02040503050406030204" pitchFamily="18" charset="0"/>
                                  </a:rPr>
                                  <m:t>𝑛</m:t>
                                </m:r>
                              </m:e>
                            </m:d>
                          </m:sup>
                        </m:sSup>
                      </m:e>
                    </m:d>
                  </m:oMath>
                </a14:m>
                <a:r>
                  <a:rPr lang="zh-CN" altLang="en-US" sz="2200" dirty="0"/>
                  <a:t>则 </a:t>
                </a:r>
                <a:r>
                  <a:rPr lang="en-US" altLang="zh-CN" sz="2200" dirty="0"/>
                  <a:t>Y </a:t>
                </a:r>
                <a:r>
                  <a:rPr lang="zh-CN" altLang="en-US" sz="2200" dirty="0"/>
                  <a:t>和</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的</a:t>
                </a:r>
                <a:r>
                  <a:rPr lang="zh-CN" altLang="en-US" sz="2200" b="1" dirty="0"/>
                  <a:t>均方差</a:t>
                </a:r>
                <a:r>
                  <a:rPr lang="zh-CN" altLang="en-US" sz="2200" dirty="0"/>
                  <a:t>可表示为：</a:t>
                </a:r>
              </a:p>
            </p:txBody>
          </p:sp>
        </mc:Choice>
        <mc:Fallback xmlns="">
          <p:sp>
            <p:nvSpPr>
              <p:cNvPr id="6" name="文本框 5">
                <a:extLst>
                  <a:ext uri="{FF2B5EF4-FFF2-40B4-BE49-F238E27FC236}">
                    <a16:creationId xmlns:a16="http://schemas.microsoft.com/office/drawing/2014/main" id="{03974EA9-469E-9296-577D-DA50F0D6E5E0}"/>
                  </a:ext>
                </a:extLst>
              </p:cNvPr>
              <p:cNvSpPr txBox="1">
                <a:spLocks noRot="1" noChangeAspect="1" noMove="1" noResize="1" noEditPoints="1" noAdjustHandles="1" noChangeArrowheads="1" noChangeShapeType="1" noTextEdit="1"/>
              </p:cNvSpPr>
              <p:nvPr/>
            </p:nvSpPr>
            <p:spPr>
              <a:xfrm>
                <a:off x="335804" y="2029460"/>
                <a:ext cx="11032649" cy="440120"/>
              </a:xfrm>
              <a:prstGeom prst="rect">
                <a:avLst/>
              </a:prstGeom>
              <a:blipFill>
                <a:blip r:embed="rId3"/>
                <a:stretch>
                  <a:fillRect l="-718" t="-6944" b="-29167"/>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9EEB708B-FFAC-AC5B-96F4-101C4DBBB6BF}"/>
              </a:ext>
            </a:extLst>
          </p:cNvPr>
          <p:cNvPicPr>
            <a:picLocks noChangeAspect="1"/>
          </p:cNvPicPr>
          <p:nvPr/>
        </p:nvPicPr>
        <p:blipFill>
          <a:blip r:embed="rId4"/>
          <a:stretch>
            <a:fillRect/>
          </a:stretch>
        </p:blipFill>
        <p:spPr>
          <a:xfrm>
            <a:off x="2773392" y="2607922"/>
            <a:ext cx="3322608" cy="533446"/>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335804" y="3367454"/>
                <a:ext cx="9627577" cy="2776145"/>
              </a:xfrm>
              <a:prstGeom prst="rect">
                <a:avLst/>
              </a:prstGeom>
              <a:noFill/>
            </p:spPr>
            <p:txBody>
              <a:bodyPr wrap="square">
                <a:spAutoFit/>
              </a:bodyPr>
              <a:lstStyle/>
              <a:p>
                <a:r>
                  <a:rPr lang="zh-CN" altLang="en-US" sz="2200" dirty="0"/>
                  <a:t>这里假设了 </a:t>
                </a:r>
                <a:r>
                  <a:rPr lang="en-US" altLang="zh-CN" sz="2200" dirty="0"/>
                  <a:t>Y </a:t>
                </a:r>
                <a:r>
                  <a:rPr lang="zh-CN" altLang="en-US" sz="2200" dirty="0"/>
                  <a:t>和</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为一维张量。实际上，对于多维张量的情况，亦可依此类推：分别取 出 </a:t>
                </a:r>
                <a:r>
                  <a:rPr lang="en-US" altLang="zh-CN" sz="2200" dirty="0"/>
                  <a:t>Y </a:t>
                </a:r>
                <a:r>
                  <a:rPr lang="zh-CN" altLang="en-US" sz="2200" dirty="0"/>
                  <a:t>和</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中相对应的元素相减，然后平方，最后除以元素个数。 </a:t>
                </a:r>
                <a:r>
                  <a:rPr lang="en-US" altLang="zh-CN" sz="2200" dirty="0"/>
                  <a:t>Y </a:t>
                </a:r>
                <a:r>
                  <a:rPr lang="zh-CN" altLang="en-US" sz="2200" dirty="0"/>
                  <a:t>和</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的</a:t>
                </a:r>
                <a:r>
                  <a:rPr lang="zh-CN" altLang="en-US" sz="2200" b="1" dirty="0"/>
                  <a:t>形状必须相同</a:t>
                </a:r>
                <a:r>
                  <a:rPr lang="zh-CN" altLang="en-US" sz="2200" dirty="0"/>
                  <a:t>。</a:t>
                </a:r>
                <a:endParaRPr lang="en-US" altLang="zh-CN" sz="2200" dirty="0"/>
              </a:p>
              <a:p>
                <a:endParaRPr lang="en-US" altLang="zh-CN" dirty="0"/>
              </a:p>
              <a:p>
                <a:r>
                  <a:rPr lang="zh-CN" altLang="en-US" sz="2200" dirty="0"/>
                  <a:t>在 </a:t>
                </a:r>
                <a:r>
                  <a:rPr lang="en-US" altLang="zh-CN" sz="2200" b="1" dirty="0" err="1"/>
                  <a:t>PyTorch</a:t>
                </a:r>
                <a:r>
                  <a:rPr lang="en-US" altLang="zh-CN" sz="2200" dirty="0"/>
                  <a:t> </a:t>
                </a:r>
                <a:r>
                  <a:rPr lang="zh-CN" altLang="en-US" sz="2200" dirty="0"/>
                  <a:t>框架中，可用 </a:t>
                </a:r>
                <a:r>
                  <a:rPr lang="en-US" altLang="zh-CN" sz="2200" dirty="0" err="1"/>
                  <a:t>nn.MSELoss</a:t>
                </a:r>
                <a:r>
                  <a:rPr lang="en-US" altLang="zh-CN" sz="2200" dirty="0"/>
                  <a:t>()</a:t>
                </a:r>
                <a:r>
                  <a:rPr lang="zh-CN" altLang="en-US" sz="2200" dirty="0"/>
                  <a:t>函数来计算 </a:t>
                </a:r>
                <a:r>
                  <a:rPr lang="en-US" altLang="zh-CN" sz="2200" dirty="0"/>
                  <a:t>Y </a:t>
                </a:r>
                <a:r>
                  <a:rPr lang="zh-CN" altLang="en-US" sz="2200" dirty="0"/>
                  <a:t>和</a:t>
                </a:r>
                <a14:m>
                  <m:oMath xmlns:m="http://schemas.openxmlformats.org/officeDocument/2006/math">
                    <m:acc>
                      <m:accPr>
                        <m:chr m:val="̂"/>
                        <m:ctrlPr>
                          <a:rPr lang="zh-CN" altLang="en-US" sz="2200" i="1" smtClean="0">
                            <a:latin typeface="Cambria Math" panose="02040503050406030204" pitchFamily="18" charset="0"/>
                          </a:rPr>
                        </m:ctrlPr>
                      </m:accPr>
                      <m:e>
                        <m:r>
                          <a:rPr lang="en-US" altLang="zh-CN" sz="2200">
                            <a:latin typeface="Cambria Math" panose="02040503050406030204" pitchFamily="18" charset="0"/>
                          </a:rPr>
                          <m:t>𝑌</m:t>
                        </m:r>
                      </m:e>
                    </m:acc>
                  </m:oMath>
                </a14:m>
                <a:r>
                  <a:rPr lang="zh-CN" altLang="en-US" sz="2200" dirty="0"/>
                  <a:t>的均方差。</a:t>
                </a:r>
                <a:r>
                  <a:rPr lang="en-US" altLang="zh-CN" sz="2200" dirty="0" err="1"/>
                  <a:t>MSELoss</a:t>
                </a:r>
                <a:r>
                  <a:rPr lang="en-US" altLang="zh-CN" sz="2200" dirty="0"/>
                  <a:t> </a:t>
                </a:r>
                <a:r>
                  <a:rPr lang="zh-CN" altLang="en-US" sz="2200" dirty="0"/>
                  <a:t>是 </a:t>
                </a:r>
                <a:r>
                  <a:rPr lang="en-US" altLang="zh-CN" sz="2200" dirty="0"/>
                  <a:t>Mean Squared Error Loss </a:t>
                </a:r>
                <a:r>
                  <a:rPr lang="zh-CN" altLang="en-US" sz="2200" dirty="0"/>
                  <a:t>的缩写，对应的中文意思是</a:t>
                </a:r>
                <a:r>
                  <a:rPr lang="zh-CN" altLang="en-US" sz="2200" dirty="0">
                    <a:solidFill>
                      <a:srgbClr val="0033CC"/>
                    </a:solidFill>
                  </a:rPr>
                  <a:t>平均平方误差</a:t>
                </a:r>
                <a:r>
                  <a:rPr lang="zh-CN" altLang="en-US" sz="2200" dirty="0"/>
                  <a:t>，简称</a:t>
                </a:r>
                <a:r>
                  <a:rPr lang="zh-CN" altLang="en-US" sz="2200" dirty="0">
                    <a:solidFill>
                      <a:srgbClr val="0033CC"/>
                    </a:solidFill>
                  </a:rPr>
                  <a:t>均方差</a:t>
                </a:r>
                <a:r>
                  <a:rPr lang="zh-CN" altLang="en-US" sz="2200" dirty="0"/>
                  <a:t>。因此，</a:t>
                </a:r>
                <a:r>
                  <a:rPr lang="en-US" altLang="zh-CN" sz="2200" dirty="0" err="1"/>
                  <a:t>nn.MSELoss</a:t>
                </a:r>
                <a:r>
                  <a:rPr lang="en-US" altLang="zh-CN" sz="2200" dirty="0"/>
                  <a:t>() </a:t>
                </a:r>
                <a:r>
                  <a:rPr lang="zh-CN" altLang="en-US" sz="2200" dirty="0"/>
                  <a:t>函数称为</a:t>
                </a:r>
                <a:r>
                  <a:rPr lang="zh-CN" altLang="en-US" sz="2200" dirty="0">
                    <a:solidFill>
                      <a:srgbClr val="0033CC"/>
                    </a:solidFill>
                  </a:rPr>
                  <a:t>均方差损失函数</a:t>
                </a:r>
                <a:r>
                  <a:rPr lang="zh-CN" altLang="en-US" sz="2200" dirty="0"/>
                  <a:t>。显然，该函数用于度量两个张量的误差。</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335804" y="3367454"/>
                <a:ext cx="9627577" cy="2776145"/>
              </a:xfrm>
              <a:prstGeom prst="rect">
                <a:avLst/>
              </a:prstGeom>
              <a:blipFill>
                <a:blip r:embed="rId5"/>
                <a:stretch>
                  <a:fillRect l="-823" t="-1096" r="-3673" b="-32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5148029"/>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3.3.2 </a:t>
            </a:r>
            <a:r>
              <a:rPr lang="en-US" altLang="zh-CN" sz="2800" b="1" dirty="0" err="1">
                <a:solidFill>
                  <a:srgbClr val="C00000"/>
                </a:solidFill>
              </a:rPr>
              <a:t>nn.MSELoss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1824482"/>
            <a:ext cx="9627577" cy="3985706"/>
          </a:xfrm>
          <a:prstGeom prst="rect">
            <a:avLst/>
          </a:prstGeom>
          <a:noFill/>
        </p:spPr>
        <p:txBody>
          <a:bodyPr wrap="square">
            <a:spAutoFit/>
          </a:bodyPr>
          <a:lstStyle/>
          <a:p>
            <a:r>
              <a:rPr lang="zh-CN" altLang="en-US" sz="2200" dirty="0"/>
              <a:t>例如，下列代码先构建两个形状相同的张量 </a:t>
            </a:r>
            <a:r>
              <a:rPr lang="en-US" altLang="zh-CN" sz="2200" dirty="0" err="1"/>
              <a:t>pre_y</a:t>
            </a:r>
            <a:r>
              <a:rPr lang="en-US" altLang="zh-CN" sz="2200" dirty="0"/>
              <a:t> </a:t>
            </a:r>
            <a:r>
              <a:rPr lang="zh-CN" altLang="en-US" sz="2200" dirty="0"/>
              <a:t>和 </a:t>
            </a:r>
            <a:r>
              <a:rPr lang="en-US" altLang="zh-CN" sz="2200" dirty="0"/>
              <a:t>y</a:t>
            </a:r>
            <a:r>
              <a:rPr lang="zh-CN" altLang="en-US" sz="2200" dirty="0"/>
              <a:t>，然后利用 </a:t>
            </a:r>
            <a:r>
              <a:rPr lang="en-US" altLang="zh-CN" sz="2200" b="1" dirty="0" err="1"/>
              <a:t>nn.MSELoss</a:t>
            </a:r>
            <a:r>
              <a:rPr lang="en-US" altLang="zh-CN" sz="2200" b="1" dirty="0"/>
              <a:t>()</a:t>
            </a:r>
            <a:r>
              <a:rPr lang="zh-CN" altLang="en-US" sz="2200" b="1" dirty="0"/>
              <a:t>函数</a:t>
            </a:r>
            <a:r>
              <a:rPr lang="zh-CN" altLang="en-US" sz="2200" dirty="0"/>
              <a:t>计算它们的</a:t>
            </a:r>
            <a:r>
              <a:rPr lang="zh-CN" altLang="en-US" sz="2200" b="1" dirty="0"/>
              <a:t>均方差</a:t>
            </a:r>
            <a:r>
              <a:rPr lang="zh-CN" altLang="en-US" sz="2200" dirty="0"/>
              <a:t>：</a:t>
            </a:r>
            <a:endParaRPr lang="en-US" altLang="zh-CN" sz="2200" dirty="0"/>
          </a:p>
          <a:p>
            <a:pPr>
              <a:lnSpc>
                <a:spcPct val="150000"/>
              </a:lnSpc>
            </a:pPr>
            <a:r>
              <a:rPr lang="en-US" altLang="zh-CN" sz="2200" dirty="0" err="1">
                <a:solidFill>
                  <a:srgbClr val="00B050"/>
                </a:solidFill>
              </a:rPr>
              <a:t>pre_y</a:t>
            </a:r>
            <a:r>
              <a:rPr lang="en-US" altLang="zh-CN" sz="2200" dirty="0">
                <a:solidFill>
                  <a:srgbClr val="00B050"/>
                </a:solidFill>
              </a:rPr>
              <a:t> = </a:t>
            </a:r>
            <a:r>
              <a:rPr lang="en-US" altLang="zh-CN" sz="2200" dirty="0" err="1">
                <a:solidFill>
                  <a:srgbClr val="00B050"/>
                </a:solidFill>
              </a:rPr>
              <a:t>torch.tensor</a:t>
            </a:r>
            <a:r>
              <a:rPr lang="en-US" altLang="zh-CN" sz="2200" dirty="0">
                <a:solidFill>
                  <a:srgbClr val="00B050"/>
                </a:solidFill>
              </a:rPr>
              <a:t>([[4, 1, 0, 0],</a:t>
            </a:r>
          </a:p>
          <a:p>
            <a:r>
              <a:rPr lang="en-US" altLang="zh-CN" sz="2200" dirty="0">
                <a:solidFill>
                  <a:srgbClr val="00B050"/>
                </a:solidFill>
              </a:rPr>
              <a:t> [4, 2, 0, 5],</a:t>
            </a:r>
          </a:p>
          <a:p>
            <a:r>
              <a:rPr lang="en-US" altLang="zh-CN" sz="2200" dirty="0">
                <a:solidFill>
                  <a:srgbClr val="00B050"/>
                </a:solidFill>
              </a:rPr>
              <a:t> [5, 4, 5, 1]]).float()</a:t>
            </a:r>
          </a:p>
          <a:p>
            <a:r>
              <a:rPr lang="en-US" altLang="zh-CN" sz="2200" dirty="0">
                <a:solidFill>
                  <a:srgbClr val="00B050"/>
                </a:solidFill>
              </a:rPr>
              <a:t>y = </a:t>
            </a:r>
            <a:r>
              <a:rPr lang="en-US" altLang="zh-CN" sz="2200" dirty="0" err="1">
                <a:solidFill>
                  <a:srgbClr val="00B050"/>
                </a:solidFill>
              </a:rPr>
              <a:t>torch.tensor</a:t>
            </a:r>
            <a:r>
              <a:rPr lang="en-US" altLang="zh-CN" sz="2200" dirty="0">
                <a:solidFill>
                  <a:srgbClr val="00B050"/>
                </a:solidFill>
              </a:rPr>
              <a:t>([[0, 1, 4, 3],</a:t>
            </a:r>
          </a:p>
          <a:p>
            <a:r>
              <a:rPr lang="en-US" altLang="zh-CN" sz="2200" dirty="0">
                <a:solidFill>
                  <a:srgbClr val="00B050"/>
                </a:solidFill>
              </a:rPr>
              <a:t> [0, 3, 1, 4],</a:t>
            </a:r>
          </a:p>
          <a:p>
            <a:r>
              <a:rPr lang="en-US" altLang="zh-CN" sz="2200" dirty="0">
                <a:solidFill>
                  <a:srgbClr val="00B050"/>
                </a:solidFill>
              </a:rPr>
              <a:t> [4, 4, 1, 3]]).float()</a:t>
            </a:r>
          </a:p>
          <a:p>
            <a:r>
              <a:rPr lang="en-US" altLang="zh-CN" sz="2200" dirty="0">
                <a:solidFill>
                  <a:srgbClr val="00B050"/>
                </a:solidFill>
              </a:rPr>
              <a:t>loss = </a:t>
            </a:r>
            <a:r>
              <a:rPr lang="en-US" altLang="zh-CN" sz="2200" dirty="0" err="1">
                <a:solidFill>
                  <a:srgbClr val="00B050"/>
                </a:solidFill>
              </a:rPr>
              <a:t>nn.MSELoss</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y) #</a:t>
            </a:r>
            <a:r>
              <a:rPr lang="zh-CN" altLang="en-US" sz="2200" dirty="0">
                <a:solidFill>
                  <a:srgbClr val="00B050"/>
                </a:solidFill>
              </a:rPr>
              <a:t>计算均方差 </a:t>
            </a:r>
            <a:endParaRPr lang="en-US" altLang="zh-CN" sz="2200" dirty="0">
              <a:solidFill>
                <a:srgbClr val="00B050"/>
              </a:solidFill>
            </a:endParaRPr>
          </a:p>
          <a:p>
            <a:endParaRPr lang="en-US" altLang="zh-CN" sz="2200" dirty="0"/>
          </a:p>
          <a:p>
            <a:r>
              <a:rPr lang="zh-CN" altLang="en-US" sz="2200" dirty="0"/>
              <a:t>均方差损失函数 </a:t>
            </a:r>
            <a:r>
              <a:rPr lang="en-US" altLang="zh-CN" sz="2200" b="1" dirty="0" err="1"/>
              <a:t>nn.MSELoss</a:t>
            </a:r>
            <a:r>
              <a:rPr lang="en-US" altLang="zh-CN" sz="2200" b="1" dirty="0"/>
              <a:t>()</a:t>
            </a:r>
            <a:r>
              <a:rPr lang="zh-CN" altLang="en-US" sz="2200" dirty="0"/>
              <a:t>主要用于</a:t>
            </a:r>
            <a:r>
              <a:rPr lang="zh-CN" altLang="en-US" sz="2200" b="1" dirty="0"/>
              <a:t>回归分析</a:t>
            </a:r>
            <a:r>
              <a:rPr lang="zh-CN" altLang="en-US" sz="2200" dirty="0"/>
              <a:t>。</a:t>
            </a:r>
          </a:p>
        </p:txBody>
      </p:sp>
      <p:pic>
        <p:nvPicPr>
          <p:cNvPr id="3" name="图片 2">
            <a:extLst>
              <a:ext uri="{FF2B5EF4-FFF2-40B4-BE49-F238E27FC236}">
                <a16:creationId xmlns:a16="http://schemas.microsoft.com/office/drawing/2014/main" id="{51F5218F-564B-041D-A6BA-3B74190B3E12}"/>
              </a:ext>
            </a:extLst>
          </p:cNvPr>
          <p:cNvPicPr>
            <a:picLocks noChangeAspect="1"/>
          </p:cNvPicPr>
          <p:nvPr/>
        </p:nvPicPr>
        <p:blipFill>
          <a:blip r:embed="rId3"/>
          <a:stretch>
            <a:fillRect/>
          </a:stretch>
        </p:blipFill>
        <p:spPr>
          <a:xfrm>
            <a:off x="6913528" y="3886200"/>
            <a:ext cx="1033548" cy="554220"/>
          </a:xfrm>
          <a:prstGeom prst="rect">
            <a:avLst/>
          </a:prstGeom>
        </p:spPr>
      </p:pic>
      <p:sp>
        <p:nvSpPr>
          <p:cNvPr id="4" name="箭头: 右 3">
            <a:extLst>
              <a:ext uri="{FF2B5EF4-FFF2-40B4-BE49-F238E27FC236}">
                <a16:creationId xmlns:a16="http://schemas.microsoft.com/office/drawing/2014/main" id="{B65A7E4E-5AAE-6409-C735-25E2F6F3F63F}"/>
              </a:ext>
            </a:extLst>
          </p:cNvPr>
          <p:cNvSpPr/>
          <p:nvPr/>
        </p:nvSpPr>
        <p:spPr>
          <a:xfrm>
            <a:off x="5064369" y="4119348"/>
            <a:ext cx="1031631" cy="259221"/>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36669000"/>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3.3.3 </a:t>
            </a:r>
            <a:r>
              <a:rPr lang="en-US" altLang="zh-CN" sz="2800" b="1" dirty="0" err="1">
                <a:solidFill>
                  <a:srgbClr val="C00000"/>
                </a:solidFill>
              </a:rPr>
              <a:t>nn.BCELoss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nn.BCEWithLogitsLoss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675542" y="2180956"/>
                <a:ext cx="9627577" cy="1993494"/>
              </a:xfrm>
              <a:prstGeom prst="rect">
                <a:avLst/>
              </a:prstGeom>
              <a:noFill/>
            </p:spPr>
            <p:txBody>
              <a:bodyPr wrap="square">
                <a:spAutoFit/>
              </a:bodyPr>
              <a:lstStyle/>
              <a:p>
                <a:r>
                  <a:rPr lang="zh-CN" altLang="en-US" sz="2200" dirty="0"/>
                  <a:t>令 </a:t>
                </a:r>
                <a:r>
                  <a:rPr lang="en-US" altLang="zh-CN" sz="2200" dirty="0"/>
                  <a:t>X </a:t>
                </a:r>
                <a:r>
                  <a:rPr lang="zh-CN" altLang="en-US" sz="2200" dirty="0"/>
                  <a:t>表示由 </a:t>
                </a:r>
                <a:r>
                  <a:rPr lang="en-US" altLang="zh-CN" sz="2200" dirty="0"/>
                  <a:t>n </a:t>
                </a:r>
                <a:r>
                  <a:rPr lang="zh-CN" altLang="en-US" sz="2200" dirty="0"/>
                  <a:t>个样本构成为数据批量（张量），其对应的标记张量为 </a:t>
                </a:r>
                <a:r>
                  <a:rPr lang="en-US" altLang="zh-CN" sz="2400" b="1" dirty="0"/>
                  <a:t>Y</a:t>
                </a:r>
                <a14:m>
                  <m:oMath xmlns:m="http://schemas.openxmlformats.org/officeDocument/2006/math">
                    <m:r>
                      <a:rPr lang="en-US" altLang="zh-CN" sz="2400" b="0" i="0" smtClean="0">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𝑦</m:t>
                        </m:r>
                      </m:e>
                      <m:sup>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𝑦</m:t>
                        </m:r>
                      </m:e>
                      <m:sup>
                        <m:r>
                          <a:rPr lang="en-US" altLang="zh-CN" sz="2400" i="1">
                            <a:latin typeface="Cambria Math" panose="02040503050406030204" pitchFamily="18" charset="0"/>
                          </a:rPr>
                          <m:t>(</m:t>
                        </m:r>
                        <m:r>
                          <a:rPr lang="en-US" altLang="zh-CN" sz="2400" b="0" i="1" smtClean="0">
                            <a:latin typeface="Cambria Math" panose="02040503050406030204" pitchFamily="18" charset="0"/>
                          </a:rPr>
                          <m:t>2</m:t>
                        </m:r>
                        <m:r>
                          <a:rPr lang="en-US" altLang="zh-CN" sz="2400" i="1">
                            <a:latin typeface="Cambria Math" panose="02040503050406030204" pitchFamily="18" charset="0"/>
                          </a:rPr>
                          <m:t>)</m:t>
                        </m:r>
                      </m:sup>
                    </m:sSup>
                  </m:oMath>
                </a14:m>
                <a:r>
                  <a:rPr lang="en-US" altLang="zh-CN" sz="2400" dirty="0"/>
                  <a: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𝑦</m:t>
                        </m:r>
                      </m:e>
                      <m:sup>
                        <m:r>
                          <a:rPr lang="en-US" altLang="zh-CN" sz="2400" i="1">
                            <a:latin typeface="Cambria Math" panose="02040503050406030204" pitchFamily="18" charset="0"/>
                          </a:rPr>
                          <m:t>(</m:t>
                        </m:r>
                        <m:r>
                          <a:rPr lang="en-US" altLang="zh-CN" sz="2400" b="0" i="1" smtClean="0">
                            <a:latin typeface="Cambria Math" panose="02040503050406030204" pitchFamily="18" charset="0"/>
                          </a:rPr>
                          <m:t>𝑛</m:t>
                        </m:r>
                        <m:r>
                          <a:rPr lang="en-US" altLang="zh-CN" sz="2400" i="1">
                            <a:latin typeface="Cambria Math" panose="02040503050406030204" pitchFamily="18" charset="0"/>
                          </a:rPr>
                          <m:t>)</m:t>
                        </m:r>
                      </m:sup>
                    </m:sSup>
                  </m:oMath>
                </a14:m>
                <a:r>
                  <a:rPr lang="zh-CN" altLang="en-US" sz="2200" dirty="0"/>
                  <a:t>其中 </a:t>
                </a:r>
                <a14:m>
                  <m:oMath xmlns:m="http://schemas.openxmlformats.org/officeDocument/2006/math">
                    <m:sSup>
                      <m:sSupPr>
                        <m:ctrlPr>
                          <a:rPr lang="en-US" altLang="zh-CN" sz="2000" i="1" smtClean="0">
                            <a:latin typeface="Cambria Math" panose="02040503050406030204" pitchFamily="18" charset="0"/>
                          </a:rPr>
                        </m:ctrlPr>
                      </m:sSupPr>
                      <m:e>
                        <m:r>
                          <a:rPr lang="en-US" altLang="zh-CN" sz="2000" i="1">
                            <a:latin typeface="Cambria Math" panose="02040503050406030204" pitchFamily="18" charset="0"/>
                          </a:rPr>
                          <m:t>𝑦</m:t>
                        </m:r>
                      </m:e>
                      <m:sup>
                        <m:r>
                          <a:rPr lang="en-US" altLang="zh-CN" sz="2000" i="1">
                            <a:latin typeface="Cambria Math" panose="02040503050406030204" pitchFamily="18" charset="0"/>
                          </a:rPr>
                          <m:t>(</m:t>
                        </m:r>
                        <m:r>
                          <a:rPr lang="en-US" altLang="zh-CN" sz="2000" b="0" i="1" smtClean="0">
                            <a:latin typeface="Cambria Math" panose="02040503050406030204" pitchFamily="18" charset="0"/>
                          </a:rPr>
                          <m:t>𝑖</m:t>
                        </m:r>
                        <m:r>
                          <a:rPr lang="en-US" altLang="zh-CN" sz="2000" i="1">
                            <a:latin typeface="Cambria Math" panose="02040503050406030204" pitchFamily="18" charset="0"/>
                          </a:rPr>
                          <m:t>)</m:t>
                        </m:r>
                      </m:sup>
                    </m:sSup>
                    <m:r>
                      <a:rPr lang="en-US" altLang="zh-CN" sz="2000" i="1" smtClean="0">
                        <a:latin typeface="Cambria Math" panose="02040503050406030204" pitchFamily="18" charset="0"/>
                        <a:ea typeface="Cambria Math" panose="02040503050406030204" pitchFamily="18" charset="0"/>
                      </a:rPr>
                      <m:t>∈</m:t>
                    </m:r>
                  </m:oMath>
                </a14:m>
                <a:r>
                  <a:rPr lang="en-US" altLang="zh-CN" sz="2200" dirty="0"/>
                  <a:t>{0, 1}</a:t>
                </a:r>
                <a:r>
                  <a:rPr lang="zh-CN" altLang="en-US" sz="2200" dirty="0"/>
                  <a:t>（</a:t>
                </a:r>
                <a:r>
                  <a:rPr lang="en-US" altLang="zh-CN" sz="2200" dirty="0"/>
                  <a:t>0 </a:t>
                </a:r>
                <a:r>
                  <a:rPr lang="zh-CN" altLang="en-US" sz="2200" dirty="0"/>
                  <a:t>表示一个类别，</a:t>
                </a:r>
                <a:r>
                  <a:rPr lang="en-US" altLang="zh-CN" sz="2200" dirty="0"/>
                  <a:t>1 </a:t>
                </a:r>
                <a:r>
                  <a:rPr lang="zh-CN" altLang="en-US" sz="2200" dirty="0"/>
                  <a:t>表示另一个类别），</a:t>
                </a:r>
                <a:endParaRPr lang="en-US" altLang="zh-CN" sz="2200" dirty="0"/>
              </a:p>
              <a:p>
                <a:r>
                  <a:rPr lang="en-US" altLang="zh-CN" sz="2200" dirty="0" err="1"/>
                  <a:t>i</a:t>
                </a:r>
                <a:r>
                  <a:rPr lang="en-US" altLang="zh-CN" sz="2200" dirty="0"/>
                  <a:t> = 1,2,…,n</a:t>
                </a:r>
                <a:r>
                  <a:rPr lang="zh-CN" altLang="en-US" sz="2200" dirty="0"/>
                  <a:t>，并假设在输入 </a:t>
                </a:r>
                <a:r>
                  <a:rPr lang="en-US" altLang="zh-CN" sz="2200" dirty="0"/>
                  <a:t>X </a:t>
                </a:r>
                <a:r>
                  <a:rPr lang="zh-CN" altLang="en-US" sz="2200" dirty="0"/>
                  <a:t>后模型的输出为</a:t>
                </a:r>
                <a:r>
                  <a:rPr lang="en-US" altLang="zh-CN" sz="2400" dirty="0"/>
                  <a:t>,</a:t>
                </a:r>
                <a14:m>
                  <m:oMath xmlns:m="http://schemas.openxmlformats.org/officeDocument/2006/math">
                    <m:acc>
                      <m:accPr>
                        <m:chr m:val="̂"/>
                        <m:ctrlPr>
                          <a:rPr lang="zh-CN" altLang="en-US" sz="2400" b="1" i="1">
                            <a:latin typeface="Cambria Math" panose="02040503050406030204" pitchFamily="18" charset="0"/>
                          </a:rPr>
                        </m:ctrlPr>
                      </m:accPr>
                      <m:e>
                        <m:r>
                          <a:rPr lang="en-US" altLang="zh-CN" sz="2400" b="1" i="1">
                            <a:latin typeface="Cambria Math" panose="02040503050406030204" pitchFamily="18" charset="0"/>
                          </a:rPr>
                          <m:t>𝒀</m:t>
                        </m:r>
                      </m:e>
                    </m:acc>
                    <m:r>
                      <a:rPr lang="en-US" altLang="zh-CN" sz="2400" i="1">
                        <a:latin typeface="Cambria Math" panose="02040503050406030204" pitchFamily="18" charset="0"/>
                      </a:rPr>
                      <m:t>=</m:t>
                    </m:r>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𝑦</m:t>
                                </m:r>
                              </m:e>
                            </m:acc>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1</m:t>
                                </m:r>
                              </m:e>
                            </m:d>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𝑦</m:t>
                                </m:r>
                              </m:e>
                            </m:acc>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2</m:t>
                                </m:r>
                              </m:e>
                            </m:d>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acc>
                              <m:accPr>
                                <m:chr m:val="̂"/>
                                <m:ctrlPr>
                                  <a:rPr lang="zh-CN" altLang="en-US" sz="2400" i="1">
                                    <a:latin typeface="Cambria Math" panose="02040503050406030204" pitchFamily="18" charset="0"/>
                                  </a:rPr>
                                </m:ctrlPr>
                              </m:accPr>
                              <m:e>
                                <m:r>
                                  <a:rPr lang="en-US" altLang="zh-CN" sz="2400" i="1">
                                    <a:latin typeface="Cambria Math" panose="02040503050406030204" pitchFamily="18" charset="0"/>
                                  </a:rPr>
                                  <m:t>𝑦</m:t>
                                </m:r>
                              </m:e>
                            </m:acc>
                          </m:e>
                          <m:sup>
                            <m:d>
                              <m:dPr>
                                <m:ctrlPr>
                                  <a:rPr lang="en-US" altLang="zh-CN" sz="2400" i="1">
                                    <a:latin typeface="Cambria Math" panose="02040503050406030204" pitchFamily="18" charset="0"/>
                                  </a:rPr>
                                </m:ctrlPr>
                              </m:dPr>
                              <m:e>
                                <m:r>
                                  <a:rPr lang="en-US" altLang="zh-CN" sz="2400" i="1">
                                    <a:latin typeface="Cambria Math" panose="02040503050406030204" pitchFamily="18" charset="0"/>
                                  </a:rPr>
                                  <m:t>𝑛</m:t>
                                </m:r>
                              </m:e>
                            </m:d>
                          </m:sup>
                        </m:sSup>
                      </m:e>
                    </m:d>
                  </m:oMath>
                </a14:m>
                <a:endParaRPr lang="en-US" altLang="zh-CN" sz="2200" dirty="0"/>
              </a:p>
              <a:p>
                <a:r>
                  <a:rPr lang="zh-CN" altLang="en-US" sz="2200" dirty="0"/>
                  <a:t>其中</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𝑦</m:t>
                        </m:r>
                      </m:e>
                      <m:sup>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sup>
                    </m:sSup>
                    <m:r>
                      <a:rPr lang="en-US" altLang="zh-CN" sz="2400" i="1">
                        <a:latin typeface="Cambria Math" panose="02040503050406030204" pitchFamily="18" charset="0"/>
                        <a:ea typeface="Cambria Math" panose="02040503050406030204" pitchFamily="18" charset="0"/>
                      </a:rPr>
                      <m:t>∈</m:t>
                    </m:r>
                    <m:r>
                      <m:rPr>
                        <m:nor/>
                      </m:rPr>
                      <a:rPr lang="en-US" altLang="zh-CN" sz="2200" dirty="0"/>
                      <m:t>(0,1)</m:t>
                    </m:r>
                  </m:oMath>
                </a14:m>
                <a:r>
                  <a:rPr lang="en-US" altLang="zh-CN" sz="2200" dirty="0"/>
                  <a:t>, </a:t>
                </a:r>
                <a:r>
                  <a:rPr lang="en-US" altLang="zh-CN" sz="2200" dirty="0" err="1"/>
                  <a:t>i</a:t>
                </a:r>
                <a:r>
                  <a:rPr lang="en-US" altLang="zh-CN" sz="2200" dirty="0"/>
                  <a:t> = 1,2,…,n</a:t>
                </a:r>
                <a:r>
                  <a:rPr lang="zh-CN" altLang="en-US" sz="2200" dirty="0"/>
                  <a:t>。这样，模型在批量 </a:t>
                </a:r>
                <a:r>
                  <a:rPr lang="en-US" altLang="zh-CN" sz="2200" dirty="0"/>
                  <a:t>X </a:t>
                </a:r>
                <a:r>
                  <a:rPr lang="zh-CN" altLang="en-US" sz="2200" dirty="0"/>
                  <a:t>上的</a:t>
                </a:r>
                <a:r>
                  <a:rPr lang="zh-CN" altLang="en-US" sz="2200" b="1" dirty="0"/>
                  <a:t>损失函数</a:t>
                </a:r>
                <a:r>
                  <a:rPr lang="zh-CN" altLang="en-US" sz="2200" dirty="0"/>
                  <a:t>为：</a:t>
                </a:r>
              </a:p>
              <a:p>
                <a:endParaRPr lang="zh-CN" altLang="en-US" sz="2200" dirty="0"/>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675542" y="2180956"/>
                <a:ext cx="9627577" cy="1993494"/>
              </a:xfrm>
              <a:prstGeom prst="rect">
                <a:avLst/>
              </a:prstGeom>
              <a:blipFill>
                <a:blip r:embed="rId3"/>
                <a:stretch>
                  <a:fillRect l="-823" t="-244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C824EA40-8DBC-7A52-7E38-1691DE379A60}"/>
              </a:ext>
            </a:extLst>
          </p:cNvPr>
          <p:cNvPicPr>
            <a:picLocks noChangeAspect="1"/>
          </p:cNvPicPr>
          <p:nvPr/>
        </p:nvPicPr>
        <p:blipFill>
          <a:blip r:embed="rId4"/>
          <a:stretch>
            <a:fillRect/>
          </a:stretch>
        </p:blipFill>
        <p:spPr>
          <a:xfrm>
            <a:off x="1925806" y="4386472"/>
            <a:ext cx="6828112" cy="708721"/>
          </a:xfrm>
          <a:prstGeom prst="rect">
            <a:avLst/>
          </a:prstGeom>
        </p:spPr>
      </p:pic>
    </p:spTree>
    <p:extLst>
      <p:ext uri="{BB962C8B-B14F-4D97-AF65-F5344CB8AC3E}">
        <p14:creationId xmlns:p14="http://schemas.microsoft.com/office/powerpoint/2010/main" val="3012818303"/>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3.3.3 </a:t>
            </a:r>
            <a:r>
              <a:rPr lang="en-US" altLang="zh-CN" sz="2800" b="1" dirty="0" err="1">
                <a:solidFill>
                  <a:srgbClr val="C00000"/>
                </a:solidFill>
              </a:rPr>
              <a:t>nn.BCELoss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nn.BCEWithLogitsLoss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230296" y="2180956"/>
                <a:ext cx="9627577" cy="1117229"/>
              </a:xfrm>
              <a:prstGeom prst="rect">
                <a:avLst/>
              </a:prstGeom>
              <a:noFill/>
            </p:spPr>
            <p:txBody>
              <a:bodyPr wrap="square">
                <a:spAutoFit/>
              </a:bodyPr>
              <a:lstStyle/>
              <a:p>
                <a:r>
                  <a:rPr lang="zh-CN" altLang="en-US" sz="2200" dirty="0"/>
                  <a:t>在 </a:t>
                </a:r>
                <a:r>
                  <a:rPr lang="en-US" altLang="zh-CN" sz="2200" b="1" dirty="0" err="1"/>
                  <a:t>PyTorch</a:t>
                </a:r>
                <a:r>
                  <a:rPr lang="en-US" altLang="zh-CN" sz="2200" dirty="0"/>
                  <a:t> </a:t>
                </a:r>
                <a:r>
                  <a:rPr lang="zh-CN" altLang="en-US" sz="2200" dirty="0"/>
                  <a:t>框架中，</a:t>
                </a:r>
                <a:r>
                  <a:rPr lang="en-US" altLang="zh-CN" sz="2200" b="1" dirty="0" err="1"/>
                  <a:t>nn.BCELoss</a:t>
                </a:r>
                <a:r>
                  <a:rPr lang="en-US" altLang="zh-CN" sz="2200" b="1" dirty="0"/>
                  <a:t>()</a:t>
                </a:r>
                <a:r>
                  <a:rPr lang="zh-CN" altLang="en-US" sz="2200" b="1" dirty="0"/>
                  <a:t>函数</a:t>
                </a:r>
                <a:r>
                  <a:rPr lang="zh-CN" altLang="en-US" sz="2200" dirty="0"/>
                  <a:t>来计算上述</a:t>
                </a:r>
                <a14:m>
                  <m:oMath xmlns:m="http://schemas.openxmlformats.org/officeDocument/2006/math">
                    <m:r>
                      <a:rPr lang="en-US" altLang="zh-CN" sz="2200" smtClean="0">
                        <a:latin typeface="Cambria Math" panose="02040503050406030204" pitchFamily="18" charset="0"/>
                      </a:rPr>
                      <m:t>ℒ</m:t>
                    </m:r>
                    <m:r>
                      <a:rPr lang="en-US" altLang="zh-CN" sz="2200" smtClean="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r>
                      <a:rPr lang="en-US" altLang="zh-CN" sz="2200" i="1">
                        <a:latin typeface="Cambria Math" panose="02040503050406030204" pitchFamily="18" charset="0"/>
                      </a:rPr>
                      <m:t> </m:t>
                    </m:r>
                  </m:oMath>
                </a14:m>
                <a:r>
                  <a:rPr lang="zh-CN" altLang="en-US" sz="2200" dirty="0"/>
                  <a:t>。</a:t>
                </a:r>
                <a:r>
                  <a:rPr lang="en-US" altLang="zh-CN" sz="2200" dirty="0" err="1"/>
                  <a:t>BCELoss</a:t>
                </a:r>
                <a:r>
                  <a:rPr lang="en-US" altLang="zh-CN" sz="2200" dirty="0"/>
                  <a:t> </a:t>
                </a:r>
                <a:r>
                  <a:rPr lang="zh-CN" altLang="en-US" sz="2200" dirty="0"/>
                  <a:t>是 </a:t>
                </a:r>
                <a:r>
                  <a:rPr lang="en-US" altLang="zh-CN" sz="2200" dirty="0"/>
                  <a:t>Binary</a:t>
                </a:r>
              </a:p>
              <a:p>
                <a:r>
                  <a:rPr lang="en-US" altLang="zh-CN" sz="2200" dirty="0" err="1"/>
                  <a:t>CrossEntropyLoss</a:t>
                </a:r>
                <a:r>
                  <a:rPr lang="en-US" altLang="zh-CN" sz="2200" dirty="0"/>
                  <a:t> </a:t>
                </a:r>
                <a:r>
                  <a:rPr lang="zh-CN" altLang="en-US" sz="2200" dirty="0"/>
                  <a:t>的缩写，也就是说，</a:t>
                </a:r>
                <a:r>
                  <a:rPr lang="en-US" altLang="zh-CN" sz="2200" dirty="0" err="1"/>
                  <a:t>nn.BCELoss</a:t>
                </a:r>
                <a:r>
                  <a:rPr lang="en-US" altLang="zh-CN" sz="2200" dirty="0"/>
                  <a:t>()</a:t>
                </a:r>
                <a:r>
                  <a:rPr lang="zh-CN" altLang="en-US" sz="2200" dirty="0"/>
                  <a:t>也是一种交叉熵损失函数，但它只适用于</a:t>
                </a:r>
                <a:r>
                  <a:rPr lang="zh-CN" altLang="en-US" sz="2200" b="1" dirty="0"/>
                  <a:t>二分类</a:t>
                </a:r>
                <a:r>
                  <a:rPr lang="zh-CN" altLang="en-US" sz="2200" dirty="0"/>
                  <a:t>问题，因而称为</a:t>
                </a:r>
                <a:r>
                  <a:rPr lang="zh-CN" altLang="en-US" sz="2200" dirty="0">
                    <a:solidFill>
                      <a:srgbClr val="0033CC"/>
                    </a:solidFill>
                  </a:rPr>
                  <a:t>二分类交叉熵损失函数</a:t>
                </a:r>
                <a:r>
                  <a:rPr lang="zh-CN" altLang="en-US" sz="2200" dirty="0"/>
                  <a:t>。</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230296" y="2180956"/>
                <a:ext cx="9627577" cy="1117229"/>
              </a:xfrm>
              <a:prstGeom prst="rect">
                <a:avLst/>
              </a:prstGeom>
              <a:blipFill>
                <a:blip r:embed="rId3"/>
                <a:stretch>
                  <a:fillRect l="-823" t="-2732" r="-190" b="-10383"/>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C824EA40-8DBC-7A52-7E38-1691DE379A60}"/>
              </a:ext>
            </a:extLst>
          </p:cNvPr>
          <p:cNvPicPr>
            <a:picLocks noChangeAspect="1"/>
          </p:cNvPicPr>
          <p:nvPr/>
        </p:nvPicPr>
        <p:blipFill>
          <a:blip r:embed="rId4"/>
          <a:stretch>
            <a:fillRect/>
          </a:stretch>
        </p:blipFill>
        <p:spPr>
          <a:xfrm>
            <a:off x="1864259" y="3913556"/>
            <a:ext cx="6828112" cy="708721"/>
          </a:xfrm>
          <a:prstGeom prst="rect">
            <a:avLst/>
          </a:prstGeom>
        </p:spPr>
      </p:pic>
    </p:spTree>
    <p:extLst>
      <p:ext uri="{BB962C8B-B14F-4D97-AF65-F5344CB8AC3E}">
        <p14:creationId xmlns:p14="http://schemas.microsoft.com/office/powerpoint/2010/main" val="3226569500"/>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3.3.3 </a:t>
            </a:r>
            <a:r>
              <a:rPr lang="en-US" altLang="zh-CN" sz="2800" b="1" dirty="0" err="1">
                <a:solidFill>
                  <a:srgbClr val="C00000"/>
                </a:solidFill>
              </a:rPr>
              <a:t>nn.BCELoss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nn.BCEWithLogitsLoss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492370" y="2050020"/>
                <a:ext cx="9548446" cy="1107996"/>
              </a:xfrm>
              <a:prstGeom prst="rect">
                <a:avLst/>
              </a:prstGeom>
              <a:noFill/>
            </p:spPr>
            <p:txBody>
              <a:bodyPr wrap="square">
                <a:spAutoFit/>
              </a:bodyPr>
              <a:lstStyle/>
              <a:p>
                <a:r>
                  <a:rPr lang="zh-CN" altLang="en-US" sz="2200" dirty="0"/>
                  <a:t>例如，下列代码先构造张量 </a:t>
                </a:r>
                <a:r>
                  <a:rPr lang="en-US" altLang="zh-CN" sz="2200" dirty="0" err="1"/>
                  <a:t>pre_y</a:t>
                </a:r>
                <a:r>
                  <a:rPr lang="en-US" altLang="zh-CN" sz="2200" dirty="0"/>
                  <a:t> </a:t>
                </a:r>
                <a:r>
                  <a:rPr lang="zh-CN" altLang="en-US" sz="2200" dirty="0"/>
                  <a:t>和 </a:t>
                </a:r>
                <a:r>
                  <a:rPr lang="en-US" altLang="zh-CN" sz="2200" dirty="0"/>
                  <a:t>y</a:t>
                </a:r>
                <a:r>
                  <a:rPr lang="zh-CN" altLang="en-US" sz="2200" dirty="0"/>
                  <a:t>（二者分别相当于上述公式中的</a:t>
                </a:r>
                <a14:m>
                  <m:oMath xmlns:m="http://schemas.openxmlformats.org/officeDocument/2006/math">
                    <m:acc>
                      <m:accPr>
                        <m:chr m:val="̂"/>
                        <m:ctrlPr>
                          <a:rPr lang="zh-CN" altLang="en-US" sz="2200" b="1" i="1" smtClean="0">
                            <a:latin typeface="Cambria Math" panose="02040503050406030204" pitchFamily="18" charset="0"/>
                          </a:rPr>
                        </m:ctrlPr>
                      </m:accPr>
                      <m:e>
                        <m:r>
                          <a:rPr lang="en-US" altLang="zh-CN" sz="2200" b="1" i="1">
                            <a:latin typeface="Cambria Math" panose="02040503050406030204" pitchFamily="18" charset="0"/>
                          </a:rPr>
                          <m:t>𝒀</m:t>
                        </m:r>
                      </m:e>
                    </m:acc>
                  </m:oMath>
                </a14:m>
                <a:r>
                  <a:rPr lang="zh-CN" altLang="en-US" sz="2200" dirty="0"/>
                  <a:t>和𝒀），然后将</a:t>
                </a:r>
                <a:r>
                  <a:rPr lang="en-US" altLang="zh-CN" sz="2200" dirty="0" err="1"/>
                  <a:t>pre_y</a:t>
                </a:r>
                <a:r>
                  <a:rPr lang="en-US" altLang="zh-CN" sz="2200" dirty="0"/>
                  <a:t> </a:t>
                </a:r>
                <a:r>
                  <a:rPr lang="zh-CN" altLang="en-US" sz="2200" b="1" dirty="0"/>
                  <a:t>归一化</a:t>
                </a:r>
                <a:r>
                  <a:rPr lang="zh-CN" altLang="en-US" sz="2200" dirty="0"/>
                  <a:t>到</a:t>
                </a:r>
                <a:r>
                  <a:rPr lang="en-US" altLang="zh-CN" sz="2200" dirty="0"/>
                  <a:t>(0, 1)</a:t>
                </a:r>
                <a:r>
                  <a:rPr lang="zh-CN" altLang="en-US" sz="2200" dirty="0"/>
                  <a:t>中，最后调用 </a:t>
                </a:r>
                <a:r>
                  <a:rPr lang="en-US" altLang="zh-CN" sz="2200" b="1" dirty="0" err="1"/>
                  <a:t>nn.BCELoss</a:t>
                </a:r>
                <a:r>
                  <a:rPr lang="en-US" altLang="zh-CN" sz="2200" b="1" dirty="0"/>
                  <a:t>()</a:t>
                </a:r>
                <a:r>
                  <a:rPr lang="zh-CN" altLang="en-US" sz="2200" dirty="0"/>
                  <a:t>计算交叉熵损失函数的值：</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492370" y="2050020"/>
                <a:ext cx="9548446" cy="1107996"/>
              </a:xfrm>
              <a:prstGeom prst="rect">
                <a:avLst/>
              </a:prstGeom>
              <a:blipFill>
                <a:blip r:embed="rId3"/>
                <a:stretch>
                  <a:fillRect l="-830" t="-2747" b="-11538"/>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C22364D6-8272-EE6A-ED43-B22BECAE8A52}"/>
              </a:ext>
            </a:extLst>
          </p:cNvPr>
          <p:cNvSpPr txBox="1"/>
          <p:nvPr/>
        </p:nvSpPr>
        <p:spPr>
          <a:xfrm>
            <a:off x="492368" y="3301840"/>
            <a:ext cx="6989885" cy="1785104"/>
          </a:xfrm>
          <a:prstGeom prst="rect">
            <a:avLst/>
          </a:prstGeom>
          <a:noFill/>
        </p:spPr>
        <p:txBody>
          <a:bodyPr wrap="square">
            <a:spAutoFit/>
          </a:bodyPr>
          <a:lstStyle/>
          <a:p>
            <a:r>
              <a:rPr lang="en-US" altLang="zh-CN" sz="2200" dirty="0" err="1">
                <a:solidFill>
                  <a:srgbClr val="00B050"/>
                </a:solidFill>
              </a:rPr>
              <a:t>pre_y</a:t>
            </a:r>
            <a:r>
              <a:rPr lang="en-US" altLang="zh-CN" sz="2200" dirty="0">
                <a:solidFill>
                  <a:srgbClr val="00B050"/>
                </a:solidFill>
              </a:rPr>
              <a:t> = </a:t>
            </a:r>
            <a:r>
              <a:rPr lang="en-US" altLang="zh-CN" sz="2200" dirty="0" err="1">
                <a:solidFill>
                  <a:srgbClr val="00B050"/>
                </a:solidFill>
              </a:rPr>
              <a:t>torch.tensor</a:t>
            </a:r>
            <a:r>
              <a:rPr lang="en-US" altLang="zh-CN" sz="2200" dirty="0">
                <a:solidFill>
                  <a:srgbClr val="00B050"/>
                </a:solidFill>
              </a:rPr>
              <a:t>([[-0.3696], [-0.2404],[-1.1969], [ 0.2093]])</a:t>
            </a:r>
          </a:p>
          <a:p>
            <a:r>
              <a:rPr lang="en-US" altLang="zh-CN" sz="2200" dirty="0">
                <a:solidFill>
                  <a:srgbClr val="00B050"/>
                </a:solidFill>
              </a:rPr>
              <a:t>y = </a:t>
            </a:r>
            <a:r>
              <a:rPr lang="en-US" altLang="zh-CN" sz="2200" dirty="0" err="1">
                <a:solidFill>
                  <a:srgbClr val="00B050"/>
                </a:solidFill>
              </a:rPr>
              <a:t>torch.tensor</a:t>
            </a:r>
            <a:r>
              <a:rPr lang="en-US" altLang="zh-CN" sz="2200" dirty="0">
                <a:solidFill>
                  <a:srgbClr val="00B050"/>
                </a:solidFill>
              </a:rPr>
              <a:t>([[0],[1],[1],[0]]).float()</a:t>
            </a:r>
          </a:p>
          <a:p>
            <a:r>
              <a:rPr lang="en-US" altLang="zh-CN" sz="2200" dirty="0" err="1">
                <a:solidFill>
                  <a:srgbClr val="00B050"/>
                </a:solidFill>
              </a:rPr>
              <a:t>pre_y</a:t>
            </a:r>
            <a:r>
              <a:rPr lang="en-US" altLang="zh-CN" sz="2200" dirty="0">
                <a:solidFill>
                  <a:srgbClr val="00B050"/>
                </a:solidFill>
              </a:rPr>
              <a:t> = </a:t>
            </a:r>
            <a:r>
              <a:rPr lang="en-US" altLang="zh-CN" sz="2200" dirty="0" err="1">
                <a:solidFill>
                  <a:srgbClr val="00B050"/>
                </a:solidFill>
              </a:rPr>
              <a:t>torch.sigmoid</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a:t>
            </a:r>
            <a:r>
              <a:rPr lang="zh-CN" altLang="en-US" sz="2200" dirty="0">
                <a:solidFill>
                  <a:srgbClr val="00B050"/>
                </a:solidFill>
              </a:rPr>
              <a:t>将 </a:t>
            </a:r>
            <a:r>
              <a:rPr lang="en-US" altLang="zh-CN" sz="2200" dirty="0" err="1">
                <a:solidFill>
                  <a:srgbClr val="00B050"/>
                </a:solidFill>
              </a:rPr>
              <a:t>pre_y</a:t>
            </a:r>
            <a:r>
              <a:rPr lang="en-US" altLang="zh-CN" sz="2200" dirty="0">
                <a:solidFill>
                  <a:srgbClr val="00B050"/>
                </a:solidFill>
              </a:rPr>
              <a:t> </a:t>
            </a:r>
            <a:r>
              <a:rPr lang="zh-CN" altLang="en-US" sz="2200" dirty="0">
                <a:solidFill>
                  <a:srgbClr val="00B050"/>
                </a:solidFill>
              </a:rPr>
              <a:t>归一化到</a:t>
            </a:r>
            <a:r>
              <a:rPr lang="en-US" altLang="zh-CN" sz="2200" dirty="0">
                <a:solidFill>
                  <a:srgbClr val="00B050"/>
                </a:solidFill>
              </a:rPr>
              <a:t>(0, 1)</a:t>
            </a:r>
            <a:r>
              <a:rPr lang="zh-CN" altLang="en-US" sz="2200" dirty="0">
                <a:solidFill>
                  <a:srgbClr val="00B050"/>
                </a:solidFill>
              </a:rPr>
              <a:t>中</a:t>
            </a:r>
          </a:p>
          <a:p>
            <a:r>
              <a:rPr lang="en-US" altLang="zh-CN" sz="2200" dirty="0">
                <a:solidFill>
                  <a:srgbClr val="00B050"/>
                </a:solidFill>
              </a:rPr>
              <a:t>loss = </a:t>
            </a:r>
            <a:r>
              <a:rPr lang="en-US" altLang="zh-CN" sz="2200" dirty="0" err="1">
                <a:solidFill>
                  <a:srgbClr val="00B050"/>
                </a:solidFill>
              </a:rPr>
              <a:t>nn.BCELoss</a:t>
            </a:r>
            <a:r>
              <a:rPr lang="en-US" altLang="zh-CN" sz="2200" dirty="0">
                <a:solidFill>
                  <a:srgbClr val="00B050"/>
                </a:solidFill>
              </a:rPr>
              <a:t>()(</a:t>
            </a:r>
            <a:r>
              <a:rPr lang="en-US" altLang="zh-CN" sz="2200" dirty="0" err="1">
                <a:solidFill>
                  <a:srgbClr val="00B050"/>
                </a:solidFill>
              </a:rPr>
              <a:t>pre_y,y</a:t>
            </a:r>
            <a:r>
              <a:rPr lang="en-US" altLang="zh-CN" sz="2200" dirty="0">
                <a:solidFill>
                  <a:srgbClr val="00B050"/>
                </a:solidFill>
              </a:rPr>
              <a:t>)</a:t>
            </a:r>
            <a:endParaRPr lang="zh-CN" altLang="en-US" sz="2200" dirty="0">
              <a:solidFill>
                <a:srgbClr val="00B050"/>
              </a:solidFill>
            </a:endParaRPr>
          </a:p>
        </p:txBody>
      </p:sp>
      <p:sp>
        <p:nvSpPr>
          <p:cNvPr id="10" name="文本框 9">
            <a:extLst>
              <a:ext uri="{FF2B5EF4-FFF2-40B4-BE49-F238E27FC236}">
                <a16:creationId xmlns:a16="http://schemas.microsoft.com/office/drawing/2014/main" id="{D6C98E57-75D7-EB32-3DCD-AD44EE134EA0}"/>
              </a:ext>
            </a:extLst>
          </p:cNvPr>
          <p:cNvSpPr txBox="1"/>
          <p:nvPr/>
        </p:nvSpPr>
        <p:spPr>
          <a:xfrm>
            <a:off x="492368" y="5159209"/>
            <a:ext cx="9420597" cy="769441"/>
          </a:xfrm>
          <a:prstGeom prst="rect">
            <a:avLst/>
          </a:prstGeom>
          <a:noFill/>
        </p:spPr>
        <p:txBody>
          <a:bodyPr wrap="square">
            <a:spAutoFit/>
          </a:bodyPr>
          <a:lstStyle/>
          <a:p>
            <a:r>
              <a:rPr lang="zh-CN" altLang="en-US" sz="2200" b="1" dirty="0"/>
              <a:t>注意</a:t>
            </a:r>
            <a:r>
              <a:rPr lang="zh-CN" altLang="en-US" sz="2200" dirty="0"/>
              <a:t>：运用激活函数 </a:t>
            </a:r>
            <a:r>
              <a:rPr lang="en-US" altLang="zh-CN" sz="2200" dirty="0" err="1"/>
              <a:t>torch.sigmoid</a:t>
            </a:r>
            <a:r>
              <a:rPr lang="en-US" altLang="zh-CN" sz="2200" dirty="0"/>
              <a:t>()</a:t>
            </a:r>
            <a:r>
              <a:rPr lang="zh-CN" altLang="en-US" sz="2200" dirty="0"/>
              <a:t>的目的是，将 </a:t>
            </a:r>
            <a:r>
              <a:rPr lang="en-US" altLang="zh-CN" sz="2200" dirty="0" err="1"/>
              <a:t>pre_y</a:t>
            </a:r>
            <a:r>
              <a:rPr lang="en-US" altLang="zh-CN" sz="2200" dirty="0"/>
              <a:t> </a:t>
            </a:r>
            <a:r>
              <a:rPr lang="zh-CN" altLang="en-US" sz="2200" dirty="0"/>
              <a:t>归一化到</a:t>
            </a:r>
            <a:r>
              <a:rPr lang="en-US" altLang="zh-CN" sz="2200" dirty="0"/>
              <a:t>(0, 1)</a:t>
            </a:r>
            <a:r>
              <a:rPr lang="zh-CN" altLang="en-US" sz="2200" dirty="0"/>
              <a:t>中，否则可能因为 </a:t>
            </a:r>
            <a:r>
              <a:rPr lang="en-US" altLang="zh-CN" sz="2200" dirty="0" err="1"/>
              <a:t>pre_y</a:t>
            </a:r>
            <a:r>
              <a:rPr lang="en-US" altLang="zh-CN" sz="2200" dirty="0"/>
              <a:t> </a:t>
            </a:r>
            <a:r>
              <a:rPr lang="zh-CN" altLang="en-US" sz="2200" dirty="0"/>
              <a:t>为 </a:t>
            </a:r>
            <a:r>
              <a:rPr lang="en-US" altLang="zh-CN" sz="2200" dirty="0"/>
              <a:t>0 </a:t>
            </a:r>
            <a:r>
              <a:rPr lang="zh-CN" altLang="en-US" sz="2200" dirty="0"/>
              <a:t>而导致计算 </a:t>
            </a:r>
            <a:r>
              <a:rPr lang="en-US" altLang="zh-CN" sz="2200" dirty="0" err="1"/>
              <a:t>pre_y</a:t>
            </a:r>
            <a:r>
              <a:rPr lang="en-US" altLang="zh-CN" sz="2200" dirty="0"/>
              <a:t> </a:t>
            </a:r>
            <a:r>
              <a:rPr lang="zh-CN" altLang="en-US" sz="2200" dirty="0"/>
              <a:t>的对数时出现错误。</a:t>
            </a:r>
          </a:p>
        </p:txBody>
      </p:sp>
      <p:pic>
        <p:nvPicPr>
          <p:cNvPr id="3" name="图片 2">
            <a:extLst>
              <a:ext uri="{FF2B5EF4-FFF2-40B4-BE49-F238E27FC236}">
                <a16:creationId xmlns:a16="http://schemas.microsoft.com/office/drawing/2014/main" id="{D265AD97-9833-B464-F98C-4961A8E305E4}"/>
              </a:ext>
            </a:extLst>
          </p:cNvPr>
          <p:cNvPicPr>
            <a:picLocks noChangeAspect="1"/>
          </p:cNvPicPr>
          <p:nvPr/>
        </p:nvPicPr>
        <p:blipFill>
          <a:blip r:embed="rId4"/>
          <a:stretch>
            <a:fillRect/>
          </a:stretch>
        </p:blipFill>
        <p:spPr>
          <a:xfrm>
            <a:off x="8917900" y="3947013"/>
            <a:ext cx="1122915" cy="370446"/>
          </a:xfrm>
          <a:prstGeom prst="rect">
            <a:avLst/>
          </a:prstGeom>
        </p:spPr>
      </p:pic>
      <p:sp>
        <p:nvSpPr>
          <p:cNvPr id="4" name="箭头: 右 3">
            <a:extLst>
              <a:ext uri="{FF2B5EF4-FFF2-40B4-BE49-F238E27FC236}">
                <a16:creationId xmlns:a16="http://schemas.microsoft.com/office/drawing/2014/main" id="{C12F0D4D-507F-7E10-F20E-2DB2067AEF29}"/>
              </a:ext>
            </a:extLst>
          </p:cNvPr>
          <p:cNvSpPr/>
          <p:nvPr/>
        </p:nvSpPr>
        <p:spPr>
          <a:xfrm>
            <a:off x="7280031" y="3973850"/>
            <a:ext cx="1055076" cy="370446"/>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51383245"/>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3.3.3 </a:t>
            </a:r>
            <a:r>
              <a:rPr lang="en-US" altLang="zh-CN" sz="2800" b="1" dirty="0" err="1">
                <a:solidFill>
                  <a:srgbClr val="C00000"/>
                </a:solidFill>
              </a:rPr>
              <a:t>nn.BCELoss</a:t>
            </a:r>
            <a:r>
              <a:rPr lang="en-US" altLang="zh-CN" sz="2800" b="1" dirty="0">
                <a:solidFill>
                  <a:srgbClr val="C00000"/>
                </a:solidFill>
              </a:rPr>
              <a:t>()</a:t>
            </a:r>
            <a:r>
              <a:rPr lang="zh-CN" altLang="en-US" sz="2800" b="1" dirty="0">
                <a:solidFill>
                  <a:srgbClr val="C00000"/>
                </a:solidFill>
              </a:rPr>
              <a:t>和 </a:t>
            </a:r>
            <a:r>
              <a:rPr lang="en-US" altLang="zh-CN" sz="2800" b="1" dirty="0" err="1">
                <a:solidFill>
                  <a:srgbClr val="C00000"/>
                </a:solidFill>
              </a:rPr>
              <a:t>nn.BCEWithLogitsLoss</a:t>
            </a:r>
            <a:r>
              <a:rPr lang="en-US" altLang="zh-CN" sz="2800" b="1" dirty="0">
                <a:solidFill>
                  <a:srgbClr val="C00000"/>
                </a:solidFill>
              </a:rPr>
              <a:t>()</a:t>
            </a:r>
            <a:r>
              <a:rPr lang="zh-CN" altLang="en-US" sz="2800" b="1" dirty="0">
                <a:solidFill>
                  <a:srgbClr val="C00000"/>
                </a:solidFill>
              </a:rPr>
              <a:t>函数</a:t>
            </a:r>
            <a:endParaRPr lang="zh-CN" altLang="zh-CN" sz="2800" b="1" dirty="0">
              <a:solidFill>
                <a:srgbClr val="C0000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374387"/>
            <a:ext cx="9627577" cy="1785104"/>
          </a:xfrm>
          <a:prstGeom prst="rect">
            <a:avLst/>
          </a:prstGeom>
          <a:noFill/>
        </p:spPr>
        <p:txBody>
          <a:bodyPr wrap="square">
            <a:spAutoFit/>
          </a:bodyPr>
          <a:lstStyle/>
          <a:p>
            <a:r>
              <a:rPr lang="zh-CN" altLang="en-US" sz="2200" dirty="0"/>
              <a:t>实际上，</a:t>
            </a:r>
            <a:r>
              <a:rPr lang="en-US" altLang="zh-CN" sz="2200" b="1" dirty="0" err="1"/>
              <a:t>nn.BCEWithLogitsLoss</a:t>
            </a:r>
            <a:r>
              <a:rPr lang="en-US" altLang="zh-CN" sz="2200" b="1" dirty="0"/>
              <a:t>()</a:t>
            </a:r>
            <a:r>
              <a:rPr lang="zh-CN" altLang="en-US" sz="2200" b="1" dirty="0"/>
              <a:t>函数</a:t>
            </a:r>
            <a:r>
              <a:rPr lang="zh-CN" altLang="en-US" sz="2200" dirty="0"/>
              <a:t>相当于先启用激活函数 </a:t>
            </a:r>
            <a:r>
              <a:rPr lang="en-US" altLang="zh-CN" sz="2200" b="1" dirty="0" err="1"/>
              <a:t>torch.sigmoid</a:t>
            </a:r>
            <a:r>
              <a:rPr lang="en-US" altLang="zh-CN" sz="2200" b="1" dirty="0"/>
              <a:t>()</a:t>
            </a:r>
            <a:r>
              <a:rPr lang="zh-CN" altLang="en-US" sz="2200" dirty="0"/>
              <a:t>，然后再调用 </a:t>
            </a:r>
            <a:r>
              <a:rPr lang="en-US" altLang="zh-CN" sz="2200" b="1" dirty="0" err="1"/>
              <a:t>nn.BCELoss</a:t>
            </a:r>
            <a:r>
              <a:rPr lang="en-US" altLang="zh-CN" sz="2200" b="1" dirty="0"/>
              <a:t>()</a:t>
            </a:r>
            <a:r>
              <a:rPr lang="zh-CN" altLang="en-US" sz="2200" dirty="0"/>
              <a:t>。也就是说，如果使用 </a:t>
            </a:r>
            <a:r>
              <a:rPr lang="en-US" altLang="zh-CN" sz="2200" dirty="0" err="1"/>
              <a:t>nn.BCEWithLogitsLoss</a:t>
            </a:r>
            <a:r>
              <a:rPr lang="en-US" altLang="zh-CN" sz="2200" dirty="0"/>
              <a:t>()</a:t>
            </a:r>
            <a:r>
              <a:rPr lang="zh-CN" altLang="en-US" sz="2200" dirty="0"/>
              <a:t>函数来计算交叉熵，则不需要再使用激活函数 </a:t>
            </a:r>
            <a:r>
              <a:rPr lang="en-US" altLang="zh-CN" sz="2200" dirty="0" err="1"/>
              <a:t>torch.sigmoid</a:t>
            </a:r>
            <a:r>
              <a:rPr lang="en-US" altLang="zh-CN" sz="2200" dirty="0"/>
              <a:t>()</a:t>
            </a:r>
            <a:r>
              <a:rPr lang="zh-CN" altLang="en-US" sz="2200" dirty="0"/>
              <a:t>。</a:t>
            </a:r>
            <a:endParaRPr lang="en-US" altLang="zh-CN" sz="2200" dirty="0"/>
          </a:p>
          <a:p>
            <a:r>
              <a:rPr lang="zh-CN" altLang="en-US" sz="2200" dirty="0"/>
              <a:t>简而言之，</a:t>
            </a:r>
            <a:r>
              <a:rPr lang="en-US" altLang="zh-CN" sz="2200" dirty="0" err="1"/>
              <a:t>nn.BCEWithLogitsLoss</a:t>
            </a:r>
            <a:r>
              <a:rPr lang="en-US" altLang="zh-CN" sz="2200" dirty="0"/>
              <a:t>() = </a:t>
            </a:r>
            <a:r>
              <a:rPr lang="en-US" altLang="zh-CN" sz="2200" dirty="0" err="1"/>
              <a:t>torch.sigmoid</a:t>
            </a:r>
            <a:r>
              <a:rPr lang="en-US" altLang="zh-CN" sz="2200" dirty="0"/>
              <a:t>() +</a:t>
            </a:r>
            <a:r>
              <a:rPr lang="en-US" altLang="zh-CN" sz="2200" dirty="0" err="1"/>
              <a:t>nn.BCELoss</a:t>
            </a:r>
            <a:r>
              <a:rPr lang="en-US" altLang="zh-CN" sz="2200" dirty="0"/>
              <a:t>()</a:t>
            </a:r>
            <a:r>
              <a:rPr lang="zh-CN" altLang="en-US" sz="2200" dirty="0"/>
              <a:t>。</a:t>
            </a:r>
          </a:p>
          <a:p>
            <a:r>
              <a:rPr lang="en-US" altLang="zh-CN" sz="2200" dirty="0" err="1"/>
              <a:t>nn.BCEWithLogitsLoss</a:t>
            </a:r>
            <a:r>
              <a:rPr lang="en-US" altLang="zh-CN" sz="2200" dirty="0"/>
              <a:t>()</a:t>
            </a:r>
            <a:r>
              <a:rPr lang="zh-CN" altLang="en-US" sz="2200" dirty="0"/>
              <a:t>函数是通过</a:t>
            </a:r>
            <a:r>
              <a:rPr lang="zh-CN" altLang="en-US" sz="2200" b="1" dirty="0"/>
              <a:t>逻辑回归</a:t>
            </a:r>
            <a:r>
              <a:rPr lang="zh-CN" altLang="en-US" sz="2200" dirty="0"/>
              <a:t>的方法来解决二分类问题。</a:t>
            </a:r>
          </a:p>
        </p:txBody>
      </p:sp>
    </p:spTree>
    <p:extLst>
      <p:ext uri="{BB962C8B-B14F-4D97-AF65-F5344CB8AC3E}">
        <p14:creationId xmlns:p14="http://schemas.microsoft.com/office/powerpoint/2010/main" val="4212124047"/>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3.3.4 nn.L1Loss()</a:t>
            </a:r>
            <a:r>
              <a:rPr lang="zh-CN" altLang="en-US" sz="2800" b="1" dirty="0">
                <a:solidFill>
                  <a:srgbClr val="C00000"/>
                </a:solidFill>
              </a:rPr>
              <a:t>函数</a:t>
            </a:r>
            <a:endParaRPr lang="zh-CN" altLang="zh-CN" sz="2800" b="1" dirty="0">
              <a:solidFill>
                <a:srgbClr val="C0000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409203" y="2374387"/>
                <a:ext cx="9627577" cy="1122743"/>
              </a:xfrm>
              <a:prstGeom prst="rect">
                <a:avLst/>
              </a:prstGeom>
              <a:noFill/>
            </p:spPr>
            <p:txBody>
              <a:bodyPr wrap="square">
                <a:spAutoFit/>
              </a:bodyPr>
              <a:lstStyle/>
              <a:p>
                <a:r>
                  <a:rPr lang="zh-CN" altLang="en-US" sz="2200" dirty="0"/>
                  <a:t>有时候可能以模型输出张量和标记张量中各对应元素之差的绝对值的平均值作为刻画输出张量和标记张量之间的误差。为此，假设输出张量</a:t>
                </a:r>
                <a14:m>
                  <m:oMath xmlns:m="http://schemas.openxmlformats.org/officeDocument/2006/math">
                    <m:acc>
                      <m:accPr>
                        <m:chr m:val="̂"/>
                        <m:ctrlPr>
                          <a:rPr lang="zh-CN" altLang="en-US" sz="2000" b="1" i="1" smtClean="0">
                            <a:latin typeface="Cambria Math" panose="02040503050406030204" pitchFamily="18" charset="0"/>
                          </a:rPr>
                        </m:ctrlPr>
                      </m:accPr>
                      <m:e>
                        <m:r>
                          <a:rPr lang="en-US" altLang="zh-CN" sz="2000" b="1" i="1">
                            <a:latin typeface="Cambria Math" panose="02040503050406030204" pitchFamily="18" charset="0"/>
                          </a:rPr>
                          <m:t>𝒀</m:t>
                        </m:r>
                      </m:e>
                    </m:acc>
                    <m:r>
                      <a:rPr lang="en-US" altLang="zh-CN" sz="2000" i="1">
                        <a:latin typeface="Cambria Math" panose="02040503050406030204" pitchFamily="18" charset="0"/>
                      </a:rPr>
                      <m:t>=</m:t>
                    </m:r>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𝑦</m:t>
                                </m:r>
                              </m:e>
                            </m:acc>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e>
                            </m:d>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𝑦</m:t>
                                </m:r>
                              </m:e>
                            </m:acc>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2</m:t>
                                </m:r>
                              </m:e>
                            </m:d>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acc>
                              <m:accPr>
                                <m:chr m:val="̂"/>
                                <m:ctrlPr>
                                  <a:rPr lang="zh-CN" altLang="en-US" sz="2000" i="1">
                                    <a:latin typeface="Cambria Math" panose="02040503050406030204" pitchFamily="18" charset="0"/>
                                  </a:rPr>
                                </m:ctrlPr>
                              </m:accPr>
                              <m:e>
                                <m:r>
                                  <a:rPr lang="en-US" altLang="zh-CN" sz="2000" i="1">
                                    <a:latin typeface="Cambria Math" panose="02040503050406030204" pitchFamily="18" charset="0"/>
                                  </a:rPr>
                                  <m:t>𝑦</m:t>
                                </m:r>
                              </m:e>
                            </m:acc>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𝑛</m:t>
                                </m:r>
                              </m:e>
                            </m:d>
                          </m:sup>
                        </m:sSup>
                      </m:e>
                    </m:d>
                  </m:oMath>
                </a14:m>
                <a:r>
                  <a:rPr lang="zh-CN" altLang="en-US" sz="2000" dirty="0"/>
                  <a:t>标记张量为</a:t>
                </a:r>
                <a:r>
                  <a:rPr lang="en-US" altLang="zh-CN" sz="2000" dirty="0"/>
                  <a:t>Y</a:t>
                </a:r>
                <a14:m>
                  <m:oMath xmlns:m="http://schemas.openxmlformats.org/officeDocument/2006/math">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𝑦</m:t>
                        </m:r>
                      </m:e>
                      <m:sup>
                        <m:r>
                          <a:rPr lang="en-US" altLang="zh-CN" sz="2000" i="1">
                            <a:latin typeface="Cambria Math" panose="02040503050406030204" pitchFamily="18" charset="0"/>
                          </a:rPr>
                          <m:t>(</m:t>
                        </m:r>
                        <m:r>
                          <a:rPr lang="en-US" altLang="zh-CN" sz="2000" i="1">
                            <a:latin typeface="Cambria Math" panose="02040503050406030204" pitchFamily="18" charset="0"/>
                          </a:rPr>
                          <m:t>1</m:t>
                        </m:r>
                        <m:r>
                          <a:rPr lang="en-US" altLang="zh-CN" sz="2000" i="1">
                            <a:latin typeface="Cambria Math" panose="02040503050406030204" pitchFamily="18" charset="0"/>
                          </a:rPr>
                          <m:t>)</m:t>
                        </m:r>
                      </m:sup>
                    </m:sSup>
                    <m:r>
                      <a:rPr lang="en-US" altLang="zh-CN" sz="2000" i="1">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𝑦</m:t>
                        </m:r>
                      </m:e>
                      <m:sup>
                        <m:r>
                          <a:rPr lang="en-US" altLang="zh-CN" sz="2000" i="1">
                            <a:latin typeface="Cambria Math" panose="02040503050406030204" pitchFamily="18" charset="0"/>
                          </a:rPr>
                          <m:t>(</m:t>
                        </m:r>
                        <m:r>
                          <a:rPr lang="en-US" altLang="zh-CN" sz="2000" i="1">
                            <a:latin typeface="Cambria Math" panose="02040503050406030204" pitchFamily="18" charset="0"/>
                          </a:rPr>
                          <m:t>2</m:t>
                        </m:r>
                        <m:r>
                          <a:rPr lang="en-US" altLang="zh-CN" sz="2000" i="1">
                            <a:latin typeface="Cambria Math" panose="02040503050406030204" pitchFamily="18" charset="0"/>
                          </a:rPr>
                          <m:t>)</m:t>
                        </m:r>
                      </m:sup>
                    </m:sSup>
                  </m:oMath>
                </a14:m>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𝑦</m:t>
                        </m:r>
                      </m:e>
                      <m:sup>
                        <m:r>
                          <a:rPr lang="en-US" altLang="zh-CN" sz="2000" i="1">
                            <a:latin typeface="Cambria Math" panose="02040503050406030204" pitchFamily="18" charset="0"/>
                          </a:rPr>
                          <m:t>(</m:t>
                        </m:r>
                        <m:r>
                          <a:rPr lang="en-US" altLang="zh-CN" sz="2000" i="1">
                            <a:latin typeface="Cambria Math" panose="02040503050406030204" pitchFamily="18" charset="0"/>
                          </a:rPr>
                          <m:t>𝑛</m:t>
                        </m:r>
                        <m:r>
                          <a:rPr lang="en-US" altLang="zh-CN" sz="2000" i="1">
                            <a:latin typeface="Cambria Math" panose="02040503050406030204" pitchFamily="18" charset="0"/>
                          </a:rPr>
                          <m:t>)</m:t>
                        </m:r>
                      </m:sup>
                    </m:sSup>
                  </m:oMath>
                </a14:m>
                <a:r>
                  <a:rPr lang="zh-CN" altLang="en-US" sz="2200" dirty="0"/>
                  <a:t>则这种误差可表示为：</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409203" y="2374387"/>
                <a:ext cx="9627577" cy="1122743"/>
              </a:xfrm>
              <a:prstGeom prst="rect">
                <a:avLst/>
              </a:prstGeom>
              <a:blipFill>
                <a:blip r:embed="rId3"/>
                <a:stretch>
                  <a:fillRect l="-823" t="-2703" b="-9730"/>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4AEB108A-ACBB-D3A7-0DAC-0ADF159C4799}"/>
              </a:ext>
            </a:extLst>
          </p:cNvPr>
          <p:cNvPicPr>
            <a:picLocks noChangeAspect="1"/>
          </p:cNvPicPr>
          <p:nvPr/>
        </p:nvPicPr>
        <p:blipFill>
          <a:blip r:embed="rId4"/>
          <a:stretch>
            <a:fillRect/>
          </a:stretch>
        </p:blipFill>
        <p:spPr>
          <a:xfrm>
            <a:off x="3182358" y="3690912"/>
            <a:ext cx="3787468" cy="800169"/>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FF7DB90-5A93-04BB-4EB5-62F2701B79E8}"/>
                  </a:ext>
                </a:extLst>
              </p:cNvPr>
              <p:cNvSpPr txBox="1"/>
              <p:nvPr/>
            </p:nvSpPr>
            <p:spPr>
              <a:xfrm>
                <a:off x="409203" y="4576369"/>
                <a:ext cx="8541366" cy="440120"/>
              </a:xfrm>
              <a:prstGeom prst="rect">
                <a:avLst/>
              </a:prstGeom>
              <a:noFill/>
            </p:spPr>
            <p:txBody>
              <a:bodyPr wrap="square">
                <a:spAutoFit/>
              </a:bodyPr>
              <a:lstStyle/>
              <a:p>
                <a14:m>
                  <m:oMath xmlns:m="http://schemas.openxmlformats.org/officeDocument/2006/math">
                    <m:r>
                      <a:rPr lang="en-US" altLang="zh-CN" sz="2200">
                        <a:latin typeface="Cambria Math" panose="02040503050406030204" pitchFamily="18" charset="0"/>
                      </a:rPr>
                      <m:t>ℒ</m:t>
                    </m:r>
                    <m:r>
                      <a:rPr lang="en-US" altLang="zh-CN" sz="220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lang="zh-CN" altLang="en-US" sz="2200" dirty="0"/>
                  <a:t>称为</a:t>
                </a:r>
                <a:r>
                  <a:rPr lang="zh-CN" altLang="en-US" sz="2200" dirty="0">
                    <a:solidFill>
                      <a:srgbClr val="0033CC"/>
                    </a:solidFill>
                  </a:rPr>
                  <a:t>绝对值误差</a:t>
                </a:r>
                <a:r>
                  <a:rPr lang="zh-CN" altLang="en-US" sz="2200" dirty="0"/>
                  <a:t>。</a:t>
                </a:r>
              </a:p>
            </p:txBody>
          </p:sp>
        </mc:Choice>
        <mc:Fallback xmlns="">
          <p:sp>
            <p:nvSpPr>
              <p:cNvPr id="6" name="文本框 5">
                <a:extLst>
                  <a:ext uri="{FF2B5EF4-FFF2-40B4-BE49-F238E27FC236}">
                    <a16:creationId xmlns:a16="http://schemas.microsoft.com/office/drawing/2014/main" id="{AFF7DB90-5A93-04BB-4EB5-62F2701B79E8}"/>
                  </a:ext>
                </a:extLst>
              </p:cNvPr>
              <p:cNvSpPr txBox="1">
                <a:spLocks noRot="1" noChangeAspect="1" noMove="1" noResize="1" noEditPoints="1" noAdjustHandles="1" noChangeArrowheads="1" noChangeShapeType="1" noTextEdit="1"/>
              </p:cNvSpPr>
              <p:nvPr/>
            </p:nvSpPr>
            <p:spPr>
              <a:xfrm>
                <a:off x="409203" y="4576369"/>
                <a:ext cx="8541366" cy="440120"/>
              </a:xfrm>
              <a:prstGeom prst="rect">
                <a:avLst/>
              </a:prstGeom>
              <a:blipFill>
                <a:blip r:embed="rId5"/>
                <a:stretch>
                  <a:fillRect l="-71" t="-6944" b="-29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3615276"/>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3.3 </a:t>
            </a:r>
            <a:r>
              <a:rPr lang="zh-CN" altLang="en-US" sz="3200" b="1" dirty="0">
                <a:solidFill>
                  <a:prstClr val="white"/>
                </a:solidFill>
                <a:latin typeface="微软雅黑" panose="020B0503020204020204" pitchFamily="34" charset="-122"/>
                <a:ea typeface="微软雅黑" panose="020B0503020204020204" pitchFamily="34" charset="-122"/>
              </a:rPr>
              <a:t>几种主流的损失函数</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3.3.4 nn.L1Loss()</a:t>
            </a:r>
            <a:r>
              <a:rPr lang="zh-CN" altLang="en-US" sz="2800" b="1" dirty="0">
                <a:solidFill>
                  <a:srgbClr val="C00000"/>
                </a:solidFill>
              </a:rPr>
              <a:t>函数</a:t>
            </a:r>
            <a:endParaRPr lang="zh-CN" altLang="zh-CN" sz="2800" b="1" dirty="0">
              <a:solidFill>
                <a:srgbClr val="C00000"/>
              </a:solidFill>
            </a:endParaRPr>
          </a:p>
        </p:txBody>
      </p:sp>
      <p:sp>
        <p:nvSpPr>
          <p:cNvPr id="8" name="文本框 7">
            <a:extLst>
              <a:ext uri="{FF2B5EF4-FFF2-40B4-BE49-F238E27FC236}">
                <a16:creationId xmlns:a16="http://schemas.microsoft.com/office/drawing/2014/main" id="{FE5F363D-6701-26DD-6714-B6F2E52378B5}"/>
              </a:ext>
            </a:extLst>
          </p:cNvPr>
          <p:cNvSpPr txBox="1"/>
          <p:nvPr/>
        </p:nvSpPr>
        <p:spPr>
          <a:xfrm>
            <a:off x="335805" y="1780520"/>
            <a:ext cx="11586564" cy="4441793"/>
          </a:xfrm>
          <a:prstGeom prst="rect">
            <a:avLst/>
          </a:prstGeom>
          <a:noFill/>
        </p:spPr>
        <p:txBody>
          <a:bodyPr wrap="square">
            <a:spAutoFit/>
          </a:bodyPr>
          <a:lstStyle/>
          <a:p>
            <a:r>
              <a:rPr lang="zh-CN" altLang="en-US" sz="2200" dirty="0"/>
              <a:t>在 </a:t>
            </a:r>
            <a:r>
              <a:rPr lang="en-US" altLang="zh-CN" sz="2200" b="1" dirty="0" err="1"/>
              <a:t>PyTorch</a:t>
            </a:r>
            <a:r>
              <a:rPr lang="en-US" altLang="zh-CN" sz="2200" b="1" dirty="0"/>
              <a:t> </a:t>
            </a:r>
            <a:r>
              <a:rPr lang="zh-CN" altLang="en-US" sz="2200" dirty="0"/>
              <a:t>框架中，可用 </a:t>
            </a:r>
            <a:r>
              <a:rPr lang="en-US" altLang="zh-CN" sz="2200" b="1" dirty="0"/>
              <a:t>nn.L1Loss()</a:t>
            </a:r>
            <a:r>
              <a:rPr lang="zh-CN" altLang="en-US" sz="2200" b="1" dirty="0"/>
              <a:t>函数</a:t>
            </a:r>
            <a:r>
              <a:rPr lang="zh-CN" altLang="en-US" sz="2200" dirty="0"/>
              <a:t>来实现此误差的计算。例如，下面代码先构造张量 </a:t>
            </a:r>
            <a:r>
              <a:rPr lang="en-US" altLang="zh-CN" sz="2200" dirty="0" err="1"/>
              <a:t>pre_y</a:t>
            </a:r>
            <a:r>
              <a:rPr lang="en-US" altLang="zh-CN" sz="2200" dirty="0"/>
              <a:t> </a:t>
            </a:r>
            <a:r>
              <a:rPr lang="zh-CN" altLang="en-US" sz="2200" dirty="0"/>
              <a:t>和 </a:t>
            </a:r>
            <a:r>
              <a:rPr lang="en-US" altLang="zh-CN" sz="2200" dirty="0"/>
              <a:t>y</a:t>
            </a:r>
            <a:r>
              <a:rPr lang="zh-CN" altLang="en-US" sz="2200" dirty="0"/>
              <a:t>，然后调用 </a:t>
            </a:r>
            <a:r>
              <a:rPr lang="en-US" altLang="zh-CN" sz="2200" dirty="0"/>
              <a:t>nn.L1Loss()</a:t>
            </a:r>
            <a:r>
              <a:rPr lang="zh-CN" altLang="en-US" sz="2200" dirty="0"/>
              <a:t>函数来计算它们之间的绝对值误差：</a:t>
            </a:r>
            <a:endParaRPr lang="en-US" altLang="zh-CN" sz="2200" dirty="0"/>
          </a:p>
          <a:p>
            <a:pPr>
              <a:lnSpc>
                <a:spcPct val="150000"/>
              </a:lnSpc>
            </a:pPr>
            <a:r>
              <a:rPr lang="es-ES" altLang="zh-CN" sz="2200" dirty="0">
                <a:solidFill>
                  <a:srgbClr val="00B050"/>
                </a:solidFill>
              </a:rPr>
              <a:t>pre_y = torch.tensor([[-3, 4, -3, -5],[-5, -3, 1, 2],</a:t>
            </a:r>
          </a:p>
          <a:p>
            <a:r>
              <a:rPr lang="es-ES" altLang="zh-CN" sz="2200" dirty="0">
                <a:solidFill>
                  <a:srgbClr val="00B050"/>
                </a:solidFill>
              </a:rPr>
              <a:t> [ 4, -1, -4, -4]]).float()</a:t>
            </a:r>
          </a:p>
          <a:p>
            <a:r>
              <a:rPr lang="es-ES" altLang="zh-CN" sz="2200" dirty="0">
                <a:solidFill>
                  <a:srgbClr val="00B050"/>
                </a:solidFill>
              </a:rPr>
              <a:t>y = torch.tensor([[ 1, -4, -3, 4],</a:t>
            </a:r>
          </a:p>
          <a:p>
            <a:r>
              <a:rPr lang="es-ES" altLang="zh-CN" sz="2200" dirty="0">
                <a:solidFill>
                  <a:srgbClr val="00B050"/>
                </a:solidFill>
              </a:rPr>
              <a:t> [-1, -4, -2, -5],</a:t>
            </a:r>
          </a:p>
          <a:p>
            <a:r>
              <a:rPr lang="es-ES" altLang="zh-CN" sz="2200" dirty="0">
                <a:solidFill>
                  <a:srgbClr val="00B050"/>
                </a:solidFill>
              </a:rPr>
              <a:t> [-5, 1, 0, 2]]).float()</a:t>
            </a:r>
          </a:p>
          <a:p>
            <a:r>
              <a:rPr lang="es-ES" altLang="zh-CN" sz="2200" dirty="0">
                <a:solidFill>
                  <a:srgbClr val="00B050"/>
                </a:solidFill>
              </a:rPr>
              <a:t>loss = nn.L1Loss()(pre_y,y) </a:t>
            </a:r>
          </a:p>
          <a:p>
            <a:pPr>
              <a:lnSpc>
                <a:spcPct val="150000"/>
              </a:lnSpc>
            </a:pPr>
            <a:r>
              <a:rPr lang="zh-CN" altLang="en-US" sz="2200" dirty="0"/>
              <a:t>如果不想计算绝对值的平均值，而只求绝对值之和，则可用下列的 </a:t>
            </a:r>
            <a:r>
              <a:rPr lang="en-US" altLang="zh-CN" sz="2200" dirty="0"/>
              <a:t>nn.L1Loss()</a:t>
            </a:r>
            <a:r>
              <a:rPr lang="zh-CN" altLang="en-US" sz="2200" dirty="0"/>
              <a:t>函数来 实现：</a:t>
            </a:r>
            <a:endParaRPr lang="en-US" altLang="zh-CN" sz="2200" dirty="0"/>
          </a:p>
          <a:p>
            <a:pPr>
              <a:lnSpc>
                <a:spcPct val="150000"/>
              </a:lnSpc>
            </a:pPr>
            <a:r>
              <a:rPr lang="en-US" altLang="zh-CN" sz="2200" dirty="0">
                <a:solidFill>
                  <a:srgbClr val="00B050"/>
                </a:solidFill>
              </a:rPr>
              <a:t>loss = nn.L1Loss(reduction='sum')(</a:t>
            </a:r>
            <a:r>
              <a:rPr lang="en-US" altLang="zh-CN" sz="2200" dirty="0" err="1">
                <a:solidFill>
                  <a:srgbClr val="00B050"/>
                </a:solidFill>
              </a:rPr>
              <a:t>pre_y,y</a:t>
            </a:r>
            <a:r>
              <a:rPr lang="en-US" altLang="zh-CN" sz="2200" dirty="0">
                <a:solidFill>
                  <a:srgbClr val="00B050"/>
                </a:solidFill>
              </a:rPr>
              <a:t>) #</a:t>
            </a:r>
            <a:r>
              <a:rPr lang="zh-CN" altLang="en-US" sz="2200" dirty="0">
                <a:solidFill>
                  <a:srgbClr val="00B050"/>
                </a:solidFill>
              </a:rPr>
              <a:t>默认设置为 </a:t>
            </a:r>
            <a:r>
              <a:rPr lang="en-US" altLang="zh-CN" sz="2200" dirty="0">
                <a:solidFill>
                  <a:srgbClr val="00B050"/>
                </a:solidFill>
              </a:rPr>
              <a:t>reduction='mean’ </a:t>
            </a:r>
          </a:p>
          <a:p>
            <a:pPr>
              <a:lnSpc>
                <a:spcPct val="150000"/>
              </a:lnSpc>
            </a:pPr>
            <a:r>
              <a:rPr lang="zh-CN" altLang="en-US" sz="2200" dirty="0"/>
              <a:t>其他损失函数也有类似的参数设置，请读者自行测试。 </a:t>
            </a:r>
            <a:r>
              <a:rPr lang="en-US" altLang="zh-CN" sz="2200" dirty="0"/>
              <a:t>nn.L1Loss()</a:t>
            </a:r>
            <a:r>
              <a:rPr lang="zh-CN" altLang="en-US" sz="2200" dirty="0"/>
              <a:t>函数也主要用于</a:t>
            </a:r>
            <a:r>
              <a:rPr lang="zh-CN" altLang="en-US" sz="2200" b="1" dirty="0"/>
              <a:t>回归分析</a:t>
            </a:r>
            <a:r>
              <a:rPr lang="zh-CN" altLang="en-US" sz="2200" dirty="0"/>
              <a:t>。</a:t>
            </a:r>
          </a:p>
        </p:txBody>
      </p:sp>
      <p:pic>
        <p:nvPicPr>
          <p:cNvPr id="3" name="图片 2">
            <a:extLst>
              <a:ext uri="{FF2B5EF4-FFF2-40B4-BE49-F238E27FC236}">
                <a16:creationId xmlns:a16="http://schemas.microsoft.com/office/drawing/2014/main" id="{6E52404A-B8BE-B374-12B2-DB86FE3EAF89}"/>
              </a:ext>
            </a:extLst>
          </p:cNvPr>
          <p:cNvPicPr>
            <a:picLocks noChangeAspect="1"/>
          </p:cNvPicPr>
          <p:nvPr/>
        </p:nvPicPr>
        <p:blipFill>
          <a:blip r:embed="rId3"/>
          <a:stretch>
            <a:fillRect/>
          </a:stretch>
        </p:blipFill>
        <p:spPr>
          <a:xfrm>
            <a:off x="7259518" y="3377672"/>
            <a:ext cx="959320" cy="587047"/>
          </a:xfrm>
          <a:prstGeom prst="rect">
            <a:avLst/>
          </a:prstGeom>
        </p:spPr>
      </p:pic>
      <p:sp>
        <p:nvSpPr>
          <p:cNvPr id="4" name="箭头: 右 3">
            <a:extLst>
              <a:ext uri="{FF2B5EF4-FFF2-40B4-BE49-F238E27FC236}">
                <a16:creationId xmlns:a16="http://schemas.microsoft.com/office/drawing/2014/main" id="{58D8E3AC-EAF4-281A-490E-F1D12F3D52FA}"/>
              </a:ext>
            </a:extLst>
          </p:cNvPr>
          <p:cNvSpPr/>
          <p:nvPr/>
        </p:nvSpPr>
        <p:spPr>
          <a:xfrm>
            <a:off x="5240217" y="3499986"/>
            <a:ext cx="1204545" cy="496525"/>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2781171"/>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a:srcRect t="2070" r="1004"/>
          <a:stretch/>
        </p:blipFill>
        <p:spPr>
          <a:xfrm>
            <a:off x="-496" y="-27384"/>
            <a:ext cx="3360192" cy="6885384"/>
          </a:xfrm>
          <a:prstGeom prst="rect">
            <a:avLst/>
          </a:prstGeom>
        </p:spPr>
      </p:pic>
      <p:sp>
        <p:nvSpPr>
          <p:cNvPr id="9" name="文本框 6"/>
          <p:cNvSpPr txBox="1"/>
          <p:nvPr/>
        </p:nvSpPr>
        <p:spPr>
          <a:xfrm>
            <a:off x="649714" y="2558062"/>
            <a:ext cx="2133918" cy="523220"/>
          </a:xfrm>
          <a:prstGeom prst="rect">
            <a:avLst/>
          </a:prstGeom>
          <a:noFill/>
        </p:spPr>
        <p:txBody>
          <a:bodyPr wrap="none" rtlCol="0">
            <a:spAutoFit/>
          </a:bodyPr>
          <a:lstStyle/>
          <a:p>
            <a:r>
              <a:rPr lang="zh-CN" altLang="en-US" sz="2800" spc="1000" dirty="0">
                <a:solidFill>
                  <a:schemeClr val="bg1"/>
                </a:solidFill>
                <a:cs typeface="+mn-ea"/>
                <a:sym typeface="+mn-lt"/>
              </a:rPr>
              <a:t>本章内容</a:t>
            </a:r>
          </a:p>
        </p:txBody>
      </p:sp>
      <p:sp>
        <p:nvSpPr>
          <p:cNvPr id="10" name="文本框 11"/>
          <p:cNvSpPr txBox="1"/>
          <p:nvPr/>
        </p:nvSpPr>
        <p:spPr>
          <a:xfrm>
            <a:off x="1032610" y="3238388"/>
            <a:ext cx="1239442" cy="461665"/>
          </a:xfrm>
          <a:prstGeom prst="rect">
            <a:avLst/>
          </a:prstGeom>
          <a:noFill/>
        </p:spPr>
        <p:txBody>
          <a:bodyPr wrap="none" rtlCol="0">
            <a:spAutoFit/>
          </a:bodyPr>
          <a:lstStyle/>
          <a:p>
            <a:r>
              <a:rPr lang="en-US" altLang="zh-CN" sz="2400" dirty="0">
                <a:solidFill>
                  <a:schemeClr val="bg1"/>
                </a:solidFill>
                <a:cs typeface="+mn-ea"/>
                <a:sym typeface="+mn-lt"/>
              </a:rPr>
              <a:t>contents</a:t>
            </a:r>
            <a:endParaRPr lang="zh-CN" altLang="en-US" sz="2400" dirty="0">
              <a:solidFill>
                <a:schemeClr val="bg1"/>
              </a:solidFill>
              <a:cs typeface="+mn-ea"/>
              <a:sym typeface="+mn-lt"/>
            </a:endParaRPr>
          </a:p>
        </p:txBody>
      </p:sp>
      <p:cxnSp>
        <p:nvCxnSpPr>
          <p:cNvPr id="11" name="直接连接符 10"/>
          <p:cNvCxnSpPr/>
          <p:nvPr/>
        </p:nvCxnSpPr>
        <p:spPr>
          <a:xfrm flipH="1">
            <a:off x="367517"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8818"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内容占位符 2"/>
          <p:cNvSpPr txBox="1">
            <a:spLocks/>
          </p:cNvSpPr>
          <p:nvPr/>
        </p:nvSpPr>
        <p:spPr>
          <a:xfrm>
            <a:off x="4009907" y="1506189"/>
            <a:ext cx="7978894" cy="4387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None/>
            </a:pPr>
            <a:r>
              <a:rPr lang="en-US" altLang="zh-CN" b="1" dirty="0">
                <a:latin typeface="微软雅黑" panose="020B0503020204020204" pitchFamily="34" charset="-122"/>
                <a:ea typeface="微软雅黑" panose="020B0503020204020204" pitchFamily="34" charset="-122"/>
              </a:rPr>
              <a:t>3.1  </a:t>
            </a:r>
            <a:r>
              <a:rPr lang="zh-CN" altLang="en-US" b="1" dirty="0">
                <a:latin typeface="微软雅黑" panose="020B0503020204020204" pitchFamily="34" charset="-122"/>
                <a:ea typeface="微软雅黑" panose="020B0503020204020204" pitchFamily="34" charset="-122"/>
              </a:rPr>
              <a:t>构建一个简单的全连接神经网络</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解决二分类问题</a:t>
            </a:r>
          </a:p>
          <a:p>
            <a:pPr>
              <a:lnSpc>
                <a:spcPct val="150000"/>
              </a:lnSpc>
              <a:buNone/>
            </a:pPr>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全连接神经网络的构造方法</a:t>
            </a:r>
          </a:p>
          <a:p>
            <a:pPr>
              <a:lnSpc>
                <a:spcPct val="150000"/>
              </a:lnSpc>
              <a:buNone/>
            </a:pPr>
            <a:r>
              <a:rPr lang="en-US" altLang="zh-CN" b="1" dirty="0">
                <a:latin typeface="微软雅黑" panose="020B0503020204020204" pitchFamily="34" charset="-122"/>
                <a:ea typeface="微软雅黑" panose="020B0503020204020204" pitchFamily="34" charset="-122"/>
              </a:rPr>
              <a:t>3.3  </a:t>
            </a:r>
            <a:r>
              <a:rPr lang="zh-CN" altLang="en-US" b="1" dirty="0">
                <a:latin typeface="微软雅黑" panose="020B0503020204020204" pitchFamily="34" charset="-122"/>
                <a:ea typeface="微软雅黑" panose="020B0503020204020204" pitchFamily="34" charset="-122"/>
              </a:rPr>
              <a:t>几种主流的损失函数</a:t>
            </a:r>
          </a:p>
          <a:p>
            <a:pPr>
              <a:lnSpc>
                <a:spcPct val="150000"/>
              </a:lnSpc>
              <a:buNone/>
            </a:pPr>
            <a:r>
              <a:rPr lang="en-US" altLang="zh-CN" b="1" dirty="0">
                <a:solidFill>
                  <a:srgbClr val="C00000"/>
                </a:solidFill>
                <a:latin typeface="微软雅黑" panose="020B0503020204020204" pitchFamily="34" charset="-122"/>
                <a:ea typeface="微软雅黑" panose="020B0503020204020204" pitchFamily="34" charset="-122"/>
              </a:rPr>
              <a:t>3.4  </a:t>
            </a:r>
            <a:r>
              <a:rPr lang="zh-CN" altLang="en-US" b="1" dirty="0">
                <a:solidFill>
                  <a:srgbClr val="C00000"/>
                </a:solidFill>
                <a:latin typeface="微软雅黑" panose="020B0503020204020204" pitchFamily="34" charset="-122"/>
                <a:ea typeface="微软雅黑" panose="020B0503020204020204" pitchFamily="34" charset="-122"/>
              </a:rPr>
              <a:t>网络模型的训练与测试</a:t>
            </a:r>
          </a:p>
          <a:p>
            <a:pPr>
              <a:lnSpc>
                <a:spcPct val="150000"/>
              </a:lnSpc>
              <a:buNone/>
            </a:pPr>
            <a:r>
              <a:rPr lang="en-US" altLang="zh-CN" b="1" dirty="0">
                <a:latin typeface="微软雅黑" panose="020B0503020204020204" pitchFamily="34" charset="-122"/>
                <a:ea typeface="微软雅黑" panose="020B0503020204020204" pitchFamily="34" charset="-122"/>
              </a:rPr>
              <a:t>3.5  </a:t>
            </a:r>
            <a:r>
              <a:rPr lang="zh-CN" altLang="en-US" b="1" dirty="0">
                <a:latin typeface="微软雅黑" panose="020B0503020204020204" pitchFamily="34" charset="-122"/>
                <a:ea typeface="微软雅黑" panose="020B0503020204020204" pitchFamily="34" charset="-122"/>
              </a:rPr>
              <a:t>正向计算和反向梯度传播的理论分析</a:t>
            </a:r>
          </a:p>
        </p:txBody>
      </p:sp>
      <p:pic>
        <p:nvPicPr>
          <p:cNvPr id="13" name="图片 12">
            <a:extLst>
              <a:ext uri="{FF2B5EF4-FFF2-40B4-BE49-F238E27FC236}">
                <a16:creationId xmlns:a16="http://schemas.microsoft.com/office/drawing/2014/main" id="{B7A089C7-0418-4B24-B026-E43BD2558A41}"/>
              </a:ext>
            </a:extLst>
          </p:cNvPr>
          <p:cNvPicPr>
            <a:picLocks noChangeAspect="1"/>
          </p:cNvPicPr>
          <p:nvPr/>
        </p:nvPicPr>
        <p:blipFill rotWithShape="1">
          <a:blip r:embed="rId4"/>
          <a:srcRect l="18793" t="3704" r="17232" b="4677"/>
          <a:stretch/>
        </p:blipFill>
        <p:spPr>
          <a:xfrm>
            <a:off x="1207159" y="449739"/>
            <a:ext cx="944881" cy="1353180"/>
          </a:xfrm>
          <a:prstGeom prst="rect">
            <a:avLst/>
          </a:prstGeom>
        </p:spPr>
      </p:pic>
    </p:spTree>
    <p:extLst>
      <p:ext uri="{BB962C8B-B14F-4D97-AF65-F5344CB8AC3E}">
        <p14:creationId xmlns:p14="http://schemas.microsoft.com/office/powerpoint/2010/main" val="3552667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3.4.1 </a:t>
            </a:r>
            <a:r>
              <a:rPr lang="zh-CN" altLang="en-US" sz="2800" b="1" dirty="0">
                <a:solidFill>
                  <a:srgbClr val="C00000"/>
                </a:solidFill>
              </a:rPr>
              <a:t>数据集分割</a:t>
            </a:r>
            <a:endParaRPr lang="zh-CN" altLang="zh-CN" sz="2800" b="1" dirty="0">
              <a:solidFill>
                <a:srgbClr val="C0000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374387"/>
            <a:ext cx="10123982" cy="2123658"/>
          </a:xfrm>
          <a:prstGeom prst="rect">
            <a:avLst/>
          </a:prstGeom>
          <a:noFill/>
        </p:spPr>
        <p:txBody>
          <a:bodyPr wrap="square">
            <a:spAutoFit/>
          </a:bodyPr>
          <a:lstStyle/>
          <a:p>
            <a:r>
              <a:rPr lang="zh-CN" altLang="en-US" sz="2200" dirty="0"/>
              <a:t>为对构建的模型进行有效的</a:t>
            </a:r>
            <a:r>
              <a:rPr lang="zh-CN" altLang="en-US" sz="2200" b="1" dirty="0"/>
              <a:t>训练</a:t>
            </a:r>
            <a:r>
              <a:rPr lang="zh-CN" altLang="en-US" sz="2200" dirty="0"/>
              <a:t>和</a:t>
            </a:r>
            <a:r>
              <a:rPr lang="zh-CN" altLang="en-US" sz="2200" b="1" dirty="0"/>
              <a:t>评估</a:t>
            </a:r>
            <a:r>
              <a:rPr lang="zh-CN" altLang="en-US" sz="2200" dirty="0"/>
              <a:t>，一般需要将</a:t>
            </a:r>
            <a:r>
              <a:rPr lang="zh-CN" altLang="en-US" sz="2200" b="1" dirty="0"/>
              <a:t>数据集</a:t>
            </a:r>
            <a:r>
              <a:rPr lang="zh-CN" altLang="en-US" sz="2200" dirty="0"/>
              <a:t>分割为</a:t>
            </a:r>
            <a:r>
              <a:rPr lang="zh-CN" altLang="en-US" sz="2200" b="1" dirty="0"/>
              <a:t>训练集</a:t>
            </a:r>
            <a:r>
              <a:rPr lang="zh-CN" altLang="en-US" sz="2200" dirty="0"/>
              <a:t>和</a:t>
            </a:r>
            <a:r>
              <a:rPr lang="zh-CN" altLang="en-US" sz="2200" b="1" dirty="0"/>
              <a:t>测试集</a:t>
            </a:r>
            <a:r>
              <a:rPr lang="zh-CN" altLang="en-US" sz="2200" dirty="0"/>
              <a:t>。训练集用于对构造的模型进行训练，测试集则用于对训练后的模型进行评估。通常情况下，训练集和测试集的规模之比为 </a:t>
            </a:r>
            <a:r>
              <a:rPr lang="en-US" altLang="zh-CN" sz="2200" b="1" dirty="0"/>
              <a:t>7:3 </a:t>
            </a:r>
            <a:r>
              <a:rPr lang="zh-CN" altLang="en-US" sz="2200" dirty="0"/>
              <a:t>或 </a:t>
            </a:r>
            <a:r>
              <a:rPr lang="en-US" altLang="zh-CN" sz="2200" b="1" dirty="0"/>
              <a:t>8:2 </a:t>
            </a:r>
            <a:r>
              <a:rPr lang="zh-CN" altLang="en-US" sz="2200" dirty="0"/>
              <a:t>等。有很多现成的工具可以按给定的比例将一个数据集分割为训练集和测试集。然而，在 </a:t>
            </a:r>
            <a:r>
              <a:rPr lang="en-US" altLang="zh-CN" sz="2200" b="1" dirty="0" err="1"/>
              <a:t>PyTorch</a:t>
            </a:r>
            <a:r>
              <a:rPr lang="en-US" altLang="zh-CN" sz="2200" dirty="0"/>
              <a:t> </a:t>
            </a:r>
            <a:r>
              <a:rPr lang="zh-CN" altLang="en-US" sz="2200" dirty="0"/>
              <a:t>中，一般使用的数据都表示为张量。在此情况下，通过利用张量的切片操作，数据集的分割就变得</a:t>
            </a:r>
            <a:r>
              <a:rPr lang="zh-CN" altLang="en-US" sz="2200" b="1" dirty="0"/>
              <a:t>十分简单</a:t>
            </a:r>
            <a:r>
              <a:rPr lang="zh-CN" altLang="en-US" sz="2200" dirty="0"/>
              <a:t>。</a:t>
            </a:r>
          </a:p>
        </p:txBody>
      </p:sp>
    </p:spTree>
    <p:extLst>
      <p:ext uri="{BB962C8B-B14F-4D97-AF65-F5344CB8AC3E}">
        <p14:creationId xmlns:p14="http://schemas.microsoft.com/office/powerpoint/2010/main" val="2814105979"/>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3.4.1 </a:t>
            </a:r>
            <a:r>
              <a:rPr lang="zh-CN" altLang="en-US" sz="2800" b="1" dirty="0">
                <a:solidFill>
                  <a:srgbClr val="C00000"/>
                </a:solidFill>
              </a:rPr>
              <a:t>数据集分割</a:t>
            </a:r>
            <a:endParaRPr lang="zh-CN" altLang="zh-CN" sz="2800" b="1" dirty="0">
              <a:solidFill>
                <a:srgbClr val="C0000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335804" y="1692596"/>
            <a:ext cx="12140481" cy="4662815"/>
          </a:xfrm>
          <a:prstGeom prst="rect">
            <a:avLst/>
          </a:prstGeom>
          <a:noFill/>
        </p:spPr>
        <p:txBody>
          <a:bodyPr wrap="square">
            <a:spAutoFit/>
          </a:bodyPr>
          <a:lstStyle/>
          <a:p>
            <a:r>
              <a:rPr lang="zh-CN" altLang="en-US" sz="2200" dirty="0"/>
              <a:t>例如，对于</a:t>
            </a:r>
            <a:r>
              <a:rPr lang="zh-CN" altLang="en-US" sz="2200" b="1" dirty="0"/>
              <a:t>例 </a:t>
            </a:r>
            <a:r>
              <a:rPr lang="en-US" altLang="zh-CN" sz="2200" b="1" dirty="0"/>
              <a:t>3.1 </a:t>
            </a:r>
            <a:r>
              <a:rPr lang="zh-CN" altLang="en-US" sz="2200" dirty="0"/>
              <a:t>中如果按 </a:t>
            </a:r>
            <a:r>
              <a:rPr lang="en-US" altLang="zh-CN" sz="2200" dirty="0"/>
              <a:t>7:3 </a:t>
            </a:r>
            <a:r>
              <a:rPr lang="zh-CN" altLang="en-US" sz="2200" dirty="0"/>
              <a:t>划分为训练集和测试集，则可以使用下列代码实现：</a:t>
            </a:r>
          </a:p>
          <a:p>
            <a:pPr>
              <a:lnSpc>
                <a:spcPct val="150000"/>
              </a:lnSpc>
            </a:pPr>
            <a:r>
              <a:rPr lang="en-US" altLang="zh-CN" sz="2200" dirty="0">
                <a:solidFill>
                  <a:srgbClr val="00B050"/>
                </a:solidFill>
              </a:rPr>
              <a:t>rate = 0.7 #</a:t>
            </a:r>
            <a:r>
              <a:rPr lang="zh-CN" altLang="en-US" sz="2200" dirty="0">
                <a:solidFill>
                  <a:srgbClr val="00B050"/>
                </a:solidFill>
              </a:rPr>
              <a:t>定义分割的比例</a:t>
            </a:r>
          </a:p>
          <a:p>
            <a:r>
              <a:rPr lang="en-US" altLang="zh-CN" sz="2200" dirty="0">
                <a:solidFill>
                  <a:srgbClr val="00B050"/>
                </a:solidFill>
              </a:rPr>
              <a:t>X, Y = </a:t>
            </a:r>
            <a:r>
              <a:rPr lang="en-US" altLang="zh-CN" sz="2200" dirty="0" err="1">
                <a:solidFill>
                  <a:srgbClr val="00B050"/>
                </a:solidFill>
              </a:rPr>
              <a:t>torch.randn</a:t>
            </a:r>
            <a:r>
              <a:rPr lang="en-US" altLang="zh-CN" sz="2200" dirty="0">
                <a:solidFill>
                  <a:srgbClr val="00B050"/>
                </a:solidFill>
              </a:rPr>
              <a:t>(2040,3), </a:t>
            </a:r>
            <a:r>
              <a:rPr lang="en-US" altLang="zh-CN" sz="2200" dirty="0" err="1">
                <a:solidFill>
                  <a:srgbClr val="00B050"/>
                </a:solidFill>
              </a:rPr>
              <a:t>torch.randn</a:t>
            </a:r>
            <a:r>
              <a:rPr lang="en-US" altLang="zh-CN" sz="2200" dirty="0">
                <a:solidFill>
                  <a:srgbClr val="00B050"/>
                </a:solidFill>
              </a:rPr>
              <a:t>(2040) #</a:t>
            </a:r>
            <a:r>
              <a:rPr lang="zh-CN" altLang="en-US" sz="2200" dirty="0">
                <a:solidFill>
                  <a:srgbClr val="00B050"/>
                </a:solidFill>
              </a:rPr>
              <a:t>产生模拟数据</a:t>
            </a:r>
          </a:p>
          <a:p>
            <a:r>
              <a:rPr lang="en-US" altLang="zh-CN" sz="2200" dirty="0" err="1">
                <a:solidFill>
                  <a:srgbClr val="00B050"/>
                </a:solidFill>
              </a:rPr>
              <a:t>train_len</a:t>
            </a:r>
            <a:r>
              <a:rPr lang="en-US" altLang="zh-CN" sz="2200" dirty="0">
                <a:solidFill>
                  <a:srgbClr val="00B050"/>
                </a:solidFill>
              </a:rPr>
              <a:t> = int(</a:t>
            </a:r>
            <a:r>
              <a:rPr lang="en-US" altLang="zh-CN" sz="2200" dirty="0" err="1">
                <a:solidFill>
                  <a:srgbClr val="00B050"/>
                </a:solidFill>
              </a:rPr>
              <a:t>len</a:t>
            </a:r>
            <a:r>
              <a:rPr lang="en-US" altLang="zh-CN" sz="2200" dirty="0">
                <a:solidFill>
                  <a:srgbClr val="00B050"/>
                </a:solidFill>
              </a:rPr>
              <a:t>(X)*rate) #</a:t>
            </a:r>
            <a:r>
              <a:rPr lang="zh-CN" altLang="en-US" sz="2200" dirty="0">
                <a:solidFill>
                  <a:srgbClr val="00B050"/>
                </a:solidFill>
              </a:rPr>
              <a:t>设置训练集的规模，结果是 </a:t>
            </a:r>
            <a:r>
              <a:rPr lang="en-US" altLang="zh-CN" sz="2200" dirty="0">
                <a:solidFill>
                  <a:srgbClr val="00B050"/>
                </a:solidFill>
              </a:rPr>
              <a:t>2040*0.7=1428</a:t>
            </a:r>
          </a:p>
          <a:p>
            <a:r>
              <a:rPr lang="en-US" altLang="zh-CN" sz="2200" dirty="0" err="1">
                <a:solidFill>
                  <a:srgbClr val="00B050"/>
                </a:solidFill>
              </a:rPr>
              <a:t>trainX</a:t>
            </a:r>
            <a:r>
              <a:rPr lang="en-US" altLang="zh-CN" sz="2200" dirty="0">
                <a:solidFill>
                  <a:srgbClr val="00B050"/>
                </a:solidFill>
              </a:rPr>
              <a:t>, </a:t>
            </a:r>
            <a:r>
              <a:rPr lang="en-US" altLang="zh-CN" sz="2200" dirty="0" err="1">
                <a:solidFill>
                  <a:srgbClr val="00B050"/>
                </a:solidFill>
              </a:rPr>
              <a:t>trainY</a:t>
            </a:r>
            <a:r>
              <a:rPr lang="en-US" altLang="zh-CN" sz="2200" dirty="0">
                <a:solidFill>
                  <a:srgbClr val="00B050"/>
                </a:solidFill>
              </a:rPr>
              <a:t> = X[:</a:t>
            </a:r>
            <a:r>
              <a:rPr lang="en-US" altLang="zh-CN" sz="2200" dirty="0" err="1">
                <a:solidFill>
                  <a:srgbClr val="00B050"/>
                </a:solidFill>
              </a:rPr>
              <a:t>train_len</a:t>
            </a:r>
            <a:r>
              <a:rPr lang="en-US" altLang="zh-CN" sz="2200" dirty="0">
                <a:solidFill>
                  <a:srgbClr val="00B050"/>
                </a:solidFill>
              </a:rPr>
              <a:t>], Y[:</a:t>
            </a:r>
            <a:r>
              <a:rPr lang="en-US" altLang="zh-CN" sz="2200" dirty="0" err="1">
                <a:solidFill>
                  <a:srgbClr val="00B050"/>
                </a:solidFill>
              </a:rPr>
              <a:t>train_len</a:t>
            </a:r>
            <a:r>
              <a:rPr lang="en-US" altLang="zh-CN" sz="2200" dirty="0">
                <a:solidFill>
                  <a:srgbClr val="00B050"/>
                </a:solidFill>
              </a:rPr>
              <a:t>] #</a:t>
            </a:r>
            <a:r>
              <a:rPr lang="zh-CN" altLang="en-US" sz="2200" dirty="0">
                <a:solidFill>
                  <a:srgbClr val="00B050"/>
                </a:solidFill>
              </a:rPr>
              <a:t>取前面 </a:t>
            </a:r>
            <a:r>
              <a:rPr lang="en-US" altLang="zh-CN" sz="2200" dirty="0">
                <a:solidFill>
                  <a:srgbClr val="00B050"/>
                </a:solidFill>
              </a:rPr>
              <a:t>70%</a:t>
            </a:r>
            <a:r>
              <a:rPr lang="zh-CN" altLang="en-US" sz="2200" dirty="0">
                <a:solidFill>
                  <a:srgbClr val="00B050"/>
                </a:solidFill>
              </a:rPr>
              <a:t>的样本作为训练集</a:t>
            </a:r>
          </a:p>
          <a:p>
            <a:r>
              <a:rPr lang="en-US" altLang="zh-CN" sz="2200" dirty="0" err="1">
                <a:solidFill>
                  <a:srgbClr val="00B050"/>
                </a:solidFill>
              </a:rPr>
              <a:t>testX</a:t>
            </a:r>
            <a:r>
              <a:rPr lang="en-US" altLang="zh-CN" sz="2200" dirty="0">
                <a:solidFill>
                  <a:srgbClr val="00B050"/>
                </a:solidFill>
              </a:rPr>
              <a:t>, </a:t>
            </a:r>
            <a:r>
              <a:rPr lang="en-US" altLang="zh-CN" sz="2200" dirty="0" err="1">
                <a:solidFill>
                  <a:srgbClr val="00B050"/>
                </a:solidFill>
              </a:rPr>
              <a:t>testY</a:t>
            </a:r>
            <a:r>
              <a:rPr lang="en-US" altLang="zh-CN" sz="2200" dirty="0">
                <a:solidFill>
                  <a:srgbClr val="00B050"/>
                </a:solidFill>
              </a:rPr>
              <a:t> = X[</a:t>
            </a:r>
            <a:r>
              <a:rPr lang="en-US" altLang="zh-CN" sz="2200" dirty="0" err="1">
                <a:solidFill>
                  <a:srgbClr val="00B050"/>
                </a:solidFill>
              </a:rPr>
              <a:t>train_len</a:t>
            </a:r>
            <a:r>
              <a:rPr lang="en-US" altLang="zh-CN" sz="2200" dirty="0">
                <a:solidFill>
                  <a:srgbClr val="00B050"/>
                </a:solidFill>
              </a:rPr>
              <a:t>:], Y[</a:t>
            </a:r>
            <a:r>
              <a:rPr lang="en-US" altLang="zh-CN" sz="2200" dirty="0" err="1">
                <a:solidFill>
                  <a:srgbClr val="00B050"/>
                </a:solidFill>
              </a:rPr>
              <a:t>train_len</a:t>
            </a:r>
            <a:r>
              <a:rPr lang="en-US" altLang="zh-CN" sz="2200" dirty="0">
                <a:solidFill>
                  <a:srgbClr val="00B050"/>
                </a:solidFill>
              </a:rPr>
              <a:t>:] #</a:t>
            </a:r>
            <a:r>
              <a:rPr lang="zh-CN" altLang="en-US" sz="2200" dirty="0">
                <a:solidFill>
                  <a:srgbClr val="00B050"/>
                </a:solidFill>
              </a:rPr>
              <a:t>取后面 </a:t>
            </a:r>
            <a:r>
              <a:rPr lang="en-US" altLang="zh-CN" sz="2200" dirty="0">
                <a:solidFill>
                  <a:srgbClr val="00B050"/>
                </a:solidFill>
              </a:rPr>
              <a:t>30%</a:t>
            </a:r>
            <a:r>
              <a:rPr lang="zh-CN" altLang="en-US" sz="2200" dirty="0">
                <a:solidFill>
                  <a:srgbClr val="00B050"/>
                </a:solidFill>
              </a:rPr>
              <a:t>的样本作为测试集</a:t>
            </a:r>
          </a:p>
          <a:p>
            <a:pPr>
              <a:lnSpc>
                <a:spcPct val="200000"/>
              </a:lnSpc>
            </a:pPr>
            <a:r>
              <a:rPr lang="zh-CN" altLang="en-US" sz="2200" dirty="0"/>
              <a:t>一般来说，在进行数据集分割之前，先随机</a:t>
            </a:r>
            <a:r>
              <a:rPr lang="zh-CN" altLang="en-US" sz="2200" b="1" dirty="0"/>
              <a:t>打乱</a:t>
            </a:r>
            <a:r>
              <a:rPr lang="zh-CN" altLang="en-US" sz="2200" dirty="0"/>
              <a:t>数据集中样本的顺序，可参考下列代码：</a:t>
            </a:r>
            <a:endParaRPr lang="en-US" altLang="zh-CN" sz="2200" dirty="0"/>
          </a:p>
          <a:p>
            <a:pPr>
              <a:lnSpc>
                <a:spcPct val="150000"/>
              </a:lnSpc>
            </a:pPr>
            <a:r>
              <a:rPr lang="en-US" altLang="zh-CN" sz="2200" dirty="0">
                <a:solidFill>
                  <a:srgbClr val="00B050"/>
                </a:solidFill>
              </a:rPr>
              <a:t>index = </a:t>
            </a:r>
            <a:r>
              <a:rPr lang="en-US" altLang="zh-CN" sz="2200" dirty="0" err="1">
                <a:solidFill>
                  <a:srgbClr val="00B050"/>
                </a:solidFill>
              </a:rPr>
              <a:t>torch.randperm</a:t>
            </a:r>
            <a:r>
              <a:rPr lang="en-US" altLang="zh-CN" sz="2200" dirty="0">
                <a:solidFill>
                  <a:srgbClr val="00B050"/>
                </a:solidFill>
              </a:rPr>
              <a:t>(</a:t>
            </a:r>
            <a:r>
              <a:rPr lang="en-US" altLang="zh-CN" sz="2200" dirty="0" err="1">
                <a:solidFill>
                  <a:srgbClr val="00B050"/>
                </a:solidFill>
              </a:rPr>
              <a:t>len</a:t>
            </a:r>
            <a:r>
              <a:rPr lang="en-US" altLang="zh-CN" sz="2200" dirty="0">
                <a:solidFill>
                  <a:srgbClr val="00B050"/>
                </a:solidFill>
              </a:rPr>
              <a:t>(Y)) #</a:t>
            </a:r>
            <a:r>
              <a:rPr lang="zh-CN" altLang="en-US" sz="2200" dirty="0">
                <a:solidFill>
                  <a:srgbClr val="00B050"/>
                </a:solidFill>
              </a:rPr>
              <a:t>效果相当于对</a:t>
            </a:r>
            <a:r>
              <a:rPr lang="en-US" altLang="zh-CN" sz="2200" dirty="0">
                <a:solidFill>
                  <a:srgbClr val="00B050"/>
                </a:solidFill>
              </a:rPr>
              <a:t>[0, </a:t>
            </a:r>
            <a:r>
              <a:rPr lang="en-US" altLang="zh-CN" sz="2200" dirty="0" err="1">
                <a:solidFill>
                  <a:srgbClr val="00B050"/>
                </a:solidFill>
              </a:rPr>
              <a:t>len</a:t>
            </a:r>
            <a:r>
              <a:rPr lang="en-US" altLang="zh-CN" sz="2200" dirty="0">
                <a:solidFill>
                  <a:srgbClr val="00B050"/>
                </a:solidFill>
              </a:rPr>
              <a:t>(Y)-1]</a:t>
            </a:r>
            <a:r>
              <a:rPr lang="zh-CN" altLang="en-US" sz="2200" dirty="0">
                <a:solidFill>
                  <a:srgbClr val="00B050"/>
                </a:solidFill>
              </a:rPr>
              <a:t>中的整数进行随机排列</a:t>
            </a:r>
          </a:p>
          <a:p>
            <a:r>
              <a:rPr lang="en-US" altLang="zh-CN" sz="2200" dirty="0">
                <a:solidFill>
                  <a:srgbClr val="00B050"/>
                </a:solidFill>
              </a:rPr>
              <a:t>X, Y = X[index], Y[index] #</a:t>
            </a:r>
            <a:r>
              <a:rPr lang="zh-CN" altLang="en-US" sz="2200" dirty="0">
                <a:solidFill>
                  <a:srgbClr val="00B050"/>
                </a:solidFill>
              </a:rPr>
              <a:t>随机打乱 </a:t>
            </a:r>
            <a:r>
              <a:rPr lang="en-US" altLang="zh-CN" sz="2200" dirty="0">
                <a:solidFill>
                  <a:srgbClr val="00B050"/>
                </a:solidFill>
              </a:rPr>
              <a:t>X </a:t>
            </a:r>
            <a:r>
              <a:rPr lang="zh-CN" altLang="en-US" sz="2200" dirty="0">
                <a:solidFill>
                  <a:srgbClr val="00B050"/>
                </a:solidFill>
              </a:rPr>
              <a:t>和 </a:t>
            </a:r>
            <a:r>
              <a:rPr lang="en-US" altLang="zh-CN" sz="2200" dirty="0">
                <a:solidFill>
                  <a:srgbClr val="00B050"/>
                </a:solidFill>
              </a:rPr>
              <a:t>Y </a:t>
            </a:r>
            <a:r>
              <a:rPr lang="zh-CN" altLang="en-US" sz="2200" dirty="0">
                <a:solidFill>
                  <a:srgbClr val="00B050"/>
                </a:solidFill>
              </a:rPr>
              <a:t>中样本的顺序</a:t>
            </a:r>
          </a:p>
          <a:p>
            <a:pPr>
              <a:lnSpc>
                <a:spcPct val="150000"/>
              </a:lnSpc>
            </a:pPr>
            <a:r>
              <a:rPr lang="zh-CN" altLang="en-US" sz="2200" dirty="0"/>
              <a:t> 有时候，可能需要按一定的比例将数据集分割为训练集、验证集（主要用于在模型训练</a:t>
            </a:r>
          </a:p>
          <a:p>
            <a:r>
              <a:rPr lang="zh-CN" altLang="en-US" sz="2200" dirty="0"/>
              <a:t>过程中检验当前模型是否</a:t>
            </a:r>
            <a:r>
              <a:rPr lang="zh-CN" altLang="en-US" sz="2200" b="1" dirty="0"/>
              <a:t>过拟合</a:t>
            </a:r>
            <a:r>
              <a:rPr lang="zh-CN" altLang="en-US" sz="2200" dirty="0"/>
              <a:t>等）和测试集，这种划分方法也可以参照上述思路来解决。</a:t>
            </a:r>
          </a:p>
        </p:txBody>
      </p:sp>
    </p:spTree>
    <p:extLst>
      <p:ext uri="{BB962C8B-B14F-4D97-AF65-F5344CB8AC3E}">
        <p14:creationId xmlns:p14="http://schemas.microsoft.com/office/powerpoint/2010/main" val="3656260381"/>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3.4.2 </a:t>
            </a:r>
            <a:r>
              <a:rPr lang="zh-CN" altLang="en-US" sz="2800" b="1" dirty="0">
                <a:solidFill>
                  <a:srgbClr val="C00000"/>
                </a:solidFill>
              </a:rPr>
              <a:t>数据打包方法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514710" y="2374387"/>
            <a:ext cx="9860212" cy="2123658"/>
          </a:xfrm>
          <a:prstGeom prst="rect">
            <a:avLst/>
          </a:prstGeom>
          <a:noFill/>
        </p:spPr>
        <p:txBody>
          <a:bodyPr wrap="square">
            <a:spAutoFit/>
          </a:bodyPr>
          <a:lstStyle/>
          <a:p>
            <a:r>
              <a:rPr lang="zh-CN" altLang="en-US" sz="2200" b="1" dirty="0"/>
              <a:t>批量梯度下降</a:t>
            </a:r>
            <a:r>
              <a:rPr lang="zh-CN" altLang="en-US" sz="2200" dirty="0"/>
              <a:t>方法已被实践检验为可行的训练方法，也是最常用的训练方法。为使用这种方法，需要事先对训练用的数据进行打包。何为</a:t>
            </a:r>
            <a:r>
              <a:rPr lang="zh-CN" altLang="en-US" sz="2200" b="1" dirty="0"/>
              <a:t>数据打包</a:t>
            </a:r>
            <a:r>
              <a:rPr lang="zh-CN" altLang="en-US" sz="2200" dirty="0"/>
              <a:t>？实际上，就是将给定的数据集（包括训练集、验证集和测试集等）划分为若干个同等规模的</a:t>
            </a:r>
            <a:r>
              <a:rPr lang="zh-CN" altLang="en-US" sz="2200" dirty="0">
                <a:solidFill>
                  <a:srgbClr val="0033CC"/>
                </a:solidFill>
              </a:rPr>
              <a:t>数据批量</a:t>
            </a:r>
            <a:r>
              <a:rPr lang="zh-CN" altLang="en-US" sz="2200" dirty="0"/>
              <a:t>（</a:t>
            </a:r>
            <a:r>
              <a:rPr lang="en-US" altLang="zh-CN" sz="2200" dirty="0"/>
              <a:t>batch</a:t>
            </a:r>
            <a:r>
              <a:rPr lang="zh-CN" altLang="en-US" sz="2200" dirty="0"/>
              <a:t>）的过程，而一个批量也称为一个数据包，因而划分为批量的过程也称为</a:t>
            </a:r>
            <a:r>
              <a:rPr lang="zh-CN" altLang="en-US" sz="2200" dirty="0">
                <a:solidFill>
                  <a:srgbClr val="0033CC"/>
                </a:solidFill>
              </a:rPr>
              <a:t>数据打包</a:t>
            </a:r>
            <a:r>
              <a:rPr lang="zh-CN" altLang="en-US" sz="2200" dirty="0"/>
              <a:t>。当然，批量的大小是需要事先设定的，最后一个批量在规模上可能小于其他批量。 </a:t>
            </a:r>
          </a:p>
        </p:txBody>
      </p:sp>
    </p:spTree>
    <p:extLst>
      <p:ext uri="{BB962C8B-B14F-4D97-AF65-F5344CB8AC3E}">
        <p14:creationId xmlns:p14="http://schemas.microsoft.com/office/powerpoint/2010/main" val="1361294244"/>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3.4.2 </a:t>
            </a:r>
            <a:r>
              <a:rPr lang="zh-CN" altLang="en-US" sz="2800" b="1" dirty="0">
                <a:solidFill>
                  <a:srgbClr val="C00000"/>
                </a:solidFill>
              </a:rPr>
              <a:t>数据打包方法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013903"/>
            <a:ext cx="11310943" cy="4431983"/>
          </a:xfrm>
          <a:prstGeom prst="rect">
            <a:avLst/>
          </a:prstGeom>
          <a:noFill/>
        </p:spPr>
        <p:txBody>
          <a:bodyPr wrap="square">
            <a:spAutoFit/>
          </a:bodyPr>
          <a:lstStyle/>
          <a:p>
            <a:r>
              <a:rPr lang="zh-CN" altLang="en-US" sz="2200" dirty="0"/>
              <a:t>对于数据打包，可利用 </a:t>
            </a:r>
            <a:r>
              <a:rPr lang="en-US" altLang="zh-CN" sz="2200" b="1" dirty="0"/>
              <a:t>python </a:t>
            </a:r>
            <a:r>
              <a:rPr lang="zh-CN" altLang="en-US" sz="2200" dirty="0"/>
              <a:t>语言并通过</a:t>
            </a:r>
            <a:r>
              <a:rPr lang="zh-CN" altLang="en-US" sz="2200" b="1" dirty="0"/>
              <a:t>分段切片</a:t>
            </a:r>
            <a:r>
              <a:rPr lang="zh-CN" altLang="en-US" sz="2200" dirty="0"/>
              <a:t>来实现。例如，对含有 </a:t>
            </a:r>
            <a:r>
              <a:rPr lang="en-US" altLang="zh-CN" sz="2200" b="1" dirty="0"/>
              <a:t>1428</a:t>
            </a:r>
            <a:r>
              <a:rPr lang="en-US" altLang="zh-CN" sz="2200" dirty="0"/>
              <a:t> </a:t>
            </a:r>
            <a:r>
              <a:rPr lang="zh-CN" altLang="en-US" sz="2200" dirty="0"/>
              <a:t>条样本的训练集进行打包，包的大小（</a:t>
            </a:r>
            <a:r>
              <a:rPr lang="en-US" altLang="zh-CN" sz="2200" dirty="0" err="1"/>
              <a:t>batch_size</a:t>
            </a:r>
            <a:r>
              <a:rPr lang="zh-CN" altLang="en-US" sz="2200" dirty="0"/>
              <a:t>）设置为 </a:t>
            </a:r>
            <a:r>
              <a:rPr lang="en-US" altLang="zh-CN" sz="2200" dirty="0"/>
              <a:t>100</a:t>
            </a:r>
            <a:r>
              <a:rPr lang="zh-CN" altLang="en-US" sz="2200" dirty="0"/>
              <a:t>，则可用下列代码实现：</a:t>
            </a:r>
            <a:endParaRPr lang="en-US" altLang="zh-CN" sz="2200" dirty="0"/>
          </a:p>
          <a:p>
            <a:endParaRPr lang="zh-CN" altLang="en-US" sz="2200" dirty="0"/>
          </a:p>
          <a:p>
            <a:r>
              <a:rPr lang="en-US" altLang="zh-CN" sz="2200" dirty="0" err="1">
                <a:solidFill>
                  <a:srgbClr val="00B050"/>
                </a:solidFill>
              </a:rPr>
              <a:t>batch_size</a:t>
            </a:r>
            <a:r>
              <a:rPr lang="en-US" altLang="zh-CN" sz="2200" dirty="0">
                <a:solidFill>
                  <a:srgbClr val="00B050"/>
                </a:solidFill>
              </a:rPr>
              <a:t> = 100 #</a:t>
            </a:r>
            <a:r>
              <a:rPr lang="zh-CN" altLang="en-US" sz="2200" dirty="0">
                <a:solidFill>
                  <a:srgbClr val="00B050"/>
                </a:solidFill>
              </a:rPr>
              <a:t>设置包的大小</a:t>
            </a:r>
          </a:p>
          <a:p>
            <a:r>
              <a:rPr lang="en-US" altLang="zh-CN" sz="2200" dirty="0" err="1">
                <a:solidFill>
                  <a:srgbClr val="00B050"/>
                </a:solidFill>
              </a:rPr>
              <a:t>train_loader</a:t>
            </a:r>
            <a:r>
              <a:rPr lang="en-US" altLang="zh-CN" sz="2200" dirty="0">
                <a:solidFill>
                  <a:srgbClr val="00B050"/>
                </a:solidFill>
              </a:rPr>
              <a:t> = [] #</a:t>
            </a:r>
            <a:r>
              <a:rPr lang="zh-CN" altLang="en-US" sz="2200" dirty="0">
                <a:solidFill>
                  <a:srgbClr val="00B050"/>
                </a:solidFill>
              </a:rPr>
              <a:t>放置数据包的容器</a:t>
            </a:r>
          </a:p>
          <a:p>
            <a:r>
              <a:rPr lang="en-US" altLang="zh-CN" sz="2200" dirty="0">
                <a:solidFill>
                  <a:srgbClr val="00B050"/>
                </a:solidFill>
              </a:rPr>
              <a:t>for </a:t>
            </a:r>
            <a:r>
              <a:rPr lang="en-US" altLang="zh-CN" sz="2200" dirty="0" err="1">
                <a:solidFill>
                  <a:srgbClr val="00B050"/>
                </a:solidFill>
              </a:rPr>
              <a:t>i</a:t>
            </a:r>
            <a:r>
              <a:rPr lang="en-US" altLang="zh-CN" sz="2200" dirty="0">
                <a:solidFill>
                  <a:srgbClr val="00B050"/>
                </a:solidFill>
              </a:rPr>
              <a:t> in range(0, </a:t>
            </a:r>
            <a:r>
              <a:rPr lang="en-US" altLang="zh-CN" sz="2200" dirty="0" err="1">
                <a:solidFill>
                  <a:srgbClr val="00B050"/>
                </a:solidFill>
              </a:rPr>
              <a:t>len</a:t>
            </a:r>
            <a:r>
              <a:rPr lang="en-US" altLang="zh-CN" sz="2200" dirty="0">
                <a:solidFill>
                  <a:srgbClr val="00B050"/>
                </a:solidFill>
              </a:rPr>
              <a:t>(</a:t>
            </a:r>
            <a:r>
              <a:rPr lang="en-US" altLang="zh-CN" sz="2200" dirty="0" err="1">
                <a:solidFill>
                  <a:srgbClr val="00B050"/>
                </a:solidFill>
              </a:rPr>
              <a:t>trainX</a:t>
            </a:r>
            <a:r>
              <a:rPr lang="en-US" altLang="zh-CN" sz="2200" dirty="0">
                <a:solidFill>
                  <a:srgbClr val="00B050"/>
                </a:solidFill>
              </a:rPr>
              <a:t>), </a:t>
            </a:r>
            <a:r>
              <a:rPr lang="en-US" altLang="zh-CN" sz="2200" dirty="0" err="1">
                <a:solidFill>
                  <a:srgbClr val="00B050"/>
                </a:solidFill>
              </a:rPr>
              <a:t>batch_size</a:t>
            </a:r>
            <a:r>
              <a:rPr lang="en-US" altLang="zh-CN" sz="2200" dirty="0">
                <a:solidFill>
                  <a:srgbClr val="00B050"/>
                </a:solidFill>
              </a:rPr>
              <a:t>): #</a:t>
            </a:r>
            <a:r>
              <a:rPr lang="zh-CN" altLang="en-US" sz="2200" dirty="0">
                <a:solidFill>
                  <a:srgbClr val="00B050"/>
                </a:solidFill>
              </a:rPr>
              <a:t>分段切片，构造数据包</a:t>
            </a:r>
          </a:p>
          <a:p>
            <a:r>
              <a:rPr lang="zh-CN" altLang="en-US" sz="2200" dirty="0">
                <a:solidFill>
                  <a:srgbClr val="00B050"/>
                </a:solidFill>
              </a:rPr>
              <a:t> </a:t>
            </a:r>
            <a:r>
              <a:rPr lang="en-US" altLang="zh-CN" sz="2200" dirty="0" err="1">
                <a:solidFill>
                  <a:srgbClr val="00B050"/>
                </a:solidFill>
              </a:rPr>
              <a:t>t_trainX,t_trainY</a:t>
            </a:r>
            <a:r>
              <a:rPr lang="en-US" altLang="zh-CN" sz="2200" dirty="0">
                <a:solidFill>
                  <a:srgbClr val="00B050"/>
                </a:solidFill>
              </a:rPr>
              <a:t> = </a:t>
            </a:r>
            <a:r>
              <a:rPr lang="en-US" altLang="zh-CN" sz="2200" dirty="0" err="1">
                <a:solidFill>
                  <a:srgbClr val="00B050"/>
                </a:solidFill>
              </a:rPr>
              <a:t>trainX</a:t>
            </a:r>
            <a:r>
              <a:rPr lang="en-US" altLang="zh-CN" sz="2200" dirty="0">
                <a:solidFill>
                  <a:srgbClr val="00B050"/>
                </a:solidFill>
              </a:rPr>
              <a:t>[</a:t>
            </a:r>
            <a:r>
              <a:rPr lang="en-US" altLang="zh-CN" sz="2200" dirty="0" err="1">
                <a:solidFill>
                  <a:srgbClr val="00B050"/>
                </a:solidFill>
              </a:rPr>
              <a:t>i:i+batch_size</a:t>
            </a:r>
            <a:r>
              <a:rPr lang="en-US" altLang="zh-CN" sz="2200" dirty="0">
                <a:solidFill>
                  <a:srgbClr val="00B050"/>
                </a:solidFill>
              </a:rPr>
              <a:t>],</a:t>
            </a:r>
            <a:r>
              <a:rPr lang="en-US" altLang="zh-CN" sz="2200" dirty="0" err="1">
                <a:solidFill>
                  <a:srgbClr val="00B050"/>
                </a:solidFill>
              </a:rPr>
              <a:t>trainY</a:t>
            </a:r>
            <a:r>
              <a:rPr lang="en-US" altLang="zh-CN" sz="2200" dirty="0">
                <a:solidFill>
                  <a:srgbClr val="00B050"/>
                </a:solidFill>
              </a:rPr>
              <a:t>[</a:t>
            </a:r>
            <a:r>
              <a:rPr lang="en-US" altLang="zh-CN" sz="2200" dirty="0" err="1">
                <a:solidFill>
                  <a:srgbClr val="00B050"/>
                </a:solidFill>
              </a:rPr>
              <a:t>i:i+batch_size</a:t>
            </a:r>
            <a:r>
              <a:rPr lang="en-US" altLang="zh-CN" sz="2200" dirty="0">
                <a:solidFill>
                  <a:srgbClr val="00B050"/>
                </a:solidFill>
              </a:rPr>
              <a:t>]</a:t>
            </a:r>
          </a:p>
          <a:p>
            <a:r>
              <a:rPr lang="en-US" altLang="zh-CN" sz="2200" dirty="0">
                <a:solidFill>
                  <a:srgbClr val="00B050"/>
                </a:solidFill>
              </a:rPr>
              <a:t> t = (</a:t>
            </a:r>
            <a:r>
              <a:rPr lang="en-US" altLang="zh-CN" sz="2200" dirty="0" err="1">
                <a:solidFill>
                  <a:srgbClr val="00B050"/>
                </a:solidFill>
              </a:rPr>
              <a:t>t_trainX,t_trainY</a:t>
            </a:r>
            <a:r>
              <a:rPr lang="en-US" altLang="zh-CN" sz="2200" dirty="0">
                <a:solidFill>
                  <a:srgbClr val="00B050"/>
                </a:solidFill>
              </a:rPr>
              <a:t>) #</a:t>
            </a:r>
            <a:r>
              <a:rPr lang="zh-CN" altLang="en-US" sz="2200" dirty="0">
                <a:solidFill>
                  <a:srgbClr val="00B050"/>
                </a:solidFill>
              </a:rPr>
              <a:t>将特征数据包和标记包组成元组</a:t>
            </a:r>
          </a:p>
          <a:p>
            <a:r>
              <a:rPr lang="zh-CN" altLang="en-US" sz="2200" dirty="0">
                <a:solidFill>
                  <a:srgbClr val="00B050"/>
                </a:solidFill>
              </a:rPr>
              <a:t> </a:t>
            </a:r>
            <a:r>
              <a:rPr lang="en-US" altLang="zh-CN" sz="2200" dirty="0" err="1">
                <a:solidFill>
                  <a:srgbClr val="00B050"/>
                </a:solidFill>
              </a:rPr>
              <a:t>train_loader.append</a:t>
            </a:r>
            <a:r>
              <a:rPr lang="en-US" altLang="zh-CN" sz="2200" dirty="0">
                <a:solidFill>
                  <a:srgbClr val="00B050"/>
                </a:solidFill>
              </a:rPr>
              <a:t>(t) #</a:t>
            </a:r>
            <a:r>
              <a:rPr lang="zh-CN" altLang="en-US" sz="2200" dirty="0">
                <a:solidFill>
                  <a:srgbClr val="00B050"/>
                </a:solidFill>
              </a:rPr>
              <a:t>将元组保存到容器 </a:t>
            </a:r>
            <a:r>
              <a:rPr lang="en-US" altLang="zh-CN" sz="2200" dirty="0" err="1">
                <a:solidFill>
                  <a:srgbClr val="00B050"/>
                </a:solidFill>
              </a:rPr>
              <a:t>train_loader</a:t>
            </a:r>
            <a:r>
              <a:rPr lang="en-US" altLang="zh-CN" sz="2200" dirty="0">
                <a:solidFill>
                  <a:srgbClr val="00B050"/>
                </a:solidFill>
              </a:rPr>
              <a:t> </a:t>
            </a:r>
            <a:r>
              <a:rPr lang="zh-CN" altLang="en-US" sz="2200" dirty="0">
                <a:solidFill>
                  <a:srgbClr val="00B050"/>
                </a:solidFill>
              </a:rPr>
              <a:t>中 </a:t>
            </a:r>
            <a:endParaRPr lang="en-US" altLang="zh-CN" sz="2200" dirty="0">
              <a:solidFill>
                <a:srgbClr val="00B050"/>
              </a:solidFill>
            </a:endParaRPr>
          </a:p>
          <a:p>
            <a:endParaRPr lang="en-US" altLang="zh-CN" dirty="0">
              <a:solidFill>
                <a:srgbClr val="00B050"/>
              </a:solidFill>
            </a:endParaRPr>
          </a:p>
          <a:p>
            <a:r>
              <a:rPr lang="zh-CN" altLang="en-US" sz="2200" dirty="0"/>
              <a:t>输出各包的规模可以发现，前面 </a:t>
            </a:r>
            <a:r>
              <a:rPr lang="en-US" altLang="zh-CN" sz="2200" dirty="0"/>
              <a:t>14 </a:t>
            </a:r>
            <a:r>
              <a:rPr lang="zh-CN" altLang="en-US" sz="2200" dirty="0"/>
              <a:t>个包的规模均为 </a:t>
            </a:r>
            <a:r>
              <a:rPr lang="en-US" altLang="zh-CN" sz="2200" dirty="0"/>
              <a:t>100</a:t>
            </a:r>
            <a:r>
              <a:rPr lang="zh-CN" altLang="en-US" sz="2200" dirty="0"/>
              <a:t>，而最后一个包的规模为 </a:t>
            </a:r>
            <a:r>
              <a:rPr lang="en-US" altLang="zh-CN" sz="2200" b="1" dirty="0"/>
              <a:t>28</a:t>
            </a:r>
            <a:r>
              <a:rPr lang="zh-CN" altLang="en-US" sz="2200" dirty="0"/>
              <a:t>。</a:t>
            </a:r>
          </a:p>
          <a:p>
            <a:r>
              <a:rPr lang="zh-CN" altLang="en-US" sz="2200" dirty="0"/>
              <a:t>原因在于，在总共包含 </a:t>
            </a:r>
            <a:r>
              <a:rPr lang="en-US" altLang="zh-CN" sz="2200" dirty="0"/>
              <a:t>1428 </a:t>
            </a:r>
            <a:r>
              <a:rPr lang="zh-CN" altLang="en-US" sz="2200" dirty="0"/>
              <a:t>条的数据样本中，前面 </a:t>
            </a:r>
            <a:r>
              <a:rPr lang="en-US" altLang="zh-CN" sz="2200" dirty="0"/>
              <a:t>14 </a:t>
            </a:r>
            <a:r>
              <a:rPr lang="zh-CN" altLang="en-US" sz="2200" dirty="0"/>
              <a:t>个包一共用了 </a:t>
            </a:r>
            <a:r>
              <a:rPr lang="en-US" altLang="zh-CN" sz="2200" dirty="0"/>
              <a:t>1400 </a:t>
            </a:r>
            <a:r>
              <a:rPr lang="zh-CN" altLang="en-US" sz="2200" dirty="0"/>
              <a:t>条样本，而最后</a:t>
            </a:r>
          </a:p>
          <a:p>
            <a:r>
              <a:rPr lang="zh-CN" altLang="en-US" sz="2200" dirty="0"/>
              <a:t>只剩下 </a:t>
            </a:r>
            <a:r>
              <a:rPr lang="en-US" altLang="zh-CN" sz="2200" dirty="0"/>
              <a:t>28 </a:t>
            </a:r>
            <a:r>
              <a:rPr lang="zh-CN" altLang="en-US" sz="2200" dirty="0"/>
              <a:t>条样本，所以最后一个数据包的规模为 </a:t>
            </a:r>
            <a:r>
              <a:rPr lang="en-US" altLang="zh-CN" sz="2200" dirty="0"/>
              <a:t>28</a:t>
            </a:r>
            <a:r>
              <a:rPr lang="zh-CN" altLang="en-US" sz="2200" dirty="0"/>
              <a:t>。 </a:t>
            </a:r>
          </a:p>
        </p:txBody>
      </p:sp>
    </p:spTree>
    <p:extLst>
      <p:ext uri="{BB962C8B-B14F-4D97-AF65-F5344CB8AC3E}">
        <p14:creationId xmlns:p14="http://schemas.microsoft.com/office/powerpoint/2010/main" val="2743880079"/>
      </p:ext>
    </p:extLst>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3.4.2 </a:t>
            </a:r>
            <a:r>
              <a:rPr lang="zh-CN" altLang="en-US" sz="2800" b="1" dirty="0">
                <a:solidFill>
                  <a:srgbClr val="C00000"/>
                </a:solidFill>
              </a:rPr>
              <a:t>数据打包方法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021717"/>
            <a:ext cx="10484466" cy="4493538"/>
          </a:xfrm>
          <a:prstGeom prst="rect">
            <a:avLst/>
          </a:prstGeom>
          <a:noFill/>
        </p:spPr>
        <p:txBody>
          <a:bodyPr wrap="square">
            <a:spAutoFit/>
          </a:bodyPr>
          <a:lstStyle/>
          <a:p>
            <a:r>
              <a:rPr lang="zh-CN" altLang="en-US" sz="2200" dirty="0"/>
              <a:t>通过上述代码，我们不难理解数据打包的基本原理。但如果在实践中，要编写这么代码才能完成数据打包，这显得比较繁琐。有没有更简便的方法呢？有！</a:t>
            </a:r>
            <a:r>
              <a:rPr lang="en-US" altLang="zh-CN" sz="2200" b="1" dirty="0" err="1"/>
              <a:t>PyTorch</a:t>
            </a:r>
            <a:r>
              <a:rPr lang="en-US" altLang="zh-CN" sz="2200" dirty="0"/>
              <a:t> </a:t>
            </a:r>
            <a:r>
              <a:rPr lang="zh-CN" altLang="en-US" sz="2200" dirty="0"/>
              <a:t>为我们提供了。</a:t>
            </a:r>
          </a:p>
          <a:p>
            <a:r>
              <a:rPr lang="zh-CN" altLang="en-US" sz="2200" dirty="0"/>
              <a:t>例如，为了完成上述代码相同的功能，我们仅需两条语句：</a:t>
            </a:r>
            <a:endParaRPr lang="en-US" altLang="zh-CN" sz="2200" dirty="0"/>
          </a:p>
          <a:p>
            <a:endParaRPr lang="zh-CN" altLang="en-US" sz="1100" dirty="0"/>
          </a:p>
          <a:p>
            <a:r>
              <a:rPr lang="en-US" altLang="zh-CN" sz="2200" dirty="0">
                <a:solidFill>
                  <a:srgbClr val="00B050"/>
                </a:solidFill>
              </a:rPr>
              <a:t>from </a:t>
            </a:r>
            <a:r>
              <a:rPr lang="en-US" altLang="zh-CN" sz="2200" dirty="0" err="1">
                <a:solidFill>
                  <a:srgbClr val="00B050"/>
                </a:solidFill>
              </a:rPr>
              <a:t>torch.utils.data</a:t>
            </a:r>
            <a:r>
              <a:rPr lang="en-US" altLang="zh-CN" sz="2200" dirty="0">
                <a:solidFill>
                  <a:srgbClr val="00B050"/>
                </a:solidFill>
              </a:rPr>
              <a:t> import </a:t>
            </a:r>
            <a:r>
              <a:rPr lang="en-US" altLang="zh-CN" sz="2200" dirty="0" err="1">
                <a:solidFill>
                  <a:srgbClr val="00B050"/>
                </a:solidFill>
              </a:rPr>
              <a:t>DataLoader</a:t>
            </a:r>
            <a:r>
              <a:rPr lang="en-US" altLang="zh-CN" sz="2200" dirty="0">
                <a:solidFill>
                  <a:srgbClr val="00B050"/>
                </a:solidFill>
              </a:rPr>
              <a:t>, </a:t>
            </a:r>
            <a:r>
              <a:rPr lang="en-US" altLang="zh-CN" sz="2200" dirty="0" err="1">
                <a:solidFill>
                  <a:srgbClr val="00B050"/>
                </a:solidFill>
              </a:rPr>
              <a:t>TensorDataset</a:t>
            </a:r>
            <a:endParaRPr lang="en-US" altLang="zh-CN" sz="2200" dirty="0">
              <a:solidFill>
                <a:srgbClr val="00B050"/>
              </a:solidFill>
            </a:endParaRPr>
          </a:p>
          <a:p>
            <a:r>
              <a:rPr lang="en-US" altLang="zh-CN" sz="2200" dirty="0">
                <a:solidFill>
                  <a:srgbClr val="00B050"/>
                </a:solidFill>
              </a:rPr>
              <a:t>#trainX, </a:t>
            </a:r>
            <a:r>
              <a:rPr lang="en-US" altLang="zh-CN" sz="2200" dirty="0" err="1">
                <a:solidFill>
                  <a:srgbClr val="00B050"/>
                </a:solidFill>
              </a:rPr>
              <a:t>trainY</a:t>
            </a:r>
            <a:r>
              <a:rPr lang="en-US" altLang="zh-CN" sz="2200" dirty="0">
                <a:solidFill>
                  <a:srgbClr val="00B050"/>
                </a:solidFill>
              </a:rPr>
              <a:t> = </a:t>
            </a:r>
            <a:r>
              <a:rPr lang="en-US" altLang="zh-CN" sz="2200" dirty="0" err="1">
                <a:solidFill>
                  <a:srgbClr val="00B050"/>
                </a:solidFill>
              </a:rPr>
              <a:t>torch.randn</a:t>
            </a:r>
            <a:r>
              <a:rPr lang="en-US" altLang="zh-CN" sz="2200" dirty="0">
                <a:solidFill>
                  <a:srgbClr val="00B050"/>
                </a:solidFill>
              </a:rPr>
              <a:t>(1428,3), </a:t>
            </a:r>
            <a:r>
              <a:rPr lang="en-US" altLang="zh-CN" sz="2200" dirty="0" err="1">
                <a:solidFill>
                  <a:srgbClr val="00B050"/>
                </a:solidFill>
              </a:rPr>
              <a:t>torch.randn</a:t>
            </a:r>
            <a:r>
              <a:rPr lang="en-US" altLang="zh-CN" sz="2200" dirty="0">
                <a:solidFill>
                  <a:srgbClr val="00B050"/>
                </a:solidFill>
              </a:rPr>
              <a:t>(1428) #</a:t>
            </a:r>
            <a:r>
              <a:rPr lang="zh-CN" altLang="en-US" sz="2200" dirty="0">
                <a:solidFill>
                  <a:srgbClr val="00B050"/>
                </a:solidFill>
              </a:rPr>
              <a:t>产生模拟数据</a:t>
            </a:r>
          </a:p>
          <a:p>
            <a:r>
              <a:rPr lang="en-US" altLang="zh-CN" sz="2200" dirty="0" err="1">
                <a:solidFill>
                  <a:srgbClr val="00B050"/>
                </a:solidFill>
              </a:rPr>
              <a:t>train_set</a:t>
            </a:r>
            <a:r>
              <a:rPr lang="en-US" altLang="zh-CN" sz="2200" dirty="0">
                <a:solidFill>
                  <a:srgbClr val="00B050"/>
                </a:solidFill>
              </a:rPr>
              <a:t> = </a:t>
            </a:r>
            <a:r>
              <a:rPr lang="en-US" altLang="zh-CN" sz="2200" dirty="0" err="1">
                <a:solidFill>
                  <a:srgbClr val="00B050"/>
                </a:solidFill>
              </a:rPr>
              <a:t>TensorDataset</a:t>
            </a:r>
            <a:r>
              <a:rPr lang="en-US" altLang="zh-CN" sz="2200" dirty="0">
                <a:solidFill>
                  <a:srgbClr val="00B050"/>
                </a:solidFill>
              </a:rPr>
              <a:t>(</a:t>
            </a:r>
            <a:r>
              <a:rPr lang="en-US" altLang="zh-CN" sz="2200" dirty="0" err="1">
                <a:solidFill>
                  <a:srgbClr val="00B050"/>
                </a:solidFill>
              </a:rPr>
              <a:t>trainX</a:t>
            </a:r>
            <a:r>
              <a:rPr lang="en-US" altLang="zh-CN" sz="2200" dirty="0">
                <a:solidFill>
                  <a:srgbClr val="00B050"/>
                </a:solidFill>
              </a:rPr>
              <a:t>, </a:t>
            </a:r>
            <a:r>
              <a:rPr lang="en-US" altLang="zh-CN" sz="2200" dirty="0" err="1">
                <a:solidFill>
                  <a:srgbClr val="00B050"/>
                </a:solidFill>
              </a:rPr>
              <a:t>trainY</a:t>
            </a:r>
            <a:r>
              <a:rPr lang="en-US" altLang="zh-CN" sz="2200" dirty="0">
                <a:solidFill>
                  <a:srgbClr val="00B050"/>
                </a:solidFill>
              </a:rPr>
              <a:t>) #</a:t>
            </a:r>
            <a:r>
              <a:rPr lang="zh-CN" altLang="en-US" sz="2200" dirty="0">
                <a:solidFill>
                  <a:srgbClr val="00B050"/>
                </a:solidFill>
              </a:rPr>
              <a:t>对 </a:t>
            </a:r>
            <a:r>
              <a:rPr lang="en-US" altLang="zh-CN" sz="2200" dirty="0" err="1">
                <a:solidFill>
                  <a:srgbClr val="00B050"/>
                </a:solidFill>
              </a:rPr>
              <a:t>trainX</a:t>
            </a:r>
            <a:r>
              <a:rPr lang="en-US" altLang="zh-CN" sz="2200" dirty="0">
                <a:solidFill>
                  <a:srgbClr val="00B050"/>
                </a:solidFill>
              </a:rPr>
              <a:t> </a:t>
            </a:r>
            <a:r>
              <a:rPr lang="zh-CN" altLang="en-US" sz="2200" dirty="0">
                <a:solidFill>
                  <a:srgbClr val="00B050"/>
                </a:solidFill>
              </a:rPr>
              <a:t>和 </a:t>
            </a:r>
            <a:r>
              <a:rPr lang="en-US" altLang="zh-CN" sz="2200" dirty="0" err="1">
                <a:solidFill>
                  <a:srgbClr val="00B050"/>
                </a:solidFill>
              </a:rPr>
              <a:t>trainY</a:t>
            </a:r>
            <a:r>
              <a:rPr lang="en-US" altLang="zh-CN" sz="2200" dirty="0">
                <a:solidFill>
                  <a:srgbClr val="00B050"/>
                </a:solidFill>
              </a:rPr>
              <a:t> </a:t>
            </a:r>
            <a:r>
              <a:rPr lang="zh-CN" altLang="en-US" sz="2200" dirty="0">
                <a:solidFill>
                  <a:srgbClr val="00B050"/>
                </a:solidFill>
              </a:rPr>
              <a:t>进行组对</a:t>
            </a:r>
          </a:p>
          <a:p>
            <a:r>
              <a:rPr lang="en-US" altLang="zh-CN" sz="2200" dirty="0" err="1">
                <a:solidFill>
                  <a:srgbClr val="00B050"/>
                </a:solidFill>
              </a:rPr>
              <a:t>train_loader</a:t>
            </a:r>
            <a:r>
              <a:rPr lang="en-US" altLang="zh-CN" sz="2200" dirty="0">
                <a:solidFill>
                  <a:srgbClr val="00B050"/>
                </a:solidFill>
              </a:rPr>
              <a:t> = </a:t>
            </a:r>
            <a:r>
              <a:rPr lang="en-US" altLang="zh-CN" sz="2200" dirty="0" err="1">
                <a:solidFill>
                  <a:srgbClr val="00B050"/>
                </a:solidFill>
              </a:rPr>
              <a:t>DataLoader</a:t>
            </a:r>
            <a:r>
              <a:rPr lang="en-US" altLang="zh-CN" sz="2200" dirty="0">
                <a:solidFill>
                  <a:srgbClr val="00B050"/>
                </a:solidFill>
              </a:rPr>
              <a:t>(dataset=</a:t>
            </a:r>
            <a:r>
              <a:rPr lang="en-US" altLang="zh-CN" sz="2200" dirty="0" err="1">
                <a:solidFill>
                  <a:srgbClr val="00B050"/>
                </a:solidFill>
              </a:rPr>
              <a:t>train_set</a:t>
            </a:r>
            <a:r>
              <a:rPr lang="en-US" altLang="zh-CN" sz="2200" dirty="0">
                <a:solidFill>
                  <a:srgbClr val="00B050"/>
                </a:solidFill>
              </a:rPr>
              <a:t>, #</a:t>
            </a:r>
            <a:r>
              <a:rPr lang="zh-CN" altLang="en-US" sz="2200" dirty="0">
                <a:solidFill>
                  <a:srgbClr val="00B050"/>
                </a:solidFill>
              </a:rPr>
              <a:t>调用打包函数</a:t>
            </a:r>
          </a:p>
          <a:p>
            <a:r>
              <a:rPr lang="zh-CN" altLang="en-US" sz="2200" dirty="0">
                <a:solidFill>
                  <a:srgbClr val="00B050"/>
                </a:solidFill>
              </a:rPr>
              <a:t> </a:t>
            </a:r>
            <a:r>
              <a:rPr lang="en-US" altLang="zh-CN" sz="2200" dirty="0" err="1">
                <a:solidFill>
                  <a:srgbClr val="00B050"/>
                </a:solidFill>
              </a:rPr>
              <a:t>batch_size</a:t>
            </a:r>
            <a:r>
              <a:rPr lang="en-US" altLang="zh-CN" sz="2200" dirty="0">
                <a:solidFill>
                  <a:srgbClr val="00B050"/>
                </a:solidFill>
              </a:rPr>
              <a:t>=100, #</a:t>
            </a:r>
            <a:r>
              <a:rPr lang="zh-CN" altLang="en-US" sz="2200" dirty="0">
                <a:solidFill>
                  <a:srgbClr val="00B050"/>
                </a:solidFill>
              </a:rPr>
              <a:t>包的大小</a:t>
            </a:r>
          </a:p>
          <a:p>
            <a:r>
              <a:rPr lang="zh-CN" altLang="en-US" sz="2200" dirty="0">
                <a:solidFill>
                  <a:srgbClr val="00B050"/>
                </a:solidFill>
              </a:rPr>
              <a:t> </a:t>
            </a:r>
            <a:r>
              <a:rPr lang="en-US" altLang="zh-CN" sz="2200" dirty="0">
                <a:solidFill>
                  <a:srgbClr val="00B050"/>
                </a:solidFill>
              </a:rPr>
              <a:t>shuffle=True) #</a:t>
            </a:r>
            <a:r>
              <a:rPr lang="zh-CN" altLang="en-US" sz="2200" dirty="0">
                <a:solidFill>
                  <a:srgbClr val="00B050"/>
                </a:solidFill>
              </a:rPr>
              <a:t>默认 </a:t>
            </a:r>
            <a:r>
              <a:rPr lang="en-US" altLang="zh-CN" sz="2200" dirty="0">
                <a:solidFill>
                  <a:srgbClr val="00B050"/>
                </a:solidFill>
              </a:rPr>
              <a:t>shuffle=False </a:t>
            </a:r>
          </a:p>
          <a:p>
            <a:endParaRPr lang="en-US" altLang="zh-CN" sz="1100" dirty="0">
              <a:solidFill>
                <a:srgbClr val="00B050"/>
              </a:solidFill>
            </a:endParaRPr>
          </a:p>
          <a:p>
            <a:r>
              <a:rPr lang="zh-CN" altLang="en-US" sz="2200" dirty="0"/>
              <a:t>其中，</a:t>
            </a:r>
            <a:r>
              <a:rPr lang="en-US" altLang="zh-CN" sz="2200" dirty="0" err="1"/>
              <a:t>TensorDataset</a:t>
            </a:r>
            <a:r>
              <a:rPr lang="en-US" altLang="zh-CN" sz="2200" dirty="0"/>
              <a:t>()</a:t>
            </a:r>
            <a:r>
              <a:rPr lang="zh-CN" altLang="en-US" sz="2200" dirty="0"/>
              <a:t>函数用于对 </a:t>
            </a:r>
            <a:r>
              <a:rPr lang="en-US" altLang="zh-CN" sz="2200" dirty="0" err="1"/>
              <a:t>trainX</a:t>
            </a:r>
            <a:r>
              <a:rPr lang="en-US" altLang="zh-CN" sz="2200" dirty="0"/>
              <a:t> </a:t>
            </a:r>
            <a:r>
              <a:rPr lang="zh-CN" altLang="en-US" sz="2200" dirty="0"/>
              <a:t>和 </a:t>
            </a:r>
            <a:r>
              <a:rPr lang="en-US" altLang="zh-CN" sz="2200" dirty="0" err="1"/>
              <a:t>trainY</a:t>
            </a:r>
            <a:r>
              <a:rPr lang="en-US" altLang="zh-CN" sz="2200" dirty="0"/>
              <a:t> </a:t>
            </a:r>
            <a:r>
              <a:rPr lang="zh-CN" altLang="en-US" sz="2200" dirty="0"/>
              <a:t>进行“组对”，类似 </a:t>
            </a:r>
            <a:r>
              <a:rPr lang="en-US" altLang="zh-CN" sz="2200" dirty="0"/>
              <a:t>python </a:t>
            </a:r>
            <a:r>
              <a:rPr lang="zh-CN" altLang="en-US" sz="2200" dirty="0"/>
              <a:t>中的 </a:t>
            </a:r>
            <a:r>
              <a:rPr lang="en-US" altLang="zh-CN" sz="2200" b="1" dirty="0"/>
              <a:t>zip</a:t>
            </a:r>
            <a:r>
              <a:rPr lang="en-US" altLang="zh-CN" sz="2200" dirty="0"/>
              <a:t> </a:t>
            </a:r>
            <a:r>
              <a:rPr lang="zh-CN" altLang="en-US" sz="2200" dirty="0"/>
              <a:t>功能；</a:t>
            </a:r>
          </a:p>
        </p:txBody>
      </p:sp>
    </p:spTree>
    <p:extLst>
      <p:ext uri="{BB962C8B-B14F-4D97-AF65-F5344CB8AC3E}">
        <p14:creationId xmlns:p14="http://schemas.microsoft.com/office/powerpoint/2010/main" val="3671762526"/>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3.4.2 </a:t>
            </a:r>
            <a:r>
              <a:rPr lang="zh-CN" altLang="en-US" sz="2800" b="1" dirty="0">
                <a:solidFill>
                  <a:srgbClr val="C00000"/>
                </a:solidFill>
              </a:rPr>
              <a:t>数据打包方法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1659280"/>
            <a:ext cx="11373594" cy="4611070"/>
          </a:xfrm>
          <a:prstGeom prst="rect">
            <a:avLst/>
          </a:prstGeom>
          <a:noFill/>
        </p:spPr>
        <p:txBody>
          <a:bodyPr wrap="square">
            <a:spAutoFit/>
          </a:bodyPr>
          <a:lstStyle/>
          <a:p>
            <a:pPr>
              <a:lnSpc>
                <a:spcPct val="150000"/>
              </a:lnSpc>
            </a:pPr>
            <a:r>
              <a:rPr lang="en-US" altLang="zh-CN" sz="2200" b="1" dirty="0" err="1"/>
              <a:t>DataLoader</a:t>
            </a:r>
            <a:r>
              <a:rPr lang="en-US" altLang="zh-CN" sz="2200" b="1" dirty="0"/>
              <a:t>()</a:t>
            </a:r>
            <a:r>
              <a:rPr lang="zh-CN" altLang="en-US" sz="2200" b="1" dirty="0"/>
              <a:t>函数</a:t>
            </a:r>
            <a:r>
              <a:rPr lang="zh-CN" altLang="en-US" sz="2200" dirty="0"/>
              <a:t>则用于完成数据打包功能，其涉及的常用参数包括：</a:t>
            </a:r>
          </a:p>
          <a:p>
            <a:pPr marL="800100" lvl="1" indent="-342900">
              <a:lnSpc>
                <a:spcPct val="150000"/>
              </a:lnSpc>
              <a:buFont typeface="Arial" panose="020B0604020202020204" pitchFamily="34" charset="0"/>
              <a:buChar char="•"/>
            </a:pPr>
            <a:r>
              <a:rPr lang="en-US" altLang="zh-CN" sz="2200" b="1" dirty="0"/>
              <a:t>dataset</a:t>
            </a:r>
            <a:r>
              <a:rPr lang="zh-CN" altLang="en-US" sz="2200" dirty="0"/>
              <a:t>：用于指定加载的数据集</a:t>
            </a:r>
            <a:r>
              <a:rPr lang="en-US" altLang="zh-CN" sz="2200" dirty="0"/>
              <a:t>(Dataset </a:t>
            </a:r>
            <a:r>
              <a:rPr lang="zh-CN" altLang="en-US" sz="2200" dirty="0"/>
              <a:t>对象</a:t>
            </a:r>
            <a:r>
              <a:rPr lang="en-US" altLang="zh-CN" sz="2200" dirty="0"/>
              <a:t>)</a:t>
            </a:r>
          </a:p>
          <a:p>
            <a:pPr marL="800100" lvl="1" indent="-342900">
              <a:lnSpc>
                <a:spcPct val="150000"/>
              </a:lnSpc>
              <a:buFont typeface="Arial" panose="020B0604020202020204" pitchFamily="34" charset="0"/>
              <a:buChar char="•"/>
            </a:pPr>
            <a:r>
              <a:rPr lang="en-US" altLang="zh-CN" sz="2200" b="1" dirty="0" err="1"/>
              <a:t>batch_size</a:t>
            </a:r>
            <a:r>
              <a:rPr lang="zh-CN" altLang="en-US" sz="2200" dirty="0"/>
              <a:t>：用于设定包的</a:t>
            </a:r>
            <a:r>
              <a:rPr lang="zh-CN" altLang="en-US" sz="2200" b="1" dirty="0"/>
              <a:t>大小</a:t>
            </a:r>
            <a:r>
              <a:rPr lang="zh-CN" altLang="en-US" sz="2200" dirty="0"/>
              <a:t>（规模）</a:t>
            </a:r>
          </a:p>
          <a:p>
            <a:pPr marL="800100" lvl="1" indent="-342900">
              <a:lnSpc>
                <a:spcPct val="150000"/>
              </a:lnSpc>
              <a:buFont typeface="Arial" panose="020B0604020202020204" pitchFamily="34" charset="0"/>
              <a:buChar char="•"/>
            </a:pPr>
            <a:r>
              <a:rPr lang="en-US" altLang="zh-CN" sz="2200" b="1" dirty="0"/>
              <a:t>shuffle</a:t>
            </a:r>
            <a:r>
              <a:rPr lang="zh-CN" altLang="en-US" sz="2200" dirty="0"/>
              <a:t>：值为 </a:t>
            </a:r>
            <a:r>
              <a:rPr lang="en-US" altLang="zh-CN" sz="2200" dirty="0"/>
              <a:t>True </a:t>
            </a:r>
            <a:r>
              <a:rPr lang="zh-CN" altLang="en-US" sz="2200" dirty="0"/>
              <a:t>表示要</a:t>
            </a:r>
            <a:r>
              <a:rPr lang="zh-CN" altLang="en-US" sz="2200" b="1" dirty="0"/>
              <a:t>打乱</a:t>
            </a:r>
            <a:r>
              <a:rPr lang="zh-CN" altLang="en-US" sz="2200" dirty="0"/>
              <a:t>样本的顺序后再打包，为 </a:t>
            </a:r>
            <a:r>
              <a:rPr lang="en-US" altLang="zh-CN" sz="2200" dirty="0"/>
              <a:t>False</a:t>
            </a:r>
            <a:r>
              <a:rPr lang="zh-CN" altLang="en-US" sz="2200" dirty="0"/>
              <a:t>（默认值）则表示不打乱样本的顺序</a:t>
            </a:r>
          </a:p>
          <a:p>
            <a:pPr marL="800100" lvl="1" indent="-342900">
              <a:lnSpc>
                <a:spcPct val="150000"/>
              </a:lnSpc>
              <a:buFont typeface="Arial" panose="020B0604020202020204" pitchFamily="34" charset="0"/>
              <a:buChar char="•"/>
            </a:pPr>
            <a:r>
              <a:rPr lang="en-US" altLang="zh-CN" sz="2200" b="1" dirty="0" err="1"/>
              <a:t>num_workers</a:t>
            </a:r>
            <a:r>
              <a:rPr lang="zh-CN" altLang="en-US" sz="2200" dirty="0"/>
              <a:t>：设置使用多进程加载的</a:t>
            </a:r>
            <a:r>
              <a:rPr lang="zh-CN" altLang="en-US" sz="2200" b="1" dirty="0"/>
              <a:t>进程数</a:t>
            </a:r>
            <a:r>
              <a:rPr lang="zh-CN" altLang="en-US" sz="2200" dirty="0"/>
              <a:t>，</a:t>
            </a:r>
            <a:r>
              <a:rPr lang="en-US" altLang="zh-CN" sz="2200" dirty="0"/>
              <a:t>0 </a:t>
            </a:r>
            <a:r>
              <a:rPr lang="zh-CN" altLang="en-US" sz="2200" dirty="0"/>
              <a:t>代表不使用多进程</a:t>
            </a:r>
          </a:p>
          <a:p>
            <a:pPr marL="800100" lvl="1" indent="-342900">
              <a:lnSpc>
                <a:spcPct val="150000"/>
              </a:lnSpc>
              <a:buFont typeface="Arial" panose="020B0604020202020204" pitchFamily="34" charset="0"/>
              <a:buChar char="•"/>
            </a:pPr>
            <a:r>
              <a:rPr lang="en-US" altLang="zh-CN" sz="2200" b="1" dirty="0" err="1"/>
              <a:t>drop_last</a:t>
            </a:r>
            <a:r>
              <a:rPr lang="zh-CN" altLang="en-US" sz="2200" dirty="0"/>
              <a:t>：当样本总数不是 </a:t>
            </a:r>
            <a:r>
              <a:rPr lang="en-US" altLang="zh-CN" sz="2200" dirty="0" err="1"/>
              <a:t>batch_size</a:t>
            </a:r>
            <a:r>
              <a:rPr lang="en-US" altLang="zh-CN" sz="2200" dirty="0"/>
              <a:t> </a:t>
            </a:r>
            <a:r>
              <a:rPr lang="zh-CN" altLang="en-US" sz="2200" dirty="0"/>
              <a:t>的整数倍，如果这时 </a:t>
            </a:r>
            <a:r>
              <a:rPr lang="en-US" altLang="zh-CN" sz="2200" dirty="0" err="1"/>
              <a:t>drop_last</a:t>
            </a:r>
            <a:r>
              <a:rPr lang="en-US" altLang="zh-CN" sz="2200" dirty="0"/>
              <a:t> </a:t>
            </a:r>
            <a:r>
              <a:rPr lang="zh-CN" altLang="en-US" sz="2200" dirty="0"/>
              <a:t>为 </a:t>
            </a:r>
            <a:r>
              <a:rPr lang="en-US" altLang="zh-CN" sz="2200" dirty="0"/>
              <a:t>True</a:t>
            </a:r>
            <a:r>
              <a:rPr lang="zh-CN" altLang="en-US" sz="2200" dirty="0"/>
              <a:t>，则会</a:t>
            </a:r>
          </a:p>
          <a:p>
            <a:pPr marL="800100" lvl="1" indent="-342900">
              <a:lnSpc>
                <a:spcPct val="150000"/>
              </a:lnSpc>
              <a:buFont typeface="Arial" panose="020B0604020202020204" pitchFamily="34" charset="0"/>
              <a:buChar char="•"/>
            </a:pPr>
            <a:r>
              <a:rPr lang="zh-CN" altLang="en-US" sz="2200" dirty="0"/>
              <a:t>将多出来而又不足一个数据包的样本</a:t>
            </a:r>
            <a:r>
              <a:rPr lang="zh-CN" altLang="en-US" sz="2200" b="1" dirty="0"/>
              <a:t>丢弃</a:t>
            </a:r>
            <a:r>
              <a:rPr lang="zh-CN" altLang="en-US" sz="2200" dirty="0"/>
              <a:t>，而为 </a:t>
            </a:r>
            <a:r>
              <a:rPr lang="en-US" altLang="zh-CN" sz="2200" dirty="0"/>
              <a:t>False</a:t>
            </a:r>
            <a:r>
              <a:rPr lang="zh-CN" altLang="en-US" sz="2200" dirty="0"/>
              <a:t>（默认值）则表示按实际剩</a:t>
            </a:r>
          </a:p>
          <a:p>
            <a:pPr marL="800100" lvl="1" indent="-342900">
              <a:lnSpc>
                <a:spcPct val="150000"/>
              </a:lnSpc>
              <a:buFont typeface="Arial" panose="020B0604020202020204" pitchFamily="34" charset="0"/>
              <a:buChar char="•"/>
            </a:pPr>
            <a:r>
              <a:rPr lang="zh-CN" altLang="en-US" sz="2200" dirty="0"/>
              <a:t>余的数据打包。</a:t>
            </a:r>
          </a:p>
        </p:txBody>
      </p:sp>
    </p:spTree>
    <p:extLst>
      <p:ext uri="{BB962C8B-B14F-4D97-AF65-F5344CB8AC3E}">
        <p14:creationId xmlns:p14="http://schemas.microsoft.com/office/powerpoint/2010/main" val="1140030288"/>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3.4.2 </a:t>
            </a:r>
            <a:r>
              <a:rPr lang="zh-CN" altLang="en-US" sz="2800" b="1" dirty="0">
                <a:solidFill>
                  <a:srgbClr val="C00000"/>
                </a:solidFill>
              </a:rPr>
              <a:t>数据打包方法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88333" y="2062647"/>
            <a:ext cx="9627577" cy="2410468"/>
          </a:xfrm>
          <a:prstGeom prst="rect">
            <a:avLst/>
          </a:prstGeom>
          <a:noFill/>
        </p:spPr>
        <p:txBody>
          <a:bodyPr wrap="square">
            <a:spAutoFit/>
          </a:bodyPr>
          <a:lstStyle/>
          <a:p>
            <a:r>
              <a:rPr lang="en-US" altLang="zh-CN" sz="2200" dirty="0" err="1"/>
              <a:t>DataLoader</a:t>
            </a:r>
            <a:r>
              <a:rPr lang="en-US" altLang="zh-CN" sz="2200" dirty="0"/>
              <a:t>()</a:t>
            </a:r>
            <a:r>
              <a:rPr lang="zh-CN" altLang="en-US" sz="2200" dirty="0"/>
              <a:t>函数返回的结果是一个</a:t>
            </a:r>
            <a:r>
              <a:rPr lang="zh-CN" altLang="en-US" sz="2200" b="1" dirty="0"/>
              <a:t>迭代器</a:t>
            </a:r>
            <a:r>
              <a:rPr lang="zh-CN" altLang="en-US" sz="2200" dirty="0"/>
              <a:t>，可以通过循环或数组化转换来访问其中的数据包。</a:t>
            </a:r>
            <a:endParaRPr lang="en-US" altLang="zh-CN" sz="2200" dirty="0"/>
          </a:p>
          <a:p>
            <a:r>
              <a:rPr lang="zh-CN" altLang="en-US" sz="2200" dirty="0"/>
              <a:t>例如，运行下列代码：</a:t>
            </a:r>
            <a:endParaRPr lang="zh-CN" altLang="en-US" sz="1100" dirty="0"/>
          </a:p>
          <a:p>
            <a:pPr>
              <a:lnSpc>
                <a:spcPct val="150000"/>
              </a:lnSpc>
            </a:pPr>
            <a:r>
              <a:rPr lang="en-US" altLang="zh-CN" sz="2200" dirty="0">
                <a:solidFill>
                  <a:srgbClr val="00B050"/>
                </a:solidFill>
              </a:rPr>
              <a:t>for </a:t>
            </a:r>
            <a:r>
              <a:rPr lang="en-US" altLang="zh-CN" sz="2200" dirty="0" err="1">
                <a:solidFill>
                  <a:srgbClr val="00B050"/>
                </a:solidFill>
              </a:rPr>
              <a:t>xb</a:t>
            </a:r>
            <a:r>
              <a:rPr lang="en-US" altLang="zh-CN" sz="2200" dirty="0">
                <a:solidFill>
                  <a:srgbClr val="00B050"/>
                </a:solidFill>
              </a:rPr>
              <a:t>, </a:t>
            </a:r>
            <a:r>
              <a:rPr lang="en-US" altLang="zh-CN" sz="2200" dirty="0" err="1">
                <a:solidFill>
                  <a:srgbClr val="00B050"/>
                </a:solidFill>
              </a:rPr>
              <a:t>yb</a:t>
            </a:r>
            <a:r>
              <a:rPr lang="en-US" altLang="zh-CN" sz="2200" dirty="0">
                <a:solidFill>
                  <a:srgbClr val="00B050"/>
                </a:solidFill>
              </a:rPr>
              <a:t> in </a:t>
            </a:r>
            <a:r>
              <a:rPr lang="en-US" altLang="zh-CN" sz="2200" dirty="0" err="1">
                <a:solidFill>
                  <a:srgbClr val="00B050"/>
                </a:solidFill>
              </a:rPr>
              <a:t>train_loader</a:t>
            </a:r>
            <a:r>
              <a:rPr lang="en-US" altLang="zh-CN" sz="2200" dirty="0">
                <a:solidFill>
                  <a:srgbClr val="00B050"/>
                </a:solidFill>
              </a:rPr>
              <a:t>:</a:t>
            </a:r>
          </a:p>
          <a:p>
            <a:r>
              <a:rPr lang="en-US" altLang="zh-CN" sz="2200" dirty="0">
                <a:solidFill>
                  <a:srgbClr val="00B050"/>
                </a:solidFill>
              </a:rPr>
              <a:t> print(</a:t>
            </a:r>
            <a:r>
              <a:rPr lang="en-US" altLang="zh-CN" sz="2200" dirty="0" err="1">
                <a:solidFill>
                  <a:srgbClr val="00B050"/>
                </a:solidFill>
              </a:rPr>
              <a:t>xb.shape</a:t>
            </a:r>
            <a:r>
              <a:rPr lang="en-US" altLang="zh-CN" sz="2200" dirty="0">
                <a:solidFill>
                  <a:srgbClr val="00B050"/>
                </a:solidFill>
              </a:rPr>
              <a:t>, </a:t>
            </a:r>
            <a:r>
              <a:rPr lang="en-US" altLang="zh-CN" sz="2200" dirty="0" err="1">
                <a:solidFill>
                  <a:srgbClr val="00B050"/>
                </a:solidFill>
              </a:rPr>
              <a:t>yb.shape</a:t>
            </a:r>
            <a:r>
              <a:rPr lang="en-US" altLang="zh-CN" sz="2200" dirty="0">
                <a:solidFill>
                  <a:srgbClr val="00B050"/>
                </a:solidFill>
              </a:rPr>
              <a:t>) </a:t>
            </a:r>
            <a:endParaRPr lang="en-US" altLang="zh-CN" sz="1100" dirty="0">
              <a:solidFill>
                <a:srgbClr val="00B050"/>
              </a:solidFill>
            </a:endParaRPr>
          </a:p>
          <a:p>
            <a:pPr>
              <a:lnSpc>
                <a:spcPct val="150000"/>
              </a:lnSpc>
            </a:pPr>
            <a:r>
              <a:rPr lang="zh-CN" altLang="en-US" sz="2200" dirty="0"/>
              <a:t>可以看到该迭代器包含的数据包的形状：</a:t>
            </a:r>
          </a:p>
        </p:txBody>
      </p:sp>
      <p:pic>
        <p:nvPicPr>
          <p:cNvPr id="6" name="图片 5">
            <a:extLst>
              <a:ext uri="{FF2B5EF4-FFF2-40B4-BE49-F238E27FC236}">
                <a16:creationId xmlns:a16="http://schemas.microsoft.com/office/drawing/2014/main" id="{AC54D7FC-F4F0-F426-A1E2-786A72BBFB4E}"/>
              </a:ext>
            </a:extLst>
          </p:cNvPr>
          <p:cNvPicPr>
            <a:picLocks noChangeAspect="1"/>
          </p:cNvPicPr>
          <p:nvPr/>
        </p:nvPicPr>
        <p:blipFill>
          <a:blip r:embed="rId3"/>
          <a:stretch>
            <a:fillRect/>
          </a:stretch>
        </p:blipFill>
        <p:spPr>
          <a:xfrm>
            <a:off x="409203" y="5094122"/>
            <a:ext cx="4706594" cy="586395"/>
          </a:xfrm>
          <a:prstGeom prst="rect">
            <a:avLst/>
          </a:prstGeom>
        </p:spPr>
      </p:pic>
      <p:pic>
        <p:nvPicPr>
          <p:cNvPr id="11" name="图片 10">
            <a:extLst>
              <a:ext uri="{FF2B5EF4-FFF2-40B4-BE49-F238E27FC236}">
                <a16:creationId xmlns:a16="http://schemas.microsoft.com/office/drawing/2014/main" id="{CB6EBF51-028A-4911-2BB9-F028BDD2FFFD}"/>
              </a:ext>
            </a:extLst>
          </p:cNvPr>
          <p:cNvPicPr>
            <a:picLocks noChangeAspect="1"/>
          </p:cNvPicPr>
          <p:nvPr/>
        </p:nvPicPr>
        <p:blipFill>
          <a:blip r:embed="rId4"/>
          <a:stretch>
            <a:fillRect/>
          </a:stretch>
        </p:blipFill>
        <p:spPr>
          <a:xfrm>
            <a:off x="703938" y="4612364"/>
            <a:ext cx="4519052" cy="434378"/>
          </a:xfrm>
          <a:prstGeom prst="rect">
            <a:avLst/>
          </a:prstGeom>
        </p:spPr>
      </p:pic>
      <p:sp>
        <p:nvSpPr>
          <p:cNvPr id="13" name="文本框 12">
            <a:extLst>
              <a:ext uri="{FF2B5EF4-FFF2-40B4-BE49-F238E27FC236}">
                <a16:creationId xmlns:a16="http://schemas.microsoft.com/office/drawing/2014/main" id="{DCD36726-26DA-1E15-7C72-D370E818E1EE}"/>
              </a:ext>
            </a:extLst>
          </p:cNvPr>
          <p:cNvSpPr txBox="1"/>
          <p:nvPr/>
        </p:nvSpPr>
        <p:spPr>
          <a:xfrm>
            <a:off x="5302121" y="4604093"/>
            <a:ext cx="6119446" cy="1107996"/>
          </a:xfrm>
          <a:prstGeom prst="rect">
            <a:avLst/>
          </a:prstGeom>
          <a:noFill/>
        </p:spPr>
        <p:txBody>
          <a:bodyPr wrap="square">
            <a:spAutoFit/>
          </a:bodyPr>
          <a:lstStyle/>
          <a:p>
            <a:r>
              <a:rPr lang="en-US" altLang="zh-CN" sz="2200" dirty="0"/>
              <a:t>#</a:t>
            </a:r>
            <a:r>
              <a:rPr lang="zh-CN" altLang="en-US" sz="2200" dirty="0"/>
              <a:t>第一到第</a:t>
            </a:r>
            <a:r>
              <a:rPr lang="en-US" altLang="zh-CN" sz="2200" dirty="0"/>
              <a:t>14</a:t>
            </a:r>
            <a:r>
              <a:rPr lang="zh-CN" altLang="en-US" sz="2200" dirty="0"/>
              <a:t>组</a:t>
            </a:r>
            <a:endParaRPr lang="en-US" altLang="zh-CN" dirty="0"/>
          </a:p>
          <a:p>
            <a:endParaRPr lang="en-US" altLang="zh-CN" sz="2200" dirty="0"/>
          </a:p>
          <a:p>
            <a:r>
              <a:rPr lang="en-US" altLang="zh-CN" sz="2200" dirty="0"/>
              <a:t>#</a:t>
            </a:r>
            <a:r>
              <a:rPr lang="zh-CN" altLang="en-US" sz="2200" dirty="0"/>
              <a:t>最后一组</a:t>
            </a:r>
          </a:p>
        </p:txBody>
      </p:sp>
    </p:spTree>
    <p:extLst>
      <p:ext uri="{BB962C8B-B14F-4D97-AF65-F5344CB8AC3E}">
        <p14:creationId xmlns:p14="http://schemas.microsoft.com/office/powerpoint/2010/main" val="3725316323"/>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3.4.3 </a:t>
            </a:r>
            <a:r>
              <a:rPr lang="zh-CN" altLang="en-US" sz="2800" b="1" dirty="0">
                <a:solidFill>
                  <a:srgbClr val="C00000"/>
                </a:solidFill>
              </a:rPr>
              <a:t>模型的训练方法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2" y="2062647"/>
            <a:ext cx="11373594" cy="2800767"/>
          </a:xfrm>
          <a:prstGeom prst="rect">
            <a:avLst/>
          </a:prstGeom>
          <a:noFill/>
        </p:spPr>
        <p:txBody>
          <a:bodyPr wrap="square">
            <a:spAutoFit/>
          </a:bodyPr>
          <a:lstStyle/>
          <a:p>
            <a:r>
              <a:rPr lang="zh-CN" altLang="en-US" sz="2200" dirty="0"/>
              <a:t>当将一个已定义的 </a:t>
            </a:r>
            <a:r>
              <a:rPr lang="en-US" altLang="zh-CN" sz="2200" b="1" dirty="0" err="1"/>
              <a:t>nn.Module</a:t>
            </a:r>
            <a:r>
              <a:rPr lang="en-US" altLang="zh-CN" sz="2200" b="1" dirty="0"/>
              <a:t> </a:t>
            </a:r>
            <a:r>
              <a:rPr lang="zh-CN" altLang="en-US" sz="2200" b="1" dirty="0"/>
              <a:t>类</a:t>
            </a:r>
            <a:r>
              <a:rPr lang="zh-CN" altLang="en-US" sz="2200" dirty="0"/>
              <a:t>的派生类实例化后，会得到一个网络模型。网络模型可视为由网络结构和参数组成，而实例化后得到的模型的参数大多是</a:t>
            </a:r>
            <a:r>
              <a:rPr lang="zh-CN" altLang="en-US" sz="2200" b="1" dirty="0"/>
              <a:t>随机初始化</a:t>
            </a:r>
            <a:r>
              <a:rPr lang="zh-CN" altLang="en-US" sz="2200" dirty="0"/>
              <a:t>形成的。这时模型没有任何的预测功能。训练的目的就是，将训练数据输入模型，然后正向计算模型的输出和目标之间的误差，进而反向计算误差函数在各个参数上的梯度，最后利用得到的</a:t>
            </a:r>
            <a:r>
              <a:rPr lang="zh-CN" altLang="en-US" sz="2200" b="1" dirty="0"/>
              <a:t>梯度更新参数</a:t>
            </a:r>
            <a:r>
              <a:rPr lang="zh-CN" altLang="en-US" sz="2200" dirty="0"/>
              <a:t>。反复执行这个过程，直到误差足够小的时候，停止训练过程。模型训练的一个核心工作是设计误差函数，实际上就是设计</a:t>
            </a:r>
            <a:r>
              <a:rPr lang="zh-CN" altLang="en-US" sz="2200" b="1" dirty="0"/>
              <a:t>损失函数</a:t>
            </a:r>
            <a:r>
              <a:rPr lang="zh-CN" altLang="en-US" sz="2200" dirty="0"/>
              <a:t>（在优化理论中称为目标函数）。损失函数的设计是根据问题的性质来完成的，这在 </a:t>
            </a:r>
            <a:r>
              <a:rPr lang="en-US" altLang="zh-CN" sz="2200" dirty="0"/>
              <a:t>2.3 </a:t>
            </a:r>
            <a:r>
              <a:rPr lang="zh-CN" altLang="en-US" sz="2200" dirty="0"/>
              <a:t>节中已经进行了介绍。</a:t>
            </a:r>
          </a:p>
          <a:p>
            <a:r>
              <a:rPr lang="zh-CN" altLang="en-US" sz="2200" dirty="0"/>
              <a:t>具体地，对于给定的数据批量 </a:t>
            </a:r>
            <a:r>
              <a:rPr lang="en-US" altLang="zh-CN" sz="2200" dirty="0"/>
              <a:t>X </a:t>
            </a:r>
            <a:r>
              <a:rPr lang="zh-CN" altLang="en-US" sz="2200" dirty="0"/>
              <a:t>及其标记 </a:t>
            </a:r>
            <a:r>
              <a:rPr lang="en-US" altLang="zh-CN" sz="2200" dirty="0"/>
              <a:t>Y</a:t>
            </a:r>
            <a:r>
              <a:rPr lang="zh-CN" altLang="en-US" sz="2200" dirty="0"/>
              <a:t>，令 </a:t>
            </a:r>
            <a:r>
              <a:rPr lang="en-US" altLang="zh-CN" sz="2200" dirty="0"/>
              <a:t>model </a:t>
            </a:r>
            <a:r>
              <a:rPr lang="zh-CN" altLang="en-US" sz="2200" dirty="0"/>
              <a:t>表示实例化后得到的模型，并记：</a:t>
            </a:r>
          </a:p>
        </p:txBody>
      </p:sp>
      <p:pic>
        <p:nvPicPr>
          <p:cNvPr id="3" name="图片 2">
            <a:extLst>
              <a:ext uri="{FF2B5EF4-FFF2-40B4-BE49-F238E27FC236}">
                <a16:creationId xmlns:a16="http://schemas.microsoft.com/office/drawing/2014/main" id="{366DDFF1-6A2A-7AE4-DEC7-26C6ED22C9A8}"/>
              </a:ext>
            </a:extLst>
          </p:cNvPr>
          <p:cNvPicPr>
            <a:picLocks noChangeAspect="1"/>
          </p:cNvPicPr>
          <p:nvPr/>
        </p:nvPicPr>
        <p:blipFill>
          <a:blip r:embed="rId3"/>
          <a:stretch>
            <a:fillRect/>
          </a:stretch>
        </p:blipFill>
        <p:spPr>
          <a:xfrm>
            <a:off x="4030800" y="4897869"/>
            <a:ext cx="2065199" cy="495343"/>
          </a:xfrm>
          <a:prstGeom prst="rect">
            <a:avLst/>
          </a:prstGeom>
        </p:spPr>
      </p:pic>
      <p:sp>
        <p:nvSpPr>
          <p:cNvPr id="7" name="文本框 6">
            <a:extLst>
              <a:ext uri="{FF2B5EF4-FFF2-40B4-BE49-F238E27FC236}">
                <a16:creationId xmlns:a16="http://schemas.microsoft.com/office/drawing/2014/main" id="{460F8B67-D9F7-D3A6-0F0F-ADD483968728}"/>
              </a:ext>
            </a:extLst>
          </p:cNvPr>
          <p:cNvSpPr txBox="1"/>
          <p:nvPr/>
        </p:nvSpPr>
        <p:spPr>
          <a:xfrm>
            <a:off x="409203" y="5600700"/>
            <a:ext cx="6119446" cy="430887"/>
          </a:xfrm>
          <a:prstGeom prst="rect">
            <a:avLst/>
          </a:prstGeom>
          <a:noFill/>
        </p:spPr>
        <p:txBody>
          <a:bodyPr wrap="square">
            <a:spAutoFit/>
          </a:bodyPr>
          <a:lstStyle/>
          <a:p>
            <a:r>
              <a:rPr lang="zh-CN" altLang="en-US" sz="2200" dirty="0"/>
              <a:t>𝒀෡表示批量 </a:t>
            </a:r>
            <a:r>
              <a:rPr lang="en-US" altLang="zh-CN" sz="2200" dirty="0"/>
              <a:t>X </a:t>
            </a:r>
            <a:r>
              <a:rPr lang="zh-CN" altLang="en-US" sz="2200" dirty="0"/>
              <a:t>在输入模型 </a:t>
            </a:r>
            <a:r>
              <a:rPr lang="en-US" altLang="zh-CN" sz="2200" dirty="0"/>
              <a:t>model </a:t>
            </a:r>
            <a:r>
              <a:rPr lang="zh-CN" altLang="en-US" sz="2200" dirty="0"/>
              <a:t>后产生的输出。</a:t>
            </a:r>
          </a:p>
        </p:txBody>
      </p:sp>
    </p:spTree>
    <p:extLst>
      <p:ext uri="{BB962C8B-B14F-4D97-AF65-F5344CB8AC3E}">
        <p14:creationId xmlns:p14="http://schemas.microsoft.com/office/powerpoint/2010/main" val="3520576385"/>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3.4.3 </a:t>
            </a:r>
            <a:r>
              <a:rPr lang="zh-CN" altLang="en-US" sz="2800" b="1" dirty="0">
                <a:solidFill>
                  <a:srgbClr val="C00000"/>
                </a:solidFill>
              </a:rPr>
              <a:t>模型的训练方法</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409202" y="2062647"/>
                <a:ext cx="5426426" cy="3816429"/>
              </a:xfrm>
              <a:prstGeom prst="rect">
                <a:avLst/>
              </a:prstGeom>
              <a:noFill/>
            </p:spPr>
            <p:txBody>
              <a:bodyPr wrap="square">
                <a:spAutoFit/>
              </a:bodyPr>
              <a:lstStyle/>
              <a:p>
                <a:r>
                  <a:rPr lang="zh-CN" altLang="en-US" sz="2200" dirty="0"/>
                  <a:t>令</a:t>
                </a:r>
                <a:r>
                  <a:rPr lang="en-US" altLang="zh-CN" sz="2200" dirty="0"/>
                  <a:t>ℒ</a:t>
                </a:r>
                <a:r>
                  <a:rPr lang="zh-CN" altLang="en-US" sz="2200" dirty="0"/>
                  <a:t>表示损失函数，则</a:t>
                </a:r>
                <a14:m>
                  <m:oMath xmlns:m="http://schemas.openxmlformats.org/officeDocument/2006/math">
                    <m:r>
                      <a:rPr lang="en-US" altLang="zh-CN" sz="2200" smtClean="0">
                        <a:latin typeface="Cambria Math" panose="02040503050406030204" pitchFamily="18" charset="0"/>
                      </a:rPr>
                      <m:t>ℒ</m:t>
                    </m:r>
                    <m:r>
                      <a:rPr lang="en-US" altLang="zh-CN" sz="2200" smtClean="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lang="zh-CN" altLang="en-US" sz="2200" dirty="0"/>
                  <a:t>表示模型输出</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oMath>
                </a14:m>
                <a:r>
                  <a:rPr lang="zh-CN" altLang="en-US" sz="2200" dirty="0"/>
                  <a:t>和目标</a:t>
                </a:r>
                <a:r>
                  <a:rPr lang="en-US" altLang="zh-CN" sz="2200" dirty="0"/>
                  <a:t>Y</a:t>
                </a:r>
                <a:r>
                  <a:rPr lang="zh-CN" altLang="en-US" sz="2200" dirty="0"/>
                  <a:t>之间的误差。在 </a:t>
                </a:r>
                <a:r>
                  <a:rPr lang="en-US" altLang="zh-CN" sz="2200" b="1" dirty="0" err="1"/>
                  <a:t>PyTorch</a:t>
                </a:r>
                <a:r>
                  <a:rPr lang="en-US" altLang="zh-CN" sz="2200" b="1" dirty="0"/>
                  <a:t> </a:t>
                </a:r>
                <a:r>
                  <a:rPr lang="zh-CN" altLang="en-US" sz="2200" dirty="0"/>
                  <a:t>框架中，对于每个 </a:t>
                </a:r>
                <a:r>
                  <a:rPr lang="en-US" altLang="zh-CN" sz="2200" dirty="0"/>
                  <a:t>X</a:t>
                </a:r>
                <a:r>
                  <a:rPr lang="zh-CN" altLang="en-US" sz="2200" dirty="0"/>
                  <a:t>，利用 </a:t>
                </a:r>
                <a:r>
                  <a:rPr lang="en-US" altLang="zh-CN" sz="2200" dirty="0"/>
                  <a:t>backward()</a:t>
                </a:r>
                <a:r>
                  <a:rPr lang="zh-CN" altLang="en-US" sz="2200" dirty="0"/>
                  <a:t>方法，都可以自动计算</a:t>
                </a:r>
                <a14:m>
                  <m:oMath xmlns:m="http://schemas.openxmlformats.org/officeDocument/2006/math">
                    <m:r>
                      <a:rPr lang="en-US" altLang="zh-CN" sz="2200">
                        <a:latin typeface="Cambria Math" panose="02040503050406030204" pitchFamily="18" charset="0"/>
                      </a:rPr>
                      <m:t>ℒ</m:t>
                    </m:r>
                    <m:r>
                      <a:rPr lang="en-US" altLang="zh-CN" sz="2200">
                        <a:latin typeface="Cambria Math" panose="02040503050406030204" pitchFamily="18" charset="0"/>
                      </a:rPr>
                      <m:t>(</m:t>
                    </m:r>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𝑌</m:t>
                        </m:r>
                      </m:e>
                    </m:acc>
                    <m:r>
                      <a:rPr lang="en-US" altLang="zh-CN" sz="2200">
                        <a:latin typeface="Cambria Math" panose="02040503050406030204" pitchFamily="18" charset="0"/>
                      </a:rPr>
                      <m:t>,</m:t>
                    </m:r>
                    <m:r>
                      <a:rPr lang="en-US" altLang="zh-CN" sz="2200">
                        <a:latin typeface="Cambria Math" panose="02040503050406030204" pitchFamily="18" charset="0"/>
                      </a:rPr>
                      <m:t>𝑌</m:t>
                    </m:r>
                    <m:r>
                      <a:rPr lang="en-US" altLang="zh-CN" sz="2200">
                        <a:latin typeface="Cambria Math" panose="02040503050406030204" pitchFamily="18" charset="0"/>
                      </a:rPr>
                      <m:t>)</m:t>
                    </m:r>
                  </m:oMath>
                </a14:m>
                <a:r>
                  <a:rPr lang="zh-CN" altLang="en-US" sz="2200" dirty="0"/>
                  <a:t>在各个参数上的</a:t>
                </a:r>
                <a:r>
                  <a:rPr lang="zh-CN" altLang="en-US" sz="2200" b="1" dirty="0"/>
                  <a:t>梯度</a:t>
                </a:r>
                <a:r>
                  <a:rPr lang="zh-CN" altLang="en-US" sz="2200" dirty="0"/>
                  <a:t>，然后调用 </a:t>
                </a:r>
                <a:r>
                  <a:rPr lang="en-US" altLang="zh-CN" sz="2200" b="1" dirty="0"/>
                  <a:t>step()</a:t>
                </a:r>
                <a:r>
                  <a:rPr lang="zh-CN" altLang="en-US" sz="2200" b="1" dirty="0"/>
                  <a:t>方法</a:t>
                </a:r>
                <a:r>
                  <a:rPr lang="zh-CN" altLang="en-US" sz="2200" dirty="0"/>
                  <a:t>自动利用梯度更新各个参数。对所有的数据批量，轮流使用它们对模型 </a:t>
                </a:r>
                <a:r>
                  <a:rPr lang="en-US" altLang="zh-CN" sz="2200" dirty="0"/>
                  <a:t>model </a:t>
                </a:r>
                <a:r>
                  <a:rPr lang="zh-CN" altLang="en-US" sz="2200" dirty="0"/>
                  <a:t>进行参数更新，每轮一遍称为</a:t>
                </a:r>
                <a:r>
                  <a:rPr lang="zh-CN" altLang="en-US" sz="2200" b="1" dirty="0"/>
                  <a:t>一代</a:t>
                </a:r>
                <a:r>
                  <a:rPr lang="zh-CN" altLang="en-US" sz="2200" dirty="0"/>
                  <a:t>或</a:t>
                </a:r>
                <a:r>
                  <a:rPr lang="zh-CN" altLang="en-US" sz="2200" b="1" dirty="0"/>
                  <a:t>一轮</a:t>
                </a:r>
                <a:r>
                  <a:rPr lang="zh-CN" altLang="en-US" sz="2200" dirty="0"/>
                  <a:t>（</a:t>
                </a:r>
                <a:r>
                  <a:rPr lang="en-US" altLang="zh-CN" sz="2200" dirty="0"/>
                  <a:t>epoch</a:t>
                </a:r>
                <a:r>
                  <a:rPr lang="zh-CN" altLang="en-US" sz="2200" dirty="0"/>
                  <a:t>）。一般情况下，对一个模型的训练要经过若干轮才能收敛。模型的训练过程用</a:t>
                </a:r>
              </a:p>
              <a:p>
                <a:r>
                  <a:rPr lang="zh-CN" altLang="en-US" sz="2200" dirty="0"/>
                  <a:t>伪代码表示如右图：</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409202" y="2062647"/>
                <a:ext cx="5426426" cy="3816429"/>
              </a:xfrm>
              <a:prstGeom prst="rect">
                <a:avLst/>
              </a:prstGeom>
              <a:blipFill>
                <a:blip r:embed="rId3"/>
                <a:stretch>
                  <a:fillRect l="-1461" t="-958" r="-6517" b="-319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9EB84DE4-1328-D882-2085-DBB7BB997977}"/>
              </a:ext>
            </a:extLst>
          </p:cNvPr>
          <p:cNvPicPr>
            <a:picLocks noChangeAspect="1"/>
          </p:cNvPicPr>
          <p:nvPr/>
        </p:nvPicPr>
        <p:blipFill>
          <a:blip r:embed="rId4"/>
          <a:stretch>
            <a:fillRect/>
          </a:stretch>
        </p:blipFill>
        <p:spPr>
          <a:xfrm>
            <a:off x="6096000" y="1780519"/>
            <a:ext cx="5859074" cy="3105805"/>
          </a:xfrm>
          <a:prstGeom prst="rect">
            <a:avLst/>
          </a:prstGeom>
        </p:spPr>
      </p:pic>
      <p:sp>
        <p:nvSpPr>
          <p:cNvPr id="8" name="文本框 7">
            <a:extLst>
              <a:ext uri="{FF2B5EF4-FFF2-40B4-BE49-F238E27FC236}">
                <a16:creationId xmlns:a16="http://schemas.microsoft.com/office/drawing/2014/main" id="{8A58E47A-8FB0-C289-3005-D0F7DFA29F3F}"/>
              </a:ext>
            </a:extLst>
          </p:cNvPr>
          <p:cNvSpPr txBox="1"/>
          <p:nvPr/>
        </p:nvSpPr>
        <p:spPr>
          <a:xfrm>
            <a:off x="5835628" y="5268335"/>
            <a:ext cx="6119446" cy="923330"/>
          </a:xfrm>
          <a:prstGeom prst="rect">
            <a:avLst/>
          </a:prstGeom>
          <a:noFill/>
        </p:spPr>
        <p:txBody>
          <a:bodyPr wrap="square">
            <a:spAutoFit/>
          </a:bodyPr>
          <a:lstStyle/>
          <a:p>
            <a:r>
              <a:rPr lang="zh-CN" altLang="en-US" dirty="0"/>
              <a:t>显然，模型的前向计算功能是程序员在模型 </a:t>
            </a:r>
            <a:r>
              <a:rPr lang="en-US" altLang="zh-CN" dirty="0"/>
              <a:t>model </a:t>
            </a:r>
            <a:r>
              <a:rPr lang="zh-CN" altLang="en-US" dirty="0"/>
              <a:t>的类代码中定义的，而复杂的反向梯度计算和参数更新则是由</a:t>
            </a:r>
            <a:r>
              <a:rPr lang="zh-CN" altLang="en-US" b="1" dirty="0"/>
              <a:t>优化器 </a:t>
            </a:r>
            <a:r>
              <a:rPr lang="en-US" altLang="zh-CN" b="1" dirty="0"/>
              <a:t>optimizer </a:t>
            </a:r>
            <a:r>
              <a:rPr lang="zh-CN" altLang="en-US" dirty="0"/>
              <a:t>在后台自动完成的。</a:t>
            </a:r>
          </a:p>
        </p:txBody>
      </p:sp>
    </p:spTree>
    <p:extLst>
      <p:ext uri="{BB962C8B-B14F-4D97-AF65-F5344CB8AC3E}">
        <p14:creationId xmlns:p14="http://schemas.microsoft.com/office/powerpoint/2010/main" val="1162318695"/>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3.4.4 </a:t>
            </a:r>
            <a:r>
              <a:rPr lang="zh-CN" altLang="en-US" sz="2800" b="1" dirty="0">
                <a:solidFill>
                  <a:srgbClr val="C00000"/>
                </a:solidFill>
              </a:rPr>
              <a:t>梯度累加的训练方法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2" y="2062647"/>
            <a:ext cx="11373594" cy="2462213"/>
          </a:xfrm>
          <a:prstGeom prst="rect">
            <a:avLst/>
          </a:prstGeom>
          <a:noFill/>
        </p:spPr>
        <p:txBody>
          <a:bodyPr wrap="square">
            <a:spAutoFit/>
          </a:bodyPr>
          <a:lstStyle/>
          <a:p>
            <a:r>
              <a:rPr lang="zh-CN" altLang="en-US" sz="2200" dirty="0"/>
              <a:t>在模型训练过程中，适当增加批量的大小可以提高模型的</a:t>
            </a:r>
            <a:r>
              <a:rPr lang="zh-CN" altLang="en-US" sz="2200" b="1" dirty="0"/>
              <a:t>泛化能力</a:t>
            </a:r>
            <a:r>
              <a:rPr lang="zh-CN" altLang="en-US" sz="2200" dirty="0"/>
              <a:t>。但批量大小的增加</a:t>
            </a:r>
          </a:p>
          <a:p>
            <a:r>
              <a:rPr lang="zh-CN" altLang="en-US" sz="2200" dirty="0"/>
              <a:t>会大量占用 </a:t>
            </a:r>
            <a:r>
              <a:rPr lang="en-US" altLang="zh-CN" sz="2200" b="1" dirty="0"/>
              <a:t>GPU </a:t>
            </a:r>
            <a:r>
              <a:rPr lang="zh-CN" altLang="en-US" sz="2200" b="1" dirty="0"/>
              <a:t>显存</a:t>
            </a:r>
            <a:r>
              <a:rPr lang="zh-CN" altLang="en-US" sz="2200" dirty="0"/>
              <a:t>资源，甚至会导致 </a:t>
            </a:r>
            <a:r>
              <a:rPr lang="en-US" altLang="zh-CN" sz="2200" dirty="0"/>
              <a:t>GPU </a:t>
            </a:r>
            <a:r>
              <a:rPr lang="zh-CN" altLang="en-US" sz="2200" dirty="0"/>
              <a:t>显存溢出而无法运行程序。然而，有的模型包</a:t>
            </a:r>
          </a:p>
          <a:p>
            <a:r>
              <a:rPr lang="zh-CN" altLang="en-US" sz="2200" dirty="0"/>
              <a:t>含大量的参数，因而模型本身就耗费大量 </a:t>
            </a:r>
            <a:r>
              <a:rPr lang="en-US" altLang="zh-CN" sz="2200" dirty="0"/>
              <a:t>GPU </a:t>
            </a:r>
            <a:r>
              <a:rPr lang="zh-CN" altLang="en-US" sz="2200" dirty="0"/>
              <a:t>显存资源，因此批量大小只能设置得很低，</a:t>
            </a:r>
          </a:p>
          <a:p>
            <a:r>
              <a:rPr lang="zh-CN" altLang="en-US" sz="2200" dirty="0"/>
              <a:t>从而会应用影响模型的泛化能力。于是，在有限 </a:t>
            </a:r>
            <a:r>
              <a:rPr lang="en-US" altLang="zh-CN" sz="2200" dirty="0"/>
              <a:t>GPU </a:t>
            </a:r>
            <a:r>
              <a:rPr lang="zh-CN" altLang="en-US" sz="2200" dirty="0"/>
              <a:t>显存资源的条件下，如何提高数据批</a:t>
            </a:r>
          </a:p>
          <a:p>
            <a:r>
              <a:rPr lang="zh-CN" altLang="en-US" sz="2200" dirty="0"/>
              <a:t>量的大小成为提升模型泛化能力的一个关键问题。</a:t>
            </a:r>
          </a:p>
          <a:p>
            <a:r>
              <a:rPr lang="zh-CN" altLang="en-US" sz="2200" dirty="0"/>
              <a:t>幸运的是，我们可以通过梯度累加的方法来变相提高数据批量的大小，同时不额外占用</a:t>
            </a:r>
          </a:p>
          <a:p>
            <a:r>
              <a:rPr lang="en-US" altLang="zh-CN" sz="2200" dirty="0"/>
              <a:t>GPU </a:t>
            </a:r>
            <a:r>
              <a:rPr lang="zh-CN" altLang="en-US" sz="2200" dirty="0"/>
              <a:t>显存资源。</a:t>
            </a:r>
          </a:p>
        </p:txBody>
      </p:sp>
    </p:spTree>
    <p:extLst>
      <p:ext uri="{BB962C8B-B14F-4D97-AF65-F5344CB8AC3E}">
        <p14:creationId xmlns:p14="http://schemas.microsoft.com/office/powerpoint/2010/main" val="2444289159"/>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3.4.4 </a:t>
            </a:r>
            <a:r>
              <a:rPr lang="zh-CN" altLang="en-US" sz="2800" b="1" dirty="0">
                <a:solidFill>
                  <a:srgbClr val="C00000"/>
                </a:solidFill>
              </a:rPr>
              <a:t>梯度累加的训练方法</a:t>
            </a:r>
            <a:endParaRPr lang="zh-CN" altLang="zh-CN" dirty="0">
              <a:solidFill>
                <a:srgbClr val="00B050"/>
              </a:solidFill>
            </a:endParaRPr>
          </a:p>
        </p:txBody>
      </p:sp>
      <p:sp>
        <p:nvSpPr>
          <p:cNvPr id="7" name="文本框 6">
            <a:extLst>
              <a:ext uri="{FF2B5EF4-FFF2-40B4-BE49-F238E27FC236}">
                <a16:creationId xmlns:a16="http://schemas.microsoft.com/office/drawing/2014/main" id="{460F8B67-D9F7-D3A6-0F0F-ADD483968728}"/>
              </a:ext>
            </a:extLst>
          </p:cNvPr>
          <p:cNvSpPr txBox="1"/>
          <p:nvPr/>
        </p:nvSpPr>
        <p:spPr>
          <a:xfrm>
            <a:off x="351378" y="2087712"/>
            <a:ext cx="4576757" cy="3816429"/>
          </a:xfrm>
          <a:prstGeom prst="rect">
            <a:avLst/>
          </a:prstGeom>
          <a:noFill/>
        </p:spPr>
        <p:txBody>
          <a:bodyPr wrap="square">
            <a:spAutoFit/>
          </a:bodyPr>
          <a:lstStyle/>
          <a:p>
            <a:r>
              <a:rPr lang="zh-CN" altLang="en-US" sz="2200" dirty="0"/>
              <a:t>该训练方法表明，在迭代过程中每做 </a:t>
            </a:r>
            <a:r>
              <a:rPr lang="en-US" altLang="zh-CN" sz="2200" dirty="0" err="1"/>
              <a:t>accu_steps</a:t>
            </a:r>
            <a:r>
              <a:rPr lang="en-US" altLang="zh-CN" sz="2200" dirty="0"/>
              <a:t> </a:t>
            </a:r>
            <a:r>
              <a:rPr lang="zh-CN" altLang="en-US" sz="2200" dirty="0"/>
              <a:t>次迭代（在这个过程中自动做梯度积累）， 才做一次参数更新（同时对梯度清零），但不增加批量的大小，因而不会增加对 </a:t>
            </a:r>
            <a:r>
              <a:rPr lang="en-US" altLang="zh-CN" sz="2200" dirty="0"/>
              <a:t>GPU </a:t>
            </a:r>
            <a:r>
              <a:rPr lang="zh-CN" altLang="en-US" sz="2200" dirty="0"/>
              <a:t>显存资源的额外要求。由于做了 </a:t>
            </a:r>
            <a:r>
              <a:rPr lang="en-US" altLang="zh-CN" sz="2200" dirty="0" err="1"/>
              <a:t>accu_steps</a:t>
            </a:r>
            <a:r>
              <a:rPr lang="en-US" altLang="zh-CN" sz="2200" dirty="0"/>
              <a:t> </a:t>
            </a:r>
            <a:r>
              <a:rPr lang="zh-CN" altLang="en-US" sz="2200" dirty="0"/>
              <a:t>次迭代后再利用</a:t>
            </a:r>
            <a:r>
              <a:rPr lang="zh-CN" altLang="en-US" sz="2200" b="1" dirty="0"/>
              <a:t>累加的梯度</a:t>
            </a:r>
            <a:r>
              <a:rPr lang="zh-CN" altLang="en-US" sz="2200" dirty="0"/>
              <a:t>进行参数更新，因而其效果 几乎相当于将批量大小由</a:t>
            </a:r>
            <a:r>
              <a:rPr lang="en-US" altLang="zh-CN" sz="2200" dirty="0"/>
              <a:t>|X|</a:t>
            </a:r>
            <a:r>
              <a:rPr lang="zh-CN" altLang="en-US" sz="2200" dirty="0"/>
              <a:t>改为</a:t>
            </a:r>
            <a:r>
              <a:rPr lang="en-US" altLang="zh-CN" sz="2200" dirty="0"/>
              <a:t>|X|*</a:t>
            </a:r>
            <a:r>
              <a:rPr lang="en-US" altLang="zh-CN" sz="2200" dirty="0" err="1"/>
              <a:t>accu_steps</a:t>
            </a:r>
            <a:r>
              <a:rPr lang="zh-CN" altLang="en-US" sz="2200" dirty="0"/>
              <a:t>，可以在既定条件下大幅度提升了模型的泛化能力。</a:t>
            </a:r>
          </a:p>
        </p:txBody>
      </p:sp>
      <p:pic>
        <p:nvPicPr>
          <p:cNvPr id="6" name="图片 5">
            <a:extLst>
              <a:ext uri="{FF2B5EF4-FFF2-40B4-BE49-F238E27FC236}">
                <a16:creationId xmlns:a16="http://schemas.microsoft.com/office/drawing/2014/main" id="{24CB6CE7-4820-9A5E-C02F-CF8E5462A934}"/>
              </a:ext>
            </a:extLst>
          </p:cNvPr>
          <p:cNvPicPr>
            <a:picLocks noChangeAspect="1"/>
          </p:cNvPicPr>
          <p:nvPr/>
        </p:nvPicPr>
        <p:blipFill>
          <a:blip r:embed="rId3"/>
          <a:stretch>
            <a:fillRect/>
          </a:stretch>
        </p:blipFill>
        <p:spPr>
          <a:xfrm>
            <a:off x="4985960" y="2180956"/>
            <a:ext cx="6854662" cy="3338590"/>
          </a:xfrm>
          <a:prstGeom prst="rect">
            <a:avLst/>
          </a:prstGeom>
        </p:spPr>
      </p:pic>
    </p:spTree>
    <p:extLst>
      <p:ext uri="{BB962C8B-B14F-4D97-AF65-F5344CB8AC3E}">
        <p14:creationId xmlns:p14="http://schemas.microsoft.com/office/powerpoint/2010/main" val="1224289356"/>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3.4.5 </a:t>
            </a:r>
            <a:r>
              <a:rPr lang="zh-CN" altLang="en-US" sz="2800" b="1" dirty="0">
                <a:solidFill>
                  <a:srgbClr val="C00000"/>
                </a:solidFill>
              </a:rPr>
              <a:t>学习率衰减在训练中的应用</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2" y="2062647"/>
            <a:ext cx="11373594" cy="3139321"/>
          </a:xfrm>
          <a:prstGeom prst="rect">
            <a:avLst/>
          </a:prstGeom>
          <a:noFill/>
        </p:spPr>
        <p:txBody>
          <a:bodyPr wrap="square">
            <a:spAutoFit/>
          </a:bodyPr>
          <a:lstStyle/>
          <a:p>
            <a:r>
              <a:rPr lang="zh-CN" altLang="en-US" sz="2200" dirty="0"/>
              <a:t>在网络训练过程中，当</a:t>
            </a:r>
            <a:r>
              <a:rPr lang="zh-CN" altLang="en-US" sz="2200" b="1" dirty="0"/>
              <a:t>学习率</a:t>
            </a:r>
            <a:r>
              <a:rPr lang="zh-CN" altLang="en-US" sz="2200" dirty="0"/>
              <a:t>设置得过大时，容易造成收敛过程振荡，不易找到高精度解，但它有助于快速逼近</a:t>
            </a:r>
            <a:r>
              <a:rPr lang="zh-CN" altLang="en-US" sz="2200" b="1" dirty="0"/>
              <a:t>全局最优解</a:t>
            </a:r>
            <a:r>
              <a:rPr lang="zh-CN" altLang="en-US" sz="2200" dirty="0"/>
              <a:t>，降低陷于局部解的几率；当学习率设置得过小时，虽然有助于获得高精度解，但是收敛速度慢，容易陷于局部最优解。一种理想的做法是，训练刚开始时使用较大的学习率，使得模型快速向全局最优解逼近；随着训练过程的推进，逐步降低学习率，以找到高精度的最优解。显然，要对学习率做这样的设置，首先要找到访问学习率的方法。在 </a:t>
            </a:r>
            <a:r>
              <a:rPr lang="en-US" altLang="zh-CN" sz="2200" dirty="0" err="1"/>
              <a:t>PyTorch</a:t>
            </a:r>
            <a:r>
              <a:rPr lang="en-US" altLang="zh-CN" sz="2200" dirty="0"/>
              <a:t> </a:t>
            </a:r>
            <a:r>
              <a:rPr lang="zh-CN" altLang="en-US" sz="2200" dirty="0"/>
              <a:t>中，每个优化器都有 </a:t>
            </a:r>
            <a:r>
              <a:rPr lang="en-US" altLang="zh-CN" sz="2200" dirty="0" err="1"/>
              <a:t>param_groups</a:t>
            </a:r>
            <a:r>
              <a:rPr lang="en-US" altLang="zh-CN" sz="2200" dirty="0"/>
              <a:t> </a:t>
            </a:r>
            <a:r>
              <a:rPr lang="zh-CN" altLang="en-US" sz="2200" dirty="0"/>
              <a:t>属性，该属性是一个 </a:t>
            </a:r>
            <a:r>
              <a:rPr lang="en-US" altLang="zh-CN" sz="2200" dirty="0"/>
              <a:t>list </a:t>
            </a:r>
            <a:r>
              <a:rPr lang="zh-CN" altLang="en-US" sz="2200" dirty="0"/>
              <a:t>对象，其元素</a:t>
            </a:r>
            <a:r>
              <a:rPr lang="en-US" altLang="zh-CN" sz="2200" dirty="0" err="1"/>
              <a:t>param_groups</a:t>
            </a:r>
            <a:r>
              <a:rPr lang="en-US" altLang="zh-CN" sz="2200" dirty="0"/>
              <a:t>[0]</a:t>
            </a:r>
            <a:r>
              <a:rPr lang="zh-CN" altLang="en-US" sz="2200" dirty="0"/>
              <a:t>是一个 </a:t>
            </a:r>
            <a:r>
              <a:rPr lang="en-US" altLang="zh-CN" sz="2200" dirty="0" err="1"/>
              <a:t>dict</a:t>
            </a:r>
            <a:r>
              <a:rPr lang="en-US" altLang="zh-CN" sz="2200" dirty="0"/>
              <a:t> </a:t>
            </a:r>
            <a:r>
              <a:rPr lang="zh-CN" altLang="en-US" sz="2200" dirty="0"/>
              <a:t>对象。该 </a:t>
            </a:r>
            <a:r>
              <a:rPr lang="en-US" altLang="zh-CN" sz="2200" dirty="0" err="1"/>
              <a:t>dict</a:t>
            </a:r>
            <a:r>
              <a:rPr lang="en-US" altLang="zh-CN" sz="2200" dirty="0"/>
              <a:t> </a:t>
            </a:r>
            <a:r>
              <a:rPr lang="zh-CN" altLang="en-US" sz="2200" dirty="0"/>
              <a:t>对象含有 </a:t>
            </a:r>
            <a:r>
              <a:rPr lang="en-US" altLang="zh-CN" sz="2200" dirty="0"/>
              <a:t>6 </a:t>
            </a:r>
            <a:r>
              <a:rPr lang="zh-CN" altLang="en-US" sz="2200" dirty="0"/>
              <a:t>个键：</a:t>
            </a:r>
            <a:r>
              <a:rPr lang="en-US" altLang="zh-CN" sz="2200" dirty="0"/>
              <a:t>Params</a:t>
            </a:r>
            <a:r>
              <a:rPr lang="zh-CN" altLang="en-US" sz="2200" dirty="0"/>
              <a:t>、</a:t>
            </a:r>
            <a:r>
              <a:rPr lang="en-US" altLang="zh-CN" sz="2200" dirty="0" err="1"/>
              <a:t>lr</a:t>
            </a:r>
            <a:r>
              <a:rPr lang="zh-CN" altLang="en-US" sz="2200" dirty="0"/>
              <a:t>、</a:t>
            </a:r>
            <a:r>
              <a:rPr lang="en-US" altLang="zh-CN" sz="2200" dirty="0"/>
              <a:t>betas</a:t>
            </a:r>
            <a:r>
              <a:rPr lang="zh-CN" altLang="en-US" sz="2200" dirty="0"/>
              <a:t>、</a:t>
            </a:r>
            <a:r>
              <a:rPr lang="en-US" altLang="zh-CN" sz="2200" dirty="0"/>
              <a:t>eps</a:t>
            </a:r>
            <a:r>
              <a:rPr lang="zh-CN" altLang="en-US" sz="2200" dirty="0"/>
              <a:t>、</a:t>
            </a:r>
            <a:r>
              <a:rPr lang="en-US" altLang="zh-CN" sz="2200" dirty="0" err="1"/>
              <a:t>weight_decay</a:t>
            </a:r>
            <a:r>
              <a:rPr lang="zh-CN" altLang="en-US" sz="2200" dirty="0"/>
              <a:t>、</a:t>
            </a:r>
            <a:r>
              <a:rPr lang="en-US" altLang="zh-CN" sz="2200" dirty="0" err="1"/>
              <a:t>amsgrad</a:t>
            </a:r>
            <a:r>
              <a:rPr lang="zh-CN" altLang="en-US" sz="2200" dirty="0"/>
              <a:t>，其中键</a:t>
            </a:r>
            <a:r>
              <a:rPr lang="en-US" altLang="zh-CN" sz="2200" dirty="0"/>
              <a:t>'</a:t>
            </a:r>
            <a:r>
              <a:rPr lang="en-US" altLang="zh-CN" sz="2200" dirty="0" err="1"/>
              <a:t>lr</a:t>
            </a:r>
            <a:r>
              <a:rPr lang="en-US" altLang="zh-CN" sz="2200" dirty="0"/>
              <a:t>'</a:t>
            </a:r>
            <a:r>
              <a:rPr lang="zh-CN" altLang="en-US" sz="2200" dirty="0"/>
              <a:t>的值 </a:t>
            </a:r>
            <a:r>
              <a:rPr lang="en-US" altLang="zh-CN" sz="2200" dirty="0" err="1"/>
              <a:t>param_groups</a:t>
            </a:r>
            <a:r>
              <a:rPr lang="en-US" altLang="zh-CN" sz="2200" dirty="0"/>
              <a:t>[0]['</a:t>
            </a:r>
            <a:r>
              <a:rPr lang="en-US" altLang="zh-CN" sz="2200" dirty="0" err="1"/>
              <a:t>lr</a:t>
            </a:r>
            <a:r>
              <a:rPr lang="en-US" altLang="zh-CN" sz="2200" dirty="0"/>
              <a:t>']</a:t>
            </a:r>
            <a:r>
              <a:rPr lang="zh-CN" altLang="en-US" sz="2200" dirty="0"/>
              <a:t>就是优化器的学习率，通过访问该键值即可以获得或修改学习率。据此，我们可以手动调整学习率。</a:t>
            </a:r>
          </a:p>
        </p:txBody>
      </p:sp>
    </p:spTree>
    <p:extLst>
      <p:ext uri="{BB962C8B-B14F-4D97-AF65-F5344CB8AC3E}">
        <p14:creationId xmlns:p14="http://schemas.microsoft.com/office/powerpoint/2010/main" val="2500449699"/>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3.4.5 </a:t>
            </a:r>
            <a:r>
              <a:rPr lang="zh-CN" altLang="en-US" sz="2800" b="1" dirty="0">
                <a:solidFill>
                  <a:srgbClr val="C00000"/>
                </a:solidFill>
              </a:rPr>
              <a:t>学习率衰减在训练中的应用</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2" y="1983516"/>
            <a:ext cx="11373594" cy="4324261"/>
          </a:xfrm>
          <a:prstGeom prst="rect">
            <a:avLst/>
          </a:prstGeom>
          <a:noFill/>
        </p:spPr>
        <p:txBody>
          <a:bodyPr wrap="square">
            <a:spAutoFit/>
          </a:bodyPr>
          <a:lstStyle/>
          <a:p>
            <a:r>
              <a:rPr lang="zh-CN" altLang="en-US" sz="2200" dirty="0"/>
              <a:t>例如，作为例子，我们将例 </a:t>
            </a:r>
            <a:r>
              <a:rPr lang="en-US" altLang="zh-CN" sz="2200" dirty="0"/>
              <a:t>3.1 </a:t>
            </a:r>
            <a:r>
              <a:rPr lang="zh-CN" altLang="en-US" sz="2200" dirty="0"/>
              <a:t>中的学习率初始设置为 </a:t>
            </a:r>
            <a:r>
              <a:rPr lang="en-US" altLang="zh-CN" sz="2200" dirty="0"/>
              <a:t>0.01</a:t>
            </a:r>
            <a:r>
              <a:rPr lang="zh-CN" altLang="en-US" sz="2200" dirty="0"/>
              <a:t>，然后每迭代 </a:t>
            </a:r>
            <a:r>
              <a:rPr lang="en-US" altLang="zh-CN" sz="2200" dirty="0"/>
              <a:t>50 </a:t>
            </a:r>
            <a:r>
              <a:rPr lang="zh-CN" altLang="en-US" sz="2200" dirty="0"/>
              <a:t>次，让学</a:t>
            </a:r>
          </a:p>
          <a:p>
            <a:r>
              <a:rPr lang="zh-CN" altLang="en-US" sz="2200" dirty="0"/>
              <a:t>习率自乘 </a:t>
            </a:r>
            <a:r>
              <a:rPr lang="en-US" altLang="zh-CN" sz="2200" b="1" dirty="0"/>
              <a:t>0.9</a:t>
            </a:r>
            <a:r>
              <a:rPr lang="zh-CN" altLang="en-US" sz="2200" dirty="0"/>
              <a:t>（即减少 </a:t>
            </a:r>
            <a:r>
              <a:rPr lang="en-US" altLang="zh-CN" sz="2200" dirty="0"/>
              <a:t>10%</a:t>
            </a:r>
            <a:r>
              <a:rPr lang="zh-CN" altLang="en-US" sz="2200" dirty="0"/>
              <a:t>），同时保证学习率的最低值不低于 </a:t>
            </a:r>
            <a:r>
              <a:rPr lang="en-US" altLang="zh-CN" sz="2200" dirty="0"/>
              <a:t>0.0008</a:t>
            </a:r>
            <a:r>
              <a:rPr lang="zh-CN" altLang="en-US" sz="2200" dirty="0"/>
              <a:t>；此外，为了观察衰</a:t>
            </a:r>
          </a:p>
          <a:p>
            <a:r>
              <a:rPr lang="zh-CN" altLang="en-US" sz="2200" dirty="0"/>
              <a:t>减效果，我们仅从 </a:t>
            </a:r>
            <a:r>
              <a:rPr lang="en-US" altLang="zh-CN" sz="2200" dirty="0"/>
              <a:t>X </a:t>
            </a:r>
            <a:r>
              <a:rPr lang="zh-CN" altLang="en-US" sz="2200" dirty="0"/>
              <a:t>和 </a:t>
            </a:r>
            <a:r>
              <a:rPr lang="en-US" altLang="zh-CN" sz="2200" dirty="0"/>
              <a:t>Y </a:t>
            </a:r>
            <a:r>
              <a:rPr lang="zh-CN" altLang="en-US" sz="2200" dirty="0"/>
              <a:t>中选择 </a:t>
            </a:r>
            <a:r>
              <a:rPr lang="en-US" altLang="zh-CN" sz="2200" dirty="0"/>
              <a:t>400 </a:t>
            </a:r>
            <a:r>
              <a:rPr lang="zh-CN" altLang="en-US" sz="2200" dirty="0"/>
              <a:t>条数据样本来训练模型，并将每次迭代时的学习率保</a:t>
            </a:r>
          </a:p>
          <a:p>
            <a:r>
              <a:rPr lang="zh-CN" altLang="en-US" sz="2200" dirty="0"/>
              <a:t>存起来，训练完后在二维平面上绘制学习率的</a:t>
            </a:r>
            <a:r>
              <a:rPr lang="zh-CN" altLang="en-US" sz="2200" b="1" dirty="0"/>
              <a:t>衰减</a:t>
            </a:r>
            <a:r>
              <a:rPr lang="zh-CN" altLang="en-US" sz="2200" dirty="0"/>
              <a:t>曲线图。</a:t>
            </a:r>
            <a:endParaRPr lang="en-US" altLang="zh-CN" sz="2200" dirty="0"/>
          </a:p>
          <a:p>
            <a:r>
              <a:rPr lang="zh-CN" altLang="en-US" sz="2200" dirty="0"/>
              <a:t>相关</a:t>
            </a:r>
            <a:r>
              <a:rPr lang="zh-CN" altLang="en-US" sz="2200" dirty="0">
                <a:solidFill>
                  <a:srgbClr val="C00000"/>
                </a:solidFill>
              </a:rPr>
              <a:t>核心</a:t>
            </a:r>
            <a:r>
              <a:rPr lang="zh-CN" altLang="en-US" sz="2200" dirty="0"/>
              <a:t>代码如下：</a:t>
            </a:r>
            <a:endParaRPr lang="en-US" altLang="zh-CN" sz="1100" dirty="0"/>
          </a:p>
          <a:p>
            <a:pPr>
              <a:lnSpc>
                <a:spcPct val="150000"/>
              </a:lnSpc>
            </a:pPr>
            <a:r>
              <a:rPr lang="en-US" altLang="zh-CN" sz="2200" dirty="0">
                <a:solidFill>
                  <a:srgbClr val="00B050"/>
                </a:solidFill>
              </a:rPr>
              <a:t>optimizer = </a:t>
            </a:r>
            <a:r>
              <a:rPr lang="en-US" altLang="zh-CN" sz="2200" dirty="0" err="1">
                <a:solidFill>
                  <a:srgbClr val="00B050"/>
                </a:solidFill>
              </a:rPr>
              <a:t>torch.optim.Adam</a:t>
            </a:r>
            <a:r>
              <a:rPr lang="en-US" altLang="zh-CN" sz="2200" dirty="0">
                <a:solidFill>
                  <a:srgbClr val="00B050"/>
                </a:solidFill>
              </a:rPr>
              <a:t>(model3_1.parameters(), </a:t>
            </a:r>
            <a:r>
              <a:rPr lang="en-US" altLang="zh-CN" sz="2200" dirty="0" err="1">
                <a:solidFill>
                  <a:srgbClr val="00B050"/>
                </a:solidFill>
              </a:rPr>
              <a:t>lr</a:t>
            </a:r>
            <a:r>
              <a:rPr lang="en-US" altLang="zh-CN" sz="2200" dirty="0">
                <a:solidFill>
                  <a:srgbClr val="00B050"/>
                </a:solidFill>
              </a:rPr>
              <a:t>=0.01) </a:t>
            </a:r>
          </a:p>
          <a:p>
            <a:r>
              <a:rPr lang="en-US" altLang="zh-CN" sz="2200" dirty="0" err="1">
                <a:solidFill>
                  <a:srgbClr val="00B050"/>
                </a:solidFill>
              </a:rPr>
              <a:t>i</a:t>
            </a:r>
            <a:r>
              <a:rPr lang="en-US" altLang="zh-CN" sz="2200" dirty="0">
                <a:solidFill>
                  <a:srgbClr val="00B050"/>
                </a:solidFill>
              </a:rPr>
              <a:t> += 1</a:t>
            </a:r>
          </a:p>
          <a:p>
            <a:r>
              <a:rPr lang="en-US" altLang="zh-CN" sz="2200" dirty="0">
                <a:solidFill>
                  <a:srgbClr val="00B050"/>
                </a:solidFill>
              </a:rPr>
              <a:t> if i%50==0:</a:t>
            </a:r>
          </a:p>
          <a:p>
            <a:r>
              <a:rPr lang="en-US" altLang="zh-CN" sz="2200" dirty="0">
                <a:solidFill>
                  <a:srgbClr val="00B050"/>
                </a:solidFill>
              </a:rPr>
              <a:t> </a:t>
            </a:r>
            <a:r>
              <a:rPr lang="en-US" altLang="zh-CN" sz="2200" dirty="0" err="1">
                <a:solidFill>
                  <a:srgbClr val="00B050"/>
                </a:solidFill>
              </a:rPr>
              <a:t>optimizer.param_groups</a:t>
            </a:r>
            <a:r>
              <a:rPr lang="en-US" altLang="zh-CN" sz="2200" dirty="0">
                <a:solidFill>
                  <a:srgbClr val="00B050"/>
                </a:solidFill>
              </a:rPr>
              <a:t>[0]['</a:t>
            </a:r>
            <a:r>
              <a:rPr lang="en-US" altLang="zh-CN" sz="2200" dirty="0" err="1">
                <a:solidFill>
                  <a:srgbClr val="00B050"/>
                </a:solidFill>
              </a:rPr>
              <a:t>lr</a:t>
            </a:r>
            <a:r>
              <a:rPr lang="en-US" altLang="zh-CN" sz="2200" dirty="0">
                <a:solidFill>
                  <a:srgbClr val="00B050"/>
                </a:solidFill>
              </a:rPr>
              <a:t>'] *= 0.9 #</a:t>
            </a:r>
            <a:r>
              <a:rPr lang="zh-CN" altLang="en-US" sz="2200" dirty="0">
                <a:solidFill>
                  <a:srgbClr val="00B050"/>
                </a:solidFill>
              </a:rPr>
              <a:t>让学习率自乘 </a:t>
            </a:r>
            <a:r>
              <a:rPr lang="en-US" altLang="zh-CN" sz="2200" dirty="0">
                <a:solidFill>
                  <a:srgbClr val="00B050"/>
                </a:solidFill>
              </a:rPr>
              <a:t>0.9</a:t>
            </a:r>
            <a:r>
              <a:rPr lang="zh-CN" altLang="en-US" sz="2200" dirty="0">
                <a:solidFill>
                  <a:srgbClr val="00B050"/>
                </a:solidFill>
              </a:rPr>
              <a:t>（即衰减学习率）</a:t>
            </a:r>
          </a:p>
          <a:p>
            <a:r>
              <a:rPr lang="zh-CN" altLang="en-US" sz="2200" dirty="0">
                <a:solidFill>
                  <a:srgbClr val="00B050"/>
                </a:solidFill>
              </a:rPr>
              <a:t> </a:t>
            </a:r>
            <a:r>
              <a:rPr lang="en-US" altLang="zh-CN" sz="2200" dirty="0">
                <a:solidFill>
                  <a:srgbClr val="00B050"/>
                </a:solidFill>
              </a:rPr>
              <a:t>#</a:t>
            </a:r>
            <a:r>
              <a:rPr lang="zh-CN" altLang="en-US" sz="2200" dirty="0">
                <a:solidFill>
                  <a:srgbClr val="00B050"/>
                </a:solidFill>
              </a:rPr>
              <a:t>防止学习率过低：</a:t>
            </a:r>
          </a:p>
          <a:p>
            <a:r>
              <a:rPr lang="zh-CN" altLang="en-US" sz="2200" dirty="0">
                <a:solidFill>
                  <a:srgbClr val="00B050"/>
                </a:solidFill>
              </a:rPr>
              <a:t> </a:t>
            </a:r>
            <a:r>
              <a:rPr lang="en-US" altLang="zh-CN" sz="2200" dirty="0" err="1">
                <a:solidFill>
                  <a:srgbClr val="00B050"/>
                </a:solidFill>
              </a:rPr>
              <a:t>optimizer.param_groups</a:t>
            </a:r>
            <a:r>
              <a:rPr lang="en-US" altLang="zh-CN" sz="2200" dirty="0">
                <a:solidFill>
                  <a:srgbClr val="00B050"/>
                </a:solidFill>
              </a:rPr>
              <a:t>[0]['</a:t>
            </a:r>
            <a:r>
              <a:rPr lang="en-US" altLang="zh-CN" sz="2200" dirty="0" err="1">
                <a:solidFill>
                  <a:srgbClr val="00B050"/>
                </a:solidFill>
              </a:rPr>
              <a:t>lr</a:t>
            </a:r>
            <a:r>
              <a:rPr lang="en-US" altLang="zh-CN" sz="2200" dirty="0">
                <a:solidFill>
                  <a:srgbClr val="00B050"/>
                </a:solidFill>
              </a:rPr>
              <a:t>'] =max(</a:t>
            </a:r>
            <a:r>
              <a:rPr lang="en-US" altLang="zh-CN" sz="2200" dirty="0" err="1">
                <a:solidFill>
                  <a:srgbClr val="00B050"/>
                </a:solidFill>
              </a:rPr>
              <a:t>optimizer.param_groups</a:t>
            </a:r>
            <a:r>
              <a:rPr lang="en-US" altLang="zh-CN" sz="2200" dirty="0">
                <a:solidFill>
                  <a:srgbClr val="00B050"/>
                </a:solidFill>
              </a:rPr>
              <a:t>[0]['</a:t>
            </a:r>
            <a:r>
              <a:rPr lang="en-US" altLang="zh-CN" sz="2200" dirty="0" err="1">
                <a:solidFill>
                  <a:srgbClr val="00B050"/>
                </a:solidFill>
              </a:rPr>
              <a:t>lr</a:t>
            </a:r>
            <a:r>
              <a:rPr lang="en-US" altLang="zh-CN" sz="2200" dirty="0">
                <a:solidFill>
                  <a:srgbClr val="00B050"/>
                </a:solidFill>
              </a:rPr>
              <a:t>'],0.0008)</a:t>
            </a:r>
          </a:p>
          <a:p>
            <a:r>
              <a:rPr lang="en-US" altLang="zh-CN" sz="2200" dirty="0">
                <a:solidFill>
                  <a:srgbClr val="00B050"/>
                </a:solidFill>
              </a:rPr>
              <a:t> </a:t>
            </a:r>
            <a:r>
              <a:rPr lang="en-US" altLang="zh-CN" sz="2200" dirty="0" err="1">
                <a:solidFill>
                  <a:srgbClr val="00B050"/>
                </a:solidFill>
              </a:rPr>
              <a:t>lr_list.append</a:t>
            </a:r>
            <a:r>
              <a:rPr lang="en-US" altLang="zh-CN" sz="2200" dirty="0">
                <a:solidFill>
                  <a:srgbClr val="00B050"/>
                </a:solidFill>
              </a:rPr>
              <a:t>(</a:t>
            </a:r>
            <a:r>
              <a:rPr lang="en-US" altLang="zh-CN" sz="2200" dirty="0" err="1">
                <a:solidFill>
                  <a:srgbClr val="00B050"/>
                </a:solidFill>
              </a:rPr>
              <a:t>optimizer.param_groups</a:t>
            </a:r>
            <a:r>
              <a:rPr lang="en-US" altLang="zh-CN" sz="2200" dirty="0">
                <a:solidFill>
                  <a:srgbClr val="00B050"/>
                </a:solidFill>
              </a:rPr>
              <a:t>[0]['</a:t>
            </a:r>
            <a:r>
              <a:rPr lang="en-US" altLang="zh-CN" sz="2200" dirty="0" err="1">
                <a:solidFill>
                  <a:srgbClr val="00B050"/>
                </a:solidFill>
              </a:rPr>
              <a:t>lr</a:t>
            </a:r>
            <a:r>
              <a:rPr lang="en-US" altLang="zh-CN" sz="2200" dirty="0">
                <a:solidFill>
                  <a:srgbClr val="00B050"/>
                </a:solidFill>
              </a:rPr>
              <a:t>']) #</a:t>
            </a:r>
            <a:r>
              <a:rPr lang="zh-CN" altLang="en-US" sz="2200" dirty="0">
                <a:solidFill>
                  <a:srgbClr val="00B050"/>
                </a:solidFill>
              </a:rPr>
              <a:t>保存当前的学习率</a:t>
            </a:r>
          </a:p>
        </p:txBody>
      </p:sp>
    </p:spTree>
    <p:extLst>
      <p:ext uri="{BB962C8B-B14F-4D97-AF65-F5344CB8AC3E}">
        <p14:creationId xmlns:p14="http://schemas.microsoft.com/office/powerpoint/2010/main" val="2967404968"/>
      </p:ext>
    </p:extLst>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3.4.5 </a:t>
            </a:r>
            <a:r>
              <a:rPr lang="zh-CN" altLang="en-US" sz="2800" b="1" dirty="0">
                <a:solidFill>
                  <a:srgbClr val="C00000"/>
                </a:solidFill>
              </a:rPr>
              <a:t>学习率衰减在训练中的应用</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5727122" y="2818785"/>
            <a:ext cx="5157755" cy="1569660"/>
          </a:xfrm>
          <a:prstGeom prst="rect">
            <a:avLst/>
          </a:prstGeom>
          <a:noFill/>
        </p:spPr>
        <p:txBody>
          <a:bodyPr wrap="square">
            <a:spAutoFit/>
          </a:bodyPr>
          <a:lstStyle/>
          <a:p>
            <a:r>
              <a:rPr lang="zh-CN" altLang="en-US" sz="2400" dirty="0"/>
              <a:t>执行上述代码，结果得到如图 </a:t>
            </a:r>
            <a:r>
              <a:rPr lang="en-US" altLang="zh-CN" sz="2400" dirty="0"/>
              <a:t>3-8 </a:t>
            </a:r>
            <a:r>
              <a:rPr lang="zh-CN" altLang="en-US" sz="2400" dirty="0"/>
              <a:t>所示的学习率变化曲线图。从图 </a:t>
            </a:r>
            <a:r>
              <a:rPr lang="en-US" altLang="zh-CN" sz="2400" dirty="0"/>
              <a:t>3-8 </a:t>
            </a:r>
            <a:r>
              <a:rPr lang="zh-CN" altLang="en-US" sz="2400" dirty="0"/>
              <a:t>可以看到，学习 率确实从 </a:t>
            </a:r>
            <a:r>
              <a:rPr lang="en-US" altLang="zh-CN" sz="2400" dirty="0"/>
              <a:t>0.01 </a:t>
            </a:r>
            <a:r>
              <a:rPr lang="zh-CN" altLang="en-US" sz="2400" dirty="0"/>
              <a:t>开始，逐步衰减，最终降低到 </a:t>
            </a:r>
            <a:r>
              <a:rPr lang="en-US" altLang="zh-CN" sz="2400" dirty="0"/>
              <a:t>0.0008</a:t>
            </a:r>
            <a:r>
              <a:rPr lang="zh-CN" altLang="en-US" sz="2400" dirty="0"/>
              <a:t>。</a:t>
            </a:r>
            <a:endParaRPr lang="zh-CN" altLang="en-US" sz="2200" dirty="0"/>
          </a:p>
        </p:txBody>
      </p:sp>
      <p:pic>
        <p:nvPicPr>
          <p:cNvPr id="3" name="图片 2">
            <a:extLst>
              <a:ext uri="{FF2B5EF4-FFF2-40B4-BE49-F238E27FC236}">
                <a16:creationId xmlns:a16="http://schemas.microsoft.com/office/drawing/2014/main" id="{BA76CC8E-C73B-DC10-B62A-99233406B9FD}"/>
              </a:ext>
            </a:extLst>
          </p:cNvPr>
          <p:cNvPicPr>
            <a:picLocks noChangeAspect="1"/>
          </p:cNvPicPr>
          <p:nvPr/>
        </p:nvPicPr>
        <p:blipFill>
          <a:blip r:embed="rId3"/>
          <a:stretch>
            <a:fillRect/>
          </a:stretch>
        </p:blipFill>
        <p:spPr>
          <a:xfrm>
            <a:off x="515596" y="1954302"/>
            <a:ext cx="4844163" cy="3751905"/>
          </a:xfrm>
          <a:prstGeom prst="rect">
            <a:avLst/>
          </a:prstGeom>
        </p:spPr>
      </p:pic>
    </p:spTree>
    <p:extLst>
      <p:ext uri="{BB962C8B-B14F-4D97-AF65-F5344CB8AC3E}">
        <p14:creationId xmlns:p14="http://schemas.microsoft.com/office/powerpoint/2010/main" val="1406155618"/>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3.4.5 </a:t>
            </a:r>
            <a:r>
              <a:rPr lang="zh-CN" altLang="en-US" sz="2800" b="1" dirty="0">
                <a:solidFill>
                  <a:srgbClr val="C00000"/>
                </a:solidFill>
              </a:rPr>
              <a:t>学习率衰减在训练中的应用</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895593"/>
            <a:ext cx="10895802" cy="3785652"/>
          </a:xfrm>
          <a:prstGeom prst="rect">
            <a:avLst/>
          </a:prstGeom>
          <a:noFill/>
        </p:spPr>
        <p:txBody>
          <a:bodyPr wrap="square">
            <a:spAutoFit/>
          </a:bodyPr>
          <a:lstStyle/>
          <a:p>
            <a:r>
              <a:rPr lang="zh-CN" altLang="en-US" sz="2400" dirty="0"/>
              <a:t>学习率衰减也可以利用 </a:t>
            </a:r>
            <a:r>
              <a:rPr lang="en-US" altLang="zh-CN" sz="2400" b="1" dirty="0" err="1"/>
              <a:t>torch.optim.lr_scheduler.StepLR</a:t>
            </a:r>
            <a:r>
              <a:rPr lang="en-US" altLang="zh-CN" sz="2400" b="1" dirty="0"/>
              <a:t>()</a:t>
            </a:r>
            <a:r>
              <a:rPr lang="zh-CN" altLang="en-US" sz="2400" b="1" dirty="0"/>
              <a:t>方法</a:t>
            </a:r>
            <a:r>
              <a:rPr lang="zh-CN" altLang="en-US" sz="2400" dirty="0"/>
              <a:t>来实现，书写的代码更为简洁。</a:t>
            </a:r>
            <a:endParaRPr lang="en-US" altLang="zh-CN" sz="2400" dirty="0"/>
          </a:p>
          <a:p>
            <a:r>
              <a:rPr lang="zh-CN" altLang="en-US" sz="2400" dirty="0"/>
              <a:t>该方法主要需要设置三个参数：</a:t>
            </a:r>
          </a:p>
          <a:p>
            <a:pPr marL="342900" indent="-342900">
              <a:buFont typeface="Arial" panose="020B0604020202020204" pitchFamily="34" charset="0"/>
              <a:buChar char="•"/>
            </a:pPr>
            <a:r>
              <a:rPr lang="en-US" altLang="zh-CN" sz="2400" b="1" dirty="0"/>
              <a:t>optimizer</a:t>
            </a:r>
            <a:r>
              <a:rPr lang="zh-CN" altLang="en-US" sz="2400" dirty="0"/>
              <a:t>：设置当前使用的</a:t>
            </a:r>
            <a:r>
              <a:rPr lang="zh-CN" altLang="en-US" sz="2400" b="1" dirty="0"/>
              <a:t>优化器</a:t>
            </a:r>
            <a:r>
              <a:rPr lang="zh-CN" altLang="en-US" sz="2400" dirty="0"/>
              <a:t>对象</a:t>
            </a:r>
          </a:p>
          <a:p>
            <a:pPr marL="342900" indent="-342900">
              <a:buFont typeface="Arial" panose="020B0604020202020204" pitchFamily="34" charset="0"/>
              <a:buChar char="•"/>
            </a:pPr>
            <a:r>
              <a:rPr lang="en-US" altLang="zh-CN" sz="2400" b="1" dirty="0" err="1"/>
              <a:t>step_size</a:t>
            </a:r>
            <a:r>
              <a:rPr lang="zh-CN" altLang="en-US" sz="2400" dirty="0"/>
              <a:t>：每迭代 </a:t>
            </a:r>
            <a:r>
              <a:rPr lang="en-US" altLang="zh-CN" sz="2400" dirty="0" err="1"/>
              <a:t>step_size</a:t>
            </a:r>
            <a:r>
              <a:rPr lang="en-US" altLang="zh-CN" sz="2400" dirty="0"/>
              <a:t> </a:t>
            </a:r>
            <a:r>
              <a:rPr lang="zh-CN" altLang="en-US" sz="2400" b="1" dirty="0"/>
              <a:t>次</a:t>
            </a:r>
            <a:r>
              <a:rPr lang="zh-CN" altLang="en-US" sz="2400" dirty="0"/>
              <a:t>后更新一次学习率</a:t>
            </a:r>
          </a:p>
          <a:p>
            <a:pPr marL="342900" indent="-342900">
              <a:buFont typeface="Arial" panose="020B0604020202020204" pitchFamily="34" charset="0"/>
              <a:buChar char="•"/>
            </a:pPr>
            <a:r>
              <a:rPr lang="en-US" altLang="zh-CN" sz="2400" b="1" dirty="0"/>
              <a:t>gamma</a:t>
            </a:r>
            <a:r>
              <a:rPr lang="zh-CN" altLang="en-US" sz="2400" dirty="0"/>
              <a:t>：每次更新时，学习率</a:t>
            </a:r>
            <a:r>
              <a:rPr lang="zh-CN" altLang="en-US" sz="2400" b="1" dirty="0"/>
              <a:t>自乘</a:t>
            </a:r>
            <a:r>
              <a:rPr lang="zh-CN" altLang="en-US" sz="2400" dirty="0"/>
              <a:t>该 </a:t>
            </a:r>
            <a:r>
              <a:rPr lang="en-US" altLang="zh-CN" sz="2400" dirty="0"/>
              <a:t>gamma</a:t>
            </a:r>
            <a:r>
              <a:rPr lang="zh-CN" altLang="en-US" sz="2400" dirty="0"/>
              <a:t>（学习率衰减的乘法因子，默认值为</a:t>
            </a:r>
            <a:r>
              <a:rPr lang="en-US" altLang="zh-CN" sz="2400" dirty="0"/>
              <a:t>0.1</a:t>
            </a:r>
            <a:r>
              <a:rPr lang="zh-CN" altLang="en-US" sz="2400" dirty="0"/>
              <a:t>） </a:t>
            </a:r>
            <a:endParaRPr lang="en-US" altLang="zh-CN" sz="2400" dirty="0"/>
          </a:p>
          <a:p>
            <a:r>
              <a:rPr lang="zh-CN" altLang="en-US" sz="2400" dirty="0"/>
              <a:t>调用 </a:t>
            </a:r>
            <a:r>
              <a:rPr lang="en-US" altLang="zh-CN" sz="2400" dirty="0" err="1"/>
              <a:t>torch.optim.lr_scheduler.StepLR</a:t>
            </a:r>
            <a:r>
              <a:rPr lang="en-US" altLang="zh-CN" sz="2400" dirty="0"/>
              <a:t>()</a:t>
            </a:r>
            <a:r>
              <a:rPr lang="zh-CN" altLang="en-US" sz="2400" dirty="0"/>
              <a:t>方法时会产生一个对象，该对象提供了 </a:t>
            </a:r>
            <a:r>
              <a:rPr lang="en-US" altLang="zh-CN" sz="2400" dirty="0"/>
              <a:t>step()</a:t>
            </a:r>
            <a:r>
              <a:rPr lang="zh-CN" altLang="en-US" sz="2400" dirty="0"/>
              <a:t>方法。 每执行一次 </a:t>
            </a:r>
            <a:r>
              <a:rPr lang="en-US" altLang="zh-CN" sz="2400" dirty="0"/>
              <a:t>step()</a:t>
            </a:r>
            <a:r>
              <a:rPr lang="zh-CN" altLang="en-US" sz="2400" dirty="0"/>
              <a:t>方法就相当于做了一次迭代，也就是说，迭代次数是按照 </a:t>
            </a:r>
            <a:r>
              <a:rPr lang="en-US" altLang="zh-CN" sz="2400" dirty="0"/>
              <a:t>step()</a:t>
            </a:r>
            <a:r>
              <a:rPr lang="zh-CN" altLang="en-US" sz="2400" dirty="0"/>
              <a:t>方法的执行次数来统计的。</a:t>
            </a:r>
            <a:endParaRPr lang="zh-CN" altLang="en-US" sz="2200" dirty="0"/>
          </a:p>
        </p:txBody>
      </p:sp>
    </p:spTree>
    <p:extLst>
      <p:ext uri="{BB962C8B-B14F-4D97-AF65-F5344CB8AC3E}">
        <p14:creationId xmlns:p14="http://schemas.microsoft.com/office/powerpoint/2010/main" val="366865621"/>
      </p:ext>
    </p:extLst>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3.4.5 </a:t>
            </a:r>
            <a:r>
              <a:rPr lang="zh-CN" altLang="en-US" sz="2800" b="1" dirty="0">
                <a:solidFill>
                  <a:srgbClr val="C00000"/>
                </a:solidFill>
              </a:rPr>
              <a:t>学习率衰减在训练中的应用</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1953594"/>
            <a:ext cx="10528428" cy="3086871"/>
          </a:xfrm>
          <a:prstGeom prst="rect">
            <a:avLst/>
          </a:prstGeom>
          <a:noFill/>
        </p:spPr>
        <p:txBody>
          <a:bodyPr wrap="square">
            <a:spAutoFit/>
          </a:bodyPr>
          <a:lstStyle/>
          <a:p>
            <a:r>
              <a:rPr lang="zh-CN" altLang="en-US" sz="2400" dirty="0"/>
              <a:t>例如，为了实现跟上面有相同的</a:t>
            </a:r>
            <a:r>
              <a:rPr lang="zh-CN" altLang="en-US" sz="2400" b="1" dirty="0"/>
              <a:t>学习率衰减</a:t>
            </a:r>
            <a:r>
              <a:rPr lang="zh-CN" altLang="en-US" sz="2400" dirty="0"/>
              <a:t>效果，先用</a:t>
            </a:r>
            <a:r>
              <a:rPr lang="en-US" altLang="zh-CN" sz="2400" b="1" dirty="0" err="1"/>
              <a:t>torch.optim.lr_scheduler.StepLR</a:t>
            </a:r>
            <a:r>
              <a:rPr lang="en-US" altLang="zh-CN" sz="2400" b="1" dirty="0"/>
              <a:t>() </a:t>
            </a:r>
            <a:r>
              <a:rPr lang="zh-CN" altLang="en-US" sz="2400" b="1" dirty="0"/>
              <a:t>方法</a:t>
            </a:r>
            <a:r>
              <a:rPr lang="zh-CN" altLang="en-US" sz="2400" dirty="0"/>
              <a:t>对优化器 </a:t>
            </a:r>
            <a:r>
              <a:rPr lang="en-US" altLang="zh-CN" sz="2400" dirty="0"/>
              <a:t>optimizer </a:t>
            </a:r>
            <a:r>
              <a:rPr lang="zh-CN" altLang="en-US" sz="2400" dirty="0"/>
              <a:t>的学习率的更新方式进行设置：每迭代 </a:t>
            </a:r>
            <a:r>
              <a:rPr lang="en-US" altLang="zh-CN" sz="2400" dirty="0"/>
              <a:t>50 </a:t>
            </a:r>
            <a:r>
              <a:rPr lang="zh-CN" altLang="en-US" sz="2400" dirty="0"/>
              <a:t>次更新一个学习率，衰减 的乘法因子设置为 </a:t>
            </a:r>
            <a:r>
              <a:rPr lang="en-US" altLang="zh-CN" sz="2400" dirty="0"/>
              <a:t>0.9</a:t>
            </a:r>
            <a:r>
              <a:rPr lang="zh-CN" altLang="en-US" sz="2400" dirty="0"/>
              <a:t>。</a:t>
            </a:r>
            <a:endParaRPr lang="en-US" altLang="zh-CN" sz="2400" dirty="0"/>
          </a:p>
          <a:p>
            <a:r>
              <a:rPr lang="zh-CN" altLang="en-US" sz="2400" dirty="0"/>
              <a:t>相应语句如下：</a:t>
            </a:r>
            <a:endParaRPr lang="en-US" altLang="zh-CN" sz="2400" dirty="0"/>
          </a:p>
          <a:p>
            <a:pPr>
              <a:lnSpc>
                <a:spcPct val="150000"/>
              </a:lnSpc>
            </a:pPr>
            <a:r>
              <a:rPr lang="zh-CN" altLang="en-US" sz="2200" dirty="0"/>
              <a:t> </a:t>
            </a:r>
            <a:r>
              <a:rPr lang="en-US" altLang="zh-CN" sz="2200" dirty="0">
                <a:solidFill>
                  <a:srgbClr val="00B050"/>
                </a:solidFill>
              </a:rPr>
              <a:t>scheduler = </a:t>
            </a:r>
            <a:r>
              <a:rPr lang="en-US" altLang="zh-CN" sz="2200" dirty="0" err="1">
                <a:solidFill>
                  <a:srgbClr val="00B050"/>
                </a:solidFill>
              </a:rPr>
              <a:t>torch.optim.lr_scheduler.StepLR</a:t>
            </a:r>
            <a:r>
              <a:rPr lang="en-US" altLang="zh-CN" sz="2200" dirty="0">
                <a:solidFill>
                  <a:srgbClr val="00B050"/>
                </a:solidFill>
              </a:rPr>
              <a:t>(optimizer, </a:t>
            </a:r>
            <a:r>
              <a:rPr lang="en-US" altLang="zh-CN" sz="2200" dirty="0" err="1">
                <a:solidFill>
                  <a:srgbClr val="00B050"/>
                </a:solidFill>
              </a:rPr>
              <a:t>step_size</a:t>
            </a:r>
            <a:r>
              <a:rPr lang="en-US" altLang="zh-CN" sz="2200" dirty="0">
                <a:solidFill>
                  <a:srgbClr val="00B050"/>
                </a:solidFill>
              </a:rPr>
              <a:t>=50, gamma=0.9) </a:t>
            </a:r>
          </a:p>
          <a:p>
            <a:pPr>
              <a:lnSpc>
                <a:spcPct val="150000"/>
              </a:lnSpc>
            </a:pPr>
            <a:r>
              <a:rPr lang="zh-CN" altLang="en-US" sz="2400" dirty="0"/>
              <a:t>然后在循环体中用下列语句更新学习率： </a:t>
            </a:r>
            <a:endParaRPr lang="en-US" altLang="zh-CN" sz="2400" dirty="0"/>
          </a:p>
          <a:p>
            <a:pPr>
              <a:lnSpc>
                <a:spcPct val="150000"/>
              </a:lnSpc>
            </a:pPr>
            <a:r>
              <a:rPr lang="en-US" altLang="zh-CN" sz="2200" dirty="0" err="1">
                <a:solidFill>
                  <a:srgbClr val="00B050"/>
                </a:solidFill>
              </a:rPr>
              <a:t>scheduler.step</a:t>
            </a:r>
            <a:r>
              <a:rPr lang="en-US" altLang="zh-CN" sz="2200" dirty="0">
                <a:solidFill>
                  <a:srgbClr val="00B050"/>
                </a:solidFill>
              </a:rPr>
              <a:t>() </a:t>
            </a:r>
            <a:endParaRPr lang="zh-CN" altLang="en-US" sz="2200" dirty="0">
              <a:solidFill>
                <a:srgbClr val="00B050"/>
              </a:solidFill>
            </a:endParaRPr>
          </a:p>
        </p:txBody>
      </p:sp>
      <p:sp>
        <p:nvSpPr>
          <p:cNvPr id="4" name="文本框 3">
            <a:extLst>
              <a:ext uri="{FF2B5EF4-FFF2-40B4-BE49-F238E27FC236}">
                <a16:creationId xmlns:a16="http://schemas.microsoft.com/office/drawing/2014/main" id="{E6CE3C20-3480-9C61-0AE0-779DFB5E7E24}"/>
              </a:ext>
            </a:extLst>
          </p:cNvPr>
          <p:cNvSpPr txBox="1"/>
          <p:nvPr/>
        </p:nvSpPr>
        <p:spPr>
          <a:xfrm>
            <a:off x="409202" y="5077481"/>
            <a:ext cx="10159151" cy="830997"/>
          </a:xfrm>
          <a:prstGeom prst="rect">
            <a:avLst/>
          </a:prstGeom>
          <a:noFill/>
        </p:spPr>
        <p:txBody>
          <a:bodyPr wrap="square">
            <a:spAutoFit/>
          </a:bodyPr>
          <a:lstStyle/>
          <a:p>
            <a:r>
              <a:rPr lang="zh-CN" altLang="en-US" sz="2400" dirty="0"/>
              <a:t>当然，在学习率衰减方法中，不同例子对学习率初始值和衰减乘法因子的设置也有所不 同，需要经验积累，慢慢体会。</a:t>
            </a:r>
          </a:p>
        </p:txBody>
      </p:sp>
    </p:spTree>
    <p:extLst>
      <p:ext uri="{BB962C8B-B14F-4D97-AF65-F5344CB8AC3E}">
        <p14:creationId xmlns:p14="http://schemas.microsoft.com/office/powerpoint/2010/main" val="1445672555"/>
      </p:ext>
    </p:extLst>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3.4.6 </a:t>
            </a:r>
            <a:r>
              <a:rPr lang="zh-CN" altLang="en-US" sz="2800" b="1" dirty="0">
                <a:solidFill>
                  <a:srgbClr val="C00000"/>
                </a:solidFill>
              </a:rPr>
              <a:t>模型的测试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895593"/>
            <a:ext cx="10895802" cy="3939540"/>
          </a:xfrm>
          <a:prstGeom prst="rect">
            <a:avLst/>
          </a:prstGeom>
          <a:noFill/>
        </p:spPr>
        <p:txBody>
          <a:bodyPr wrap="square">
            <a:spAutoFit/>
          </a:bodyPr>
          <a:lstStyle/>
          <a:p>
            <a:r>
              <a:rPr lang="zh-CN" altLang="en-US" sz="2400" dirty="0"/>
              <a:t>对于一个已经训练好的模型，为测试其性能，学者们研究了多种评价指标，比如</a:t>
            </a:r>
            <a:r>
              <a:rPr lang="zh-CN" altLang="en-US" sz="2400" b="1" dirty="0"/>
              <a:t>精确率</a:t>
            </a:r>
            <a:r>
              <a:rPr lang="zh-CN" altLang="en-US" sz="2400" dirty="0"/>
              <a:t>（</a:t>
            </a:r>
            <a:r>
              <a:rPr lang="en-US" altLang="zh-CN" sz="2400" dirty="0"/>
              <a:t>precision, </a:t>
            </a:r>
            <a:r>
              <a:rPr lang="zh-CN" altLang="en-US" sz="2400" dirty="0"/>
              <a:t>又称查准率）、</a:t>
            </a:r>
            <a:r>
              <a:rPr lang="zh-CN" altLang="en-US" sz="2400" b="1" dirty="0"/>
              <a:t>召回率</a:t>
            </a:r>
            <a:r>
              <a:rPr lang="zh-CN" altLang="en-US" sz="2400" dirty="0"/>
              <a:t>（</a:t>
            </a:r>
            <a:r>
              <a:rPr lang="en-US" altLang="zh-CN" sz="2400" dirty="0"/>
              <a:t>recall, </a:t>
            </a:r>
            <a:r>
              <a:rPr lang="zh-CN" altLang="en-US" sz="2400" dirty="0"/>
              <a:t>又称查全率）、</a:t>
            </a:r>
            <a:r>
              <a:rPr lang="zh-CN" altLang="en-US" sz="2400" b="1" dirty="0"/>
              <a:t>准确率</a:t>
            </a:r>
            <a:r>
              <a:rPr lang="zh-CN" altLang="en-US" sz="2400" dirty="0"/>
              <a:t>（</a:t>
            </a:r>
            <a:r>
              <a:rPr lang="en-US" altLang="zh-CN" sz="2400" dirty="0"/>
              <a:t>accuracy</a:t>
            </a:r>
            <a:r>
              <a:rPr lang="zh-CN" altLang="en-US" sz="2400" dirty="0"/>
              <a:t>）等。其中，准确率使用得最频繁，这里先介绍这个指标的测试方法。</a:t>
            </a:r>
            <a:endParaRPr lang="en-US" altLang="zh-CN" sz="2400" dirty="0"/>
          </a:p>
          <a:p>
            <a:endParaRPr lang="en-US" altLang="zh-CN" sz="2400" dirty="0"/>
          </a:p>
          <a:p>
            <a:r>
              <a:rPr lang="en-US" altLang="zh-CN" sz="2200" b="1" dirty="0">
                <a:solidFill>
                  <a:srgbClr val="0033CC"/>
                </a:solidFill>
              </a:rPr>
              <a:t>【</a:t>
            </a:r>
            <a:r>
              <a:rPr lang="zh-CN" altLang="en-US" sz="2200" b="1" dirty="0">
                <a:solidFill>
                  <a:srgbClr val="0033CC"/>
                </a:solidFill>
              </a:rPr>
              <a:t>例 </a:t>
            </a:r>
            <a:r>
              <a:rPr lang="en-US" altLang="zh-CN" sz="2200" b="1" dirty="0">
                <a:solidFill>
                  <a:srgbClr val="0033CC"/>
                </a:solidFill>
              </a:rPr>
              <a:t>3.3】</a:t>
            </a:r>
            <a:r>
              <a:rPr lang="zh-CN" altLang="en-US" sz="2200" dirty="0"/>
              <a:t>改写例 </a:t>
            </a:r>
            <a:r>
              <a:rPr lang="en-US" altLang="zh-CN" sz="2200" dirty="0"/>
              <a:t>3.1 </a:t>
            </a:r>
            <a:r>
              <a:rPr lang="zh-CN" altLang="en-US" sz="2200" dirty="0"/>
              <a:t>中的程序代码，将数据集分割为训练集和测试集，采用批量梯度</a:t>
            </a:r>
          </a:p>
          <a:p>
            <a:r>
              <a:rPr lang="zh-CN" altLang="en-US" sz="2200" dirty="0"/>
              <a:t>下降方法，用训练集训练网络，用测试集测试模型的准确率。</a:t>
            </a:r>
            <a:endParaRPr lang="en-US" altLang="zh-CN" sz="2200" dirty="0"/>
          </a:p>
          <a:p>
            <a:r>
              <a:rPr lang="zh-CN" altLang="en-US" sz="2200" dirty="0"/>
              <a:t>         按照前面介绍的有关数据集分割方法、数据打包方法等内容改写了例</a:t>
            </a:r>
            <a:r>
              <a:rPr lang="en-US" altLang="zh-CN" sz="2200" dirty="0"/>
              <a:t>3.1</a:t>
            </a:r>
            <a:r>
              <a:rPr lang="zh-CN" altLang="en-US" sz="2200" dirty="0"/>
              <a:t>中的程序代码，</a:t>
            </a:r>
            <a:r>
              <a:rPr lang="zh-CN" altLang="en-US" sz="2200" b="1" dirty="0"/>
              <a:t>具体</a:t>
            </a:r>
            <a:r>
              <a:rPr lang="zh-CN" altLang="en-US" sz="2200" dirty="0"/>
              <a:t>代码见教材</a:t>
            </a:r>
            <a:r>
              <a:rPr lang="en-US" altLang="zh-CN" sz="2200" dirty="0" err="1"/>
              <a:t>P74</a:t>
            </a:r>
            <a:r>
              <a:rPr lang="en-US" altLang="zh-CN" sz="2200" dirty="0"/>
              <a:t>. </a:t>
            </a:r>
          </a:p>
          <a:p>
            <a:endParaRPr lang="en-US" altLang="zh-CN" sz="2200" dirty="0"/>
          </a:p>
          <a:p>
            <a:r>
              <a:rPr lang="en-US" altLang="zh-CN" sz="2200" dirty="0">
                <a:solidFill>
                  <a:srgbClr val="00B050"/>
                </a:solidFill>
              </a:rPr>
              <a:t>…</a:t>
            </a:r>
            <a:r>
              <a:rPr lang="zh-CN" altLang="en-US" sz="2200" dirty="0">
                <a:solidFill>
                  <a:srgbClr val="00B050"/>
                </a:solidFill>
              </a:rPr>
              <a:t> </a:t>
            </a:r>
            <a:r>
              <a:rPr lang="en-US" altLang="zh-CN" sz="2200" dirty="0">
                <a:solidFill>
                  <a:srgbClr val="00B050"/>
                </a:solidFill>
              </a:rPr>
              <a:t>…</a:t>
            </a:r>
            <a:r>
              <a:rPr lang="zh-CN" altLang="en-US" sz="2200" dirty="0">
                <a:solidFill>
                  <a:srgbClr val="00B050"/>
                </a:solidFill>
              </a:rPr>
              <a:t> </a:t>
            </a:r>
            <a:endParaRPr lang="en-US" altLang="zh-CN" sz="2200" dirty="0">
              <a:solidFill>
                <a:srgbClr val="00B050"/>
              </a:solidFill>
            </a:endParaRPr>
          </a:p>
          <a:p>
            <a:r>
              <a:rPr lang="en-US" altLang="zh-CN" sz="2200" dirty="0">
                <a:solidFill>
                  <a:srgbClr val="00B050"/>
                </a:solidFill>
              </a:rPr>
              <a:t>print(s)</a:t>
            </a:r>
            <a:endParaRPr lang="zh-CN" altLang="en-US" sz="2200" dirty="0">
              <a:solidFill>
                <a:srgbClr val="00B050"/>
              </a:solidFill>
            </a:endParaRPr>
          </a:p>
        </p:txBody>
      </p:sp>
      <p:pic>
        <p:nvPicPr>
          <p:cNvPr id="3" name="图片 2">
            <a:extLst>
              <a:ext uri="{FF2B5EF4-FFF2-40B4-BE49-F238E27FC236}">
                <a16:creationId xmlns:a16="http://schemas.microsoft.com/office/drawing/2014/main" id="{275700A5-CEAA-BB03-14C7-208B8D0A0898}"/>
              </a:ext>
            </a:extLst>
          </p:cNvPr>
          <p:cNvPicPr>
            <a:picLocks noChangeAspect="1"/>
          </p:cNvPicPr>
          <p:nvPr/>
        </p:nvPicPr>
        <p:blipFill>
          <a:blip r:embed="rId3"/>
          <a:stretch>
            <a:fillRect/>
          </a:stretch>
        </p:blipFill>
        <p:spPr>
          <a:xfrm>
            <a:off x="4488773" y="5316149"/>
            <a:ext cx="5075360" cy="449619"/>
          </a:xfrm>
          <a:prstGeom prst="rect">
            <a:avLst/>
          </a:prstGeom>
        </p:spPr>
      </p:pic>
      <p:sp>
        <p:nvSpPr>
          <p:cNvPr id="2" name="箭头: 右 1">
            <a:extLst>
              <a:ext uri="{FF2B5EF4-FFF2-40B4-BE49-F238E27FC236}">
                <a16:creationId xmlns:a16="http://schemas.microsoft.com/office/drawing/2014/main" id="{691AD9BB-CCAC-ADF4-63E4-37F7F850EDBE}"/>
              </a:ext>
            </a:extLst>
          </p:cNvPr>
          <p:cNvSpPr/>
          <p:nvPr/>
        </p:nvSpPr>
        <p:spPr>
          <a:xfrm>
            <a:off x="2460248" y="5316150"/>
            <a:ext cx="1327639" cy="449619"/>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843689"/>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3.4.6 </a:t>
            </a:r>
            <a:r>
              <a:rPr lang="zh-CN" altLang="en-US" sz="2800" b="1" dirty="0">
                <a:solidFill>
                  <a:srgbClr val="C00000"/>
                </a:solidFill>
              </a:rPr>
              <a:t>模型的测试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1732240"/>
            <a:ext cx="11086571" cy="5001369"/>
          </a:xfrm>
          <a:prstGeom prst="rect">
            <a:avLst/>
          </a:prstGeom>
          <a:noFill/>
        </p:spPr>
        <p:txBody>
          <a:bodyPr wrap="square">
            <a:spAutoFit/>
          </a:bodyPr>
          <a:lstStyle/>
          <a:p>
            <a:pPr>
              <a:lnSpc>
                <a:spcPct val="150000"/>
              </a:lnSpc>
            </a:pPr>
            <a:r>
              <a:rPr lang="zh-CN" altLang="en-US" sz="2200" dirty="0"/>
              <a:t>对上述程序代码，</a:t>
            </a:r>
            <a:r>
              <a:rPr lang="zh-CN" altLang="en-US" sz="2200" b="1" dirty="0"/>
              <a:t>说明</a:t>
            </a:r>
            <a:r>
              <a:rPr lang="zh-CN" altLang="en-US" sz="2200" dirty="0"/>
              <a:t>几点：</a:t>
            </a:r>
          </a:p>
          <a:p>
            <a:pPr>
              <a:lnSpc>
                <a:spcPct val="150000"/>
              </a:lnSpc>
            </a:pPr>
            <a:r>
              <a:rPr lang="zh-CN" altLang="en-US" sz="2200" dirty="0"/>
              <a:t>（</a:t>
            </a:r>
            <a:r>
              <a:rPr lang="en-US" altLang="zh-CN" sz="2200" dirty="0"/>
              <a:t>1</a:t>
            </a:r>
            <a:r>
              <a:rPr lang="zh-CN" altLang="en-US" sz="2200" dirty="0"/>
              <a:t>）对从磁盘文件中读到的数据集进行</a:t>
            </a:r>
            <a:r>
              <a:rPr lang="zh-CN" altLang="en-US" sz="2200" b="1" dirty="0"/>
              <a:t>分割</a:t>
            </a:r>
            <a:r>
              <a:rPr lang="zh-CN" altLang="en-US" sz="2200" dirty="0"/>
              <a:t>，其中训练集占 </a:t>
            </a:r>
            <a:r>
              <a:rPr lang="en-US" altLang="zh-CN" sz="2200" dirty="0"/>
              <a:t>70%</a:t>
            </a:r>
            <a:r>
              <a:rPr lang="zh-CN" altLang="en-US" sz="2200" dirty="0"/>
              <a:t>，测试集占 </a:t>
            </a:r>
            <a:r>
              <a:rPr lang="en-US" altLang="zh-CN" sz="2200" dirty="0"/>
              <a:t>30%</a:t>
            </a:r>
            <a:r>
              <a:rPr lang="zh-CN" altLang="en-US" sz="2200" dirty="0"/>
              <a:t>。</a:t>
            </a:r>
          </a:p>
          <a:p>
            <a:pPr>
              <a:lnSpc>
                <a:spcPct val="150000"/>
              </a:lnSpc>
            </a:pPr>
            <a:r>
              <a:rPr lang="zh-CN" altLang="en-US" sz="2200" dirty="0"/>
              <a:t>（</a:t>
            </a:r>
            <a:r>
              <a:rPr lang="en-US" altLang="zh-CN" sz="2200" dirty="0"/>
              <a:t>2</a:t>
            </a:r>
            <a:r>
              <a:rPr lang="zh-CN" altLang="en-US" sz="2200" dirty="0"/>
              <a:t>）使用函数 </a:t>
            </a:r>
            <a:r>
              <a:rPr lang="en-US" altLang="zh-CN" sz="2200" dirty="0" err="1"/>
              <a:t>TensorDataset</a:t>
            </a:r>
            <a:r>
              <a:rPr lang="en-US" altLang="zh-CN" sz="2200" dirty="0"/>
              <a:t>()</a:t>
            </a:r>
            <a:r>
              <a:rPr lang="zh-CN" altLang="en-US" sz="2200" dirty="0"/>
              <a:t>和 </a:t>
            </a:r>
            <a:r>
              <a:rPr lang="en-US" altLang="zh-CN" sz="2200" dirty="0" err="1"/>
              <a:t>DataLoader</a:t>
            </a:r>
            <a:r>
              <a:rPr lang="en-US" altLang="zh-CN" sz="2200" dirty="0"/>
              <a:t>()</a:t>
            </a:r>
            <a:r>
              <a:rPr lang="zh-CN" altLang="en-US" sz="2200" dirty="0"/>
              <a:t>对训练集和测试集进行了</a:t>
            </a:r>
            <a:r>
              <a:rPr lang="zh-CN" altLang="en-US" sz="2200" b="1" dirty="0"/>
              <a:t>打包</a:t>
            </a:r>
            <a:r>
              <a:rPr lang="zh-CN" altLang="en-US" sz="2200" dirty="0"/>
              <a:t>，包的大小</a:t>
            </a:r>
          </a:p>
          <a:p>
            <a:pPr>
              <a:lnSpc>
                <a:spcPct val="150000"/>
              </a:lnSpc>
            </a:pPr>
            <a:r>
              <a:rPr lang="zh-CN" altLang="en-US" sz="2200" dirty="0"/>
              <a:t>设置为 </a:t>
            </a:r>
            <a:r>
              <a:rPr lang="en-US" altLang="zh-CN" sz="2200" dirty="0"/>
              <a:t>100</a:t>
            </a:r>
            <a:r>
              <a:rPr lang="zh-CN" altLang="en-US" sz="2200" dirty="0"/>
              <a:t>，使得程序代码变得比较简洁。但有研究表明，包的大小设置为 </a:t>
            </a:r>
            <a:r>
              <a:rPr lang="en-US" altLang="zh-CN" sz="2200" b="1" dirty="0"/>
              <a:t>2 </a:t>
            </a:r>
            <a:r>
              <a:rPr lang="zh-CN" altLang="en-US" sz="2200" b="1" dirty="0"/>
              <a:t>的幂次方</a:t>
            </a:r>
            <a:r>
              <a:rPr lang="zh-CN" altLang="en-US" sz="2200" dirty="0"/>
              <a:t>为好，如 </a:t>
            </a:r>
            <a:r>
              <a:rPr lang="en-US" altLang="zh-CN" sz="2200" dirty="0"/>
              <a:t>32</a:t>
            </a:r>
            <a:r>
              <a:rPr lang="zh-CN" altLang="en-US" sz="2200" dirty="0"/>
              <a:t>、</a:t>
            </a:r>
            <a:r>
              <a:rPr lang="en-US" altLang="zh-CN" sz="2200" dirty="0"/>
              <a:t>64</a:t>
            </a:r>
            <a:r>
              <a:rPr lang="zh-CN" altLang="en-US" sz="2200" dirty="0"/>
              <a:t>、</a:t>
            </a:r>
            <a:r>
              <a:rPr lang="en-US" altLang="zh-CN" sz="2200" dirty="0"/>
              <a:t>128 </a:t>
            </a:r>
            <a:r>
              <a:rPr lang="zh-CN" altLang="en-US" sz="2200" dirty="0"/>
              <a:t>等整数，这样运算效率会更高。类似地，每一网络层中神经元的个数也应该设置为 </a:t>
            </a:r>
            <a:r>
              <a:rPr lang="en-US" altLang="zh-CN" sz="2200" dirty="0"/>
              <a:t>2 </a:t>
            </a:r>
            <a:r>
              <a:rPr lang="zh-CN" altLang="en-US" sz="2200" dirty="0"/>
              <a:t>的幂次方。</a:t>
            </a:r>
          </a:p>
          <a:p>
            <a:pPr>
              <a:lnSpc>
                <a:spcPct val="150000"/>
              </a:lnSpc>
            </a:pPr>
            <a:r>
              <a:rPr lang="zh-CN" altLang="en-US" sz="2200" dirty="0"/>
              <a:t>（</a:t>
            </a:r>
            <a:r>
              <a:rPr lang="en-US" altLang="zh-CN" sz="2200" dirty="0"/>
              <a:t>3</a:t>
            </a:r>
            <a:r>
              <a:rPr lang="zh-CN" altLang="en-US" sz="2200" dirty="0"/>
              <a:t>）在测试阶段，用 </a:t>
            </a:r>
            <a:r>
              <a:rPr lang="en-US" altLang="zh-CN" sz="2200" b="1" dirty="0" err="1"/>
              <a:t>torch.no_grad</a:t>
            </a:r>
            <a:r>
              <a:rPr lang="en-US" altLang="zh-CN" sz="2200" b="1" dirty="0"/>
              <a:t> </a:t>
            </a:r>
            <a:r>
              <a:rPr lang="zh-CN" altLang="en-US" sz="2200" dirty="0"/>
              <a:t>设置一个上下文管理器，在此管理器中执行测试代</a:t>
            </a:r>
          </a:p>
          <a:p>
            <a:pPr>
              <a:lnSpc>
                <a:spcPct val="150000"/>
              </a:lnSpc>
            </a:pPr>
            <a:r>
              <a:rPr lang="zh-CN" altLang="en-US" sz="2200" dirty="0"/>
              <a:t>码。其目的是，使梯度计算失效（每个计算结果的 </a:t>
            </a:r>
            <a:r>
              <a:rPr lang="en-US" altLang="zh-CN" sz="2200" dirty="0" err="1"/>
              <a:t>requires_grad</a:t>
            </a:r>
            <a:r>
              <a:rPr lang="en-US" altLang="zh-CN" sz="2200" dirty="0"/>
              <a:t> </a:t>
            </a:r>
            <a:r>
              <a:rPr lang="zh-CN" altLang="en-US" sz="2200" dirty="0"/>
              <a:t>属性值均为 </a:t>
            </a:r>
            <a:r>
              <a:rPr lang="en-US" altLang="zh-CN" sz="2200" dirty="0"/>
              <a:t>False</a:t>
            </a:r>
            <a:r>
              <a:rPr lang="zh-CN" altLang="en-US" sz="2200" dirty="0"/>
              <a:t>），即不再做梯度计算，可以减少计算所用内存消耗，</a:t>
            </a:r>
            <a:r>
              <a:rPr lang="zh-CN" altLang="en-US" sz="2200" b="1" dirty="0"/>
              <a:t>提高效率</a:t>
            </a:r>
            <a:r>
              <a:rPr lang="zh-CN" altLang="en-US" sz="2200" dirty="0"/>
              <a:t>。</a:t>
            </a:r>
            <a:endParaRPr lang="en-US" altLang="zh-CN" sz="2200" dirty="0"/>
          </a:p>
          <a:p>
            <a:endParaRPr lang="zh-CN" altLang="en-US" sz="2200" dirty="0"/>
          </a:p>
        </p:txBody>
      </p:sp>
    </p:spTree>
    <p:extLst>
      <p:ext uri="{BB962C8B-B14F-4D97-AF65-F5344CB8AC3E}">
        <p14:creationId xmlns:p14="http://schemas.microsoft.com/office/powerpoint/2010/main" val="2960311169"/>
      </p:ext>
    </p:extLst>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3.4.6 </a:t>
            </a:r>
            <a:r>
              <a:rPr lang="zh-CN" altLang="en-US" sz="2800" b="1" dirty="0">
                <a:solidFill>
                  <a:srgbClr val="C00000"/>
                </a:solidFill>
              </a:rPr>
              <a:t>模型的测试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5" y="1718973"/>
            <a:ext cx="11292561" cy="4693593"/>
          </a:xfrm>
          <a:prstGeom prst="rect">
            <a:avLst/>
          </a:prstGeom>
          <a:noFill/>
        </p:spPr>
        <p:txBody>
          <a:bodyPr wrap="square">
            <a:spAutoFit/>
          </a:bodyPr>
          <a:lstStyle/>
          <a:p>
            <a:r>
              <a:rPr lang="zh-CN" altLang="en-US" sz="2400" dirty="0"/>
              <a:t>（</a:t>
            </a:r>
            <a:r>
              <a:rPr lang="en-US" altLang="zh-CN" sz="2200" dirty="0"/>
              <a:t>4</a:t>
            </a:r>
            <a:r>
              <a:rPr lang="zh-CN" altLang="en-US" sz="2200" dirty="0"/>
              <a:t>）对于训练好的模型 </a:t>
            </a:r>
            <a:r>
              <a:rPr lang="en-US" altLang="zh-CN" sz="2200" b="1" dirty="0"/>
              <a:t>model3_1</a:t>
            </a:r>
            <a:r>
              <a:rPr lang="zh-CN" altLang="en-US" sz="2200" dirty="0"/>
              <a:t>，当输入一个形状为 </a:t>
            </a:r>
            <a:r>
              <a:rPr lang="en-US" altLang="zh-CN" sz="2200" dirty="0" err="1"/>
              <a:t>torch.Size</a:t>
            </a:r>
            <a:r>
              <a:rPr lang="en-US" altLang="zh-CN" sz="2200" dirty="0"/>
              <a:t>([100, 3])</a:t>
            </a:r>
            <a:r>
              <a:rPr lang="zh-CN" altLang="en-US" sz="2200" dirty="0"/>
              <a:t>的数据批量 </a:t>
            </a:r>
            <a:r>
              <a:rPr lang="en-US" altLang="zh-CN" sz="2200" dirty="0"/>
              <a:t>x </a:t>
            </a:r>
            <a:r>
              <a:rPr lang="zh-CN" altLang="en-US" sz="2200" dirty="0"/>
              <a:t>后，会产生一个形状为 </a:t>
            </a:r>
            <a:r>
              <a:rPr lang="en-US" altLang="zh-CN" sz="2200" dirty="0" err="1"/>
              <a:t>torch.Size</a:t>
            </a:r>
            <a:r>
              <a:rPr lang="en-US" altLang="zh-CN" sz="2200" dirty="0"/>
              <a:t>([100, 2])</a:t>
            </a:r>
            <a:r>
              <a:rPr lang="zh-CN" altLang="en-US" sz="2200" dirty="0"/>
              <a:t>的输出 </a:t>
            </a:r>
            <a:r>
              <a:rPr lang="en-US" altLang="zh-CN" sz="2200" dirty="0" err="1"/>
              <a:t>pre_y</a:t>
            </a:r>
            <a:r>
              <a:rPr lang="zh-CN" altLang="en-US" sz="2200" dirty="0"/>
              <a:t>，这是一个 </a:t>
            </a:r>
            <a:r>
              <a:rPr lang="en-US" altLang="zh-CN" sz="2200" dirty="0"/>
              <a:t>100*2 </a:t>
            </a:r>
            <a:r>
              <a:rPr lang="zh-CN" altLang="en-US" sz="2200" dirty="0"/>
              <a:t>矩阵。按照我们对网络的设计，矩阵中的每一行对应一条样本，该行上最大值所在列的索引即为模型判断该样 本所属类别的索引。这样，我们找出每一行上最大值所在列的索引即可，代码如下： </a:t>
            </a:r>
            <a:endParaRPr lang="en-US" altLang="zh-CN" sz="2200" dirty="0"/>
          </a:p>
          <a:p>
            <a:pPr>
              <a:lnSpc>
                <a:spcPct val="150000"/>
              </a:lnSpc>
            </a:pPr>
            <a:r>
              <a:rPr lang="en-US" altLang="zh-CN" sz="2200" dirty="0" err="1">
                <a:solidFill>
                  <a:srgbClr val="00B050"/>
                </a:solidFill>
              </a:rPr>
              <a:t>pre_y_index</a:t>
            </a:r>
            <a:r>
              <a:rPr lang="en-US" altLang="zh-CN" sz="2200" dirty="0">
                <a:solidFill>
                  <a:srgbClr val="00B050"/>
                </a:solidFill>
              </a:rPr>
              <a:t> = </a:t>
            </a:r>
            <a:r>
              <a:rPr lang="en-US" altLang="zh-CN" sz="2200" dirty="0" err="1">
                <a:solidFill>
                  <a:srgbClr val="00B050"/>
                </a:solidFill>
              </a:rPr>
              <a:t>torch.argmax</a:t>
            </a:r>
            <a:r>
              <a:rPr lang="en-US" altLang="zh-CN" sz="2200" dirty="0">
                <a:solidFill>
                  <a:srgbClr val="00B050"/>
                </a:solidFill>
              </a:rPr>
              <a:t>(</a:t>
            </a:r>
            <a:r>
              <a:rPr lang="en-US" altLang="zh-CN" sz="2200" dirty="0" err="1">
                <a:solidFill>
                  <a:srgbClr val="00B050"/>
                </a:solidFill>
              </a:rPr>
              <a:t>pre_y</a:t>
            </a:r>
            <a:r>
              <a:rPr lang="en-US" altLang="zh-CN" sz="2200" dirty="0">
                <a:solidFill>
                  <a:srgbClr val="00B050"/>
                </a:solidFill>
              </a:rPr>
              <a:t>, dim=1) </a:t>
            </a:r>
          </a:p>
          <a:p>
            <a:pPr>
              <a:lnSpc>
                <a:spcPct val="150000"/>
              </a:lnSpc>
            </a:pPr>
            <a:endParaRPr lang="en-US" altLang="zh-CN" sz="1100" dirty="0">
              <a:solidFill>
                <a:srgbClr val="00B050"/>
              </a:solidFill>
            </a:endParaRPr>
          </a:p>
          <a:p>
            <a:r>
              <a:rPr lang="zh-CN" altLang="en-US" sz="2200" dirty="0"/>
              <a:t>这样的列索引保存张量 </a:t>
            </a:r>
            <a:r>
              <a:rPr lang="en-US" altLang="zh-CN" sz="2200" dirty="0" err="1"/>
              <a:t>pre_y_index</a:t>
            </a:r>
            <a:r>
              <a:rPr lang="en-US" altLang="zh-CN" sz="2200" dirty="0"/>
              <a:t> </a:t>
            </a:r>
            <a:r>
              <a:rPr lang="zh-CN" altLang="en-US" sz="2200" dirty="0"/>
              <a:t>中。进而，让其与给定类别索引进行对比： </a:t>
            </a:r>
            <a:r>
              <a:rPr lang="en-US" altLang="zh-CN" sz="2200" dirty="0" err="1"/>
              <a:t>pre_y_index</a:t>
            </a:r>
            <a:r>
              <a:rPr lang="en-US" altLang="zh-CN" sz="2200" dirty="0"/>
              <a:t>==y </a:t>
            </a:r>
            <a:r>
              <a:rPr lang="zh-CN" altLang="en-US" sz="2200" dirty="0"/>
              <a:t>对比后，返回逻辑 </a:t>
            </a:r>
            <a:r>
              <a:rPr lang="en-US" altLang="zh-CN" sz="2200" dirty="0"/>
              <a:t>True </a:t>
            </a:r>
            <a:r>
              <a:rPr lang="zh-CN" altLang="en-US" sz="2200" dirty="0"/>
              <a:t>或 </a:t>
            </a:r>
            <a:r>
              <a:rPr lang="en-US" altLang="zh-CN" sz="2200" dirty="0"/>
              <a:t>False</a:t>
            </a:r>
            <a:r>
              <a:rPr lang="zh-CN" altLang="en-US" sz="2200" dirty="0"/>
              <a:t>。对这些逻辑值进行整数转换后，</a:t>
            </a:r>
            <a:r>
              <a:rPr lang="en-US" altLang="zh-CN" sz="2200" dirty="0"/>
              <a:t>True </a:t>
            </a:r>
            <a:r>
              <a:rPr lang="zh-CN" altLang="en-US" sz="2200" dirty="0"/>
              <a:t>和 </a:t>
            </a:r>
            <a:r>
              <a:rPr lang="en-US" altLang="zh-CN" sz="2200" dirty="0"/>
              <a:t>False </a:t>
            </a:r>
            <a:r>
              <a:rPr lang="zh-CN" altLang="en-US" sz="2200" dirty="0"/>
              <a:t>分别变 为 </a:t>
            </a:r>
            <a:r>
              <a:rPr lang="en-US" altLang="zh-CN" sz="2200" dirty="0"/>
              <a:t>1 </a:t>
            </a:r>
            <a:r>
              <a:rPr lang="zh-CN" altLang="en-US" sz="2200" dirty="0"/>
              <a:t>和 </a:t>
            </a:r>
            <a:r>
              <a:rPr lang="en-US" altLang="zh-CN" sz="2200" dirty="0"/>
              <a:t>0</a:t>
            </a:r>
            <a:r>
              <a:rPr lang="zh-CN" altLang="en-US" sz="2200" dirty="0"/>
              <a:t>。这样，再做一个求和即可得到被正确预测的样本数：</a:t>
            </a:r>
            <a:endParaRPr lang="en-US" altLang="zh-CN" sz="2200" dirty="0"/>
          </a:p>
          <a:p>
            <a:pPr>
              <a:lnSpc>
                <a:spcPct val="150000"/>
              </a:lnSpc>
            </a:pPr>
            <a:r>
              <a:rPr lang="zh-CN" altLang="en-US" sz="2200" dirty="0">
                <a:solidFill>
                  <a:srgbClr val="00B050"/>
                </a:solidFill>
              </a:rPr>
              <a:t> </a:t>
            </a:r>
            <a:r>
              <a:rPr lang="en-US" altLang="zh-CN" sz="2200" dirty="0">
                <a:solidFill>
                  <a:srgbClr val="00B050"/>
                </a:solidFill>
              </a:rPr>
              <a:t>t = (</a:t>
            </a:r>
            <a:r>
              <a:rPr lang="en-US" altLang="zh-CN" sz="2200" dirty="0" err="1">
                <a:solidFill>
                  <a:srgbClr val="00B050"/>
                </a:solidFill>
              </a:rPr>
              <a:t>pre_y_index</a:t>
            </a:r>
            <a:r>
              <a:rPr lang="en-US" altLang="zh-CN" sz="2200" dirty="0">
                <a:solidFill>
                  <a:srgbClr val="00B050"/>
                </a:solidFill>
              </a:rPr>
              <a:t>==y).long().sum() </a:t>
            </a:r>
          </a:p>
          <a:p>
            <a:pPr>
              <a:lnSpc>
                <a:spcPct val="150000"/>
              </a:lnSpc>
            </a:pPr>
            <a:endParaRPr lang="en-US" altLang="zh-CN" sz="1100" dirty="0">
              <a:solidFill>
                <a:srgbClr val="00B050"/>
              </a:solidFill>
            </a:endParaRPr>
          </a:p>
          <a:p>
            <a:r>
              <a:rPr lang="zh-CN" altLang="en-US" sz="2200" dirty="0"/>
              <a:t>据此，经过</a:t>
            </a:r>
            <a:r>
              <a:rPr lang="zh-CN" altLang="en-US" sz="2200" b="1" dirty="0"/>
              <a:t>循环迭代</a:t>
            </a:r>
            <a:r>
              <a:rPr lang="zh-CN" altLang="en-US" sz="2200" dirty="0"/>
              <a:t>，即可计算出模型的预测准确率。 在本例中，测试集大小为 </a:t>
            </a:r>
            <a:r>
              <a:rPr lang="en-US" altLang="zh-CN" sz="2200" b="1" dirty="0"/>
              <a:t>612</a:t>
            </a:r>
            <a:r>
              <a:rPr lang="zh-CN" altLang="en-US" sz="2200" dirty="0"/>
              <a:t>，测试得到的模型准确率为 </a:t>
            </a:r>
            <a:r>
              <a:rPr lang="en-US" altLang="zh-CN" sz="2200" dirty="0"/>
              <a:t>100%</a:t>
            </a:r>
            <a:r>
              <a:rPr lang="zh-CN" altLang="en-US" sz="2200" dirty="0"/>
              <a:t>。</a:t>
            </a:r>
          </a:p>
        </p:txBody>
      </p:sp>
    </p:spTree>
    <p:extLst>
      <p:ext uri="{BB962C8B-B14F-4D97-AF65-F5344CB8AC3E}">
        <p14:creationId xmlns:p14="http://schemas.microsoft.com/office/powerpoint/2010/main" val="2740416360"/>
      </p:ext>
    </p:extLst>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3.4.7 </a:t>
            </a:r>
            <a:r>
              <a:rPr lang="zh-CN" altLang="en-US" sz="2800" b="1" dirty="0">
                <a:solidFill>
                  <a:srgbClr val="C00000"/>
                </a:solidFill>
              </a:rPr>
              <a:t>应用案例</a:t>
            </a:r>
            <a:r>
              <a:rPr lang="en-US" altLang="zh-CN" sz="2800" b="1" dirty="0">
                <a:solidFill>
                  <a:srgbClr val="C00000"/>
                </a:solidFill>
              </a:rPr>
              <a:t>——</a:t>
            </a:r>
            <a:r>
              <a:rPr lang="zh-CN" altLang="en-US" sz="2800" b="1" dirty="0">
                <a:solidFill>
                  <a:srgbClr val="C00000"/>
                </a:solidFill>
              </a:rPr>
              <a:t>波士顿房价预测</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780520"/>
            <a:ext cx="6019621" cy="3816429"/>
          </a:xfrm>
          <a:prstGeom prst="rect">
            <a:avLst/>
          </a:prstGeom>
          <a:noFill/>
        </p:spPr>
        <p:txBody>
          <a:bodyPr wrap="square">
            <a:spAutoFit/>
          </a:bodyPr>
          <a:lstStyle/>
          <a:p>
            <a:r>
              <a:rPr lang="en-US" altLang="zh-CN" sz="2200" b="1" dirty="0"/>
              <a:t>【</a:t>
            </a:r>
            <a:r>
              <a:rPr lang="zh-CN" altLang="en-US" sz="2200" b="1" dirty="0"/>
              <a:t>例 </a:t>
            </a:r>
            <a:r>
              <a:rPr lang="en-US" altLang="zh-CN" sz="2200" b="1" dirty="0"/>
              <a:t>3.4</a:t>
            </a:r>
            <a:r>
              <a:rPr lang="en-US" altLang="zh-CN" sz="2200" dirty="0"/>
              <a:t>】</a:t>
            </a:r>
            <a:r>
              <a:rPr lang="zh-CN" altLang="en-US" sz="2200" dirty="0"/>
              <a:t>波士顿房屋价格预测。</a:t>
            </a:r>
          </a:p>
          <a:p>
            <a:r>
              <a:rPr lang="zh-CN" altLang="en-US" sz="2200" dirty="0"/>
              <a:t>在机器学习数据库（</a:t>
            </a:r>
            <a:r>
              <a:rPr lang="en-US" altLang="zh-CN" sz="2200" dirty="0"/>
              <a:t>UCI</a:t>
            </a:r>
            <a:r>
              <a:rPr lang="zh-CN" altLang="en-US" sz="2200" dirty="0"/>
              <a:t>，</a:t>
            </a:r>
            <a:r>
              <a:rPr lang="en-US" altLang="zh-CN" sz="2200" dirty="0"/>
              <a:t>https://archive.ics.uci.edu/</a:t>
            </a:r>
            <a:r>
              <a:rPr lang="zh-CN" altLang="en-US" sz="2200" dirty="0"/>
              <a:t>）中有一个关于波士顿房屋价格信</a:t>
            </a:r>
          </a:p>
          <a:p>
            <a:r>
              <a:rPr lang="zh-CN" altLang="en-US" sz="2200" dirty="0"/>
              <a:t>息的数据集，数据文件名为 </a:t>
            </a:r>
            <a:r>
              <a:rPr lang="en-US" altLang="zh-CN" sz="2200" dirty="0" err="1"/>
              <a:t>housing.data</a:t>
            </a:r>
            <a:r>
              <a:rPr lang="zh-CN" altLang="en-US" sz="2200" dirty="0"/>
              <a:t>。为方便读者学习，我们将其保存在</a:t>
            </a:r>
            <a:r>
              <a:rPr lang="en-US" altLang="zh-CN" sz="2200" b="1" dirty="0"/>
              <a:t>./data </a:t>
            </a:r>
            <a:r>
              <a:rPr lang="zh-CN" altLang="en-US" sz="2200" dirty="0"/>
              <a:t>目录下。</a:t>
            </a:r>
          </a:p>
          <a:p>
            <a:r>
              <a:rPr lang="zh-CN" altLang="en-US" sz="2200" dirty="0"/>
              <a:t>该数据文件一共包含 </a:t>
            </a:r>
            <a:r>
              <a:rPr lang="en-US" altLang="zh-CN" sz="2200" dirty="0"/>
              <a:t>14 </a:t>
            </a:r>
            <a:r>
              <a:rPr lang="zh-CN" altLang="en-US" sz="2200" dirty="0"/>
              <a:t>个属性，其中前 </a:t>
            </a:r>
            <a:r>
              <a:rPr lang="en-US" altLang="zh-CN" sz="2200" dirty="0"/>
              <a:t>13 </a:t>
            </a:r>
            <a:r>
              <a:rPr lang="zh-CN" altLang="en-US" sz="2200" dirty="0"/>
              <a:t>个属性为可能影响房价的因素，最后一个属性为</a:t>
            </a:r>
          </a:p>
          <a:p>
            <a:r>
              <a:rPr lang="zh-CN" altLang="en-US" sz="2200" dirty="0"/>
              <a:t>房屋价格的平均值（单位为 </a:t>
            </a:r>
            <a:r>
              <a:rPr lang="en-US" altLang="zh-CN" sz="2200" dirty="0"/>
              <a:t>1 </a:t>
            </a:r>
            <a:r>
              <a:rPr lang="zh-CN" altLang="en-US" sz="2200" dirty="0"/>
              <a:t>万美元）。这 </a:t>
            </a:r>
            <a:r>
              <a:rPr lang="en-US" altLang="zh-CN" sz="2200" dirty="0"/>
              <a:t>14 </a:t>
            </a:r>
            <a:r>
              <a:rPr lang="zh-CN" altLang="en-US" sz="2200" dirty="0"/>
              <a:t>个属性的名称、含义及其数据类型说明如表</a:t>
            </a:r>
          </a:p>
          <a:p>
            <a:r>
              <a:rPr lang="en-US" altLang="zh-CN" sz="2200" dirty="0"/>
              <a:t>3-1 </a:t>
            </a:r>
            <a:r>
              <a:rPr lang="zh-CN" altLang="en-US" sz="2200" dirty="0"/>
              <a:t>所示。</a:t>
            </a:r>
          </a:p>
        </p:txBody>
      </p:sp>
      <p:pic>
        <p:nvPicPr>
          <p:cNvPr id="3" name="图片 2">
            <a:extLst>
              <a:ext uri="{FF2B5EF4-FFF2-40B4-BE49-F238E27FC236}">
                <a16:creationId xmlns:a16="http://schemas.microsoft.com/office/drawing/2014/main" id="{6F1F29FB-910A-7C0A-8440-FF6E1698F9B0}"/>
              </a:ext>
            </a:extLst>
          </p:cNvPr>
          <p:cNvPicPr>
            <a:picLocks noChangeAspect="1"/>
          </p:cNvPicPr>
          <p:nvPr/>
        </p:nvPicPr>
        <p:blipFill>
          <a:blip r:embed="rId3"/>
          <a:stretch>
            <a:fillRect/>
          </a:stretch>
        </p:blipFill>
        <p:spPr>
          <a:xfrm>
            <a:off x="6413664" y="1511611"/>
            <a:ext cx="4289540" cy="3816429"/>
          </a:xfrm>
          <a:prstGeom prst="rect">
            <a:avLst/>
          </a:prstGeom>
        </p:spPr>
      </p:pic>
      <p:sp>
        <p:nvSpPr>
          <p:cNvPr id="4" name="文本框 3">
            <a:extLst>
              <a:ext uri="{FF2B5EF4-FFF2-40B4-BE49-F238E27FC236}">
                <a16:creationId xmlns:a16="http://schemas.microsoft.com/office/drawing/2014/main" id="{B74EA164-17D2-C3A2-FFBF-848B78935E6F}"/>
              </a:ext>
            </a:extLst>
          </p:cNvPr>
          <p:cNvSpPr txBox="1"/>
          <p:nvPr/>
        </p:nvSpPr>
        <p:spPr>
          <a:xfrm>
            <a:off x="7204449" y="5328040"/>
            <a:ext cx="3011267" cy="369332"/>
          </a:xfrm>
          <a:prstGeom prst="rect">
            <a:avLst/>
          </a:prstGeom>
          <a:noFill/>
        </p:spPr>
        <p:txBody>
          <a:bodyPr wrap="square">
            <a:spAutoFit/>
          </a:bodyPr>
          <a:lstStyle/>
          <a:p>
            <a:r>
              <a:rPr lang="zh-CN" altLang="en-US" dirty="0"/>
              <a:t>序号</a:t>
            </a:r>
            <a:r>
              <a:rPr lang="en-US" altLang="zh-CN" dirty="0"/>
              <a:t>10-14</a:t>
            </a:r>
            <a:r>
              <a:rPr lang="zh-CN" altLang="en-US" dirty="0"/>
              <a:t>见</a:t>
            </a:r>
            <a:r>
              <a:rPr lang="zh-CN" altLang="en-US" b="1" dirty="0"/>
              <a:t>教材</a:t>
            </a:r>
            <a:r>
              <a:rPr lang="en-US" altLang="zh-CN" b="1" dirty="0" err="1"/>
              <a:t>P77</a:t>
            </a:r>
            <a:endParaRPr lang="zh-CN" altLang="en-US" b="1" dirty="0"/>
          </a:p>
        </p:txBody>
      </p:sp>
    </p:spTree>
    <p:extLst>
      <p:ext uri="{BB962C8B-B14F-4D97-AF65-F5344CB8AC3E}">
        <p14:creationId xmlns:p14="http://schemas.microsoft.com/office/powerpoint/2010/main" val="874772205"/>
      </p:ext>
    </p:extLst>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3.4.7 </a:t>
            </a:r>
            <a:r>
              <a:rPr lang="zh-CN" altLang="en-US" sz="2800" b="1" dirty="0">
                <a:solidFill>
                  <a:srgbClr val="C00000"/>
                </a:solidFill>
              </a:rPr>
              <a:t>应用案例</a:t>
            </a:r>
            <a:r>
              <a:rPr lang="en-US" altLang="zh-CN" sz="2800" b="1" dirty="0">
                <a:solidFill>
                  <a:srgbClr val="C00000"/>
                </a:solidFill>
              </a:rPr>
              <a:t>——</a:t>
            </a:r>
            <a:r>
              <a:rPr lang="zh-CN" altLang="en-US" sz="2800" b="1" dirty="0">
                <a:solidFill>
                  <a:srgbClr val="C00000"/>
                </a:solidFill>
              </a:rPr>
              <a:t>波士顿房价预测</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2276714"/>
            <a:ext cx="6019621" cy="2800767"/>
          </a:xfrm>
          <a:prstGeom prst="rect">
            <a:avLst/>
          </a:prstGeom>
          <a:noFill/>
        </p:spPr>
        <p:txBody>
          <a:bodyPr wrap="square">
            <a:spAutoFit/>
          </a:bodyPr>
          <a:lstStyle/>
          <a:p>
            <a:r>
              <a:rPr lang="zh-CN" altLang="en-US" sz="2200" dirty="0"/>
              <a:t>编写实现上述任务的程序代码的主要步骤如下。</a:t>
            </a:r>
          </a:p>
          <a:p>
            <a:r>
              <a:rPr lang="zh-CN" altLang="en-US" sz="2200" dirty="0"/>
              <a:t>（</a:t>
            </a:r>
            <a:r>
              <a:rPr lang="en-US" altLang="zh-CN" sz="2200" dirty="0"/>
              <a:t>1</a:t>
            </a:r>
            <a:r>
              <a:rPr lang="zh-CN" altLang="en-US" sz="2200" dirty="0"/>
              <a:t>）构建预测模型。由于预测的属性值（房价）是连续的，因而该任务属于</a:t>
            </a:r>
            <a:r>
              <a:rPr lang="zh-CN" altLang="en-US" sz="2200" b="1" dirty="0"/>
              <a:t>回归问题</a:t>
            </a:r>
            <a:r>
              <a:rPr lang="zh-CN" altLang="en-US" sz="2200" dirty="0"/>
              <a:t>。</a:t>
            </a:r>
          </a:p>
          <a:p>
            <a:r>
              <a:rPr lang="zh-CN" altLang="en-US" sz="2200" dirty="0"/>
              <a:t>对于一个输入样本，有 </a:t>
            </a:r>
            <a:r>
              <a:rPr lang="en-US" altLang="zh-CN" sz="2200" dirty="0"/>
              <a:t>13 </a:t>
            </a:r>
            <a:r>
              <a:rPr lang="zh-CN" altLang="en-US" sz="2200" dirty="0"/>
              <a:t>个特征值输入，一个输出。为此，我们构建一个全连接网络来充</a:t>
            </a:r>
          </a:p>
          <a:p>
            <a:r>
              <a:rPr lang="zh-CN" altLang="en-US" sz="2200" dirty="0"/>
              <a:t>当这样的预测模型。该网络的</a:t>
            </a:r>
            <a:r>
              <a:rPr lang="zh-CN" altLang="en-US" sz="2200" b="1" dirty="0"/>
              <a:t>结构如图 </a:t>
            </a:r>
            <a:r>
              <a:rPr lang="en-US" altLang="zh-CN" sz="2200" b="1" dirty="0"/>
              <a:t>3-9 </a:t>
            </a:r>
            <a:r>
              <a:rPr lang="zh-CN" altLang="en-US" sz="2200" dirty="0"/>
              <a:t>所示，其中输入层有 </a:t>
            </a:r>
            <a:r>
              <a:rPr lang="en-US" altLang="zh-CN" sz="2200" dirty="0"/>
              <a:t>13 </a:t>
            </a:r>
            <a:r>
              <a:rPr lang="zh-CN" altLang="en-US" sz="2200" dirty="0"/>
              <a:t>个输入节点，隐含层有</a:t>
            </a:r>
          </a:p>
          <a:p>
            <a:r>
              <a:rPr lang="en-US" altLang="zh-CN" sz="2200" dirty="0"/>
              <a:t>512 </a:t>
            </a:r>
            <a:r>
              <a:rPr lang="zh-CN" altLang="en-US" sz="2200" dirty="0"/>
              <a:t>个神经元，输出层有 </a:t>
            </a:r>
            <a:r>
              <a:rPr lang="en-US" altLang="zh-CN" sz="2200" dirty="0"/>
              <a:t>1 </a:t>
            </a:r>
            <a:r>
              <a:rPr lang="zh-CN" altLang="en-US" sz="2200" dirty="0"/>
              <a:t>个神经元。</a:t>
            </a:r>
          </a:p>
        </p:txBody>
      </p:sp>
      <p:pic>
        <p:nvPicPr>
          <p:cNvPr id="4" name="图片 3">
            <a:extLst>
              <a:ext uri="{FF2B5EF4-FFF2-40B4-BE49-F238E27FC236}">
                <a16:creationId xmlns:a16="http://schemas.microsoft.com/office/drawing/2014/main" id="{22579095-B719-3C6C-423E-B94942CBC373}"/>
              </a:ext>
            </a:extLst>
          </p:cNvPr>
          <p:cNvPicPr>
            <a:picLocks noChangeAspect="1"/>
          </p:cNvPicPr>
          <p:nvPr/>
        </p:nvPicPr>
        <p:blipFill>
          <a:blip r:embed="rId3"/>
          <a:stretch>
            <a:fillRect/>
          </a:stretch>
        </p:blipFill>
        <p:spPr>
          <a:xfrm>
            <a:off x="6509857" y="1780520"/>
            <a:ext cx="4896322" cy="3362783"/>
          </a:xfrm>
          <a:prstGeom prst="rect">
            <a:avLst/>
          </a:prstGeom>
        </p:spPr>
      </p:pic>
    </p:spTree>
    <p:extLst>
      <p:ext uri="{BB962C8B-B14F-4D97-AF65-F5344CB8AC3E}">
        <p14:creationId xmlns:p14="http://schemas.microsoft.com/office/powerpoint/2010/main" val="1135695077"/>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3.4.7 </a:t>
            </a:r>
            <a:r>
              <a:rPr lang="zh-CN" altLang="en-US" sz="2800" b="1" dirty="0">
                <a:solidFill>
                  <a:srgbClr val="C00000"/>
                </a:solidFill>
              </a:rPr>
              <a:t>应用案例</a:t>
            </a:r>
            <a:r>
              <a:rPr lang="en-US" altLang="zh-CN" sz="2800" b="1" dirty="0">
                <a:solidFill>
                  <a:srgbClr val="C00000"/>
                </a:solidFill>
              </a:rPr>
              <a:t>——</a:t>
            </a:r>
            <a:r>
              <a:rPr lang="zh-CN" altLang="en-US" sz="2800" b="1" dirty="0">
                <a:solidFill>
                  <a:srgbClr val="C00000"/>
                </a:solidFill>
              </a:rPr>
              <a:t>波士顿房价预测</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780520"/>
            <a:ext cx="10818124" cy="4493538"/>
          </a:xfrm>
          <a:prstGeom prst="rect">
            <a:avLst/>
          </a:prstGeom>
          <a:noFill/>
        </p:spPr>
        <p:txBody>
          <a:bodyPr wrap="square">
            <a:spAutoFit/>
          </a:bodyPr>
          <a:lstStyle/>
          <a:p>
            <a:r>
              <a:rPr lang="zh-CN" altLang="en-US" sz="2200" dirty="0"/>
              <a:t>为此，先定义</a:t>
            </a:r>
            <a:r>
              <a:rPr lang="zh-CN" altLang="en-US" sz="2200" b="1" dirty="0"/>
              <a:t>两个网络层</a:t>
            </a:r>
            <a:r>
              <a:rPr lang="zh-CN" altLang="en-US" sz="2200" dirty="0"/>
              <a:t>：</a:t>
            </a:r>
            <a:endParaRPr lang="en-US" altLang="zh-CN" sz="2200" dirty="0"/>
          </a:p>
          <a:p>
            <a:endParaRPr lang="zh-CN" altLang="en-US" sz="1100" dirty="0"/>
          </a:p>
          <a:p>
            <a:r>
              <a:rPr lang="en-US" altLang="zh-CN" sz="2200" dirty="0">
                <a:solidFill>
                  <a:srgbClr val="00B050"/>
                </a:solidFill>
              </a:rPr>
              <a:t>self.fc1 = </a:t>
            </a:r>
            <a:r>
              <a:rPr lang="en-US" altLang="zh-CN" sz="2200" dirty="0" err="1">
                <a:solidFill>
                  <a:srgbClr val="00B050"/>
                </a:solidFill>
              </a:rPr>
              <a:t>nn.Linear</a:t>
            </a:r>
            <a:r>
              <a:rPr lang="en-US" altLang="zh-CN" sz="2200" dirty="0">
                <a:solidFill>
                  <a:srgbClr val="00B050"/>
                </a:solidFill>
              </a:rPr>
              <a:t>(13, 512)</a:t>
            </a:r>
          </a:p>
          <a:p>
            <a:r>
              <a:rPr lang="en-US" altLang="zh-CN" sz="2200" dirty="0">
                <a:solidFill>
                  <a:srgbClr val="00B050"/>
                </a:solidFill>
              </a:rPr>
              <a:t>self.fc2 = </a:t>
            </a:r>
            <a:r>
              <a:rPr lang="en-US" altLang="zh-CN" sz="2200" dirty="0" err="1">
                <a:solidFill>
                  <a:srgbClr val="00B050"/>
                </a:solidFill>
              </a:rPr>
              <a:t>nn.Linear</a:t>
            </a:r>
            <a:r>
              <a:rPr lang="en-US" altLang="zh-CN" sz="2200" dirty="0">
                <a:solidFill>
                  <a:srgbClr val="00B050"/>
                </a:solidFill>
              </a:rPr>
              <a:t>(512, 1)</a:t>
            </a:r>
          </a:p>
          <a:p>
            <a:r>
              <a:rPr lang="zh-CN" altLang="en-US" sz="2200" dirty="0">
                <a:solidFill>
                  <a:srgbClr val="00B050"/>
                </a:solidFill>
              </a:rPr>
              <a:t>然后将这两个网络层“连接”起来，形成一个完整的网络：</a:t>
            </a:r>
          </a:p>
          <a:p>
            <a:r>
              <a:rPr lang="en-US" altLang="zh-CN" sz="2200" dirty="0">
                <a:solidFill>
                  <a:srgbClr val="00B050"/>
                </a:solidFill>
              </a:rPr>
              <a:t>out = self.fc1(x)</a:t>
            </a:r>
          </a:p>
          <a:p>
            <a:r>
              <a:rPr lang="en-US" altLang="zh-CN" sz="2200" dirty="0">
                <a:solidFill>
                  <a:srgbClr val="00B050"/>
                </a:solidFill>
              </a:rPr>
              <a:t>out = </a:t>
            </a:r>
            <a:r>
              <a:rPr lang="en-US" altLang="zh-CN" sz="2200" dirty="0" err="1">
                <a:solidFill>
                  <a:srgbClr val="00B050"/>
                </a:solidFill>
              </a:rPr>
              <a:t>torch.sigmoid</a:t>
            </a:r>
            <a:r>
              <a:rPr lang="en-US" altLang="zh-CN" sz="2200" dirty="0">
                <a:solidFill>
                  <a:srgbClr val="00B050"/>
                </a:solidFill>
              </a:rPr>
              <a:t>(out) #</a:t>
            </a:r>
            <a:r>
              <a:rPr lang="zh-CN" altLang="en-US" sz="2200" dirty="0">
                <a:solidFill>
                  <a:srgbClr val="00B050"/>
                </a:solidFill>
              </a:rPr>
              <a:t>运用激活函数 </a:t>
            </a:r>
            <a:r>
              <a:rPr lang="en-US" altLang="zh-CN" sz="2200" dirty="0" err="1">
                <a:solidFill>
                  <a:srgbClr val="00B050"/>
                </a:solidFill>
              </a:rPr>
              <a:t>torch.sigmoid</a:t>
            </a:r>
            <a:r>
              <a:rPr lang="en-US" altLang="zh-CN" sz="2200" dirty="0">
                <a:solidFill>
                  <a:srgbClr val="00B050"/>
                </a:solidFill>
              </a:rPr>
              <a:t>()</a:t>
            </a:r>
          </a:p>
          <a:p>
            <a:r>
              <a:rPr lang="en-US" altLang="zh-CN" sz="2200" dirty="0">
                <a:solidFill>
                  <a:srgbClr val="00B050"/>
                </a:solidFill>
              </a:rPr>
              <a:t>out = self.fc2(out)</a:t>
            </a:r>
          </a:p>
          <a:p>
            <a:r>
              <a:rPr lang="en-US" altLang="zh-CN" sz="2200" dirty="0">
                <a:solidFill>
                  <a:srgbClr val="00B050"/>
                </a:solidFill>
              </a:rPr>
              <a:t>out = </a:t>
            </a:r>
            <a:r>
              <a:rPr lang="en-US" altLang="zh-CN" sz="2200" dirty="0" err="1">
                <a:solidFill>
                  <a:srgbClr val="00B050"/>
                </a:solidFill>
              </a:rPr>
              <a:t>torch.sigmoid</a:t>
            </a:r>
            <a:r>
              <a:rPr lang="en-US" altLang="zh-CN" sz="2200" dirty="0">
                <a:solidFill>
                  <a:srgbClr val="00B050"/>
                </a:solidFill>
              </a:rPr>
              <a:t>(out) #</a:t>
            </a:r>
            <a:r>
              <a:rPr lang="zh-CN" altLang="en-US" sz="2200" dirty="0">
                <a:solidFill>
                  <a:srgbClr val="00B050"/>
                </a:solidFill>
              </a:rPr>
              <a:t>运用激活函数 </a:t>
            </a:r>
            <a:r>
              <a:rPr lang="en-US" altLang="zh-CN" sz="2200" dirty="0" err="1">
                <a:solidFill>
                  <a:srgbClr val="00B050"/>
                </a:solidFill>
              </a:rPr>
              <a:t>torch.sigmoid</a:t>
            </a:r>
            <a:r>
              <a:rPr lang="en-US" altLang="zh-CN" sz="2200" dirty="0">
                <a:solidFill>
                  <a:srgbClr val="00B050"/>
                </a:solidFill>
              </a:rPr>
              <a:t>()</a:t>
            </a:r>
          </a:p>
          <a:p>
            <a:endParaRPr lang="en-US" altLang="zh-CN" sz="1100" dirty="0">
              <a:solidFill>
                <a:srgbClr val="00B050"/>
              </a:solidFill>
            </a:endParaRPr>
          </a:p>
          <a:p>
            <a:r>
              <a:rPr lang="zh-CN" altLang="en-US" sz="2200" dirty="0"/>
              <a:t>（</a:t>
            </a:r>
            <a:r>
              <a:rPr lang="en-US" altLang="zh-CN" sz="2200" dirty="0"/>
              <a:t>2</a:t>
            </a:r>
            <a:r>
              <a:rPr lang="zh-CN" altLang="en-US" sz="2200" dirty="0"/>
              <a:t>）</a:t>
            </a:r>
            <a:r>
              <a:rPr lang="zh-CN" altLang="en-US" sz="2200" b="1" dirty="0"/>
              <a:t>读取</a:t>
            </a:r>
            <a:r>
              <a:rPr lang="zh-CN" altLang="en-US" sz="2200" dirty="0"/>
              <a:t>文件“</a:t>
            </a:r>
            <a:r>
              <a:rPr lang="en-US" altLang="zh-CN" sz="2200" dirty="0" err="1"/>
              <a:t>housing.data</a:t>
            </a:r>
            <a:r>
              <a:rPr lang="en-US" altLang="zh-CN" sz="2200" dirty="0"/>
              <a:t>”</a:t>
            </a:r>
            <a:r>
              <a:rPr lang="zh-CN" altLang="en-US" sz="2200" dirty="0"/>
              <a:t>中的数据，转换为张量 </a:t>
            </a:r>
            <a:r>
              <a:rPr lang="en-US" altLang="zh-CN" sz="2200" dirty="0"/>
              <a:t>X </a:t>
            </a:r>
            <a:r>
              <a:rPr lang="zh-CN" altLang="en-US" sz="2200" dirty="0"/>
              <a:t>和 </a:t>
            </a:r>
            <a:r>
              <a:rPr lang="en-US" altLang="zh-CN" sz="2200" dirty="0"/>
              <a:t>Y</a:t>
            </a:r>
            <a:r>
              <a:rPr lang="zh-CN" altLang="en-US" sz="2200" dirty="0"/>
              <a:t>，并</a:t>
            </a:r>
            <a:r>
              <a:rPr lang="zh-CN" altLang="en-US" sz="2200" b="1" dirty="0"/>
              <a:t>打乱</a:t>
            </a:r>
            <a:r>
              <a:rPr lang="zh-CN" altLang="en-US" sz="2200" dirty="0"/>
              <a:t>其中样本的顺序。</a:t>
            </a:r>
          </a:p>
          <a:p>
            <a:r>
              <a:rPr lang="zh-CN" altLang="en-US" sz="2200" dirty="0"/>
              <a:t>（</a:t>
            </a:r>
            <a:r>
              <a:rPr lang="en-US" altLang="zh-CN" sz="2200" dirty="0"/>
              <a:t>3</a:t>
            </a:r>
            <a:r>
              <a:rPr lang="zh-CN" altLang="en-US" sz="2200" dirty="0"/>
              <a:t>）按 </a:t>
            </a:r>
            <a:r>
              <a:rPr lang="en-US" altLang="zh-CN" sz="2200" b="1" dirty="0"/>
              <a:t>8:2</a:t>
            </a:r>
            <a:r>
              <a:rPr lang="en-US" altLang="zh-CN" sz="2200" dirty="0"/>
              <a:t> </a:t>
            </a:r>
            <a:r>
              <a:rPr lang="zh-CN" altLang="en-US" sz="2200" dirty="0"/>
              <a:t>将数据集</a:t>
            </a:r>
            <a:r>
              <a:rPr lang="zh-CN" altLang="en-US" sz="2200" b="1" dirty="0"/>
              <a:t>分割</a:t>
            </a:r>
            <a:r>
              <a:rPr lang="zh-CN" altLang="en-US" sz="2200" dirty="0"/>
              <a:t>为训练集和测试集。</a:t>
            </a:r>
          </a:p>
          <a:p>
            <a:r>
              <a:rPr lang="zh-CN" altLang="en-US" sz="2200" dirty="0"/>
              <a:t>（</a:t>
            </a:r>
            <a:r>
              <a:rPr lang="en-US" altLang="zh-CN" sz="2200" dirty="0"/>
              <a:t>4</a:t>
            </a:r>
            <a:r>
              <a:rPr lang="zh-CN" altLang="en-US" sz="2200" dirty="0"/>
              <a:t>）按列对数据集进行</a:t>
            </a:r>
            <a:r>
              <a:rPr lang="zh-CN" altLang="en-US" sz="2200" b="1" dirty="0"/>
              <a:t>归一化</a:t>
            </a:r>
            <a:r>
              <a:rPr lang="zh-CN" altLang="en-US" sz="2200" dirty="0"/>
              <a:t>。为此，先定义归一化方法，然后分别对测试集和数据集进行归一化：</a:t>
            </a:r>
            <a:r>
              <a:rPr lang="en-US" altLang="zh-CN" sz="2200" dirty="0"/>
              <a:t> </a:t>
            </a:r>
            <a:endParaRPr lang="zh-CN" altLang="en-US" sz="2200" dirty="0"/>
          </a:p>
        </p:txBody>
      </p:sp>
    </p:spTree>
    <p:extLst>
      <p:ext uri="{BB962C8B-B14F-4D97-AF65-F5344CB8AC3E}">
        <p14:creationId xmlns:p14="http://schemas.microsoft.com/office/powerpoint/2010/main" val="181445615"/>
      </p:ext>
    </p:ext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3.4.7 </a:t>
            </a:r>
            <a:r>
              <a:rPr lang="zh-CN" altLang="en-US" sz="2800" b="1" dirty="0">
                <a:solidFill>
                  <a:srgbClr val="C00000"/>
                </a:solidFill>
              </a:rPr>
              <a:t>应用案例</a:t>
            </a:r>
            <a:r>
              <a:rPr lang="en-US" altLang="zh-CN" sz="2800" b="1" dirty="0">
                <a:solidFill>
                  <a:srgbClr val="C00000"/>
                </a:solidFill>
              </a:rPr>
              <a:t>——</a:t>
            </a:r>
            <a:r>
              <a:rPr lang="zh-CN" altLang="en-US" sz="2800" b="1" dirty="0">
                <a:solidFill>
                  <a:srgbClr val="C00000"/>
                </a:solidFill>
              </a:rPr>
              <a:t>波士顿房价预测</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686938" y="2025861"/>
            <a:ext cx="10818124" cy="2123658"/>
          </a:xfrm>
          <a:prstGeom prst="rect">
            <a:avLst/>
          </a:prstGeom>
          <a:noFill/>
        </p:spPr>
        <p:txBody>
          <a:bodyPr wrap="square">
            <a:spAutoFit/>
          </a:bodyPr>
          <a:lstStyle/>
          <a:p>
            <a:r>
              <a:rPr lang="en-US" altLang="zh-CN" sz="2200" dirty="0">
                <a:solidFill>
                  <a:srgbClr val="00B050"/>
                </a:solidFill>
              </a:rPr>
              <a:t>def </a:t>
            </a:r>
            <a:r>
              <a:rPr lang="en-US" altLang="zh-CN" sz="2200" dirty="0" err="1">
                <a:solidFill>
                  <a:srgbClr val="00B050"/>
                </a:solidFill>
              </a:rPr>
              <a:t>map_minmax</a:t>
            </a:r>
            <a:r>
              <a:rPr lang="en-US" altLang="zh-CN" sz="2200" dirty="0">
                <a:solidFill>
                  <a:srgbClr val="00B050"/>
                </a:solidFill>
              </a:rPr>
              <a:t>(T): #</a:t>
            </a:r>
            <a:r>
              <a:rPr lang="zh-CN" altLang="en-US" sz="2200" dirty="0">
                <a:solidFill>
                  <a:srgbClr val="00B050"/>
                </a:solidFill>
              </a:rPr>
              <a:t>归一化函数</a:t>
            </a:r>
          </a:p>
          <a:p>
            <a:r>
              <a:rPr lang="zh-CN" altLang="en-US" sz="2200" dirty="0">
                <a:solidFill>
                  <a:srgbClr val="00B050"/>
                </a:solidFill>
              </a:rPr>
              <a:t> </a:t>
            </a:r>
            <a:r>
              <a:rPr lang="en-US" altLang="zh-CN" sz="2200" dirty="0" err="1">
                <a:solidFill>
                  <a:srgbClr val="00B050"/>
                </a:solidFill>
              </a:rPr>
              <a:t>min,max</a:t>
            </a:r>
            <a:r>
              <a:rPr lang="en-US" altLang="zh-CN" sz="2200" dirty="0">
                <a:solidFill>
                  <a:srgbClr val="00B050"/>
                </a:solidFill>
              </a:rPr>
              <a:t> = </a:t>
            </a:r>
            <a:r>
              <a:rPr lang="en-US" altLang="zh-CN" sz="2200" dirty="0" err="1">
                <a:solidFill>
                  <a:srgbClr val="00B050"/>
                </a:solidFill>
              </a:rPr>
              <a:t>torch.min</a:t>
            </a:r>
            <a:r>
              <a:rPr lang="en-US" altLang="zh-CN" sz="2200" dirty="0">
                <a:solidFill>
                  <a:srgbClr val="00B050"/>
                </a:solidFill>
              </a:rPr>
              <a:t>(</a:t>
            </a:r>
            <a:r>
              <a:rPr lang="en-US" altLang="zh-CN" sz="2200" dirty="0" err="1">
                <a:solidFill>
                  <a:srgbClr val="00B050"/>
                </a:solidFill>
              </a:rPr>
              <a:t>T,dim</a:t>
            </a:r>
            <a:r>
              <a:rPr lang="en-US" altLang="zh-CN" sz="2200" dirty="0">
                <a:solidFill>
                  <a:srgbClr val="00B050"/>
                </a:solidFill>
              </a:rPr>
              <a:t>=0)[0],</a:t>
            </a:r>
            <a:r>
              <a:rPr lang="en-US" altLang="zh-CN" sz="2200" dirty="0" err="1">
                <a:solidFill>
                  <a:srgbClr val="00B050"/>
                </a:solidFill>
              </a:rPr>
              <a:t>torch.max</a:t>
            </a:r>
            <a:r>
              <a:rPr lang="en-US" altLang="zh-CN" sz="2200" dirty="0">
                <a:solidFill>
                  <a:srgbClr val="00B050"/>
                </a:solidFill>
              </a:rPr>
              <a:t>(</a:t>
            </a:r>
            <a:r>
              <a:rPr lang="en-US" altLang="zh-CN" sz="2200" dirty="0" err="1">
                <a:solidFill>
                  <a:srgbClr val="00B050"/>
                </a:solidFill>
              </a:rPr>
              <a:t>T,dim</a:t>
            </a:r>
            <a:r>
              <a:rPr lang="en-US" altLang="zh-CN" sz="2200" dirty="0">
                <a:solidFill>
                  <a:srgbClr val="00B050"/>
                </a:solidFill>
              </a:rPr>
              <a:t>=0)[0] #</a:t>
            </a:r>
            <a:r>
              <a:rPr lang="zh-CN" altLang="en-US" sz="2200" dirty="0">
                <a:solidFill>
                  <a:srgbClr val="00B050"/>
                </a:solidFill>
              </a:rPr>
              <a:t>对 </a:t>
            </a:r>
            <a:r>
              <a:rPr lang="en-US" altLang="zh-CN" sz="2200" dirty="0">
                <a:solidFill>
                  <a:srgbClr val="00B050"/>
                </a:solidFill>
              </a:rPr>
              <a:t>T </a:t>
            </a:r>
            <a:r>
              <a:rPr lang="zh-CN" altLang="en-US" sz="2200" dirty="0">
                <a:solidFill>
                  <a:srgbClr val="00B050"/>
                </a:solidFill>
              </a:rPr>
              <a:t>按列归一化</a:t>
            </a:r>
            <a:endParaRPr lang="en-US" altLang="zh-CN" sz="2200" dirty="0">
              <a:solidFill>
                <a:srgbClr val="00B050"/>
              </a:solidFill>
            </a:endParaRPr>
          </a:p>
          <a:p>
            <a:r>
              <a:rPr lang="en-US" altLang="zh-CN" sz="2200" dirty="0">
                <a:solidFill>
                  <a:srgbClr val="00B050"/>
                </a:solidFill>
              </a:rPr>
              <a:t> r = (1.0*T-min)/(max-min)</a:t>
            </a:r>
          </a:p>
          <a:p>
            <a:r>
              <a:rPr lang="en-US" altLang="zh-CN" sz="2200" dirty="0">
                <a:solidFill>
                  <a:srgbClr val="00B050"/>
                </a:solidFill>
              </a:rPr>
              <a:t> return r</a:t>
            </a:r>
          </a:p>
          <a:p>
            <a:r>
              <a:rPr lang="en-US" altLang="zh-CN" sz="2200" dirty="0" err="1">
                <a:solidFill>
                  <a:srgbClr val="00B050"/>
                </a:solidFill>
              </a:rPr>
              <a:t>trainX,trainY</a:t>
            </a:r>
            <a:r>
              <a:rPr lang="en-US" altLang="zh-CN" sz="2200" dirty="0">
                <a:solidFill>
                  <a:srgbClr val="00B050"/>
                </a:solidFill>
              </a:rPr>
              <a:t> = </a:t>
            </a:r>
            <a:r>
              <a:rPr lang="en-US" altLang="zh-CN" sz="2200" dirty="0" err="1">
                <a:solidFill>
                  <a:srgbClr val="00B050"/>
                </a:solidFill>
              </a:rPr>
              <a:t>map_minmax</a:t>
            </a:r>
            <a:r>
              <a:rPr lang="en-US" altLang="zh-CN" sz="2200" dirty="0">
                <a:solidFill>
                  <a:srgbClr val="00B050"/>
                </a:solidFill>
              </a:rPr>
              <a:t>(</a:t>
            </a:r>
            <a:r>
              <a:rPr lang="en-US" altLang="zh-CN" sz="2200" dirty="0" err="1">
                <a:solidFill>
                  <a:srgbClr val="00B050"/>
                </a:solidFill>
              </a:rPr>
              <a:t>trainX</a:t>
            </a:r>
            <a:r>
              <a:rPr lang="en-US" altLang="zh-CN" sz="2200" dirty="0">
                <a:solidFill>
                  <a:srgbClr val="00B050"/>
                </a:solidFill>
              </a:rPr>
              <a:t>),</a:t>
            </a:r>
            <a:r>
              <a:rPr lang="en-US" altLang="zh-CN" sz="2200" dirty="0" err="1">
                <a:solidFill>
                  <a:srgbClr val="00B050"/>
                </a:solidFill>
              </a:rPr>
              <a:t>map_minmax</a:t>
            </a:r>
            <a:r>
              <a:rPr lang="en-US" altLang="zh-CN" sz="2200" dirty="0">
                <a:solidFill>
                  <a:srgbClr val="00B050"/>
                </a:solidFill>
              </a:rPr>
              <a:t>(</a:t>
            </a:r>
            <a:r>
              <a:rPr lang="en-US" altLang="zh-CN" sz="2200" dirty="0" err="1">
                <a:solidFill>
                  <a:srgbClr val="00B050"/>
                </a:solidFill>
              </a:rPr>
              <a:t>trainY</a:t>
            </a:r>
            <a:r>
              <a:rPr lang="en-US" altLang="zh-CN" sz="2200" dirty="0">
                <a:solidFill>
                  <a:srgbClr val="00B050"/>
                </a:solidFill>
              </a:rPr>
              <a:t>)</a:t>
            </a:r>
          </a:p>
          <a:p>
            <a:r>
              <a:rPr lang="en-US" altLang="zh-CN" sz="2200" dirty="0" err="1">
                <a:solidFill>
                  <a:srgbClr val="00B050"/>
                </a:solidFill>
              </a:rPr>
              <a:t>testX,testY</a:t>
            </a:r>
            <a:r>
              <a:rPr lang="en-US" altLang="zh-CN" sz="2200" dirty="0">
                <a:solidFill>
                  <a:srgbClr val="00B050"/>
                </a:solidFill>
              </a:rPr>
              <a:t> = </a:t>
            </a:r>
            <a:r>
              <a:rPr lang="en-US" altLang="zh-CN" sz="2200" dirty="0" err="1">
                <a:solidFill>
                  <a:srgbClr val="00B050"/>
                </a:solidFill>
              </a:rPr>
              <a:t>map_minmax</a:t>
            </a:r>
            <a:r>
              <a:rPr lang="en-US" altLang="zh-CN" sz="2200" dirty="0">
                <a:solidFill>
                  <a:srgbClr val="00B050"/>
                </a:solidFill>
              </a:rPr>
              <a:t>(</a:t>
            </a:r>
            <a:r>
              <a:rPr lang="en-US" altLang="zh-CN" sz="2200" dirty="0" err="1">
                <a:solidFill>
                  <a:srgbClr val="00B050"/>
                </a:solidFill>
              </a:rPr>
              <a:t>testX</a:t>
            </a:r>
            <a:r>
              <a:rPr lang="en-US" altLang="zh-CN" sz="2200" dirty="0">
                <a:solidFill>
                  <a:srgbClr val="00B050"/>
                </a:solidFill>
              </a:rPr>
              <a:t>),</a:t>
            </a:r>
            <a:r>
              <a:rPr lang="en-US" altLang="zh-CN" sz="2200" dirty="0" err="1">
                <a:solidFill>
                  <a:srgbClr val="00B050"/>
                </a:solidFill>
              </a:rPr>
              <a:t>map_minmax</a:t>
            </a:r>
            <a:r>
              <a:rPr lang="en-US" altLang="zh-CN" sz="2200" dirty="0">
                <a:solidFill>
                  <a:srgbClr val="00B050"/>
                </a:solidFill>
              </a:rPr>
              <a:t>(</a:t>
            </a:r>
            <a:r>
              <a:rPr lang="en-US" altLang="zh-CN" sz="2200" dirty="0" err="1">
                <a:solidFill>
                  <a:srgbClr val="00B050"/>
                </a:solidFill>
              </a:rPr>
              <a:t>testY</a:t>
            </a:r>
            <a:r>
              <a:rPr lang="en-US" altLang="zh-CN" sz="2200" dirty="0">
                <a:solidFill>
                  <a:srgbClr val="00B050"/>
                </a:solidFill>
              </a:rPr>
              <a:t>) </a:t>
            </a:r>
            <a:endParaRPr lang="zh-CN" altLang="en-US" sz="2200" dirty="0">
              <a:solidFill>
                <a:srgbClr val="00B050"/>
              </a:solidFill>
            </a:endParaRPr>
          </a:p>
        </p:txBody>
      </p:sp>
      <p:sp>
        <p:nvSpPr>
          <p:cNvPr id="3" name="文本框 2">
            <a:extLst>
              <a:ext uri="{FF2B5EF4-FFF2-40B4-BE49-F238E27FC236}">
                <a16:creationId xmlns:a16="http://schemas.microsoft.com/office/drawing/2014/main" id="{F969A760-A972-D6DE-C03B-73DE5942A9D3}"/>
              </a:ext>
            </a:extLst>
          </p:cNvPr>
          <p:cNvSpPr txBox="1"/>
          <p:nvPr/>
        </p:nvSpPr>
        <p:spPr>
          <a:xfrm>
            <a:off x="490235" y="4315674"/>
            <a:ext cx="10507731" cy="1785104"/>
          </a:xfrm>
          <a:prstGeom prst="rect">
            <a:avLst/>
          </a:prstGeom>
          <a:noFill/>
        </p:spPr>
        <p:txBody>
          <a:bodyPr wrap="square">
            <a:spAutoFit/>
          </a:bodyPr>
          <a:lstStyle/>
          <a:p>
            <a:r>
              <a:rPr lang="zh-CN" altLang="en-US" sz="2200" b="1" dirty="0"/>
              <a:t>注意：</a:t>
            </a:r>
            <a:r>
              <a:rPr lang="zh-CN" altLang="en-US" sz="2200" dirty="0"/>
              <a:t>训练集和测试集一般要分开归一化（但归一化方法和原理应一样），而 不应先对整个数据集先做归一化，然后再进行分割，否则可能导致测试集和训练集之间存在 </a:t>
            </a:r>
            <a:r>
              <a:rPr lang="zh-CN" altLang="en-US" sz="2200" b="1" dirty="0"/>
              <a:t>依赖关系</a:t>
            </a:r>
            <a:r>
              <a:rPr lang="zh-CN" altLang="en-US" sz="2200" dirty="0"/>
              <a:t>，使得测试结果不能反映实际情况。 还要注意的是，如果使用了 </a:t>
            </a:r>
            <a:r>
              <a:rPr lang="en-US" altLang="zh-CN" sz="2200" dirty="0"/>
              <a:t>sigmoid()</a:t>
            </a:r>
            <a:r>
              <a:rPr lang="zh-CN" altLang="en-US" sz="2200" dirty="0"/>
              <a:t>函数作为激活函数，一般需要按列对数据进行归 一化，尤其需要对标记数据进行归一化，否则效果很差，甚至模型不能收敛。</a:t>
            </a:r>
          </a:p>
        </p:txBody>
      </p:sp>
    </p:spTree>
    <p:extLst>
      <p:ext uri="{BB962C8B-B14F-4D97-AF65-F5344CB8AC3E}">
        <p14:creationId xmlns:p14="http://schemas.microsoft.com/office/powerpoint/2010/main" val="4156213788"/>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3.4.7 </a:t>
            </a:r>
            <a:r>
              <a:rPr lang="zh-CN" altLang="en-US" sz="2800" b="1" dirty="0">
                <a:solidFill>
                  <a:srgbClr val="C00000"/>
                </a:solidFill>
              </a:rPr>
              <a:t>应用案例</a:t>
            </a:r>
            <a:r>
              <a:rPr lang="en-US" altLang="zh-CN" sz="2800" b="1" dirty="0">
                <a:solidFill>
                  <a:srgbClr val="C00000"/>
                </a:solidFill>
              </a:rPr>
              <a:t>——</a:t>
            </a:r>
            <a:r>
              <a:rPr lang="zh-CN" altLang="en-US" sz="2800" b="1" dirty="0">
                <a:solidFill>
                  <a:srgbClr val="C00000"/>
                </a:solidFill>
              </a:rPr>
              <a:t>波士顿房价预测</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1780520"/>
            <a:ext cx="11440926" cy="4662815"/>
          </a:xfrm>
          <a:prstGeom prst="rect">
            <a:avLst/>
          </a:prstGeom>
          <a:noFill/>
        </p:spPr>
        <p:txBody>
          <a:bodyPr wrap="square">
            <a:spAutoFit/>
          </a:bodyPr>
          <a:lstStyle/>
          <a:p>
            <a:r>
              <a:rPr lang="zh-CN" altLang="en-US" sz="2200" dirty="0"/>
              <a:t>（</a:t>
            </a:r>
            <a:r>
              <a:rPr lang="en-US" altLang="zh-CN" sz="2200" dirty="0"/>
              <a:t>5</a:t>
            </a:r>
            <a:r>
              <a:rPr lang="zh-CN" altLang="en-US" sz="2200" dirty="0"/>
              <a:t>）对训练集和测试集进行打包，包的大小设置为 </a:t>
            </a:r>
            <a:r>
              <a:rPr lang="en-US" altLang="zh-CN" sz="2200" dirty="0"/>
              <a:t>16</a:t>
            </a:r>
            <a:r>
              <a:rPr lang="zh-CN" altLang="en-US" sz="2200" dirty="0"/>
              <a:t>。</a:t>
            </a:r>
          </a:p>
          <a:p>
            <a:r>
              <a:rPr lang="zh-CN" altLang="en-US" sz="2200" dirty="0"/>
              <a:t>（</a:t>
            </a:r>
            <a:r>
              <a:rPr lang="en-US" altLang="zh-CN" sz="2200" dirty="0"/>
              <a:t>6</a:t>
            </a:r>
            <a:r>
              <a:rPr lang="zh-CN" altLang="en-US" sz="2200" dirty="0"/>
              <a:t>）选择优化器和设置学习率：</a:t>
            </a:r>
            <a:endParaRPr lang="en-US" altLang="zh-CN" sz="2200" dirty="0"/>
          </a:p>
          <a:p>
            <a:endParaRPr lang="zh-CN" altLang="en-US" sz="1100" dirty="0"/>
          </a:p>
          <a:p>
            <a:r>
              <a:rPr lang="en-US" altLang="zh-CN" sz="2200" dirty="0">
                <a:solidFill>
                  <a:srgbClr val="00B050"/>
                </a:solidFill>
              </a:rPr>
              <a:t>optimizer = </a:t>
            </a:r>
            <a:r>
              <a:rPr lang="en-US" altLang="zh-CN" sz="2200" dirty="0" err="1">
                <a:solidFill>
                  <a:srgbClr val="00B050"/>
                </a:solidFill>
              </a:rPr>
              <a:t>torch.optim.Adam</a:t>
            </a:r>
            <a:r>
              <a:rPr lang="en-US" altLang="zh-CN" sz="2200" dirty="0">
                <a:solidFill>
                  <a:srgbClr val="00B050"/>
                </a:solidFill>
              </a:rPr>
              <a:t>(model2_2.parameters(), </a:t>
            </a:r>
            <a:r>
              <a:rPr lang="en-US" altLang="zh-CN" sz="2200" dirty="0" err="1">
                <a:solidFill>
                  <a:srgbClr val="00B050"/>
                </a:solidFill>
              </a:rPr>
              <a:t>lr</a:t>
            </a:r>
            <a:r>
              <a:rPr lang="en-US" altLang="zh-CN" sz="2200" dirty="0">
                <a:solidFill>
                  <a:srgbClr val="00B050"/>
                </a:solidFill>
              </a:rPr>
              <a:t>=0.01)</a:t>
            </a:r>
          </a:p>
          <a:p>
            <a:r>
              <a:rPr lang="en-US" altLang="zh-CN" sz="2200" dirty="0">
                <a:solidFill>
                  <a:srgbClr val="00B050"/>
                </a:solidFill>
              </a:rPr>
              <a:t> </a:t>
            </a:r>
            <a:r>
              <a:rPr lang="zh-CN" altLang="en-US" sz="2200" dirty="0">
                <a:solidFill>
                  <a:srgbClr val="00B050"/>
                </a:solidFill>
              </a:rPr>
              <a:t>学习率是一个重要的超参数，需要多次调试。在本例中，几经调试，发现在学习率 </a:t>
            </a:r>
            <a:r>
              <a:rPr lang="en-US" altLang="zh-CN" sz="2200" dirty="0" err="1">
                <a:solidFill>
                  <a:srgbClr val="00B050"/>
                </a:solidFill>
              </a:rPr>
              <a:t>lr</a:t>
            </a:r>
            <a:endParaRPr lang="en-US" altLang="zh-CN" sz="2200" dirty="0">
              <a:solidFill>
                <a:srgbClr val="00B050"/>
              </a:solidFill>
            </a:endParaRPr>
          </a:p>
          <a:p>
            <a:r>
              <a:rPr lang="zh-CN" altLang="en-US" sz="2200" dirty="0">
                <a:solidFill>
                  <a:srgbClr val="00B050"/>
                </a:solidFill>
              </a:rPr>
              <a:t>设置为 </a:t>
            </a:r>
            <a:r>
              <a:rPr lang="en-US" altLang="zh-CN" sz="2200" dirty="0">
                <a:solidFill>
                  <a:srgbClr val="00B050"/>
                </a:solidFill>
              </a:rPr>
              <a:t>0.01 </a:t>
            </a:r>
            <a:r>
              <a:rPr lang="zh-CN" altLang="en-US" sz="2200" dirty="0">
                <a:solidFill>
                  <a:srgbClr val="00B050"/>
                </a:solidFill>
              </a:rPr>
              <a:t>比较好（这也是默认值）。</a:t>
            </a:r>
            <a:endParaRPr lang="en-US" altLang="zh-CN" sz="2200" dirty="0">
              <a:solidFill>
                <a:srgbClr val="00B050"/>
              </a:solidFill>
            </a:endParaRPr>
          </a:p>
          <a:p>
            <a:endParaRPr lang="zh-CN" altLang="en-US" sz="1100" dirty="0">
              <a:solidFill>
                <a:srgbClr val="00B050"/>
              </a:solidFill>
            </a:endParaRPr>
          </a:p>
          <a:p>
            <a:r>
              <a:rPr lang="zh-CN" altLang="en-US" dirty="0">
                <a:solidFill>
                  <a:srgbClr val="00B050"/>
                </a:solidFill>
              </a:rPr>
              <a:t> </a:t>
            </a:r>
            <a:r>
              <a:rPr lang="zh-CN" altLang="en-US" sz="2200" dirty="0"/>
              <a:t>（</a:t>
            </a:r>
            <a:r>
              <a:rPr lang="en-US" altLang="zh-CN" sz="2200" dirty="0"/>
              <a:t>7</a:t>
            </a:r>
            <a:r>
              <a:rPr lang="zh-CN" altLang="en-US" sz="2200" dirty="0"/>
              <a:t>）在训练部分中，由于该问题属于回归问题，因此使用均方差损失函数：</a:t>
            </a:r>
          </a:p>
          <a:p>
            <a:pPr>
              <a:lnSpc>
                <a:spcPct val="150000"/>
              </a:lnSpc>
            </a:pPr>
            <a:r>
              <a:rPr lang="en-US" altLang="zh-CN" sz="2200" dirty="0">
                <a:solidFill>
                  <a:srgbClr val="00B050"/>
                </a:solidFill>
              </a:rPr>
              <a:t>loss = </a:t>
            </a:r>
            <a:r>
              <a:rPr lang="en-US" altLang="zh-CN" sz="2200" dirty="0" err="1">
                <a:solidFill>
                  <a:srgbClr val="00B050"/>
                </a:solidFill>
              </a:rPr>
              <a:t>nn.MSELoss</a:t>
            </a:r>
            <a:r>
              <a:rPr lang="en-US" altLang="zh-CN" sz="2200" dirty="0">
                <a:solidFill>
                  <a:srgbClr val="00B050"/>
                </a:solidFill>
              </a:rPr>
              <a:t>()(</a:t>
            </a:r>
            <a:r>
              <a:rPr lang="en-US" altLang="zh-CN" sz="2200" dirty="0" err="1">
                <a:solidFill>
                  <a:srgbClr val="00B050"/>
                </a:solidFill>
              </a:rPr>
              <a:t>pre_y,y</a:t>
            </a:r>
            <a:r>
              <a:rPr lang="en-US" altLang="zh-CN" sz="2200" dirty="0">
                <a:solidFill>
                  <a:srgbClr val="00B050"/>
                </a:solidFill>
              </a:rPr>
              <a:t>)</a:t>
            </a:r>
          </a:p>
          <a:p>
            <a:pPr>
              <a:lnSpc>
                <a:spcPct val="150000"/>
              </a:lnSpc>
            </a:pPr>
            <a:r>
              <a:rPr lang="en-US" altLang="zh-CN" dirty="0">
                <a:solidFill>
                  <a:srgbClr val="00B050"/>
                </a:solidFill>
              </a:rPr>
              <a:t> </a:t>
            </a:r>
            <a:r>
              <a:rPr lang="zh-CN" altLang="en-US" sz="2200" dirty="0"/>
              <a:t>（</a:t>
            </a:r>
            <a:r>
              <a:rPr lang="en-US" altLang="zh-CN" sz="2200" dirty="0"/>
              <a:t>8</a:t>
            </a:r>
            <a:r>
              <a:rPr lang="zh-CN" altLang="en-US" sz="2200" dirty="0"/>
              <a:t>）在测试部分中，对于回归问题，一方面通过画图来展示模型的拟合程度，代码来实现：</a:t>
            </a:r>
            <a:endParaRPr lang="en-US" altLang="zh-CN" sz="2200" dirty="0"/>
          </a:p>
          <a:p>
            <a:endParaRPr lang="en-US" altLang="zh-CN" sz="1100" dirty="0"/>
          </a:p>
          <a:p>
            <a:r>
              <a:rPr lang="en-US" altLang="zh-CN" sz="2200" dirty="0">
                <a:solidFill>
                  <a:srgbClr val="00B050"/>
                </a:solidFill>
              </a:rPr>
              <a:t># ls </a:t>
            </a:r>
            <a:r>
              <a:rPr lang="zh-CN" altLang="en-US" sz="2200" dirty="0">
                <a:solidFill>
                  <a:srgbClr val="00B050"/>
                </a:solidFill>
              </a:rPr>
              <a:t>和 </a:t>
            </a:r>
            <a:r>
              <a:rPr lang="en-US" altLang="zh-CN" sz="2200" dirty="0" err="1">
                <a:solidFill>
                  <a:srgbClr val="00B050"/>
                </a:solidFill>
              </a:rPr>
              <a:t>lsy</a:t>
            </a:r>
            <a:r>
              <a:rPr lang="en-US" altLang="zh-CN" sz="2200" dirty="0">
                <a:solidFill>
                  <a:srgbClr val="00B050"/>
                </a:solidFill>
              </a:rPr>
              <a:t> </a:t>
            </a:r>
            <a:r>
              <a:rPr lang="zh-CN" altLang="en-US" sz="2200" dirty="0">
                <a:solidFill>
                  <a:srgbClr val="00B050"/>
                </a:solidFill>
              </a:rPr>
              <a:t>的初始值均为 </a:t>
            </a:r>
            <a:r>
              <a:rPr lang="en-US" altLang="zh-CN" sz="2200" dirty="0" err="1">
                <a:solidFill>
                  <a:srgbClr val="00B050"/>
                </a:solidFill>
              </a:rPr>
              <a:t>torch.Tensor</a:t>
            </a:r>
            <a:r>
              <a:rPr lang="en-US" altLang="zh-CN" sz="2200" dirty="0">
                <a:solidFill>
                  <a:srgbClr val="00B050"/>
                </a:solidFill>
              </a:rPr>
              <a:t>([])</a:t>
            </a:r>
          </a:p>
          <a:p>
            <a:r>
              <a:rPr lang="en-US" altLang="zh-CN" sz="2200" dirty="0">
                <a:solidFill>
                  <a:srgbClr val="00B050"/>
                </a:solidFill>
              </a:rPr>
              <a:t>ls = torch.cat((ls, </a:t>
            </a:r>
            <a:r>
              <a:rPr lang="en-US" altLang="zh-CN" sz="2200" dirty="0" err="1">
                <a:solidFill>
                  <a:srgbClr val="00B050"/>
                </a:solidFill>
              </a:rPr>
              <a:t>pre_y</a:t>
            </a:r>
            <a:r>
              <a:rPr lang="en-US" altLang="zh-CN" sz="2200" dirty="0">
                <a:solidFill>
                  <a:srgbClr val="00B050"/>
                </a:solidFill>
              </a:rPr>
              <a:t>)) #pre_y </a:t>
            </a:r>
            <a:r>
              <a:rPr lang="zh-CN" altLang="en-US" sz="2200" dirty="0">
                <a:solidFill>
                  <a:srgbClr val="00B050"/>
                </a:solidFill>
              </a:rPr>
              <a:t>为预测输出的结果，属于张量类型</a:t>
            </a:r>
          </a:p>
          <a:p>
            <a:r>
              <a:rPr lang="en-US" altLang="zh-CN" sz="2200" dirty="0" err="1">
                <a:solidFill>
                  <a:srgbClr val="00B050"/>
                </a:solidFill>
              </a:rPr>
              <a:t>lsy</a:t>
            </a:r>
            <a:r>
              <a:rPr lang="en-US" altLang="zh-CN" sz="2200" dirty="0">
                <a:solidFill>
                  <a:srgbClr val="00B050"/>
                </a:solidFill>
              </a:rPr>
              <a:t> = torch.cat((</a:t>
            </a:r>
            <a:r>
              <a:rPr lang="en-US" altLang="zh-CN" sz="2200" dirty="0" err="1">
                <a:solidFill>
                  <a:srgbClr val="00B050"/>
                </a:solidFill>
              </a:rPr>
              <a:t>lsy</a:t>
            </a:r>
            <a:r>
              <a:rPr lang="en-US" altLang="zh-CN" sz="2200" dirty="0">
                <a:solidFill>
                  <a:srgbClr val="00B050"/>
                </a:solidFill>
              </a:rPr>
              <a:t>, y)) #y </a:t>
            </a:r>
            <a:r>
              <a:rPr lang="zh-CN" altLang="en-US" sz="2200" dirty="0">
                <a:solidFill>
                  <a:srgbClr val="00B050"/>
                </a:solidFill>
              </a:rPr>
              <a:t>为给定的结果（样本的标记）</a:t>
            </a:r>
          </a:p>
        </p:txBody>
      </p:sp>
    </p:spTree>
    <p:extLst>
      <p:ext uri="{BB962C8B-B14F-4D97-AF65-F5344CB8AC3E}">
        <p14:creationId xmlns:p14="http://schemas.microsoft.com/office/powerpoint/2010/main" val="3833136905"/>
      </p:ext>
    </p:extLst>
  </p:cSld>
  <p:clrMapOvr>
    <a:masterClrMapping/>
  </p:clrMapOvr>
  <p:transition spd="slow"/>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3.4 </a:t>
            </a:r>
            <a:r>
              <a:rPr lang="zh-CN" altLang="en-US" sz="3200" b="1" dirty="0">
                <a:solidFill>
                  <a:prstClr val="white"/>
                </a:solidFill>
                <a:latin typeface="微软雅黑" panose="020B0503020204020204" pitchFamily="34" charset="-122"/>
                <a:ea typeface="微软雅黑" panose="020B0503020204020204" pitchFamily="34" charset="-122"/>
              </a:rPr>
              <a:t>网络模型的训练与测试</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3.4.6 </a:t>
            </a:r>
            <a:r>
              <a:rPr lang="zh-CN" altLang="en-US" sz="2800" b="1" dirty="0">
                <a:solidFill>
                  <a:srgbClr val="C00000"/>
                </a:solidFill>
              </a:rPr>
              <a:t>模型的测试</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780520"/>
            <a:ext cx="10895802" cy="430887"/>
          </a:xfrm>
          <a:prstGeom prst="rect">
            <a:avLst/>
          </a:prstGeom>
          <a:noFill/>
        </p:spPr>
        <p:txBody>
          <a:bodyPr wrap="square">
            <a:spAutoFit/>
          </a:bodyPr>
          <a:lstStyle/>
          <a:p>
            <a:r>
              <a:rPr lang="zh-CN" altLang="en-US" sz="2200" dirty="0"/>
              <a:t>运行上述代码，程序输出的结果如下：</a:t>
            </a:r>
          </a:p>
        </p:txBody>
      </p:sp>
      <p:pic>
        <p:nvPicPr>
          <p:cNvPr id="6" name="图片 5">
            <a:extLst>
              <a:ext uri="{FF2B5EF4-FFF2-40B4-BE49-F238E27FC236}">
                <a16:creationId xmlns:a16="http://schemas.microsoft.com/office/drawing/2014/main" id="{81CAC881-CD1D-C358-4A30-C8D0A847197F}"/>
              </a:ext>
            </a:extLst>
          </p:cNvPr>
          <p:cNvPicPr>
            <a:picLocks noChangeAspect="1"/>
          </p:cNvPicPr>
          <p:nvPr/>
        </p:nvPicPr>
        <p:blipFill>
          <a:blip r:embed="rId3"/>
          <a:stretch>
            <a:fillRect/>
          </a:stretch>
        </p:blipFill>
        <p:spPr>
          <a:xfrm>
            <a:off x="490236" y="2673576"/>
            <a:ext cx="4658442" cy="377712"/>
          </a:xfrm>
          <a:prstGeom prst="rect">
            <a:avLst/>
          </a:prstGeom>
        </p:spPr>
      </p:pic>
      <p:sp>
        <p:nvSpPr>
          <p:cNvPr id="8" name="文本框 7">
            <a:extLst>
              <a:ext uri="{FF2B5EF4-FFF2-40B4-BE49-F238E27FC236}">
                <a16:creationId xmlns:a16="http://schemas.microsoft.com/office/drawing/2014/main" id="{38FB5B21-D4C4-E51E-8846-16D3D29CE702}"/>
              </a:ext>
            </a:extLst>
          </p:cNvPr>
          <p:cNvSpPr txBox="1"/>
          <p:nvPr/>
        </p:nvSpPr>
        <p:spPr>
          <a:xfrm>
            <a:off x="335805" y="3709798"/>
            <a:ext cx="5486155" cy="1446550"/>
          </a:xfrm>
          <a:prstGeom prst="rect">
            <a:avLst/>
          </a:prstGeom>
          <a:noFill/>
        </p:spPr>
        <p:txBody>
          <a:bodyPr wrap="square">
            <a:spAutoFit/>
          </a:bodyPr>
          <a:lstStyle/>
          <a:p>
            <a:r>
              <a:rPr lang="zh-CN" altLang="en-US" sz="2200" dirty="0"/>
              <a:t>绘制的曲线图如图 </a:t>
            </a:r>
            <a:r>
              <a:rPr lang="en-US" altLang="zh-CN" sz="2200" dirty="0"/>
              <a:t>3-10 </a:t>
            </a:r>
            <a:r>
              <a:rPr lang="zh-CN" altLang="en-US" sz="2200" dirty="0"/>
              <a:t>所示。</a:t>
            </a:r>
            <a:endParaRPr lang="en-US" altLang="zh-CN" sz="2200" dirty="0"/>
          </a:p>
          <a:p>
            <a:r>
              <a:rPr lang="zh-CN" altLang="en-US" sz="2200" dirty="0"/>
              <a:t>从准确率和曲线图看，该程序取得了</a:t>
            </a:r>
            <a:r>
              <a:rPr lang="zh-CN" altLang="en-US" sz="2200" b="1" dirty="0"/>
              <a:t>较高</a:t>
            </a:r>
            <a:r>
              <a:rPr lang="zh-CN" altLang="en-US" sz="2200" dirty="0"/>
              <a:t>的拟合性能。当然，要达到实用阶段，还需更多的训练数据，并需设计更优的模型。</a:t>
            </a:r>
          </a:p>
        </p:txBody>
      </p:sp>
      <p:pic>
        <p:nvPicPr>
          <p:cNvPr id="11" name="图片 10">
            <a:extLst>
              <a:ext uri="{FF2B5EF4-FFF2-40B4-BE49-F238E27FC236}">
                <a16:creationId xmlns:a16="http://schemas.microsoft.com/office/drawing/2014/main" id="{FCC110EB-169F-9329-4FDA-802C99D30750}"/>
              </a:ext>
            </a:extLst>
          </p:cNvPr>
          <p:cNvPicPr>
            <a:picLocks noChangeAspect="1"/>
          </p:cNvPicPr>
          <p:nvPr/>
        </p:nvPicPr>
        <p:blipFill>
          <a:blip r:embed="rId4"/>
          <a:stretch>
            <a:fillRect/>
          </a:stretch>
        </p:blipFill>
        <p:spPr>
          <a:xfrm>
            <a:off x="5938137" y="2011352"/>
            <a:ext cx="5776611" cy="3606831"/>
          </a:xfrm>
          <a:prstGeom prst="rect">
            <a:avLst/>
          </a:prstGeom>
        </p:spPr>
      </p:pic>
    </p:spTree>
    <p:extLst>
      <p:ext uri="{BB962C8B-B14F-4D97-AF65-F5344CB8AC3E}">
        <p14:creationId xmlns:p14="http://schemas.microsoft.com/office/powerpoint/2010/main" val="2784174020"/>
      </p:ext>
    </p:extLst>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a:srcRect t="2070" r="1004"/>
          <a:stretch/>
        </p:blipFill>
        <p:spPr>
          <a:xfrm>
            <a:off x="-496" y="-27384"/>
            <a:ext cx="3360192" cy="6885384"/>
          </a:xfrm>
          <a:prstGeom prst="rect">
            <a:avLst/>
          </a:prstGeom>
        </p:spPr>
      </p:pic>
      <p:sp>
        <p:nvSpPr>
          <p:cNvPr id="9" name="文本框 6"/>
          <p:cNvSpPr txBox="1"/>
          <p:nvPr/>
        </p:nvSpPr>
        <p:spPr>
          <a:xfrm>
            <a:off x="649714" y="2558062"/>
            <a:ext cx="2133918" cy="523220"/>
          </a:xfrm>
          <a:prstGeom prst="rect">
            <a:avLst/>
          </a:prstGeom>
          <a:noFill/>
        </p:spPr>
        <p:txBody>
          <a:bodyPr wrap="none" rtlCol="0">
            <a:spAutoFit/>
          </a:bodyPr>
          <a:lstStyle/>
          <a:p>
            <a:r>
              <a:rPr lang="zh-CN" altLang="en-US" sz="2800" spc="1000" dirty="0">
                <a:solidFill>
                  <a:schemeClr val="bg1"/>
                </a:solidFill>
                <a:cs typeface="+mn-ea"/>
                <a:sym typeface="+mn-lt"/>
              </a:rPr>
              <a:t>本章内容</a:t>
            </a:r>
          </a:p>
        </p:txBody>
      </p:sp>
      <p:sp>
        <p:nvSpPr>
          <p:cNvPr id="10" name="文本框 11"/>
          <p:cNvSpPr txBox="1"/>
          <p:nvPr/>
        </p:nvSpPr>
        <p:spPr>
          <a:xfrm>
            <a:off x="1032610" y="3238388"/>
            <a:ext cx="1239442" cy="461665"/>
          </a:xfrm>
          <a:prstGeom prst="rect">
            <a:avLst/>
          </a:prstGeom>
          <a:noFill/>
        </p:spPr>
        <p:txBody>
          <a:bodyPr wrap="none" rtlCol="0">
            <a:spAutoFit/>
          </a:bodyPr>
          <a:lstStyle/>
          <a:p>
            <a:r>
              <a:rPr lang="en-US" altLang="zh-CN" sz="2400" dirty="0">
                <a:solidFill>
                  <a:schemeClr val="bg1"/>
                </a:solidFill>
                <a:cs typeface="+mn-ea"/>
                <a:sym typeface="+mn-lt"/>
              </a:rPr>
              <a:t>contents</a:t>
            </a:r>
            <a:endParaRPr lang="zh-CN" altLang="en-US" sz="2400" dirty="0">
              <a:solidFill>
                <a:schemeClr val="bg1"/>
              </a:solidFill>
              <a:cs typeface="+mn-ea"/>
              <a:sym typeface="+mn-lt"/>
            </a:endParaRPr>
          </a:p>
        </p:txBody>
      </p:sp>
      <p:cxnSp>
        <p:nvCxnSpPr>
          <p:cNvPr id="11" name="直接连接符 10"/>
          <p:cNvCxnSpPr/>
          <p:nvPr/>
        </p:nvCxnSpPr>
        <p:spPr>
          <a:xfrm flipH="1">
            <a:off x="367517"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288818" y="3469220"/>
            <a:ext cx="6138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内容占位符 2"/>
          <p:cNvSpPr txBox="1">
            <a:spLocks/>
          </p:cNvSpPr>
          <p:nvPr/>
        </p:nvSpPr>
        <p:spPr>
          <a:xfrm>
            <a:off x="4009907" y="1506189"/>
            <a:ext cx="7978894" cy="43877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None/>
            </a:pPr>
            <a:r>
              <a:rPr lang="en-US" altLang="zh-CN" b="1" dirty="0">
                <a:latin typeface="微软雅黑" panose="020B0503020204020204" pitchFamily="34" charset="-122"/>
                <a:ea typeface="微软雅黑" panose="020B0503020204020204" pitchFamily="34" charset="-122"/>
              </a:rPr>
              <a:t>3.1  </a:t>
            </a:r>
            <a:r>
              <a:rPr lang="zh-CN" altLang="en-US" b="1" dirty="0">
                <a:latin typeface="微软雅黑" panose="020B0503020204020204" pitchFamily="34" charset="-122"/>
                <a:ea typeface="微软雅黑" panose="020B0503020204020204" pitchFamily="34" charset="-122"/>
              </a:rPr>
              <a:t>构建一个简单的全连接神经网络</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解决二分类问题</a:t>
            </a:r>
          </a:p>
          <a:p>
            <a:pPr>
              <a:lnSpc>
                <a:spcPct val="150000"/>
              </a:lnSpc>
              <a:buNone/>
            </a:pPr>
            <a:r>
              <a:rPr lang="en-US" altLang="zh-CN" b="1" dirty="0">
                <a:latin typeface="微软雅黑" panose="020B0503020204020204" pitchFamily="34" charset="-122"/>
                <a:ea typeface="微软雅黑" panose="020B0503020204020204" pitchFamily="34" charset="-122"/>
              </a:rPr>
              <a:t>3.2  </a:t>
            </a:r>
            <a:r>
              <a:rPr lang="zh-CN" altLang="en-US" b="1" dirty="0">
                <a:latin typeface="微软雅黑" panose="020B0503020204020204" pitchFamily="34" charset="-122"/>
                <a:ea typeface="微软雅黑" panose="020B0503020204020204" pitchFamily="34" charset="-122"/>
              </a:rPr>
              <a:t>全连接神经网络的构造方法</a:t>
            </a:r>
          </a:p>
          <a:p>
            <a:pPr>
              <a:lnSpc>
                <a:spcPct val="150000"/>
              </a:lnSpc>
              <a:buNone/>
            </a:pPr>
            <a:r>
              <a:rPr lang="en-US" altLang="zh-CN" b="1" dirty="0">
                <a:latin typeface="微软雅黑" panose="020B0503020204020204" pitchFamily="34" charset="-122"/>
                <a:ea typeface="微软雅黑" panose="020B0503020204020204" pitchFamily="34" charset="-122"/>
              </a:rPr>
              <a:t>3.3  </a:t>
            </a:r>
            <a:r>
              <a:rPr lang="zh-CN" altLang="en-US" b="1" dirty="0">
                <a:latin typeface="微软雅黑" panose="020B0503020204020204" pitchFamily="34" charset="-122"/>
                <a:ea typeface="微软雅黑" panose="020B0503020204020204" pitchFamily="34" charset="-122"/>
              </a:rPr>
              <a:t>几种主流的损失函数</a:t>
            </a:r>
          </a:p>
          <a:p>
            <a:pPr>
              <a:lnSpc>
                <a:spcPct val="150000"/>
              </a:lnSpc>
              <a:buNone/>
            </a:pPr>
            <a:r>
              <a:rPr lang="en-US" altLang="zh-CN" b="1" dirty="0">
                <a:latin typeface="微软雅黑" panose="020B0503020204020204" pitchFamily="34" charset="-122"/>
                <a:ea typeface="微软雅黑" panose="020B0503020204020204" pitchFamily="34" charset="-122"/>
              </a:rPr>
              <a:t>3.4  </a:t>
            </a:r>
            <a:r>
              <a:rPr lang="zh-CN" altLang="en-US" b="1" dirty="0">
                <a:latin typeface="微软雅黑" panose="020B0503020204020204" pitchFamily="34" charset="-122"/>
                <a:ea typeface="微软雅黑" panose="020B0503020204020204" pitchFamily="34" charset="-122"/>
              </a:rPr>
              <a:t>网络模型的训练与测试</a:t>
            </a:r>
          </a:p>
          <a:p>
            <a:pPr>
              <a:lnSpc>
                <a:spcPct val="150000"/>
              </a:lnSpc>
              <a:buNone/>
            </a:pPr>
            <a:r>
              <a:rPr lang="en-US" altLang="zh-CN" b="1" dirty="0">
                <a:solidFill>
                  <a:srgbClr val="C00000"/>
                </a:solidFill>
                <a:latin typeface="微软雅黑" panose="020B0503020204020204" pitchFamily="34" charset="-122"/>
                <a:ea typeface="微软雅黑" panose="020B0503020204020204" pitchFamily="34" charset="-122"/>
              </a:rPr>
              <a:t>3.5  </a:t>
            </a:r>
            <a:r>
              <a:rPr lang="zh-CN" altLang="en-US" b="1" dirty="0">
                <a:solidFill>
                  <a:srgbClr val="C00000"/>
                </a:solidFill>
                <a:latin typeface="微软雅黑" panose="020B0503020204020204" pitchFamily="34" charset="-122"/>
                <a:ea typeface="微软雅黑" panose="020B0503020204020204" pitchFamily="34" charset="-122"/>
              </a:rPr>
              <a:t>正向计算和反向梯度传播的理论分析</a:t>
            </a:r>
          </a:p>
        </p:txBody>
      </p:sp>
      <p:pic>
        <p:nvPicPr>
          <p:cNvPr id="13" name="图片 12">
            <a:extLst>
              <a:ext uri="{FF2B5EF4-FFF2-40B4-BE49-F238E27FC236}">
                <a16:creationId xmlns:a16="http://schemas.microsoft.com/office/drawing/2014/main" id="{B7A089C7-0418-4B24-B026-E43BD2558A41}"/>
              </a:ext>
            </a:extLst>
          </p:cNvPr>
          <p:cNvPicPr>
            <a:picLocks noChangeAspect="1"/>
          </p:cNvPicPr>
          <p:nvPr/>
        </p:nvPicPr>
        <p:blipFill rotWithShape="1">
          <a:blip r:embed="rId4"/>
          <a:srcRect l="18793" t="3704" r="17232" b="4677"/>
          <a:stretch/>
        </p:blipFill>
        <p:spPr>
          <a:xfrm>
            <a:off x="1207159" y="449739"/>
            <a:ext cx="944881" cy="1353180"/>
          </a:xfrm>
          <a:prstGeom prst="rect">
            <a:avLst/>
          </a:prstGeom>
        </p:spPr>
      </p:pic>
    </p:spTree>
    <p:extLst>
      <p:ext uri="{BB962C8B-B14F-4D97-AF65-F5344CB8AC3E}">
        <p14:creationId xmlns:p14="http://schemas.microsoft.com/office/powerpoint/2010/main" val="21320115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622121" y="2435933"/>
            <a:ext cx="4064986" cy="1785104"/>
          </a:xfrm>
          <a:prstGeom prst="rect">
            <a:avLst/>
          </a:prstGeom>
          <a:noFill/>
        </p:spPr>
        <p:txBody>
          <a:bodyPr wrap="square">
            <a:spAutoFit/>
          </a:bodyPr>
          <a:lstStyle/>
          <a:p>
            <a:r>
              <a:rPr lang="zh-CN" altLang="en-US" sz="2200" b="1" dirty="0"/>
              <a:t>正向计算</a:t>
            </a:r>
            <a:r>
              <a:rPr lang="zh-CN" altLang="en-US" sz="2200" dirty="0"/>
              <a:t>是指从输入到输出的计算过程。我们仍然从简单的例子入手。</a:t>
            </a:r>
          </a:p>
          <a:p>
            <a:r>
              <a:rPr lang="zh-CN" altLang="en-US" sz="2200" dirty="0"/>
              <a:t>考虑图 </a:t>
            </a:r>
            <a:r>
              <a:rPr lang="en-US" altLang="zh-CN" sz="2200" dirty="0"/>
              <a:t>3-11 </a:t>
            </a:r>
            <a:r>
              <a:rPr lang="zh-CN" altLang="en-US" sz="2200" dirty="0"/>
              <a:t>所示的</a:t>
            </a:r>
            <a:r>
              <a:rPr lang="zh-CN" altLang="en-US" sz="2200" b="1" dirty="0"/>
              <a:t>三层全连接神经网络</a:t>
            </a:r>
            <a:r>
              <a:rPr lang="zh-CN" altLang="en-US" sz="2200" dirty="0"/>
              <a:t>。</a:t>
            </a:r>
            <a:endParaRPr lang="en-US" altLang="zh-CN" sz="2200" dirty="0"/>
          </a:p>
        </p:txBody>
      </p:sp>
      <p:pic>
        <p:nvPicPr>
          <p:cNvPr id="4" name="图片 3">
            <a:extLst>
              <a:ext uri="{FF2B5EF4-FFF2-40B4-BE49-F238E27FC236}">
                <a16:creationId xmlns:a16="http://schemas.microsoft.com/office/drawing/2014/main" id="{C99BBFEF-2C0B-E2D6-B874-D4EF6C8D3251}"/>
              </a:ext>
            </a:extLst>
          </p:cNvPr>
          <p:cNvPicPr>
            <a:picLocks noChangeAspect="1"/>
          </p:cNvPicPr>
          <p:nvPr/>
        </p:nvPicPr>
        <p:blipFill>
          <a:blip r:embed="rId3"/>
          <a:stretch>
            <a:fillRect/>
          </a:stretch>
        </p:blipFill>
        <p:spPr>
          <a:xfrm>
            <a:off x="4749148" y="1518910"/>
            <a:ext cx="6561389" cy="3955123"/>
          </a:xfrm>
          <a:prstGeom prst="rect">
            <a:avLst/>
          </a:prstGeom>
        </p:spPr>
      </p:pic>
    </p:spTree>
    <p:extLst>
      <p:ext uri="{BB962C8B-B14F-4D97-AF65-F5344CB8AC3E}">
        <p14:creationId xmlns:p14="http://schemas.microsoft.com/office/powerpoint/2010/main" val="3419437220"/>
      </p:ext>
    </p:extLst>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982D0A2-AAD9-F197-9838-7F4266866B15}"/>
                  </a:ext>
                </a:extLst>
              </p:cNvPr>
              <p:cNvSpPr txBox="1"/>
              <p:nvPr/>
            </p:nvSpPr>
            <p:spPr>
              <a:xfrm>
                <a:off x="922629" y="2180269"/>
                <a:ext cx="9313876" cy="3150606"/>
              </a:xfrm>
              <a:prstGeom prst="rect">
                <a:avLst/>
              </a:prstGeom>
              <a:noFill/>
            </p:spPr>
            <p:txBody>
              <a:bodyPr wrap="square">
                <a:spAutoFit/>
              </a:bodyPr>
              <a:lstStyle/>
              <a:p>
                <a:r>
                  <a:rPr lang="zh-CN" altLang="en-US" sz="2200" dirty="0"/>
                  <a:t>为了方便表达，对于第 </a:t>
                </a:r>
                <a:r>
                  <a:rPr lang="en-US" altLang="zh-CN" sz="2200" dirty="0"/>
                  <a:t>l </a:t>
                </a:r>
                <a:r>
                  <a:rPr lang="zh-CN" altLang="en-US" sz="2200" dirty="0"/>
                  <a:t>层上的神经元，我们用</a:t>
                </a:r>
                <a14:m>
                  <m:oMath xmlns:m="http://schemas.openxmlformats.org/officeDocument/2006/math">
                    <m:sSubSup>
                      <m:sSubSupPr>
                        <m:ctrlPr>
                          <a:rPr lang="en-US" altLang="zh-CN" sz="2200" i="1" dirty="0" smtClean="0">
                            <a:latin typeface="Cambria Math" panose="02040503050406030204" pitchFamily="18" charset="0"/>
                          </a:rPr>
                        </m:ctrlPr>
                      </m:sSubSupPr>
                      <m:e>
                        <m:r>
                          <a:rPr lang="en-US" altLang="zh-CN" sz="2200" b="0" i="1" dirty="0" smtClean="0">
                            <a:latin typeface="Cambria Math" panose="02040503050406030204" pitchFamily="18" charset="0"/>
                          </a:rPr>
                          <m:t>𝑎</m:t>
                        </m:r>
                      </m:e>
                      <m:sub>
                        <m:r>
                          <a:rPr lang="en-US" altLang="zh-CN" sz="2200" b="0" i="1" dirty="0" smtClean="0">
                            <a:latin typeface="Cambria Math" panose="02040503050406030204" pitchFamily="18" charset="0"/>
                          </a:rPr>
                          <m:t>𝑖</m:t>
                        </m:r>
                      </m:sub>
                      <m:sup>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𝑙</m:t>
                        </m:r>
                        <m:r>
                          <a:rPr lang="en-US" altLang="zh-CN" sz="2200" b="0" i="1" dirty="0" smtClean="0">
                            <a:latin typeface="Cambria Math" panose="02040503050406030204" pitchFamily="18" charset="0"/>
                          </a:rPr>
                          <m:t>)</m:t>
                        </m:r>
                      </m:sup>
                    </m:sSubSup>
                  </m:oMath>
                </a14:m>
                <a:r>
                  <a:rPr lang="zh-CN" altLang="en-US" sz="2200" dirty="0"/>
                  <a:t>表示其中第 </a:t>
                </a:r>
                <a:r>
                  <a:rPr lang="en-US" altLang="zh-CN" sz="2200" dirty="0" err="1"/>
                  <a:t>i</a:t>
                </a:r>
                <a:r>
                  <a:rPr lang="en-US" altLang="zh-CN" sz="2200" dirty="0"/>
                  <a:t> </a:t>
                </a:r>
                <a:r>
                  <a:rPr lang="zh-CN" altLang="en-US" sz="2200" dirty="0"/>
                  <a:t>个神经元的输出。</a:t>
                </a:r>
                <a:endParaRPr lang="en-US" altLang="zh-CN" sz="2200" dirty="0"/>
              </a:p>
              <a:p>
                <a:r>
                  <a:rPr lang="zh-CN" altLang="en-US" sz="2200" dirty="0"/>
                  <a:t>例如，第 </a:t>
                </a:r>
                <a:r>
                  <a:rPr lang="en-US" altLang="zh-CN" sz="2200" dirty="0"/>
                  <a:t>1 </a:t>
                </a:r>
                <a:r>
                  <a:rPr lang="zh-CN" altLang="en-US" sz="2200" dirty="0"/>
                  <a:t>层上各神经元的</a:t>
                </a:r>
                <a:r>
                  <a:rPr lang="zh-CN" altLang="en-US" sz="2200" b="1" dirty="0"/>
                  <a:t>输出</a:t>
                </a:r>
                <a:r>
                  <a:rPr lang="zh-CN" altLang="en-US" sz="2200" dirty="0"/>
                  <a:t>分别为</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1</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1</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 </m:t>
                    </m:r>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2</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1</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 </m:t>
                    </m:r>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3</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1</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 </m:t>
                    </m:r>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4</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1</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 </m:t>
                    </m:r>
                  </m:oMath>
                </a14:m>
                <a:r>
                  <a:rPr lang="zh-CN" altLang="en-US" sz="2200" dirty="0"/>
                  <a:t>。我们把各神经元的输出标注在其</a:t>
                </a:r>
                <a:r>
                  <a:rPr lang="zh-CN" altLang="en-US" sz="2200" b="1" dirty="0"/>
                  <a:t>右上</a:t>
                </a:r>
                <a:r>
                  <a:rPr lang="zh-CN" altLang="en-US" sz="2200" dirty="0"/>
                  <a:t>方，得到如图 </a:t>
                </a:r>
                <a:r>
                  <a:rPr lang="en-US" altLang="zh-CN" sz="2200" dirty="0"/>
                  <a:t>3-11 </a:t>
                </a:r>
                <a:r>
                  <a:rPr lang="zh-CN" altLang="en-US" sz="2200" dirty="0"/>
                  <a:t>所示的带标注的神经网络图，其中</a:t>
                </a:r>
                <a14:m>
                  <m:oMath xmlns:m="http://schemas.openxmlformats.org/officeDocument/2006/math">
                    <m:sSubSup>
                      <m:sSubSupPr>
                        <m:ctrlPr>
                          <a:rPr lang="en-US" altLang="zh-CN" sz="2200" i="1" dirty="0" smtClean="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1</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0</m:t>
                        </m:r>
                        <m:r>
                          <a:rPr lang="en-US" altLang="zh-CN" sz="2200" i="1" dirty="0">
                            <a:latin typeface="Cambria Math" panose="02040503050406030204" pitchFamily="18" charset="0"/>
                          </a:rPr>
                          <m:t>)</m:t>
                        </m:r>
                      </m:sup>
                    </m:sSubSup>
                    <m:r>
                      <a:rPr lang="en-US" altLang="zh-CN" sz="2200" b="0" i="1" dirty="0" smtClean="0">
                        <a:latin typeface="Cambria Math" panose="02040503050406030204" pitchFamily="18" charset="0"/>
                      </a:rPr>
                      <m:t>=</m:t>
                    </m:r>
                    <m:sSub>
                      <m:sSubPr>
                        <m:ctrlPr>
                          <a:rPr lang="en-US" altLang="zh-CN" sz="2200" b="0" i="1" dirty="0" smtClean="0">
                            <a:latin typeface="Cambria Math" panose="02040503050406030204" pitchFamily="18" charset="0"/>
                          </a:rPr>
                        </m:ctrlPr>
                      </m:sSubPr>
                      <m:e>
                        <m:r>
                          <a:rPr lang="en-US" altLang="zh-CN" sz="2200" b="0" i="1" dirty="0" smtClean="0">
                            <a:latin typeface="Cambria Math" panose="02040503050406030204" pitchFamily="18" charset="0"/>
                          </a:rPr>
                          <m:t>𝑥</m:t>
                        </m:r>
                      </m:e>
                      <m:sub>
                        <m:r>
                          <a:rPr lang="en-US" altLang="zh-CN" sz="2200" b="0" i="1" dirty="0" smtClean="0">
                            <a:latin typeface="Cambria Math" panose="02040503050406030204" pitchFamily="18" charset="0"/>
                          </a:rPr>
                          <m:t>1</m:t>
                        </m:r>
                      </m:sub>
                    </m:sSub>
                  </m:oMath>
                </a14:m>
                <a:r>
                  <a:rPr lang="en-US" altLang="zh-CN" sz="2200" dirty="0"/>
                  <a:t>, </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2</m:t>
                        </m:r>
                      </m:sub>
                      <m:sup>
                        <m:r>
                          <a:rPr lang="en-US" altLang="zh-CN" sz="2200" i="1" dirty="0">
                            <a:latin typeface="Cambria Math" panose="02040503050406030204" pitchFamily="18" charset="0"/>
                          </a:rPr>
                          <m:t>(0)</m:t>
                        </m:r>
                      </m:sup>
                    </m:sSubSup>
                    <m:r>
                      <a:rPr lang="en-US" altLang="zh-CN" sz="2200" i="1" dirty="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i="1" dirty="0">
                            <a:latin typeface="Cambria Math" panose="02040503050406030204" pitchFamily="18" charset="0"/>
                          </a:rPr>
                          <m:t>1</m:t>
                        </m:r>
                      </m:sub>
                    </m:sSub>
                    <m:r>
                      <a:rPr lang="en-US" altLang="zh-CN" sz="2200" i="1" dirty="0">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3</m:t>
                        </m:r>
                      </m:sub>
                      <m:sup>
                        <m:r>
                          <a:rPr lang="en-US" altLang="zh-CN" sz="2200" i="1" dirty="0">
                            <a:latin typeface="Cambria Math" panose="02040503050406030204" pitchFamily="18" charset="0"/>
                          </a:rPr>
                          <m:t>(0)</m:t>
                        </m:r>
                      </m:sup>
                    </m:sSubSup>
                    <m:r>
                      <a:rPr lang="en-US" altLang="zh-CN" sz="2200" i="1" dirty="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i="1" dirty="0">
                            <a:latin typeface="Cambria Math" panose="02040503050406030204" pitchFamily="18" charset="0"/>
                          </a:rPr>
                          <m:t>1</m:t>
                        </m:r>
                      </m:sub>
                    </m:sSub>
                    <m:r>
                      <a:rPr lang="en-US" altLang="zh-CN" sz="2200" i="1" dirty="0">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i="1" dirty="0">
                            <a:latin typeface="Cambria Math" panose="02040503050406030204" pitchFamily="18" charset="0"/>
                          </a:rPr>
                          <m:t>1</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2</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i="1" dirty="0">
                            <a:latin typeface="Cambria Math" panose="02040503050406030204" pitchFamily="18" charset="0"/>
                          </a:rPr>
                          <m:t>1</m:t>
                        </m:r>
                      </m:sub>
                    </m:sSub>
                    <m:r>
                      <a:rPr lang="en-US" altLang="zh-CN" sz="2200" i="1" dirty="0">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i="1" dirty="0">
                            <a:latin typeface="Cambria Math" panose="02040503050406030204" pitchFamily="18" charset="0"/>
                          </a:rPr>
                          <m:t>𝑎</m:t>
                        </m:r>
                      </m:e>
                      <m:sub>
                        <m:r>
                          <a:rPr lang="en-US" altLang="zh-CN" sz="2200" b="0" i="1" dirty="0" smtClean="0">
                            <a:latin typeface="Cambria Math" panose="02040503050406030204" pitchFamily="18" charset="0"/>
                          </a:rPr>
                          <m:t>2</m:t>
                        </m:r>
                      </m:sub>
                      <m:sup>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2</m:t>
                        </m:r>
                        <m:r>
                          <a:rPr lang="en-US" altLang="zh-CN" sz="2200" i="1" dirty="0">
                            <a:latin typeface="Cambria Math" panose="02040503050406030204" pitchFamily="18" charset="0"/>
                          </a:rPr>
                          <m:t>)</m:t>
                        </m:r>
                      </m:sup>
                    </m:sSubSup>
                    <m:r>
                      <a:rPr lang="en-US" altLang="zh-CN" sz="2200" i="1" dirty="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𝑥</m:t>
                        </m:r>
                      </m:e>
                      <m:sub>
                        <m:r>
                          <a:rPr lang="en-US" altLang="zh-CN" sz="2200" b="0" i="1" dirty="0" smtClean="0">
                            <a:latin typeface="Cambria Math" panose="02040503050406030204" pitchFamily="18" charset="0"/>
                          </a:rPr>
                          <m:t>2</m:t>
                        </m:r>
                      </m:sub>
                    </m:sSub>
                    <m:r>
                      <a:rPr lang="en-US" altLang="zh-CN" sz="2200" i="1" dirty="0">
                        <a:latin typeface="Cambria Math" panose="02040503050406030204" pitchFamily="18" charset="0"/>
                      </a:rPr>
                      <m:t> </m:t>
                    </m:r>
                  </m:oMath>
                </a14:m>
                <a:r>
                  <a:rPr lang="zh-CN" altLang="en-US" sz="2200" dirty="0"/>
                  <a:t>。另外，需要说明的是，第 </a:t>
                </a:r>
                <a:r>
                  <a:rPr lang="en-US" altLang="zh-CN" sz="2200" dirty="0"/>
                  <a:t>1 </a:t>
                </a:r>
                <a:r>
                  <a:rPr lang="zh-CN" altLang="en-US" sz="2200" dirty="0"/>
                  <a:t>层上第 </a:t>
                </a:r>
                <a:r>
                  <a:rPr lang="en-US" altLang="zh-CN" sz="2200" dirty="0"/>
                  <a:t>1 </a:t>
                </a:r>
                <a:r>
                  <a:rPr lang="zh-CN" altLang="en-US" sz="2200" dirty="0"/>
                  <a:t>个神经元节点和第 </a:t>
                </a:r>
                <a:r>
                  <a:rPr lang="en-US" altLang="zh-CN" sz="2200" dirty="0"/>
                  <a:t>0 </a:t>
                </a:r>
                <a:r>
                  <a:rPr lang="zh-CN" altLang="en-US" sz="2200" dirty="0"/>
                  <a:t>层上第 </a:t>
                </a:r>
                <a:r>
                  <a:rPr lang="en-US" altLang="zh-CN" sz="2200" dirty="0"/>
                  <a:t>2 </a:t>
                </a:r>
                <a:r>
                  <a:rPr lang="zh-CN" altLang="en-US" sz="2200" dirty="0"/>
                  <a:t>个神经元节点的边的权值用</a:t>
                </a:r>
                <a14:m>
                  <m:oMath xmlns:m="http://schemas.openxmlformats.org/officeDocument/2006/math">
                    <m:sSubSup>
                      <m:sSubSupPr>
                        <m:ctrlPr>
                          <a:rPr lang="en-US" altLang="zh-CN" sz="2200" i="1" dirty="0">
                            <a:latin typeface="Cambria Math" panose="02040503050406030204" pitchFamily="18" charset="0"/>
                          </a:rPr>
                        </m:ctrlPr>
                      </m:sSubSupPr>
                      <m:e>
                        <m:r>
                          <a:rPr lang="en-US" altLang="zh-CN" sz="2200" b="0" i="1" dirty="0" smtClean="0">
                            <a:latin typeface="Cambria Math" panose="02040503050406030204" pitchFamily="18" charset="0"/>
                          </a:rPr>
                          <m:t>𝑤</m:t>
                        </m:r>
                      </m:e>
                      <m:sub>
                        <m:r>
                          <a:rPr lang="en-US" altLang="zh-CN" sz="2200" i="1" dirty="0">
                            <a:latin typeface="Cambria Math" panose="02040503050406030204" pitchFamily="18" charset="0"/>
                          </a:rPr>
                          <m:t>1</m:t>
                        </m:r>
                        <m:r>
                          <a:rPr lang="en-US" altLang="zh-CN" sz="2200" b="0" i="1" dirty="0" smtClean="0">
                            <a:latin typeface="Cambria Math" panose="02040503050406030204" pitchFamily="18" charset="0"/>
                          </a:rPr>
                          <m:t>2</m:t>
                        </m:r>
                      </m:sub>
                      <m:sup>
                        <m:r>
                          <a:rPr lang="en-US" altLang="zh-CN" sz="2200" i="1" dirty="0">
                            <a:latin typeface="Cambria Math" panose="02040503050406030204" pitchFamily="18" charset="0"/>
                          </a:rPr>
                          <m:t>(1)</m:t>
                        </m:r>
                      </m:sup>
                    </m:sSubSup>
                  </m:oMath>
                </a14:m>
                <a:r>
                  <a:rPr lang="zh-CN" altLang="en-US" sz="2200" dirty="0"/>
                  <a:t>来表示，其中上标的“</a:t>
                </a:r>
                <a:r>
                  <a:rPr lang="en-US" altLang="zh-CN" sz="2200" dirty="0"/>
                  <a:t>(1)”</a:t>
                </a:r>
                <a:r>
                  <a:rPr lang="zh-CN" altLang="en-US" sz="2200" dirty="0"/>
                  <a:t>表示该边隶属于第 </a:t>
                </a:r>
                <a:r>
                  <a:rPr lang="en-US" altLang="zh-CN" sz="2200" dirty="0"/>
                  <a:t>1 </a:t>
                </a:r>
                <a:r>
                  <a:rPr lang="zh-CN" altLang="en-US" sz="2200" dirty="0"/>
                  <a:t>层，下标中的“</a:t>
                </a:r>
                <a:r>
                  <a:rPr lang="en-US" altLang="zh-CN" sz="2200" dirty="0"/>
                  <a:t>1”</a:t>
                </a:r>
                <a:r>
                  <a:rPr lang="zh-CN" altLang="en-US" sz="2200" dirty="0"/>
                  <a:t>和“</a:t>
                </a:r>
                <a:r>
                  <a:rPr lang="en-US" altLang="zh-CN" sz="2200" dirty="0"/>
                  <a:t>2”</a:t>
                </a:r>
                <a:r>
                  <a:rPr lang="zh-CN" altLang="en-US" sz="2200" dirty="0"/>
                  <a:t>分别表示第 </a:t>
                </a:r>
                <a:r>
                  <a:rPr lang="en-US" altLang="zh-CN" sz="2200" dirty="0"/>
                  <a:t>1 </a:t>
                </a:r>
                <a:r>
                  <a:rPr lang="zh-CN" altLang="en-US" sz="2200" dirty="0"/>
                  <a:t>层上第 </a:t>
                </a:r>
                <a:r>
                  <a:rPr lang="en-US" altLang="zh-CN" sz="2200" dirty="0"/>
                  <a:t>1 </a:t>
                </a:r>
                <a:r>
                  <a:rPr lang="zh-CN" altLang="en-US" sz="2200" dirty="0"/>
                  <a:t>个节点和第 </a:t>
                </a:r>
                <a:r>
                  <a:rPr lang="en-US" altLang="zh-CN" sz="2200" dirty="0"/>
                  <a:t>0 </a:t>
                </a:r>
                <a:r>
                  <a:rPr lang="zh-CN" altLang="en-US" sz="2200" dirty="0"/>
                  <a:t>层上第 </a:t>
                </a:r>
                <a:r>
                  <a:rPr lang="en-US" altLang="zh-CN" sz="2200" dirty="0"/>
                  <a:t>2 </a:t>
                </a:r>
                <a:r>
                  <a:rPr lang="zh-CN" altLang="en-US" sz="2200" dirty="0"/>
                  <a:t>个节点，其他表示依此类推。</a:t>
                </a:r>
              </a:p>
            </p:txBody>
          </p:sp>
        </mc:Choice>
        <mc:Fallback xmlns="">
          <p:sp>
            <p:nvSpPr>
              <p:cNvPr id="4" name="文本框 3">
                <a:extLst>
                  <a:ext uri="{FF2B5EF4-FFF2-40B4-BE49-F238E27FC236}">
                    <a16:creationId xmlns:a16="http://schemas.microsoft.com/office/drawing/2014/main" id="{3982D0A2-AAD9-F197-9838-7F4266866B15}"/>
                  </a:ext>
                </a:extLst>
              </p:cNvPr>
              <p:cNvSpPr txBox="1">
                <a:spLocks noRot="1" noChangeAspect="1" noMove="1" noResize="1" noEditPoints="1" noAdjustHandles="1" noChangeArrowheads="1" noChangeShapeType="1" noTextEdit="1"/>
              </p:cNvSpPr>
              <p:nvPr/>
            </p:nvSpPr>
            <p:spPr>
              <a:xfrm>
                <a:off x="922629" y="2180269"/>
                <a:ext cx="9313876" cy="3150606"/>
              </a:xfrm>
              <a:prstGeom prst="rect">
                <a:avLst/>
              </a:prstGeom>
              <a:blipFill>
                <a:blip r:embed="rId3"/>
                <a:stretch>
                  <a:fillRect l="-851" r="-3796" b="-32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64791441"/>
      </p:ext>
    </p:extLst>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90236" y="1895593"/>
            <a:ext cx="10895802" cy="769441"/>
          </a:xfrm>
          <a:prstGeom prst="rect">
            <a:avLst/>
          </a:prstGeom>
          <a:noFill/>
        </p:spPr>
        <p:txBody>
          <a:bodyPr wrap="square">
            <a:spAutoFit/>
          </a:bodyPr>
          <a:lstStyle/>
          <a:p>
            <a:r>
              <a:rPr lang="zh-CN" altLang="en-US" sz="2200" dirty="0"/>
              <a:t>我们先考虑第 </a:t>
            </a:r>
            <a:r>
              <a:rPr lang="en-US" altLang="zh-CN" sz="2200" dirty="0"/>
              <a:t>1 </a:t>
            </a:r>
            <a:r>
              <a:rPr lang="zh-CN" altLang="en-US" sz="2200" dirty="0"/>
              <a:t>层上各神经元节点。根据第二章有关感知器的内容，其输出的计算表达</a:t>
            </a:r>
          </a:p>
          <a:p>
            <a:r>
              <a:rPr lang="zh-CN" altLang="en-US" sz="2200" dirty="0"/>
              <a:t>式如下：</a:t>
            </a:r>
          </a:p>
        </p:txBody>
      </p:sp>
      <p:pic>
        <p:nvPicPr>
          <p:cNvPr id="4" name="图片 3">
            <a:extLst>
              <a:ext uri="{FF2B5EF4-FFF2-40B4-BE49-F238E27FC236}">
                <a16:creationId xmlns:a16="http://schemas.microsoft.com/office/drawing/2014/main" id="{AE784E5A-9D5D-2058-A4D4-405E09938B86}"/>
              </a:ext>
            </a:extLst>
          </p:cNvPr>
          <p:cNvPicPr>
            <a:picLocks noChangeAspect="1"/>
          </p:cNvPicPr>
          <p:nvPr/>
        </p:nvPicPr>
        <p:blipFill>
          <a:blip r:embed="rId3"/>
          <a:stretch>
            <a:fillRect/>
          </a:stretch>
        </p:blipFill>
        <p:spPr>
          <a:xfrm>
            <a:off x="1917026" y="2523065"/>
            <a:ext cx="4801016" cy="224809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7BB9B96-13D6-9087-AAA8-079C0CBADBBC}"/>
                  </a:ext>
                </a:extLst>
              </p:cNvPr>
              <p:cNvSpPr txBox="1"/>
              <p:nvPr/>
            </p:nvSpPr>
            <p:spPr>
              <a:xfrm>
                <a:off x="598274" y="4954369"/>
                <a:ext cx="6936734" cy="858440"/>
              </a:xfrm>
              <a:prstGeom prst="rect">
                <a:avLst/>
              </a:prstGeom>
              <a:noFill/>
            </p:spPr>
            <p:txBody>
              <a:bodyPr wrap="square">
                <a:spAutoFit/>
              </a:bodyPr>
              <a:lstStyle/>
              <a:p>
                <a:r>
                  <a:rPr lang="zh-CN" altLang="en-US" sz="2200" dirty="0"/>
                  <a:t>其中，</a:t>
                </a:r>
                <a:r>
                  <a:rPr lang="en-US" altLang="zh-CN" sz="2200" dirty="0"/>
                  <a:t> </a:t>
                </a:r>
                <a14:m>
                  <m:oMath xmlns:m="http://schemas.openxmlformats.org/officeDocument/2006/math">
                    <m:sSubSup>
                      <m:sSubSupPr>
                        <m:ctrlPr>
                          <a:rPr lang="en-US" altLang="zh-CN" sz="2200" i="1" dirty="0">
                            <a:latin typeface="Cambria Math" panose="02040503050406030204" pitchFamily="18" charset="0"/>
                          </a:rPr>
                        </m:ctrlPr>
                      </m:sSubSupPr>
                      <m:e>
                        <m:r>
                          <m:rPr>
                            <m:sty m:val="p"/>
                          </m:rPr>
                          <a:rPr lang="en-US" altLang="zh-CN" sz="2200" dirty="0">
                            <a:latin typeface="Cambria Math" panose="02040503050406030204" pitchFamily="18" charset="0"/>
                          </a:rPr>
                          <m:t>b</m:t>
                        </m:r>
                      </m:e>
                      <m:sub>
                        <m:r>
                          <a:rPr lang="en-US" altLang="zh-CN" sz="2200" dirty="0">
                            <a:latin typeface="Cambria Math" panose="02040503050406030204" pitchFamily="18" charset="0"/>
                          </a:rPr>
                          <m:t>1</m:t>
                        </m:r>
                      </m:sub>
                      <m:sup>
                        <m:r>
                          <a:rPr lang="en-US" altLang="zh-CN" sz="2200" dirty="0">
                            <a:latin typeface="Cambria Math" panose="02040503050406030204" pitchFamily="18" charset="0"/>
                          </a:rPr>
                          <m:t>(0)</m:t>
                        </m:r>
                      </m:sup>
                    </m:sSubSup>
                  </m:oMath>
                </a14:m>
                <a:r>
                  <a:rPr lang="zh-CN" altLang="en-US" sz="2200" dirty="0"/>
                  <a:t>为第 </a:t>
                </a:r>
                <a:r>
                  <a:rPr lang="en-US" altLang="zh-CN" sz="2200" dirty="0"/>
                  <a:t>1 </a:t>
                </a:r>
                <a:r>
                  <a:rPr lang="zh-CN" altLang="en-US" sz="2200" dirty="0"/>
                  <a:t>层上第 </a:t>
                </a:r>
                <a:r>
                  <a:rPr lang="en-US" altLang="zh-CN" sz="2200" dirty="0"/>
                  <a:t>1 </a:t>
                </a:r>
                <a:r>
                  <a:rPr lang="zh-CN" altLang="en-US" sz="2200" dirty="0"/>
                  <a:t>个神经元的偏置项。 如果每一层的输出、参数和偏置项都用向量或矩阵来表示：</a:t>
                </a:r>
              </a:p>
            </p:txBody>
          </p:sp>
        </mc:Choice>
        <mc:Fallback xmlns="">
          <p:sp>
            <p:nvSpPr>
              <p:cNvPr id="7" name="文本框 6">
                <a:extLst>
                  <a:ext uri="{FF2B5EF4-FFF2-40B4-BE49-F238E27FC236}">
                    <a16:creationId xmlns:a16="http://schemas.microsoft.com/office/drawing/2014/main" id="{C7BB9B96-13D6-9087-AAA8-079C0CBADBBC}"/>
                  </a:ext>
                </a:extLst>
              </p:cNvPr>
              <p:cNvSpPr txBox="1">
                <a:spLocks noRot="1" noChangeAspect="1" noMove="1" noResize="1" noEditPoints="1" noAdjustHandles="1" noChangeArrowheads="1" noChangeShapeType="1" noTextEdit="1"/>
              </p:cNvSpPr>
              <p:nvPr/>
            </p:nvSpPr>
            <p:spPr>
              <a:xfrm>
                <a:off x="598274" y="4954369"/>
                <a:ext cx="6936734" cy="858440"/>
              </a:xfrm>
              <a:prstGeom prst="rect">
                <a:avLst/>
              </a:prstGeom>
              <a:blipFill>
                <a:blip r:embed="rId4"/>
                <a:stretch>
                  <a:fillRect l="-1142" r="-351" b="-134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84093627"/>
      </p:ext>
    </p:extLst>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7" name="文本框 6">
            <a:extLst>
              <a:ext uri="{FF2B5EF4-FFF2-40B4-BE49-F238E27FC236}">
                <a16:creationId xmlns:a16="http://schemas.microsoft.com/office/drawing/2014/main" id="{C7BB9B96-13D6-9087-AAA8-079C0CBADBBC}"/>
              </a:ext>
            </a:extLst>
          </p:cNvPr>
          <p:cNvSpPr txBox="1"/>
          <p:nvPr/>
        </p:nvSpPr>
        <p:spPr>
          <a:xfrm>
            <a:off x="409203" y="3749226"/>
            <a:ext cx="6119768" cy="430887"/>
          </a:xfrm>
          <a:prstGeom prst="rect">
            <a:avLst/>
          </a:prstGeom>
          <a:noFill/>
        </p:spPr>
        <p:txBody>
          <a:bodyPr wrap="square">
            <a:spAutoFit/>
          </a:bodyPr>
          <a:lstStyle/>
          <a:p>
            <a:r>
              <a:rPr lang="zh-CN" altLang="en-US" sz="2200" dirty="0"/>
              <a:t>那么，第 </a:t>
            </a:r>
            <a:r>
              <a:rPr lang="en-US" altLang="zh-CN" sz="2200" dirty="0"/>
              <a:t>1 </a:t>
            </a:r>
            <a:r>
              <a:rPr lang="zh-CN" altLang="en-US" sz="2200" dirty="0"/>
              <a:t>层的输出就可以表示为：</a:t>
            </a:r>
          </a:p>
        </p:txBody>
      </p:sp>
      <p:pic>
        <p:nvPicPr>
          <p:cNvPr id="10" name="图片 9">
            <a:extLst>
              <a:ext uri="{FF2B5EF4-FFF2-40B4-BE49-F238E27FC236}">
                <a16:creationId xmlns:a16="http://schemas.microsoft.com/office/drawing/2014/main" id="{3EBF7E18-F4DC-CDBD-E9C8-A71568087C1A}"/>
              </a:ext>
            </a:extLst>
          </p:cNvPr>
          <p:cNvPicPr>
            <a:picLocks noChangeAspect="1"/>
          </p:cNvPicPr>
          <p:nvPr/>
        </p:nvPicPr>
        <p:blipFill>
          <a:blip r:embed="rId3"/>
          <a:stretch>
            <a:fillRect/>
          </a:stretch>
        </p:blipFill>
        <p:spPr>
          <a:xfrm>
            <a:off x="409203" y="2010693"/>
            <a:ext cx="8367485" cy="1775614"/>
          </a:xfrm>
          <a:prstGeom prst="rect">
            <a:avLst/>
          </a:prstGeom>
        </p:spPr>
      </p:pic>
      <p:sp>
        <p:nvSpPr>
          <p:cNvPr id="2" name="文本框 1">
            <a:extLst>
              <a:ext uri="{FF2B5EF4-FFF2-40B4-BE49-F238E27FC236}">
                <a16:creationId xmlns:a16="http://schemas.microsoft.com/office/drawing/2014/main" id="{9ACD4E31-59B0-2297-26EA-040E19A1BD1F}"/>
              </a:ext>
            </a:extLst>
          </p:cNvPr>
          <p:cNvSpPr txBox="1"/>
          <p:nvPr/>
        </p:nvSpPr>
        <p:spPr>
          <a:xfrm>
            <a:off x="409203" y="4767167"/>
            <a:ext cx="6119768" cy="430887"/>
          </a:xfrm>
          <a:prstGeom prst="rect">
            <a:avLst/>
          </a:prstGeom>
          <a:noFill/>
        </p:spPr>
        <p:txBody>
          <a:bodyPr wrap="square">
            <a:spAutoFit/>
          </a:bodyPr>
          <a:lstStyle/>
          <a:p>
            <a:r>
              <a:rPr lang="zh-CN" altLang="en-US" sz="2200" dirty="0"/>
              <a:t>那么，第 </a:t>
            </a:r>
            <a:r>
              <a:rPr lang="en-US" altLang="zh-CN" sz="2200" dirty="0"/>
              <a:t>1 </a:t>
            </a:r>
            <a:r>
              <a:rPr lang="zh-CN" altLang="en-US" sz="2200" dirty="0"/>
              <a:t>层的输出就可以表示为：</a:t>
            </a:r>
          </a:p>
        </p:txBody>
      </p:sp>
      <p:pic>
        <p:nvPicPr>
          <p:cNvPr id="6" name="图片 5">
            <a:extLst>
              <a:ext uri="{FF2B5EF4-FFF2-40B4-BE49-F238E27FC236}">
                <a16:creationId xmlns:a16="http://schemas.microsoft.com/office/drawing/2014/main" id="{1CD83700-0417-B2A8-7801-7F966B2C76C5}"/>
              </a:ext>
            </a:extLst>
          </p:cNvPr>
          <p:cNvPicPr>
            <a:picLocks noChangeAspect="1"/>
          </p:cNvPicPr>
          <p:nvPr/>
        </p:nvPicPr>
        <p:blipFill>
          <a:blip r:embed="rId4"/>
          <a:stretch>
            <a:fillRect/>
          </a:stretch>
        </p:blipFill>
        <p:spPr>
          <a:xfrm>
            <a:off x="1612028" y="4165665"/>
            <a:ext cx="2911092" cy="525826"/>
          </a:xfrm>
          <a:prstGeom prst="rect">
            <a:avLst/>
          </a:prstGeom>
        </p:spPr>
      </p:pic>
      <p:pic>
        <p:nvPicPr>
          <p:cNvPr id="11" name="图片 10">
            <a:extLst>
              <a:ext uri="{FF2B5EF4-FFF2-40B4-BE49-F238E27FC236}">
                <a16:creationId xmlns:a16="http://schemas.microsoft.com/office/drawing/2014/main" id="{014654B8-0DB9-56ED-DC1A-47E0990C29A1}"/>
              </a:ext>
            </a:extLst>
          </p:cNvPr>
          <p:cNvPicPr>
            <a:picLocks noChangeAspect="1"/>
          </p:cNvPicPr>
          <p:nvPr/>
        </p:nvPicPr>
        <p:blipFill>
          <a:blip r:embed="rId5"/>
          <a:stretch>
            <a:fillRect/>
          </a:stretch>
        </p:blipFill>
        <p:spPr>
          <a:xfrm>
            <a:off x="1627269" y="5314925"/>
            <a:ext cx="2895851" cy="571550"/>
          </a:xfrm>
          <a:prstGeom prst="rect">
            <a:avLst/>
          </a:prstGeom>
        </p:spPr>
      </p:pic>
    </p:spTree>
    <p:extLst>
      <p:ext uri="{BB962C8B-B14F-4D97-AF65-F5344CB8AC3E}">
        <p14:creationId xmlns:p14="http://schemas.microsoft.com/office/powerpoint/2010/main" val="1891884891"/>
      </p:ext>
    </p:extLst>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3951026"/>
            <a:ext cx="11651131" cy="1785104"/>
          </a:xfrm>
          <a:prstGeom prst="rect">
            <a:avLst/>
          </a:prstGeom>
          <a:noFill/>
        </p:spPr>
        <p:txBody>
          <a:bodyPr wrap="square">
            <a:spAutoFit/>
          </a:bodyPr>
          <a:lstStyle/>
          <a:p>
            <a:r>
              <a:rPr lang="zh-CN" altLang="en-US" sz="2200" dirty="0"/>
              <a:t>从上述参数向量表达式的构造可以看出，</a:t>
            </a:r>
            <a:endParaRPr lang="en-US" altLang="zh-CN" sz="2200" dirty="0"/>
          </a:p>
          <a:p>
            <a:r>
              <a:rPr lang="zh-CN" altLang="en-US" sz="2200" dirty="0"/>
              <a:t>（</a:t>
            </a:r>
            <a:r>
              <a:rPr lang="en-US" altLang="zh-CN" sz="2200" dirty="0"/>
              <a:t>1</a:t>
            </a:r>
            <a:r>
              <a:rPr lang="zh-CN" altLang="en-US" sz="2200" dirty="0"/>
              <a:t>）前一层神经元的输出是当前网络层的输入；</a:t>
            </a:r>
          </a:p>
          <a:p>
            <a:r>
              <a:rPr lang="zh-CN" altLang="en-US" sz="2200" dirty="0"/>
              <a:t>（</a:t>
            </a:r>
            <a:r>
              <a:rPr lang="en-US" altLang="zh-CN" sz="2200" dirty="0"/>
              <a:t>2</a:t>
            </a:r>
            <a:r>
              <a:rPr lang="zh-CN" altLang="en-US" sz="2200" dirty="0"/>
              <a:t>）一个网络层的边的权值构成了一个权重参数矩阵，其中每一个神经元（当前层的输出</a:t>
            </a:r>
          </a:p>
          <a:p>
            <a:r>
              <a:rPr lang="zh-CN" altLang="en-US" sz="2200" dirty="0"/>
              <a:t>节点）对应着矩阵的一行，每一个输入节点对应着矩阵的一列；</a:t>
            </a:r>
            <a:endParaRPr lang="en-US" altLang="zh-CN" sz="2200" dirty="0"/>
          </a:p>
          <a:p>
            <a:r>
              <a:rPr lang="zh-CN" altLang="en-US" sz="2200" dirty="0"/>
              <a:t>（</a:t>
            </a:r>
            <a:r>
              <a:rPr lang="en-US" altLang="zh-CN" sz="2200" dirty="0"/>
              <a:t>3</a:t>
            </a:r>
            <a:r>
              <a:rPr lang="zh-CN" altLang="en-US" sz="2200" dirty="0"/>
              <a:t>）每个神经元一般都有一个偏置项。</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E5605B-0344-8FBE-9095-2087F2692366}"/>
                  </a:ext>
                </a:extLst>
              </p:cNvPr>
              <p:cNvSpPr txBox="1"/>
              <p:nvPr/>
            </p:nvSpPr>
            <p:spPr>
              <a:xfrm>
                <a:off x="677412" y="2180956"/>
                <a:ext cx="6119768" cy="430887"/>
              </a:xfrm>
              <a:prstGeom prst="rect">
                <a:avLst/>
              </a:prstGeom>
              <a:noFill/>
            </p:spPr>
            <p:txBody>
              <a:bodyPr wrap="square">
                <a:spAutoFit/>
              </a:bodyPr>
              <a:lstStyle/>
              <a:p>
                <a:r>
                  <a:rPr lang="zh-CN" altLang="en-US" sz="2200" dirty="0"/>
                  <a:t>其中，</a:t>
                </a:r>
                <a14:m>
                  <m:oMath xmlns:m="http://schemas.openxmlformats.org/officeDocument/2006/math">
                    <m:r>
                      <a:rPr lang="zh-CN" altLang="en-US" sz="2200" b="1" i="1">
                        <a:latin typeface="Cambria Math" panose="02040503050406030204" pitchFamily="18" charset="0"/>
                      </a:rPr>
                      <m:t>𝛔</m:t>
                    </m:r>
                  </m:oMath>
                </a14:m>
                <a:r>
                  <a:rPr lang="zh-CN" altLang="en-US" sz="2200" b="1" dirty="0"/>
                  <a:t>为激活函数</a:t>
                </a:r>
                <a:r>
                  <a:rPr lang="zh-CN" altLang="en-US" sz="2200" dirty="0"/>
                  <a:t>，另外：</a:t>
                </a:r>
              </a:p>
            </p:txBody>
          </p:sp>
        </mc:Choice>
        <mc:Fallback xmlns="">
          <p:sp>
            <p:nvSpPr>
              <p:cNvPr id="3" name="文本框 2">
                <a:extLst>
                  <a:ext uri="{FF2B5EF4-FFF2-40B4-BE49-F238E27FC236}">
                    <a16:creationId xmlns:a16="http://schemas.microsoft.com/office/drawing/2014/main" id="{73E5605B-0344-8FBE-9095-2087F2692366}"/>
                  </a:ext>
                </a:extLst>
              </p:cNvPr>
              <p:cNvSpPr txBox="1">
                <a:spLocks noRot="1" noChangeAspect="1" noMove="1" noResize="1" noEditPoints="1" noAdjustHandles="1" noChangeArrowheads="1" noChangeShapeType="1" noTextEdit="1"/>
              </p:cNvSpPr>
              <p:nvPr/>
            </p:nvSpPr>
            <p:spPr>
              <a:xfrm>
                <a:off x="677412" y="2180956"/>
                <a:ext cx="6119768" cy="430887"/>
              </a:xfrm>
              <a:prstGeom prst="rect">
                <a:avLst/>
              </a:prstGeom>
              <a:blipFill>
                <a:blip r:embed="rId3"/>
                <a:stretch>
                  <a:fillRect l="-1295" t="-8571" b="-30000"/>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13BB8E0E-1A61-C597-98C6-664C853B34B0}"/>
              </a:ext>
            </a:extLst>
          </p:cNvPr>
          <p:cNvPicPr>
            <a:picLocks noChangeAspect="1"/>
          </p:cNvPicPr>
          <p:nvPr/>
        </p:nvPicPr>
        <p:blipFill>
          <a:blip r:embed="rId4"/>
          <a:stretch>
            <a:fillRect/>
          </a:stretch>
        </p:blipFill>
        <p:spPr>
          <a:xfrm>
            <a:off x="2772797" y="2722009"/>
            <a:ext cx="5052498" cy="1051651"/>
          </a:xfrm>
          <a:prstGeom prst="rect">
            <a:avLst/>
          </a:prstGeom>
        </p:spPr>
      </p:pic>
    </p:spTree>
    <p:extLst>
      <p:ext uri="{BB962C8B-B14F-4D97-AF65-F5344CB8AC3E}">
        <p14:creationId xmlns:p14="http://schemas.microsoft.com/office/powerpoint/2010/main" val="2867181214"/>
      </p:ext>
    </p:extLst>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818406" y="2030544"/>
            <a:ext cx="11373594" cy="830997"/>
          </a:xfrm>
          <a:prstGeom prst="rect">
            <a:avLst/>
          </a:prstGeom>
          <a:noFill/>
        </p:spPr>
        <p:txBody>
          <a:bodyPr wrap="square">
            <a:spAutoFit/>
          </a:bodyPr>
          <a:lstStyle/>
          <a:p>
            <a:r>
              <a:rPr lang="zh-CN" altLang="en-US" sz="2200" dirty="0"/>
              <a:t>一般地，假设一个网络一共有 </a:t>
            </a:r>
            <a:r>
              <a:rPr lang="en-US" altLang="zh-CN" sz="2200" dirty="0"/>
              <a:t>o+1 </a:t>
            </a:r>
            <a:r>
              <a:rPr lang="zh-CN" altLang="en-US" sz="2200" dirty="0"/>
              <a:t>个网络层：第 </a:t>
            </a:r>
            <a:r>
              <a:rPr lang="en-US" altLang="zh-CN" sz="2200" dirty="0"/>
              <a:t>0 </a:t>
            </a:r>
            <a:r>
              <a:rPr lang="zh-CN" altLang="en-US" sz="2200" dirty="0"/>
              <a:t>层（输入层）、第 </a:t>
            </a:r>
            <a:r>
              <a:rPr lang="en-US" altLang="zh-CN" sz="2200" dirty="0"/>
              <a:t>1 </a:t>
            </a:r>
            <a:r>
              <a:rPr lang="zh-CN" altLang="en-US" sz="2200" dirty="0"/>
              <a:t>层、</a:t>
            </a:r>
            <a:r>
              <a:rPr lang="en-US" altLang="zh-CN" sz="2200" dirty="0"/>
              <a:t>…</a:t>
            </a:r>
            <a:r>
              <a:rPr lang="zh-CN" altLang="en-US" sz="2200" dirty="0"/>
              <a:t>、第 </a:t>
            </a:r>
            <a:r>
              <a:rPr lang="en-US" altLang="zh-CN" sz="2200" dirty="0"/>
              <a:t>o </a:t>
            </a:r>
            <a:r>
              <a:rPr lang="zh-CN" altLang="en-US" sz="2200" dirty="0"/>
              <a:t>层 （输出层），网络的输入为 </a:t>
            </a:r>
            <a:r>
              <a:rPr lang="en-US" altLang="zh-CN" sz="2200" dirty="0"/>
              <a:t>X</a:t>
            </a:r>
            <a:r>
              <a:rPr lang="zh-CN" altLang="en-US" sz="2200" dirty="0"/>
              <a:t>，则该网络的正向计算过程可表示如下</a:t>
            </a:r>
            <a:r>
              <a:rPr lang="zh-CN" altLang="en-US" sz="2400" dirty="0"/>
              <a:t>：</a:t>
            </a:r>
            <a:endParaRPr lang="zh-CN" altLang="en-US" sz="2200" dirty="0"/>
          </a:p>
        </p:txBody>
      </p:sp>
      <p:pic>
        <p:nvPicPr>
          <p:cNvPr id="4" name="图片 3">
            <a:extLst>
              <a:ext uri="{FF2B5EF4-FFF2-40B4-BE49-F238E27FC236}">
                <a16:creationId xmlns:a16="http://schemas.microsoft.com/office/drawing/2014/main" id="{AB30EA4A-31BC-0516-26AB-78EA5E9EBBB4}"/>
              </a:ext>
            </a:extLst>
          </p:cNvPr>
          <p:cNvPicPr>
            <a:picLocks noChangeAspect="1"/>
          </p:cNvPicPr>
          <p:nvPr/>
        </p:nvPicPr>
        <p:blipFill>
          <a:blip r:embed="rId3"/>
          <a:stretch>
            <a:fillRect/>
          </a:stretch>
        </p:blipFill>
        <p:spPr>
          <a:xfrm>
            <a:off x="3625118" y="2861541"/>
            <a:ext cx="2761907" cy="1933335"/>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887E4A8-6F95-B113-2688-CC1E5FEB78D8}"/>
                  </a:ext>
                </a:extLst>
              </p:cNvPr>
              <p:cNvSpPr txBox="1"/>
              <p:nvPr/>
            </p:nvSpPr>
            <p:spPr>
              <a:xfrm>
                <a:off x="888043" y="5131249"/>
                <a:ext cx="9245858" cy="792781"/>
              </a:xfrm>
              <a:prstGeom prst="rect">
                <a:avLst/>
              </a:prstGeom>
              <a:noFill/>
            </p:spPr>
            <p:txBody>
              <a:bodyPr wrap="square">
                <a:spAutoFit/>
              </a:bodyPr>
              <a:lstStyle/>
              <a:p>
                <a:r>
                  <a:rPr lang="zh-CN" altLang="en-US" sz="2200" dirty="0"/>
                  <a:t>其中，矩阵</a:t>
                </a:r>
                <a14:m>
                  <m:oMath xmlns:m="http://schemas.openxmlformats.org/officeDocument/2006/math">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𝑾</m:t>
                        </m:r>
                      </m:e>
                      <m:sup>
                        <m:r>
                          <a:rPr lang="en-US" altLang="zh-CN" sz="2200" dirty="0">
                            <a:latin typeface="Cambria Math" panose="02040503050406030204" pitchFamily="18" charset="0"/>
                          </a:rPr>
                          <m:t>(1)</m:t>
                        </m:r>
                      </m:sup>
                    </m:sSup>
                    <m:r>
                      <a:rPr lang="en-US" altLang="zh-CN" sz="2200" dirty="0">
                        <a:latin typeface="Cambria Math" panose="02040503050406030204" pitchFamily="18" charset="0"/>
                      </a:rPr>
                      <m:t>,</m:t>
                    </m:r>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𝑾</m:t>
                        </m:r>
                      </m:e>
                      <m:sup>
                        <m:r>
                          <a:rPr lang="en-US" altLang="zh-CN" sz="2200" dirty="0">
                            <a:latin typeface="Cambria Math" panose="02040503050406030204" pitchFamily="18" charset="0"/>
                          </a:rPr>
                          <m:t>(2)</m:t>
                        </m:r>
                      </m:sup>
                    </m:sSup>
                  </m:oMath>
                </a14:m>
                <a:r>
                  <a:rPr lang="en-US" altLang="zh-CN" sz="2200" dirty="0"/>
                  <a:t>, …, </a:t>
                </a:r>
                <a14:m>
                  <m:oMath xmlns:m="http://schemas.openxmlformats.org/officeDocument/2006/math">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𝑾</m:t>
                        </m:r>
                      </m:e>
                      <m:sup>
                        <m:r>
                          <a:rPr lang="en-US" altLang="zh-CN" sz="2200" dirty="0">
                            <a:latin typeface="Cambria Math" panose="02040503050406030204" pitchFamily="18" charset="0"/>
                          </a:rPr>
                          <m:t>(</m:t>
                        </m:r>
                        <m:r>
                          <a:rPr lang="en-US" altLang="zh-CN" sz="2200" dirty="0">
                            <a:latin typeface="Cambria Math" panose="02040503050406030204" pitchFamily="18" charset="0"/>
                          </a:rPr>
                          <m:t>𝑜</m:t>
                        </m:r>
                        <m:r>
                          <a:rPr lang="en-US" altLang="zh-CN" sz="2200" dirty="0">
                            <a:latin typeface="Cambria Math" panose="02040503050406030204" pitchFamily="18" charset="0"/>
                          </a:rPr>
                          <m:t>)</m:t>
                        </m:r>
                      </m:sup>
                    </m:sSup>
                  </m:oMath>
                </a14:m>
                <a:r>
                  <a:rPr lang="zh-CN" altLang="en-US" sz="2200" dirty="0"/>
                  <a:t>以及向量</a:t>
                </a:r>
                <a14:m>
                  <m:oMath xmlns:m="http://schemas.openxmlformats.org/officeDocument/2006/math">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𝒃</m:t>
                        </m:r>
                      </m:e>
                      <m:sup>
                        <m:r>
                          <a:rPr lang="en-US" altLang="zh-CN" sz="2200" dirty="0">
                            <a:latin typeface="Cambria Math" panose="02040503050406030204" pitchFamily="18" charset="0"/>
                          </a:rPr>
                          <m:t>(1)</m:t>
                        </m:r>
                      </m:sup>
                    </m:sSup>
                    <m:r>
                      <a:rPr lang="en-US" altLang="zh-CN" sz="2200" dirty="0">
                        <a:latin typeface="Cambria Math" panose="02040503050406030204" pitchFamily="18" charset="0"/>
                      </a:rPr>
                      <m:t>,</m:t>
                    </m:r>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𝒃</m:t>
                        </m:r>
                      </m:e>
                      <m:sup>
                        <m:r>
                          <a:rPr lang="en-US" altLang="zh-CN" sz="2200" dirty="0">
                            <a:latin typeface="Cambria Math" panose="02040503050406030204" pitchFamily="18" charset="0"/>
                          </a:rPr>
                          <m:t>(2)</m:t>
                        </m:r>
                      </m:sup>
                    </m:sSup>
                  </m:oMath>
                </a14:m>
                <a:r>
                  <a:rPr lang="en-US" altLang="zh-CN" sz="2200" dirty="0"/>
                  <a:t>, …, </a:t>
                </a:r>
                <a14:m>
                  <m:oMath xmlns:m="http://schemas.openxmlformats.org/officeDocument/2006/math">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𝒃</m:t>
                        </m:r>
                      </m:e>
                      <m:sup>
                        <m:r>
                          <a:rPr lang="en-US" altLang="zh-CN" sz="2200" dirty="0">
                            <a:latin typeface="Cambria Math" panose="02040503050406030204" pitchFamily="18" charset="0"/>
                          </a:rPr>
                          <m:t>(</m:t>
                        </m:r>
                        <m:r>
                          <a:rPr lang="en-US" altLang="zh-CN" sz="2200" dirty="0">
                            <a:latin typeface="Cambria Math" panose="02040503050406030204" pitchFamily="18" charset="0"/>
                          </a:rPr>
                          <m:t>𝑜</m:t>
                        </m:r>
                        <m:r>
                          <a:rPr lang="en-US" altLang="zh-CN" sz="2200" dirty="0">
                            <a:latin typeface="Cambria Math" panose="02040503050406030204" pitchFamily="18" charset="0"/>
                          </a:rPr>
                          <m:t>)</m:t>
                        </m:r>
                      </m:sup>
                    </m:sSup>
                  </m:oMath>
                </a14:m>
                <a:r>
                  <a:rPr lang="zh-CN" altLang="en-US" sz="2200" dirty="0"/>
                  <a:t>包含的参数即为所有待优化和</a:t>
                </a:r>
                <a:r>
                  <a:rPr lang="zh-CN" altLang="en-US" sz="2200" b="1" dirty="0"/>
                  <a:t>学习的参数</a:t>
                </a:r>
                <a:r>
                  <a:rPr lang="zh-CN" altLang="en-US" sz="2200" dirty="0"/>
                  <a:t>，</a:t>
                </a:r>
                <a14:m>
                  <m:oMath xmlns:m="http://schemas.openxmlformats.org/officeDocument/2006/math">
                    <m:acc>
                      <m:accPr>
                        <m:chr m:val="̂"/>
                        <m:ctrlPr>
                          <a:rPr lang="zh-CN" altLang="en-US" sz="2200" i="1">
                            <a:latin typeface="Cambria Math" panose="02040503050406030204" pitchFamily="18" charset="0"/>
                          </a:rPr>
                        </m:ctrlPr>
                      </m:accPr>
                      <m:e>
                        <m:r>
                          <a:rPr lang="en-US" altLang="zh-CN" sz="2200">
                            <a:latin typeface="Cambria Math" panose="02040503050406030204" pitchFamily="18" charset="0"/>
                          </a:rPr>
                          <m:t>𝒀</m:t>
                        </m:r>
                      </m:e>
                    </m:acc>
                  </m:oMath>
                </a14:m>
                <a:r>
                  <a:rPr lang="zh-CN" altLang="en-US" sz="2200" dirty="0"/>
                  <a:t>表示网络的最终输出向量。 </a:t>
                </a:r>
              </a:p>
            </p:txBody>
          </p:sp>
        </mc:Choice>
        <mc:Fallback xmlns="">
          <p:sp>
            <p:nvSpPr>
              <p:cNvPr id="7" name="文本框 6">
                <a:extLst>
                  <a:ext uri="{FF2B5EF4-FFF2-40B4-BE49-F238E27FC236}">
                    <a16:creationId xmlns:a16="http://schemas.microsoft.com/office/drawing/2014/main" id="{1887E4A8-6F95-B113-2688-CC1E5FEB78D8}"/>
                  </a:ext>
                </a:extLst>
              </p:cNvPr>
              <p:cNvSpPr txBox="1">
                <a:spLocks noRot="1" noChangeAspect="1" noMove="1" noResize="1" noEditPoints="1" noAdjustHandles="1" noChangeArrowheads="1" noChangeShapeType="1" noTextEdit="1"/>
              </p:cNvSpPr>
              <p:nvPr/>
            </p:nvSpPr>
            <p:spPr>
              <a:xfrm>
                <a:off x="888043" y="5131249"/>
                <a:ext cx="9245858" cy="792781"/>
              </a:xfrm>
              <a:prstGeom prst="rect">
                <a:avLst/>
              </a:prstGeom>
              <a:blipFill>
                <a:blip r:embed="rId4"/>
                <a:stretch>
                  <a:fillRect l="-858" t="-3846" b="-15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4879311"/>
      </p:ext>
    </p:extLst>
  </p:cSld>
  <p:clrMapOvr>
    <a:masterClrMapping/>
  </p:clrMapOvr>
  <p:transition spd="slow"/>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270434" y="2069880"/>
                <a:ext cx="11651131" cy="1130246"/>
              </a:xfrm>
              <a:prstGeom prst="rect">
                <a:avLst/>
              </a:prstGeom>
              <a:noFill/>
            </p:spPr>
            <p:txBody>
              <a:bodyPr wrap="square">
                <a:spAutoFit/>
              </a:bodyPr>
              <a:lstStyle/>
              <a:p>
                <a:r>
                  <a:rPr lang="en-US" altLang="zh-CN" sz="2200" b="1" dirty="0"/>
                  <a:t>【</a:t>
                </a:r>
                <a:r>
                  <a:rPr lang="zh-CN" altLang="en-US" sz="2200" b="1" dirty="0"/>
                  <a:t>例 </a:t>
                </a:r>
                <a:r>
                  <a:rPr lang="en-US" altLang="zh-CN" sz="2200" b="1" dirty="0"/>
                  <a:t>3.5】</a:t>
                </a:r>
                <a:r>
                  <a:rPr lang="zh-CN" altLang="en-US" sz="2200" dirty="0"/>
                  <a:t>假设有一个全连接神经网络，其结构和各边权值如图 </a:t>
                </a:r>
                <a:r>
                  <a:rPr lang="en-US" altLang="zh-CN" sz="2200" dirty="0"/>
                  <a:t>3-12 </a:t>
                </a:r>
                <a:r>
                  <a:rPr lang="zh-CN" altLang="en-US" sz="2200" dirty="0"/>
                  <a:t>所示，其中各神经</a:t>
                </a:r>
              </a:p>
              <a:p>
                <a:r>
                  <a:rPr lang="zh-CN" altLang="en-US" sz="2200" dirty="0"/>
                  <a:t>元节点下方标注的是相应的偏置项，并假设激活函数</a:t>
                </a:r>
                <a14:m>
                  <m:oMath xmlns:m="http://schemas.openxmlformats.org/officeDocument/2006/math">
                    <m:r>
                      <a:rPr lang="zh-CN" altLang="en-US" sz="2400" b="1" i="1" smtClean="0">
                        <a:latin typeface="Cambria Math" panose="02040503050406030204" pitchFamily="18" charset="0"/>
                      </a:rPr>
                      <m:t>𝝈</m:t>
                    </m:r>
                  </m:oMath>
                </a14:m>
                <a:r>
                  <a:rPr lang="zh-CN" altLang="en-US" sz="2200" b="1" dirty="0"/>
                  <a:t>是恒等映射</a:t>
                </a:r>
                <a:r>
                  <a:rPr lang="zh-CN" altLang="en-US" sz="2200" dirty="0"/>
                  <a:t>（相当于没有激活函数）。</a:t>
                </a:r>
              </a:p>
              <a:p>
                <a:r>
                  <a:rPr lang="zh-CN" altLang="en-US" sz="2200" dirty="0"/>
                  <a:t>请给出每一层的输出结果和计算出网络中待优化参数的数量。</a:t>
                </a:r>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270434" y="2069880"/>
                <a:ext cx="11651131" cy="1130246"/>
              </a:xfrm>
              <a:prstGeom prst="rect">
                <a:avLst/>
              </a:prstGeom>
              <a:blipFill>
                <a:blip r:embed="rId3"/>
                <a:stretch>
                  <a:fillRect l="-680" t="-3784" b="-1027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82418886-64E0-488C-0A23-707335DCC1B2}"/>
              </a:ext>
            </a:extLst>
          </p:cNvPr>
          <p:cNvPicPr>
            <a:picLocks noChangeAspect="1"/>
          </p:cNvPicPr>
          <p:nvPr/>
        </p:nvPicPr>
        <p:blipFill>
          <a:blip r:embed="rId4"/>
          <a:stretch>
            <a:fillRect/>
          </a:stretch>
        </p:blipFill>
        <p:spPr>
          <a:xfrm>
            <a:off x="3134610" y="3431296"/>
            <a:ext cx="3772411" cy="2443243"/>
          </a:xfrm>
          <a:prstGeom prst="rect">
            <a:avLst/>
          </a:prstGeom>
        </p:spPr>
      </p:pic>
    </p:spTree>
    <p:extLst>
      <p:ext uri="{BB962C8B-B14F-4D97-AF65-F5344CB8AC3E}">
        <p14:creationId xmlns:p14="http://schemas.microsoft.com/office/powerpoint/2010/main" val="889068408"/>
      </p:ext>
    </p:extLst>
  </p:cSld>
  <p:clrMapOvr>
    <a:masterClrMapping/>
  </p:clrMapOvr>
  <p:transition spd="slow"/>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198777" y="2155600"/>
            <a:ext cx="11651131" cy="769441"/>
          </a:xfrm>
          <a:prstGeom prst="rect">
            <a:avLst/>
          </a:prstGeom>
          <a:noFill/>
        </p:spPr>
        <p:txBody>
          <a:bodyPr wrap="square">
            <a:spAutoFit/>
          </a:bodyPr>
          <a:lstStyle/>
          <a:p>
            <a:r>
              <a:rPr lang="zh-CN" altLang="en-US" sz="2200" dirty="0"/>
              <a:t>下面按上述公式计算网络每一层的输出和最终的输出结果。</a:t>
            </a:r>
          </a:p>
          <a:p>
            <a:r>
              <a:rPr lang="zh-CN" altLang="en-US" sz="2200" dirty="0"/>
              <a:t>（</a:t>
            </a:r>
            <a:r>
              <a:rPr lang="en-US" altLang="zh-CN" sz="2200" dirty="0"/>
              <a:t>1</a:t>
            </a:r>
            <a:r>
              <a:rPr lang="zh-CN" altLang="en-US" sz="2200" dirty="0"/>
              <a:t>）根据网络结构及其标注，我们得到：</a:t>
            </a:r>
          </a:p>
        </p:txBody>
      </p:sp>
      <p:pic>
        <p:nvPicPr>
          <p:cNvPr id="4" name="图片 3">
            <a:extLst>
              <a:ext uri="{FF2B5EF4-FFF2-40B4-BE49-F238E27FC236}">
                <a16:creationId xmlns:a16="http://schemas.microsoft.com/office/drawing/2014/main" id="{4D058A1B-E03E-661F-259E-BDA3D4459577}"/>
              </a:ext>
            </a:extLst>
          </p:cNvPr>
          <p:cNvPicPr>
            <a:picLocks noChangeAspect="1"/>
          </p:cNvPicPr>
          <p:nvPr/>
        </p:nvPicPr>
        <p:blipFill>
          <a:blip r:embed="rId3"/>
          <a:stretch>
            <a:fillRect/>
          </a:stretch>
        </p:blipFill>
        <p:spPr>
          <a:xfrm>
            <a:off x="859152" y="3204595"/>
            <a:ext cx="3727537" cy="2592485"/>
          </a:xfrm>
          <a:prstGeom prst="rect">
            <a:avLst/>
          </a:prstGeom>
        </p:spPr>
      </p:pic>
      <p:pic>
        <p:nvPicPr>
          <p:cNvPr id="11" name="图片 10">
            <a:extLst>
              <a:ext uri="{FF2B5EF4-FFF2-40B4-BE49-F238E27FC236}">
                <a16:creationId xmlns:a16="http://schemas.microsoft.com/office/drawing/2014/main" id="{271DFA28-BDBE-22B1-FC2F-41ABD236347C}"/>
              </a:ext>
            </a:extLst>
          </p:cNvPr>
          <p:cNvPicPr>
            <a:picLocks noChangeAspect="1"/>
          </p:cNvPicPr>
          <p:nvPr/>
        </p:nvPicPr>
        <p:blipFill>
          <a:blip r:embed="rId4"/>
          <a:stretch>
            <a:fillRect/>
          </a:stretch>
        </p:blipFill>
        <p:spPr>
          <a:xfrm>
            <a:off x="5081456" y="3002810"/>
            <a:ext cx="5047714" cy="2794270"/>
          </a:xfrm>
          <a:prstGeom prst="rect">
            <a:avLst/>
          </a:prstGeom>
        </p:spPr>
      </p:pic>
    </p:spTree>
    <p:extLst>
      <p:ext uri="{BB962C8B-B14F-4D97-AF65-F5344CB8AC3E}">
        <p14:creationId xmlns:p14="http://schemas.microsoft.com/office/powerpoint/2010/main" val="3492211349"/>
      </p:ext>
    </p:extLst>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4486227"/>
            <a:ext cx="11651131" cy="1107996"/>
          </a:xfrm>
          <a:prstGeom prst="rect">
            <a:avLst/>
          </a:prstGeom>
          <a:noFill/>
        </p:spPr>
        <p:txBody>
          <a:bodyPr wrap="square">
            <a:spAutoFit/>
          </a:bodyPr>
          <a:lstStyle/>
          <a:p>
            <a:r>
              <a:rPr lang="zh-CN" altLang="en-US" sz="2200" dirty="0"/>
              <a:t>这个例子展示了该网络的正向计算过程。同时也说明，当输入数值比较大时，如 </a:t>
            </a:r>
            <a:r>
              <a:rPr lang="en-US" altLang="zh-CN" sz="2200" dirty="0"/>
              <a:t>180</a:t>
            </a:r>
            <a:r>
              <a:rPr lang="zh-CN" altLang="en-US" sz="2200" dirty="0"/>
              <a:t>、 </a:t>
            </a:r>
            <a:r>
              <a:rPr lang="en-US" altLang="zh-CN" sz="2200" dirty="0"/>
              <a:t>300</a:t>
            </a:r>
            <a:r>
              <a:rPr lang="zh-CN" altLang="en-US" sz="2200" dirty="0"/>
              <a:t>、</a:t>
            </a:r>
            <a:r>
              <a:rPr lang="en-US" altLang="zh-CN" sz="2200" dirty="0"/>
              <a:t>450</a:t>
            </a:r>
            <a:r>
              <a:rPr lang="zh-CN" altLang="en-US" sz="2200" dirty="0"/>
              <a:t>，这些数值被 </a:t>
            </a:r>
            <a:r>
              <a:rPr lang="en-US" altLang="zh-CN" sz="2200" dirty="0"/>
              <a:t>sigmoid </a:t>
            </a:r>
            <a:r>
              <a:rPr lang="zh-CN" altLang="en-US" sz="2200" dirty="0"/>
              <a:t>函数视为几乎一样大小，从而失去它们对事物的区分能力。 因此，当使用 </a:t>
            </a:r>
            <a:r>
              <a:rPr lang="en-US" altLang="zh-CN" sz="2200" b="1" dirty="0"/>
              <a:t>sigmoid </a:t>
            </a:r>
            <a:r>
              <a:rPr lang="zh-CN" altLang="en-US" sz="2200" dirty="0"/>
              <a:t>作为激活函数时，最好先对</a:t>
            </a:r>
            <a:r>
              <a:rPr lang="zh-CN" altLang="en-US" sz="2200" b="1" dirty="0"/>
              <a:t>数据进行归一化</a:t>
            </a:r>
            <a:r>
              <a:rPr lang="zh-CN" altLang="en-US" sz="2200" dirty="0"/>
              <a:t>。</a:t>
            </a:r>
          </a:p>
        </p:txBody>
      </p:sp>
      <p:pic>
        <p:nvPicPr>
          <p:cNvPr id="13" name="图片 12">
            <a:extLst>
              <a:ext uri="{FF2B5EF4-FFF2-40B4-BE49-F238E27FC236}">
                <a16:creationId xmlns:a16="http://schemas.microsoft.com/office/drawing/2014/main" id="{9E4BD478-3F88-37BE-4363-691110BCE3EB}"/>
              </a:ext>
            </a:extLst>
          </p:cNvPr>
          <p:cNvPicPr>
            <a:picLocks noChangeAspect="1"/>
          </p:cNvPicPr>
          <p:nvPr/>
        </p:nvPicPr>
        <p:blipFill>
          <a:blip r:embed="rId3"/>
          <a:stretch>
            <a:fillRect/>
          </a:stretch>
        </p:blipFill>
        <p:spPr>
          <a:xfrm>
            <a:off x="826158" y="1866552"/>
            <a:ext cx="3003436" cy="2488384"/>
          </a:xfrm>
          <a:prstGeom prst="rect">
            <a:avLst/>
          </a:prstGeom>
        </p:spPr>
      </p:pic>
      <p:pic>
        <p:nvPicPr>
          <p:cNvPr id="3" name="图片 2">
            <a:extLst>
              <a:ext uri="{FF2B5EF4-FFF2-40B4-BE49-F238E27FC236}">
                <a16:creationId xmlns:a16="http://schemas.microsoft.com/office/drawing/2014/main" id="{E4E415DF-D362-880F-5E66-970DEBD661C0}"/>
              </a:ext>
            </a:extLst>
          </p:cNvPr>
          <p:cNvPicPr>
            <a:picLocks noChangeAspect="1"/>
          </p:cNvPicPr>
          <p:nvPr/>
        </p:nvPicPr>
        <p:blipFill>
          <a:blip r:embed="rId4"/>
          <a:stretch>
            <a:fillRect/>
          </a:stretch>
        </p:blipFill>
        <p:spPr>
          <a:xfrm>
            <a:off x="4425113" y="1866552"/>
            <a:ext cx="7051243" cy="2250673"/>
          </a:xfrm>
          <a:prstGeom prst="rect">
            <a:avLst/>
          </a:prstGeom>
        </p:spPr>
      </p:pic>
    </p:spTree>
    <p:extLst>
      <p:ext uri="{BB962C8B-B14F-4D97-AF65-F5344CB8AC3E}">
        <p14:creationId xmlns:p14="http://schemas.microsoft.com/office/powerpoint/2010/main" val="2228634972"/>
      </p:ext>
    </p:extLst>
  </p:cSld>
  <p:clrMapOvr>
    <a:masterClrMapping/>
  </p:clrMapOvr>
  <p:transition spd="slow"/>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198777" y="2001881"/>
            <a:ext cx="11651131" cy="3139321"/>
          </a:xfrm>
          <a:prstGeom prst="rect">
            <a:avLst/>
          </a:prstGeom>
          <a:noFill/>
        </p:spPr>
        <p:txBody>
          <a:bodyPr wrap="square">
            <a:spAutoFit/>
          </a:bodyPr>
          <a:lstStyle/>
          <a:p>
            <a:r>
              <a:rPr lang="zh-CN" altLang="en-US" sz="2200" dirty="0"/>
              <a:t>对图 </a:t>
            </a:r>
            <a:r>
              <a:rPr lang="en-US" altLang="zh-CN" sz="2200" dirty="0"/>
              <a:t>3-12 </a:t>
            </a:r>
            <a:r>
              <a:rPr lang="zh-CN" altLang="en-US" sz="2200" dirty="0"/>
              <a:t>所示的神经网络，我们也可以在 </a:t>
            </a:r>
            <a:r>
              <a:rPr lang="en-US" altLang="zh-CN" sz="2200" b="1" dirty="0" err="1"/>
              <a:t>PyTorch</a:t>
            </a:r>
            <a:r>
              <a:rPr lang="en-US" altLang="zh-CN" sz="2200" b="1" dirty="0"/>
              <a:t> </a:t>
            </a:r>
            <a:r>
              <a:rPr lang="zh-CN" altLang="en-US" sz="2200" dirty="0"/>
              <a:t>中用手工构建出来。其基本思路是， 先定义包含对应两个全连接网络层的 </a:t>
            </a:r>
            <a:r>
              <a:rPr lang="en-US" altLang="zh-CN" sz="2200" b="1" dirty="0" err="1"/>
              <a:t>nn.Module</a:t>
            </a:r>
            <a:r>
              <a:rPr lang="en-US" altLang="zh-CN" sz="2200" b="1" dirty="0"/>
              <a:t> </a:t>
            </a:r>
            <a:r>
              <a:rPr lang="zh-CN" altLang="en-US" sz="2200" b="1" dirty="0"/>
              <a:t>子类</a:t>
            </a:r>
            <a:r>
              <a:rPr lang="zh-CN" altLang="en-US" sz="2200" dirty="0"/>
              <a:t>，然后对其</a:t>
            </a:r>
            <a:r>
              <a:rPr lang="zh-CN" altLang="en-US" sz="2200" b="1" dirty="0"/>
              <a:t>实例化</a:t>
            </a:r>
            <a:r>
              <a:rPr lang="zh-CN" altLang="en-US" sz="2200" dirty="0"/>
              <a:t>，建立网络的模型对象，接着用手工构建相应的权重矩阵，并以之更新模型中相应的网络层参数，最后手工构造输入张量 </a:t>
            </a:r>
            <a:r>
              <a:rPr lang="en-US" altLang="zh-CN" sz="2200" dirty="0"/>
              <a:t>X </a:t>
            </a:r>
            <a:r>
              <a:rPr lang="zh-CN" altLang="en-US" sz="2200" dirty="0"/>
              <a:t>并送入模型进行计算。相关代码如下：</a:t>
            </a:r>
            <a:endParaRPr lang="en-US" altLang="zh-CN" sz="2200" dirty="0"/>
          </a:p>
          <a:p>
            <a:endParaRPr lang="en-US" altLang="zh-CN" sz="2200" dirty="0"/>
          </a:p>
          <a:p>
            <a:r>
              <a:rPr lang="en-US" altLang="zh-CN" sz="2200" dirty="0">
                <a:solidFill>
                  <a:srgbClr val="00B050"/>
                </a:solidFill>
              </a:rPr>
              <a:t>fcNet.layer1.state_dict()['weight'].copy_(W1) #</a:t>
            </a:r>
            <a:r>
              <a:rPr lang="zh-CN" altLang="en-US" sz="2200" dirty="0">
                <a:solidFill>
                  <a:srgbClr val="00B050"/>
                </a:solidFill>
              </a:rPr>
              <a:t>将第 </a:t>
            </a:r>
            <a:r>
              <a:rPr lang="en-US" altLang="zh-CN" sz="2200" dirty="0">
                <a:solidFill>
                  <a:srgbClr val="00B050"/>
                </a:solidFill>
              </a:rPr>
              <a:t>1 </a:t>
            </a:r>
            <a:r>
              <a:rPr lang="zh-CN" altLang="en-US" sz="2200" dirty="0">
                <a:solidFill>
                  <a:srgbClr val="00B050"/>
                </a:solidFill>
              </a:rPr>
              <a:t>层上的参数设置为 </a:t>
            </a:r>
            <a:r>
              <a:rPr lang="en-US" altLang="zh-CN" sz="2200" dirty="0">
                <a:solidFill>
                  <a:srgbClr val="00B050"/>
                </a:solidFill>
              </a:rPr>
              <a:t>W1 </a:t>
            </a:r>
            <a:r>
              <a:rPr lang="zh-CN" altLang="en-US" sz="2200" dirty="0">
                <a:solidFill>
                  <a:srgbClr val="00B050"/>
                </a:solidFill>
              </a:rPr>
              <a:t>中的参数 </a:t>
            </a:r>
            <a:r>
              <a:rPr lang="en-US" altLang="zh-CN" sz="2200" dirty="0">
                <a:solidFill>
                  <a:srgbClr val="00B050"/>
                </a:solidFill>
              </a:rPr>
              <a:t>fcNet.layer2.state_dict()['weight'].copy_(W2) #</a:t>
            </a:r>
            <a:r>
              <a:rPr lang="zh-CN" altLang="en-US" sz="2200" dirty="0">
                <a:solidFill>
                  <a:srgbClr val="00B050"/>
                </a:solidFill>
              </a:rPr>
              <a:t>将第 </a:t>
            </a:r>
            <a:r>
              <a:rPr lang="en-US" altLang="zh-CN" sz="2200" dirty="0">
                <a:solidFill>
                  <a:srgbClr val="00B050"/>
                </a:solidFill>
              </a:rPr>
              <a:t>2 </a:t>
            </a:r>
            <a:r>
              <a:rPr lang="zh-CN" altLang="en-US" sz="2200" dirty="0">
                <a:solidFill>
                  <a:srgbClr val="00B050"/>
                </a:solidFill>
              </a:rPr>
              <a:t>层上的参数设置为 </a:t>
            </a:r>
            <a:r>
              <a:rPr lang="en-US" altLang="zh-CN" sz="2200" dirty="0">
                <a:solidFill>
                  <a:srgbClr val="00B050"/>
                </a:solidFill>
              </a:rPr>
              <a:t>W2 </a:t>
            </a:r>
            <a:r>
              <a:rPr lang="zh-CN" altLang="en-US" sz="2200" dirty="0">
                <a:solidFill>
                  <a:srgbClr val="00B050"/>
                </a:solidFill>
              </a:rPr>
              <a:t>中的参数 </a:t>
            </a:r>
            <a:r>
              <a:rPr lang="en-US" altLang="zh-CN" sz="2200" dirty="0">
                <a:solidFill>
                  <a:srgbClr val="00B050"/>
                </a:solidFill>
              </a:rPr>
              <a:t>fcNet.layer1.state_dict()['bias'].copy_(b1) #</a:t>
            </a:r>
            <a:r>
              <a:rPr lang="zh-CN" altLang="en-US" sz="2200" dirty="0">
                <a:solidFill>
                  <a:srgbClr val="00B050"/>
                </a:solidFill>
              </a:rPr>
              <a:t>将第 </a:t>
            </a:r>
            <a:r>
              <a:rPr lang="en-US" altLang="zh-CN" sz="2200" dirty="0">
                <a:solidFill>
                  <a:srgbClr val="00B050"/>
                </a:solidFill>
              </a:rPr>
              <a:t>1 </a:t>
            </a:r>
            <a:r>
              <a:rPr lang="zh-CN" altLang="en-US" sz="2200" dirty="0">
                <a:solidFill>
                  <a:srgbClr val="00B050"/>
                </a:solidFill>
              </a:rPr>
              <a:t>层上的偏置项设置为 </a:t>
            </a:r>
            <a:r>
              <a:rPr lang="en-US" altLang="zh-CN" sz="2200" dirty="0">
                <a:solidFill>
                  <a:srgbClr val="00B050"/>
                </a:solidFill>
              </a:rPr>
              <a:t>b1 </a:t>
            </a:r>
            <a:r>
              <a:rPr lang="zh-CN" altLang="en-US" sz="2200" dirty="0">
                <a:solidFill>
                  <a:srgbClr val="00B050"/>
                </a:solidFill>
              </a:rPr>
              <a:t>中的参数 </a:t>
            </a:r>
            <a:r>
              <a:rPr lang="en-US" altLang="zh-CN" sz="2200" dirty="0">
                <a:solidFill>
                  <a:srgbClr val="00B050"/>
                </a:solidFill>
              </a:rPr>
              <a:t>fcNet.layer2.state_dict()['bias'].copy_(b2) #</a:t>
            </a:r>
            <a:r>
              <a:rPr lang="zh-CN" altLang="en-US" sz="2200" dirty="0">
                <a:solidFill>
                  <a:srgbClr val="00B050"/>
                </a:solidFill>
              </a:rPr>
              <a:t>将第 </a:t>
            </a:r>
            <a:r>
              <a:rPr lang="en-US" altLang="zh-CN" sz="2200" dirty="0">
                <a:solidFill>
                  <a:srgbClr val="00B050"/>
                </a:solidFill>
              </a:rPr>
              <a:t>2 </a:t>
            </a:r>
            <a:r>
              <a:rPr lang="zh-CN" altLang="en-US" sz="2200" dirty="0">
                <a:solidFill>
                  <a:srgbClr val="00B050"/>
                </a:solidFill>
              </a:rPr>
              <a:t>层上的偏置项设置为 </a:t>
            </a:r>
            <a:r>
              <a:rPr lang="en-US" altLang="zh-CN" sz="2200" dirty="0">
                <a:solidFill>
                  <a:srgbClr val="00B050"/>
                </a:solidFill>
              </a:rPr>
              <a:t>b2 </a:t>
            </a:r>
            <a:r>
              <a:rPr lang="zh-CN" altLang="en-US" sz="2200" dirty="0">
                <a:solidFill>
                  <a:srgbClr val="00B050"/>
                </a:solidFill>
              </a:rPr>
              <a:t>中的参数</a:t>
            </a:r>
            <a:endParaRPr lang="en-US" altLang="zh-CN" sz="2200" dirty="0">
              <a:solidFill>
                <a:srgbClr val="00B050"/>
              </a:solidFill>
            </a:endParaRPr>
          </a:p>
        </p:txBody>
      </p:sp>
    </p:spTree>
    <p:extLst>
      <p:ext uri="{BB962C8B-B14F-4D97-AF65-F5344CB8AC3E}">
        <p14:creationId xmlns:p14="http://schemas.microsoft.com/office/powerpoint/2010/main" val="3250990536"/>
      </p:ext>
    </p:extLst>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893102" y="2474025"/>
            <a:ext cx="2888131" cy="430887"/>
          </a:xfrm>
          <a:prstGeom prst="rect">
            <a:avLst/>
          </a:prstGeom>
          <a:noFill/>
        </p:spPr>
        <p:txBody>
          <a:bodyPr wrap="square">
            <a:spAutoFit/>
          </a:bodyPr>
          <a:lstStyle/>
          <a:p>
            <a:r>
              <a:rPr lang="en-US" altLang="zh-CN" sz="2200" dirty="0">
                <a:solidFill>
                  <a:srgbClr val="00B050"/>
                </a:solidFill>
              </a:rPr>
              <a:t>print(</a:t>
            </a:r>
            <a:r>
              <a:rPr lang="en-US" altLang="zh-CN" sz="2200" dirty="0" err="1">
                <a:solidFill>
                  <a:srgbClr val="00B050"/>
                </a:solidFill>
              </a:rPr>
              <a:t>pre_Y.data.long</a:t>
            </a:r>
            <a:r>
              <a:rPr lang="en-US" altLang="zh-CN" sz="2200" dirty="0">
                <a:solidFill>
                  <a:srgbClr val="00B050"/>
                </a:solidFill>
              </a:rPr>
              <a:t>())</a:t>
            </a:r>
            <a:endParaRPr lang="zh-CN" altLang="en-US" sz="2200" dirty="0">
              <a:solidFill>
                <a:srgbClr val="00B050"/>
              </a:solidFill>
            </a:endParaRPr>
          </a:p>
        </p:txBody>
      </p:sp>
      <p:pic>
        <p:nvPicPr>
          <p:cNvPr id="3" name="图片 2">
            <a:extLst>
              <a:ext uri="{FF2B5EF4-FFF2-40B4-BE49-F238E27FC236}">
                <a16:creationId xmlns:a16="http://schemas.microsoft.com/office/drawing/2014/main" id="{D226A648-4674-8BE4-AF51-153E79F9D30E}"/>
              </a:ext>
            </a:extLst>
          </p:cNvPr>
          <p:cNvPicPr>
            <a:picLocks noChangeAspect="1"/>
          </p:cNvPicPr>
          <p:nvPr/>
        </p:nvPicPr>
        <p:blipFill>
          <a:blip r:embed="rId3"/>
          <a:stretch>
            <a:fillRect/>
          </a:stretch>
        </p:blipFill>
        <p:spPr>
          <a:xfrm>
            <a:off x="6678686" y="2256435"/>
            <a:ext cx="2255715" cy="685859"/>
          </a:xfrm>
          <a:prstGeom prst="rect">
            <a:avLst/>
          </a:prstGeom>
        </p:spPr>
      </p:pic>
      <p:sp>
        <p:nvSpPr>
          <p:cNvPr id="6" name="文本框 5">
            <a:extLst>
              <a:ext uri="{FF2B5EF4-FFF2-40B4-BE49-F238E27FC236}">
                <a16:creationId xmlns:a16="http://schemas.microsoft.com/office/drawing/2014/main" id="{4208D862-789A-4C01-B528-4E27D401E118}"/>
              </a:ext>
            </a:extLst>
          </p:cNvPr>
          <p:cNvSpPr txBox="1"/>
          <p:nvPr/>
        </p:nvSpPr>
        <p:spPr>
          <a:xfrm>
            <a:off x="585372" y="3610446"/>
            <a:ext cx="9094959" cy="1785104"/>
          </a:xfrm>
          <a:prstGeom prst="rect">
            <a:avLst/>
          </a:prstGeom>
          <a:noFill/>
        </p:spPr>
        <p:txBody>
          <a:bodyPr wrap="square">
            <a:spAutoFit/>
          </a:bodyPr>
          <a:lstStyle/>
          <a:p>
            <a:r>
              <a:rPr lang="zh-CN" altLang="en-US" sz="2200" dirty="0"/>
              <a:t>可以看到，这个结果和我们上面手工算出来的结果是一样的。这里例子同时也告诉我们 如何利用已有的参数去更新模型中的相应参数。 另外，如果想使用</a:t>
            </a:r>
            <a:r>
              <a:rPr lang="en-US" altLang="zh-CN" sz="2200" dirty="0"/>
              <a:t>sigmoid</a:t>
            </a:r>
            <a:r>
              <a:rPr lang="zh-CN" altLang="en-US" sz="2200" dirty="0"/>
              <a:t>激活函数，只需在</a:t>
            </a:r>
            <a:r>
              <a:rPr lang="en-US" altLang="zh-CN" sz="2200" b="1" dirty="0"/>
              <a:t>forward()</a:t>
            </a:r>
            <a:r>
              <a:rPr lang="zh-CN" altLang="en-US" sz="2200" b="1" dirty="0"/>
              <a:t>方法</a:t>
            </a:r>
            <a:r>
              <a:rPr lang="zh-CN" altLang="en-US" sz="2200" dirty="0"/>
              <a:t>中放开相应的注释代码即可。运算后，输出的结果是：</a:t>
            </a:r>
            <a:r>
              <a:rPr lang="en-US" altLang="zh-CN" sz="2200" dirty="0"/>
              <a:t>tensor([1, 0])</a:t>
            </a:r>
            <a:r>
              <a:rPr lang="zh-CN" altLang="en-US" sz="2200" dirty="0"/>
              <a:t>，这与上面分析的结果也是一致的。</a:t>
            </a:r>
          </a:p>
        </p:txBody>
      </p:sp>
      <p:sp>
        <p:nvSpPr>
          <p:cNvPr id="2" name="箭头: 右 1">
            <a:extLst>
              <a:ext uri="{FF2B5EF4-FFF2-40B4-BE49-F238E27FC236}">
                <a16:creationId xmlns:a16="http://schemas.microsoft.com/office/drawing/2014/main" id="{D7238B5B-F0FD-F2BF-14E9-3C153D55EB2E}"/>
              </a:ext>
            </a:extLst>
          </p:cNvPr>
          <p:cNvSpPr/>
          <p:nvPr/>
        </p:nvSpPr>
        <p:spPr>
          <a:xfrm>
            <a:off x="4009293" y="2333375"/>
            <a:ext cx="1732083" cy="620840"/>
          </a:xfrm>
          <a:prstGeom prst="rightArrow">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indent="266700" algn="just">
              <a:spcAft>
                <a:spcPts val="0"/>
              </a:spcAft>
            </a:pPr>
            <a:endParaRPr lang="zh-CN" altLang="en-US" sz="2200" kern="1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19877327"/>
      </p:ext>
    </p:extLst>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3.5.1 </a:t>
            </a:r>
            <a:r>
              <a:rPr lang="zh-CN" altLang="en-US" sz="2800" b="1" dirty="0">
                <a:solidFill>
                  <a:srgbClr val="C00000"/>
                </a:solidFill>
              </a:rPr>
              <a:t>正向计算</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D68B34E-2F87-1836-D268-40144FB2545B}"/>
                  </a:ext>
                </a:extLst>
              </p:cNvPr>
              <p:cNvSpPr txBox="1"/>
              <p:nvPr/>
            </p:nvSpPr>
            <p:spPr>
              <a:xfrm>
                <a:off x="335805" y="1910402"/>
                <a:ext cx="11584019" cy="1799210"/>
              </a:xfrm>
              <a:prstGeom prst="rect">
                <a:avLst/>
              </a:prstGeom>
              <a:noFill/>
            </p:spPr>
            <p:txBody>
              <a:bodyPr wrap="square">
                <a:spAutoFit/>
              </a:bodyPr>
              <a:lstStyle/>
              <a:p>
                <a:r>
                  <a:rPr lang="zh-CN" altLang="en-US" sz="2200" dirty="0"/>
                  <a:t>在网络中，待优化的参数包含在矩阵</a:t>
                </a:r>
                <a14:m>
                  <m:oMath xmlns:m="http://schemas.openxmlformats.org/officeDocument/2006/math">
                    <m:sSup>
                      <m:sSupPr>
                        <m:ctrlPr>
                          <a:rPr lang="en-US" altLang="zh-CN" sz="2200" i="1" dirty="0" smtClean="0">
                            <a:latin typeface="Cambria Math" panose="02040503050406030204" pitchFamily="18" charset="0"/>
                          </a:rPr>
                        </m:ctrlPr>
                      </m:sSupPr>
                      <m:e>
                        <m:r>
                          <a:rPr lang="en-US" altLang="zh-CN" sz="2200" dirty="0">
                            <a:latin typeface="Cambria Math" panose="02040503050406030204" pitchFamily="18" charset="0"/>
                          </a:rPr>
                          <m:t>𝑾</m:t>
                        </m:r>
                      </m:e>
                      <m:sup>
                        <m:r>
                          <a:rPr lang="en-US" altLang="zh-CN" sz="2200" dirty="0">
                            <a:latin typeface="Cambria Math" panose="02040503050406030204" pitchFamily="18" charset="0"/>
                          </a:rPr>
                          <m:t>(1)</m:t>
                        </m:r>
                      </m:sup>
                    </m:sSup>
                  </m:oMath>
                </a14:m>
                <a:r>
                  <a:rPr lang="zh-CN" altLang="en-US" sz="2200" dirty="0"/>
                  <a:t>和</a:t>
                </a:r>
                <a14:m>
                  <m:oMath xmlns:m="http://schemas.openxmlformats.org/officeDocument/2006/math">
                    <m:sSup>
                      <m:sSupPr>
                        <m:ctrlPr>
                          <a:rPr lang="en-US" altLang="zh-CN" sz="2200" i="1" dirty="0">
                            <a:latin typeface="Cambria Math" panose="02040503050406030204" pitchFamily="18" charset="0"/>
                          </a:rPr>
                        </m:ctrlPr>
                      </m:sSupPr>
                      <m:e>
                        <m:r>
                          <a:rPr lang="en-US" altLang="zh-CN" sz="2200" b="1" i="1" dirty="0" smtClean="0">
                            <a:latin typeface="Cambria Math" panose="02040503050406030204" pitchFamily="18" charset="0"/>
                          </a:rPr>
                          <m:t>𝒃</m:t>
                        </m:r>
                      </m:e>
                      <m:sup>
                        <m:r>
                          <a:rPr lang="en-US" altLang="zh-CN" sz="2200" dirty="0">
                            <a:latin typeface="Cambria Math" panose="02040503050406030204" pitchFamily="18" charset="0"/>
                          </a:rPr>
                          <m:t>(1)</m:t>
                        </m:r>
                      </m:sup>
                    </m:sSup>
                  </m:oMath>
                </a14:m>
                <a:r>
                  <a:rPr lang="zh-CN" altLang="en-US" sz="2200" dirty="0"/>
                  <a:t>以及</a:t>
                </a:r>
                <a14:m>
                  <m:oMath xmlns:m="http://schemas.openxmlformats.org/officeDocument/2006/math">
                    <m:sSup>
                      <m:sSupPr>
                        <m:ctrlPr>
                          <a:rPr lang="en-US" altLang="zh-CN" sz="2200" i="1" dirty="0">
                            <a:latin typeface="Cambria Math" panose="02040503050406030204" pitchFamily="18" charset="0"/>
                          </a:rPr>
                        </m:ctrlPr>
                      </m:sSupPr>
                      <m:e>
                        <m:r>
                          <a:rPr lang="en-US" altLang="zh-CN" sz="2200" dirty="0">
                            <a:latin typeface="Cambria Math" panose="02040503050406030204" pitchFamily="18" charset="0"/>
                          </a:rPr>
                          <m:t>𝑾</m:t>
                        </m:r>
                      </m:e>
                      <m:sup>
                        <m:r>
                          <a:rPr lang="en-US" altLang="zh-CN" sz="2200" dirty="0">
                            <a:latin typeface="Cambria Math" panose="02040503050406030204" pitchFamily="18" charset="0"/>
                          </a:rPr>
                          <m:t>(</m:t>
                        </m:r>
                        <m:r>
                          <a:rPr lang="en-US" altLang="zh-CN" sz="2200" b="0" i="0" dirty="0" smtClean="0">
                            <a:latin typeface="Cambria Math" panose="02040503050406030204" pitchFamily="18" charset="0"/>
                          </a:rPr>
                          <m:t>2</m:t>
                        </m:r>
                        <m:r>
                          <a:rPr lang="en-US" altLang="zh-CN" sz="2200" dirty="0">
                            <a:latin typeface="Cambria Math" panose="02040503050406030204" pitchFamily="18" charset="0"/>
                          </a:rPr>
                          <m:t>)</m:t>
                        </m:r>
                      </m:sup>
                    </m:sSup>
                  </m:oMath>
                </a14:m>
                <a:r>
                  <a:rPr lang="zh-CN" altLang="en-US" sz="2200" dirty="0"/>
                  <a:t>和</a:t>
                </a:r>
                <a14:m>
                  <m:oMath xmlns:m="http://schemas.openxmlformats.org/officeDocument/2006/math">
                    <m:sSup>
                      <m:sSupPr>
                        <m:ctrlPr>
                          <a:rPr lang="en-US" altLang="zh-CN" sz="2200" i="1" dirty="0">
                            <a:latin typeface="Cambria Math" panose="02040503050406030204" pitchFamily="18" charset="0"/>
                          </a:rPr>
                        </m:ctrlPr>
                      </m:sSupPr>
                      <m:e>
                        <m:r>
                          <a:rPr lang="en-US" altLang="zh-CN" sz="2200" b="1" i="1" dirty="0" smtClean="0">
                            <a:latin typeface="Cambria Math" panose="02040503050406030204" pitchFamily="18" charset="0"/>
                          </a:rPr>
                          <m:t>𝒃</m:t>
                        </m:r>
                      </m:e>
                      <m:sup>
                        <m:r>
                          <a:rPr lang="en-US" altLang="zh-CN" sz="2200" dirty="0">
                            <a:latin typeface="Cambria Math" panose="02040503050406030204" pitchFamily="18" charset="0"/>
                          </a:rPr>
                          <m:t>(</m:t>
                        </m:r>
                        <m:r>
                          <a:rPr lang="en-US" altLang="zh-CN" sz="2200" b="0" i="0" dirty="0" smtClean="0">
                            <a:latin typeface="Cambria Math" panose="02040503050406030204" pitchFamily="18" charset="0"/>
                          </a:rPr>
                          <m:t>2</m:t>
                        </m:r>
                        <m:r>
                          <a:rPr lang="en-US" altLang="zh-CN" sz="2200" dirty="0">
                            <a:latin typeface="Cambria Math" panose="02040503050406030204" pitchFamily="18" charset="0"/>
                          </a:rPr>
                          <m:t>)</m:t>
                        </m:r>
                      </m:sup>
                    </m:sSup>
                  </m:oMath>
                </a14:m>
                <a:r>
                  <a:rPr lang="zh-CN" altLang="en-US" sz="2200" dirty="0"/>
                  <a:t>中。实际上，每一个网</a:t>
                </a:r>
              </a:p>
              <a:p>
                <a:r>
                  <a:rPr lang="zh-CN" altLang="en-US" sz="2200" dirty="0"/>
                  <a:t>络层中所有边的权重构成了一个参数矩阵，矩阵的行数等于该层中神经元节点的个数，列数</a:t>
                </a:r>
              </a:p>
              <a:p>
                <a:r>
                  <a:rPr lang="zh-CN" altLang="en-US" sz="2200" dirty="0"/>
                  <a:t>等于输入节点的个数，因此该矩阵包含的参数的数量为：输入节点数</a:t>
                </a:r>
                <a:r>
                  <a:rPr lang="en-US" altLang="zh-CN" sz="2200" dirty="0"/>
                  <a:t>×</a:t>
                </a:r>
                <a:r>
                  <a:rPr lang="zh-CN" altLang="en-US" sz="2200" dirty="0"/>
                  <a:t>神经元节点数；除此</a:t>
                </a:r>
              </a:p>
              <a:p>
                <a:r>
                  <a:rPr lang="zh-CN" altLang="en-US" sz="2200" dirty="0"/>
                  <a:t>外，每个神经元都包含一个偏置项（除非没有设置偏置项，即 </a:t>
                </a:r>
                <a:r>
                  <a:rPr lang="en-US" altLang="zh-CN" sz="2200" dirty="0"/>
                  <a:t>bias=False</a:t>
                </a:r>
                <a:r>
                  <a:rPr lang="zh-CN" altLang="en-US" sz="2200" dirty="0"/>
                  <a:t>）。这样，一个网络</a:t>
                </a:r>
              </a:p>
              <a:p>
                <a:r>
                  <a:rPr lang="zh-CN" altLang="en-US" sz="2200" dirty="0"/>
                  <a:t>层中</a:t>
                </a:r>
                <a:r>
                  <a:rPr lang="zh-CN" altLang="en-US" sz="2200" b="1" dirty="0"/>
                  <a:t>参数的个数</a:t>
                </a:r>
                <a:r>
                  <a:rPr lang="zh-CN" altLang="en-US" sz="2200" dirty="0"/>
                  <a:t>为：</a:t>
                </a:r>
                <a:endParaRPr lang="en-US" altLang="zh-CN" sz="2200" dirty="0"/>
              </a:p>
            </p:txBody>
          </p:sp>
        </mc:Choice>
        <mc:Fallback xmlns="">
          <p:sp>
            <p:nvSpPr>
              <p:cNvPr id="9" name="文本框 8">
                <a:extLst>
                  <a:ext uri="{FF2B5EF4-FFF2-40B4-BE49-F238E27FC236}">
                    <a16:creationId xmlns:a16="http://schemas.microsoft.com/office/drawing/2014/main" id="{CD68B34E-2F87-1836-D268-40144FB2545B}"/>
                  </a:ext>
                </a:extLst>
              </p:cNvPr>
              <p:cNvSpPr txBox="1">
                <a:spLocks noRot="1" noChangeAspect="1" noMove="1" noResize="1" noEditPoints="1" noAdjustHandles="1" noChangeArrowheads="1" noChangeShapeType="1" noTextEdit="1"/>
              </p:cNvSpPr>
              <p:nvPr/>
            </p:nvSpPr>
            <p:spPr>
              <a:xfrm>
                <a:off x="335805" y="1910402"/>
                <a:ext cx="11584019" cy="1799210"/>
              </a:xfrm>
              <a:prstGeom prst="rect">
                <a:avLst/>
              </a:prstGeom>
              <a:blipFill>
                <a:blip r:embed="rId3"/>
                <a:stretch>
                  <a:fillRect l="-684" t="-1014" b="-6081"/>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9230BDE2-01E4-4298-4521-42DEAE4300D9}"/>
              </a:ext>
            </a:extLst>
          </p:cNvPr>
          <p:cNvPicPr>
            <a:picLocks noChangeAspect="1"/>
          </p:cNvPicPr>
          <p:nvPr/>
        </p:nvPicPr>
        <p:blipFill>
          <a:blip r:embed="rId4"/>
          <a:stretch>
            <a:fillRect/>
          </a:stretch>
        </p:blipFill>
        <p:spPr>
          <a:xfrm>
            <a:off x="2987680" y="3709612"/>
            <a:ext cx="4572396" cy="472481"/>
          </a:xfrm>
          <a:prstGeom prst="rect">
            <a:avLst/>
          </a:prstGeom>
        </p:spPr>
      </p:pic>
      <p:sp>
        <p:nvSpPr>
          <p:cNvPr id="6" name="文本框 5">
            <a:extLst>
              <a:ext uri="{FF2B5EF4-FFF2-40B4-BE49-F238E27FC236}">
                <a16:creationId xmlns:a16="http://schemas.microsoft.com/office/drawing/2014/main" id="{85A91049-C9CE-C6FE-6F98-AEDFE525E75D}"/>
              </a:ext>
            </a:extLst>
          </p:cNvPr>
          <p:cNvSpPr txBox="1"/>
          <p:nvPr/>
        </p:nvSpPr>
        <p:spPr>
          <a:xfrm>
            <a:off x="335804" y="4182093"/>
            <a:ext cx="10487525" cy="2123658"/>
          </a:xfrm>
          <a:prstGeom prst="rect">
            <a:avLst/>
          </a:prstGeom>
          <a:noFill/>
        </p:spPr>
        <p:txBody>
          <a:bodyPr wrap="square">
            <a:spAutoFit/>
          </a:bodyPr>
          <a:lstStyle/>
          <a:p>
            <a:pPr>
              <a:lnSpc>
                <a:spcPct val="150000"/>
              </a:lnSpc>
            </a:pPr>
            <a:r>
              <a:rPr lang="zh-CN" altLang="en-US" sz="2200" dirty="0"/>
              <a:t>在</a:t>
            </a:r>
            <a:r>
              <a:rPr lang="zh-CN" altLang="en-US" sz="2200" b="1" dirty="0"/>
              <a:t> </a:t>
            </a:r>
            <a:r>
              <a:rPr lang="en-US" altLang="zh-CN" sz="2200" b="1" dirty="0" err="1"/>
              <a:t>PyTorch</a:t>
            </a:r>
            <a:r>
              <a:rPr lang="en-US" altLang="zh-CN" sz="2200" b="1" dirty="0"/>
              <a:t> </a:t>
            </a:r>
            <a:r>
              <a:rPr lang="zh-CN" altLang="en-US" sz="2200" dirty="0"/>
              <a:t>中，可用下列代码求模型 </a:t>
            </a:r>
            <a:r>
              <a:rPr lang="en-US" altLang="zh-CN" sz="2200" dirty="0" err="1"/>
              <a:t>fcNet</a:t>
            </a:r>
            <a:r>
              <a:rPr lang="en-US" altLang="zh-CN" sz="2200" dirty="0"/>
              <a:t> </a:t>
            </a:r>
            <a:r>
              <a:rPr lang="zh-CN" altLang="en-US" sz="2200" dirty="0"/>
              <a:t>包含的参数的数量：</a:t>
            </a:r>
            <a:endParaRPr lang="en-US" altLang="zh-CN" sz="2200" dirty="0"/>
          </a:p>
          <a:p>
            <a:pPr>
              <a:lnSpc>
                <a:spcPct val="150000"/>
              </a:lnSpc>
            </a:pPr>
            <a:r>
              <a:rPr lang="en-US" altLang="zh-CN" sz="2200" dirty="0" err="1">
                <a:solidFill>
                  <a:srgbClr val="00B050"/>
                </a:solidFill>
              </a:rPr>
              <a:t>param_num</a:t>
            </a:r>
            <a:r>
              <a:rPr lang="en-US" altLang="zh-CN" sz="2200" dirty="0">
                <a:solidFill>
                  <a:srgbClr val="00B050"/>
                </a:solidFill>
              </a:rPr>
              <a:t> = 0</a:t>
            </a:r>
          </a:p>
          <a:p>
            <a:r>
              <a:rPr lang="en-US" altLang="zh-CN" sz="2200" dirty="0">
                <a:solidFill>
                  <a:srgbClr val="00B050"/>
                </a:solidFill>
              </a:rPr>
              <a:t>for param in </a:t>
            </a:r>
            <a:r>
              <a:rPr lang="en-US" altLang="zh-CN" sz="2200" dirty="0" err="1">
                <a:solidFill>
                  <a:srgbClr val="00B050"/>
                </a:solidFill>
              </a:rPr>
              <a:t>fcNet.parameters</a:t>
            </a:r>
            <a:r>
              <a:rPr lang="en-US" altLang="zh-CN" sz="2200" dirty="0">
                <a:solidFill>
                  <a:srgbClr val="00B050"/>
                </a:solidFill>
              </a:rPr>
              <a:t>():</a:t>
            </a:r>
          </a:p>
          <a:p>
            <a:r>
              <a:rPr lang="en-US" altLang="zh-CN" sz="2200" dirty="0">
                <a:solidFill>
                  <a:srgbClr val="00B050"/>
                </a:solidFill>
              </a:rPr>
              <a:t> </a:t>
            </a:r>
            <a:r>
              <a:rPr lang="en-US" altLang="zh-CN" sz="2200" dirty="0" err="1">
                <a:solidFill>
                  <a:srgbClr val="00B050"/>
                </a:solidFill>
              </a:rPr>
              <a:t>param_num</a:t>
            </a:r>
            <a:r>
              <a:rPr lang="en-US" altLang="zh-CN" sz="2200" dirty="0">
                <a:solidFill>
                  <a:srgbClr val="00B050"/>
                </a:solidFill>
              </a:rPr>
              <a:t> += </a:t>
            </a:r>
            <a:r>
              <a:rPr lang="en-US" altLang="zh-CN" sz="2200" dirty="0" err="1">
                <a:solidFill>
                  <a:srgbClr val="00B050"/>
                </a:solidFill>
              </a:rPr>
              <a:t>torch.numel</a:t>
            </a:r>
            <a:r>
              <a:rPr lang="en-US" altLang="zh-CN" sz="2200" dirty="0">
                <a:solidFill>
                  <a:srgbClr val="00B050"/>
                </a:solidFill>
              </a:rPr>
              <a:t>(param) #</a:t>
            </a:r>
            <a:r>
              <a:rPr lang="zh-CN" altLang="en-US" sz="2200" dirty="0">
                <a:solidFill>
                  <a:srgbClr val="00B050"/>
                </a:solidFill>
              </a:rPr>
              <a:t>统计模型参数总量</a:t>
            </a:r>
          </a:p>
          <a:p>
            <a:r>
              <a:rPr lang="en-US" altLang="zh-CN" sz="2200" dirty="0">
                <a:solidFill>
                  <a:srgbClr val="00B050"/>
                </a:solidFill>
              </a:rPr>
              <a:t>print('</a:t>
            </a:r>
            <a:r>
              <a:rPr lang="zh-CN" altLang="en-US" sz="2200" dirty="0">
                <a:solidFill>
                  <a:srgbClr val="00B050"/>
                </a:solidFill>
              </a:rPr>
              <a:t>该网络参数的总量为：</a:t>
            </a:r>
            <a:r>
              <a:rPr lang="en-US" altLang="zh-CN" sz="2200" dirty="0">
                <a:solidFill>
                  <a:srgbClr val="00B050"/>
                </a:solidFill>
              </a:rPr>
              <a:t>', </a:t>
            </a:r>
            <a:r>
              <a:rPr lang="en-US" altLang="zh-CN" sz="2200" dirty="0" err="1">
                <a:solidFill>
                  <a:srgbClr val="00B050"/>
                </a:solidFill>
              </a:rPr>
              <a:t>param_num</a:t>
            </a:r>
            <a:r>
              <a:rPr lang="en-US" altLang="zh-CN" sz="2200" dirty="0">
                <a:solidFill>
                  <a:srgbClr val="00B050"/>
                </a:solidFill>
              </a:rPr>
              <a:t>) </a:t>
            </a:r>
            <a:endParaRPr lang="zh-CN" altLang="en-US" sz="2200" dirty="0">
              <a:solidFill>
                <a:srgbClr val="00B050"/>
              </a:solidFill>
            </a:endParaRPr>
          </a:p>
        </p:txBody>
      </p:sp>
    </p:spTree>
    <p:extLst>
      <p:ext uri="{BB962C8B-B14F-4D97-AF65-F5344CB8AC3E}">
        <p14:creationId xmlns:p14="http://schemas.microsoft.com/office/powerpoint/2010/main" val="1284907606"/>
      </p:ext>
    </p:extLst>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001881"/>
            <a:ext cx="11651131" cy="430887"/>
          </a:xfrm>
          <a:prstGeom prst="rect">
            <a:avLst/>
          </a:prstGeom>
          <a:noFill/>
        </p:spPr>
        <p:txBody>
          <a:bodyPr wrap="square">
            <a:spAutoFit/>
          </a:bodyPr>
          <a:lstStyle/>
          <a:p>
            <a:r>
              <a:rPr lang="en-US" altLang="zh-CN" sz="2200" dirty="0">
                <a:solidFill>
                  <a:srgbClr val="0033CC"/>
                </a:solidFill>
              </a:rPr>
              <a:t>1. </a:t>
            </a:r>
            <a:r>
              <a:rPr lang="zh-CN" altLang="en-US" sz="2200" dirty="0">
                <a:solidFill>
                  <a:srgbClr val="0033CC"/>
                </a:solidFill>
              </a:rPr>
              <a:t>面向回归问题的全连接神经网络</a:t>
            </a:r>
            <a:endParaRPr lang="en-US" altLang="zh-CN" sz="2200" dirty="0">
              <a:solidFill>
                <a:srgbClr val="0033CC"/>
              </a:solidFill>
            </a:endParaRPr>
          </a:p>
        </p:txBody>
      </p:sp>
      <p:sp>
        <p:nvSpPr>
          <p:cNvPr id="3" name="文本框 2">
            <a:extLst>
              <a:ext uri="{FF2B5EF4-FFF2-40B4-BE49-F238E27FC236}">
                <a16:creationId xmlns:a16="http://schemas.microsoft.com/office/drawing/2014/main" id="{C3888105-A3DC-9872-86C7-685A788756D5}"/>
              </a:ext>
            </a:extLst>
          </p:cNvPr>
          <p:cNvSpPr txBox="1"/>
          <p:nvPr/>
        </p:nvSpPr>
        <p:spPr>
          <a:xfrm>
            <a:off x="491644" y="2521110"/>
            <a:ext cx="10175846" cy="1384995"/>
          </a:xfrm>
          <a:prstGeom prst="rect">
            <a:avLst/>
          </a:prstGeom>
          <a:noFill/>
        </p:spPr>
        <p:txBody>
          <a:bodyPr wrap="square">
            <a:spAutoFit/>
          </a:bodyPr>
          <a:lstStyle/>
          <a:p>
            <a:r>
              <a:rPr lang="zh-CN" altLang="en-US" sz="2200" dirty="0"/>
              <a:t>在</a:t>
            </a:r>
            <a:r>
              <a:rPr lang="zh-CN" altLang="en-US" sz="2200" b="1" dirty="0"/>
              <a:t>回归问题</a:t>
            </a:r>
            <a:r>
              <a:rPr lang="zh-CN" altLang="en-US" sz="2200" dirty="0"/>
              <a:t>中，网络的输出一般是连续类型的数值，被预测的对象也是连续型数值。这 种网络一般只有一个输出，也就是说，网络的</a:t>
            </a:r>
            <a:r>
              <a:rPr lang="zh-CN" altLang="en-US" sz="2200" b="1" dirty="0"/>
              <a:t>输出层只有一个</a:t>
            </a:r>
            <a:r>
              <a:rPr lang="zh-CN" altLang="en-US" sz="2200" dirty="0"/>
              <a:t>神经元，这时通常设计如下的目标函数：</a:t>
            </a:r>
            <a:endParaRPr lang="en-US" altLang="zh-CN" sz="2200" dirty="0"/>
          </a:p>
          <a:p>
            <a:endParaRPr lang="zh-CN" altLang="en-US" dirty="0"/>
          </a:p>
        </p:txBody>
      </p:sp>
      <p:pic>
        <p:nvPicPr>
          <p:cNvPr id="6" name="图片 5">
            <a:extLst>
              <a:ext uri="{FF2B5EF4-FFF2-40B4-BE49-F238E27FC236}">
                <a16:creationId xmlns:a16="http://schemas.microsoft.com/office/drawing/2014/main" id="{A43DFF23-8130-193A-C137-27FE816648E2}"/>
              </a:ext>
            </a:extLst>
          </p:cNvPr>
          <p:cNvPicPr>
            <a:picLocks noChangeAspect="1"/>
          </p:cNvPicPr>
          <p:nvPr/>
        </p:nvPicPr>
        <p:blipFill>
          <a:blip r:embed="rId3"/>
          <a:stretch>
            <a:fillRect/>
          </a:stretch>
        </p:blipFill>
        <p:spPr>
          <a:xfrm>
            <a:off x="4221661" y="3538057"/>
            <a:ext cx="2286198" cy="533446"/>
          </a:xfrm>
          <a:prstGeom prst="rect">
            <a:avLst/>
          </a:prstGeom>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491644" y="3996950"/>
                <a:ext cx="10175846" cy="1107996"/>
              </a:xfrm>
              <a:prstGeom prst="rect">
                <a:avLst/>
              </a:prstGeom>
              <a:noFill/>
            </p:spPr>
            <p:txBody>
              <a:bodyPr wrap="square">
                <a:spAutoFit/>
              </a:bodyPr>
              <a:lstStyle/>
              <a:p>
                <a:r>
                  <a:rPr lang="zh-CN" altLang="en-US" sz="2200" dirty="0"/>
                  <a:t>其中，</a:t>
                </a:r>
                <a14:m>
                  <m:oMath xmlns:m="http://schemas.openxmlformats.org/officeDocument/2006/math">
                    <m:acc>
                      <m:accPr>
                        <m:chr m:val="̂"/>
                        <m:ctrlPr>
                          <a:rPr lang="zh-CN" altLang="en-US" sz="2200" i="1" smtClean="0">
                            <a:latin typeface="Cambria Math" panose="02040503050406030204" pitchFamily="18" charset="0"/>
                          </a:rPr>
                        </m:ctrlPr>
                      </m:accPr>
                      <m:e>
                        <m:r>
                          <m:rPr>
                            <m:sty m:val="p"/>
                          </m:rPr>
                          <a:rPr lang="en-US" altLang="zh-CN" sz="2200" i="1">
                            <a:latin typeface="Cambria Math" panose="02040503050406030204" pitchFamily="18" charset="0"/>
                          </a:rPr>
                          <m:t>y</m:t>
                        </m:r>
                      </m:e>
                    </m:acc>
                  </m:oMath>
                </a14:m>
                <a:r>
                  <a:rPr lang="zh-CN" altLang="en-US" sz="2200" dirty="0"/>
                  <a:t>为网络模型的实际输出，𝑦是样本的实际标记，也是网络的期望输出。</a:t>
                </a:r>
              </a:p>
              <a:p>
                <a:r>
                  <a:rPr lang="en-US" altLang="zh-CN" sz="2200" dirty="0"/>
                  <a:t>ℒ</a:t>
                </a:r>
                <a:r>
                  <a:rPr lang="zh-CN" altLang="en-US" sz="2200" dirty="0"/>
                  <a:t>和</a:t>
                </a:r>
                <a14:m>
                  <m:oMath xmlns:m="http://schemas.openxmlformats.org/officeDocument/2006/math">
                    <m:acc>
                      <m:accPr>
                        <m:chr m:val="̂"/>
                        <m:ctrlPr>
                          <a:rPr lang="zh-CN" altLang="en-US" sz="2200" i="1" smtClean="0">
                            <a:latin typeface="Cambria Math" panose="02040503050406030204" pitchFamily="18" charset="0"/>
                          </a:rPr>
                        </m:ctrlPr>
                      </m:accPr>
                      <m:e>
                        <m:r>
                          <m:rPr>
                            <m:sty m:val="p"/>
                          </m:rPr>
                          <a:rPr lang="en-US" altLang="zh-CN" sz="2200" i="1">
                            <a:latin typeface="Cambria Math" panose="02040503050406030204" pitchFamily="18" charset="0"/>
                          </a:rPr>
                          <m:t>y</m:t>
                        </m:r>
                      </m:e>
                    </m:acc>
                  </m:oMath>
                </a14:m>
                <a:r>
                  <a:rPr lang="zh-CN" altLang="en-US" sz="2200" dirty="0"/>
                  <a:t>都是关于网络 </a:t>
                </a:r>
                <a:r>
                  <a:rPr lang="en-US" altLang="zh-CN" sz="2200" dirty="0"/>
                  <a:t>f </a:t>
                </a:r>
                <a:r>
                  <a:rPr lang="zh-CN" altLang="en-US" sz="2200" dirty="0"/>
                  <a:t>中所有参数的函数。我们的目标是，通过更新这些参数，使得</a:t>
                </a:r>
                <a:r>
                  <a:rPr lang="en-US" altLang="zh-CN" sz="2200" dirty="0"/>
                  <a:t>ℒ</a:t>
                </a:r>
                <a:r>
                  <a:rPr lang="zh-CN" altLang="en-US" sz="2200" dirty="0"/>
                  <a:t>达到最小值，这时的参数即为我们需要的参数。</a:t>
                </a:r>
                <a:endParaRPr lang="zh-CN" altLang="en-US"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491644" y="3996950"/>
                <a:ext cx="10175846" cy="1107996"/>
              </a:xfrm>
              <a:prstGeom prst="rect">
                <a:avLst/>
              </a:prstGeom>
              <a:blipFill>
                <a:blip r:embed="rId4"/>
                <a:stretch>
                  <a:fillRect l="-779" t="-4972" b="-11050"/>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2DA5A234-CADC-195C-8AFC-FB43D4502F54}"/>
              </a:ext>
            </a:extLst>
          </p:cNvPr>
          <p:cNvPicPr>
            <a:picLocks noChangeAspect="1"/>
          </p:cNvPicPr>
          <p:nvPr/>
        </p:nvPicPr>
        <p:blipFill>
          <a:blip r:embed="rId5"/>
          <a:stretch>
            <a:fillRect/>
          </a:stretch>
        </p:blipFill>
        <p:spPr>
          <a:xfrm>
            <a:off x="4866737" y="5201820"/>
            <a:ext cx="2324301" cy="1219306"/>
          </a:xfrm>
          <a:prstGeom prst="rect">
            <a:avLst/>
          </a:prstGeom>
        </p:spPr>
      </p:pic>
    </p:spTree>
    <p:extLst>
      <p:ext uri="{BB962C8B-B14F-4D97-AF65-F5344CB8AC3E}">
        <p14:creationId xmlns:p14="http://schemas.microsoft.com/office/powerpoint/2010/main" val="239513644"/>
      </p:ext>
    </p:extLst>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7" name="文本框 6">
            <a:extLst>
              <a:ext uri="{FF2B5EF4-FFF2-40B4-BE49-F238E27FC236}">
                <a16:creationId xmlns:a16="http://schemas.microsoft.com/office/drawing/2014/main" id="{70D4D80C-C578-28BE-8D65-A279330C96B8}"/>
              </a:ext>
            </a:extLst>
          </p:cNvPr>
          <p:cNvSpPr txBox="1"/>
          <p:nvPr/>
        </p:nvSpPr>
        <p:spPr>
          <a:xfrm>
            <a:off x="491644" y="2067482"/>
            <a:ext cx="10175846" cy="430887"/>
          </a:xfrm>
          <a:prstGeom prst="rect">
            <a:avLst/>
          </a:prstGeom>
          <a:noFill/>
        </p:spPr>
        <p:txBody>
          <a:bodyPr wrap="square">
            <a:spAutoFit/>
          </a:bodyPr>
          <a:lstStyle/>
          <a:p>
            <a:r>
              <a:rPr lang="zh-CN" altLang="en-US" sz="2200" dirty="0"/>
              <a:t>具体来说，对任意给定的第 </a:t>
            </a:r>
            <a:r>
              <a:rPr lang="en-US" altLang="zh-CN" sz="2200" dirty="0"/>
              <a:t>l </a:t>
            </a:r>
            <a:r>
              <a:rPr lang="zh-CN" altLang="en-US" sz="2200" dirty="0"/>
              <a:t>层，该层上各参数的更新公式如下：</a:t>
            </a:r>
            <a:endParaRPr lang="zh-CN" altLang="en-US" dirty="0"/>
          </a:p>
        </p:txBody>
      </p:sp>
      <p:pic>
        <p:nvPicPr>
          <p:cNvPr id="10" name="图片 9">
            <a:extLst>
              <a:ext uri="{FF2B5EF4-FFF2-40B4-BE49-F238E27FC236}">
                <a16:creationId xmlns:a16="http://schemas.microsoft.com/office/drawing/2014/main" id="{2DA5A234-CADC-195C-8AFC-FB43D4502F54}"/>
              </a:ext>
            </a:extLst>
          </p:cNvPr>
          <p:cNvPicPr>
            <a:picLocks noChangeAspect="1"/>
          </p:cNvPicPr>
          <p:nvPr/>
        </p:nvPicPr>
        <p:blipFill>
          <a:blip r:embed="rId3"/>
          <a:stretch>
            <a:fillRect/>
          </a:stretch>
        </p:blipFill>
        <p:spPr>
          <a:xfrm>
            <a:off x="3884669" y="2608861"/>
            <a:ext cx="2324301" cy="1219306"/>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3731BB9-9358-AD95-FF93-DE01D5DD86F4}"/>
                  </a:ext>
                </a:extLst>
              </p:cNvPr>
              <p:cNvSpPr txBox="1"/>
              <p:nvPr/>
            </p:nvSpPr>
            <p:spPr>
              <a:xfrm>
                <a:off x="627076" y="4026408"/>
                <a:ext cx="9589586" cy="1877886"/>
              </a:xfrm>
              <a:prstGeom prst="rect">
                <a:avLst/>
              </a:prstGeom>
              <a:noFill/>
            </p:spPr>
            <p:txBody>
              <a:bodyPr wrap="square">
                <a:spAutoFit/>
              </a:bodyPr>
              <a:lstStyle/>
              <a:p>
                <a:r>
                  <a:rPr lang="zh-CN" altLang="en-US" sz="2200" dirty="0"/>
                  <a:t>其中，</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oMath>
                </a14:m>
                <a:r>
                  <a:rPr lang="zh-CN" altLang="en-US" sz="2200" dirty="0"/>
                  <a:t>表示第 </a:t>
                </a:r>
                <a:r>
                  <a:rPr lang="en-US" altLang="zh-CN" sz="2200" dirty="0"/>
                  <a:t>l </a:t>
                </a:r>
                <a:r>
                  <a:rPr lang="zh-CN" altLang="en-US" sz="2200" dirty="0"/>
                  <a:t>层中神经元节点 </a:t>
                </a:r>
                <a:r>
                  <a:rPr lang="en-US" altLang="zh-CN" sz="2200" dirty="0" err="1"/>
                  <a:t>i</a:t>
                </a:r>
                <a:r>
                  <a:rPr lang="en-US" altLang="zh-CN" sz="2200" dirty="0"/>
                  <a:t> </a:t>
                </a:r>
                <a:r>
                  <a:rPr lang="zh-CN" altLang="en-US" sz="2200" dirty="0"/>
                  <a:t>和输入节点 </a:t>
                </a:r>
                <a:r>
                  <a:rPr lang="en-US" altLang="zh-CN" sz="2200" dirty="0"/>
                  <a:t>j</a:t>
                </a:r>
                <a:r>
                  <a:rPr lang="zh-CN" altLang="en-US" sz="2200" dirty="0"/>
                  <a:t>（前一层上的节点 </a:t>
                </a:r>
                <a:r>
                  <a:rPr lang="en-US" altLang="zh-CN" sz="2200" dirty="0"/>
                  <a:t>j</a:t>
                </a:r>
                <a:r>
                  <a:rPr lang="zh-CN" altLang="en-US" sz="2200" dirty="0"/>
                  <a:t>，因为当前层的 输入实际上就是前一层神经元节点的输出）之间的边的权值，</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𝑏</m:t>
                        </m:r>
                      </m:e>
                      <m:sub>
                        <m:r>
                          <a:rPr lang="en-US" altLang="zh-CN" sz="2200">
                            <a:latin typeface="Cambria Math" panose="02040503050406030204" pitchFamily="18" charset="0"/>
                          </a:rPr>
                          <m:t>𝑖</m:t>
                        </m:r>
                      </m:sub>
                      <m:sup>
                        <m:r>
                          <a:rPr lang="en-US" altLang="zh-CN" sz="2200">
                            <a:latin typeface="Cambria Math" panose="02040503050406030204" pitchFamily="18" charset="0"/>
                          </a:rPr>
                          <m:t>𝑙</m:t>
                        </m:r>
                      </m:sup>
                    </m:sSubSup>
                  </m:oMath>
                </a14:m>
                <a:r>
                  <a:rPr lang="zh-CN" altLang="en-US" sz="2200" dirty="0"/>
                  <a:t>为该层中神经元节点 </a:t>
                </a:r>
                <a:r>
                  <a:rPr lang="en-US" altLang="zh-CN" sz="2200" dirty="0" err="1"/>
                  <a:t>i</a:t>
                </a:r>
                <a:r>
                  <a:rPr lang="en-US" altLang="zh-CN" sz="2200" dirty="0"/>
                  <a:t> </a:t>
                </a:r>
                <a:r>
                  <a:rPr lang="zh-CN" altLang="en-US" sz="2200" dirty="0"/>
                  <a:t>的 偏置项，</a:t>
                </a:r>
                <a14:m>
                  <m:oMath xmlns:m="http://schemas.openxmlformats.org/officeDocument/2006/math">
                    <m:r>
                      <a:rPr lang="zh-CN" altLang="en-US" sz="2200" dirty="0">
                        <a:latin typeface="Cambria Math" panose="02040503050406030204" pitchFamily="18" charset="0"/>
                      </a:rPr>
                      <m:t>𝜎</m:t>
                    </m:r>
                  </m:oMath>
                </a14:m>
                <a:r>
                  <a:rPr lang="zh-CN" altLang="en-US" sz="2200" dirty="0"/>
                  <a:t>为学习率。</a:t>
                </a:r>
                <a:endParaRPr lang="en-US" altLang="zh-CN" sz="2200" dirty="0"/>
              </a:p>
              <a:p>
                <a:endParaRPr lang="en-US" altLang="zh-CN" sz="2200" dirty="0"/>
              </a:p>
              <a:p>
                <a:r>
                  <a:rPr lang="zh-CN" altLang="en-US" sz="2200" dirty="0"/>
                  <a:t>显然，问题的关键在于如何计算</a:t>
                </a:r>
              </a:p>
            </p:txBody>
          </p:sp>
        </mc:Choice>
        <mc:Fallback xmlns="">
          <p:sp>
            <p:nvSpPr>
              <p:cNvPr id="14" name="文本框 13">
                <a:extLst>
                  <a:ext uri="{FF2B5EF4-FFF2-40B4-BE49-F238E27FC236}">
                    <a16:creationId xmlns:a16="http://schemas.microsoft.com/office/drawing/2014/main" id="{93731BB9-9358-AD95-FF93-DE01D5DD86F4}"/>
                  </a:ext>
                </a:extLst>
              </p:cNvPr>
              <p:cNvSpPr txBox="1">
                <a:spLocks noRot="1" noChangeAspect="1" noMove="1" noResize="1" noEditPoints="1" noAdjustHandles="1" noChangeArrowheads="1" noChangeShapeType="1" noTextEdit="1"/>
              </p:cNvSpPr>
              <p:nvPr/>
            </p:nvSpPr>
            <p:spPr>
              <a:xfrm>
                <a:off x="627076" y="4026408"/>
                <a:ext cx="9589586" cy="1877886"/>
              </a:xfrm>
              <a:prstGeom prst="rect">
                <a:avLst/>
              </a:prstGeom>
              <a:blipFill>
                <a:blip r:embed="rId4"/>
                <a:stretch>
                  <a:fillRect l="-826" t="-649" r="-826" b="-6169"/>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2E965912-9F79-E843-ED5B-D545D74B81D4}"/>
              </a:ext>
            </a:extLst>
          </p:cNvPr>
          <p:cNvPicPr>
            <a:picLocks noChangeAspect="1"/>
          </p:cNvPicPr>
          <p:nvPr/>
        </p:nvPicPr>
        <p:blipFill>
          <a:blip r:embed="rId5"/>
          <a:stretch>
            <a:fillRect/>
          </a:stretch>
        </p:blipFill>
        <p:spPr>
          <a:xfrm>
            <a:off x="5051896" y="5397920"/>
            <a:ext cx="1082134" cy="548688"/>
          </a:xfrm>
          <a:prstGeom prst="rect">
            <a:avLst/>
          </a:prstGeom>
        </p:spPr>
      </p:pic>
    </p:spTree>
    <p:extLst>
      <p:ext uri="{BB962C8B-B14F-4D97-AF65-F5344CB8AC3E}">
        <p14:creationId xmlns:p14="http://schemas.microsoft.com/office/powerpoint/2010/main" val="81432848"/>
      </p:ext>
    </p:extLst>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491644" y="2020962"/>
                <a:ext cx="10175846" cy="1239570"/>
              </a:xfrm>
              <a:prstGeom prst="rect">
                <a:avLst/>
              </a:prstGeom>
              <a:noFill/>
            </p:spPr>
            <p:txBody>
              <a:bodyPr wrap="square">
                <a:spAutoFit/>
              </a:bodyPr>
              <a:lstStyle/>
              <a:p>
                <a:r>
                  <a:rPr lang="zh-CN" altLang="en-US" sz="2200" dirty="0"/>
                  <a:t>假设网络 </a:t>
                </a:r>
                <a:r>
                  <a:rPr lang="en-US" altLang="zh-CN" sz="2200" dirty="0"/>
                  <a:t>f </a:t>
                </a:r>
                <a:r>
                  <a:rPr lang="zh-CN" altLang="en-US" sz="2200" dirty="0"/>
                  <a:t>一共有</a:t>
                </a:r>
                <a:r>
                  <a:rPr lang="zh-CN" altLang="en-US" sz="2200" b="1" dirty="0"/>
                  <a:t> </a:t>
                </a:r>
                <a:r>
                  <a:rPr lang="en-US" altLang="zh-CN" sz="2200" b="1" dirty="0"/>
                  <a:t>o+1 </a:t>
                </a:r>
                <a:r>
                  <a:rPr lang="zh-CN" altLang="en-US" sz="2200" dirty="0"/>
                  <a:t>个网络层：第 </a:t>
                </a:r>
                <a:r>
                  <a:rPr lang="en-US" altLang="zh-CN" sz="2200" dirty="0"/>
                  <a:t>0 </a:t>
                </a:r>
                <a:r>
                  <a:rPr lang="zh-CN" altLang="en-US" sz="2200" dirty="0"/>
                  <a:t>层（输入层）、第 </a:t>
                </a:r>
                <a:r>
                  <a:rPr lang="en-US" altLang="zh-CN" sz="2200" dirty="0"/>
                  <a:t>1 </a:t>
                </a:r>
                <a:r>
                  <a:rPr lang="zh-CN" altLang="en-US" sz="2200" dirty="0"/>
                  <a:t>层、</a:t>
                </a:r>
                <a:r>
                  <a:rPr lang="en-US" altLang="zh-CN" sz="2200" dirty="0"/>
                  <a:t>…</a:t>
                </a:r>
                <a:r>
                  <a:rPr lang="zh-CN" altLang="en-US" sz="2200" dirty="0"/>
                  <a:t>、第 </a:t>
                </a:r>
                <a:r>
                  <a:rPr lang="en-US" altLang="zh-CN" sz="2200" dirty="0"/>
                  <a:t>o </a:t>
                </a:r>
                <a:r>
                  <a:rPr lang="zh-CN" altLang="en-US" sz="2200" dirty="0"/>
                  <a:t>层（输出层），并假设激活函数为 </a:t>
                </a:r>
                <a:r>
                  <a:rPr lang="en-US" altLang="zh-CN" sz="2200" dirty="0"/>
                  <a:t>sigmoid </a:t>
                </a:r>
                <a:r>
                  <a:rPr lang="zh-CN" altLang="en-US" sz="2200" dirty="0"/>
                  <a:t>函数，简记为</a:t>
                </a:r>
                <a14:m>
                  <m:oMath xmlns:m="http://schemas.openxmlformats.org/officeDocument/2006/math">
                    <m:r>
                      <a:rPr lang="zh-CN" altLang="en-US" sz="2200" i="1">
                        <a:latin typeface="Cambria Math" panose="02040503050406030204" pitchFamily="18" charset="0"/>
                      </a:rPr>
                      <m:t>𝜎</m:t>
                    </m:r>
                  </m:oMath>
                </a14:m>
                <a:r>
                  <a:rPr lang="zh-CN" altLang="en-US" sz="2200" dirty="0"/>
                  <a:t>。先定义一个符号：</a:t>
                </a:r>
                <a:r>
                  <a:rPr lang="en-US" altLang="zh-CN" sz="2400" dirty="0"/>
                  <a:t> </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b="0" i="1" smtClean="0">
                            <a:latin typeface="Cambria Math" panose="02040503050406030204" pitchFamily="18" charset="0"/>
                          </a:rPr>
                          <m:t>𝐼</m:t>
                        </m:r>
                      </m:e>
                      <m:sub>
                        <m:r>
                          <a:rPr lang="en-US" altLang="zh-CN" sz="2400" b="0" i="1" smtClean="0">
                            <a:latin typeface="Cambria Math" panose="02040503050406030204" pitchFamily="18" charset="0"/>
                          </a:rPr>
                          <m:t>𝑖</m:t>
                        </m:r>
                      </m:sub>
                      <m:sup>
                        <m:r>
                          <a:rPr lang="en-US" altLang="zh-CN" sz="2400" b="0" i="1" smtClean="0">
                            <a:latin typeface="Cambria Math" panose="02040503050406030204" pitchFamily="18" charset="0"/>
                          </a:rPr>
                          <m:t>(</m:t>
                        </m:r>
                        <m:r>
                          <a:rPr lang="en-US" altLang="zh-CN" sz="2400" i="1">
                            <a:latin typeface="Cambria Math" panose="02040503050406030204" pitchFamily="18" charset="0"/>
                          </a:rPr>
                          <m:t>𝑙</m:t>
                        </m:r>
                        <m:r>
                          <a:rPr lang="en-US" altLang="zh-CN" sz="2400" b="0" i="1" smtClean="0">
                            <a:latin typeface="Cambria Math" panose="02040503050406030204" pitchFamily="18" charset="0"/>
                          </a:rPr>
                          <m:t>)</m:t>
                        </m:r>
                      </m:sup>
                    </m:sSubSup>
                  </m:oMath>
                </a14:m>
                <a:r>
                  <a:rPr lang="zh-CN" altLang="en-US" sz="2200" dirty="0"/>
                  <a:t>令表示第 </a:t>
                </a:r>
                <a:r>
                  <a:rPr lang="en-US" altLang="zh-CN" sz="2200" dirty="0"/>
                  <a:t>l </a:t>
                </a:r>
                <a:r>
                  <a:rPr lang="zh-CN" altLang="en-US" sz="2200" dirty="0"/>
                  <a:t>层上节点 </a:t>
                </a:r>
                <a:r>
                  <a:rPr lang="en-US" altLang="zh-CN" sz="2200" dirty="0" err="1"/>
                  <a:t>i</a:t>
                </a:r>
                <a:r>
                  <a:rPr lang="en-US" altLang="zh-CN" sz="2200" dirty="0"/>
                  <a:t> </a:t>
                </a:r>
                <a:r>
                  <a:rPr lang="zh-CN" altLang="en-US" sz="2200" dirty="0"/>
                  <a:t>的加权输入，即：</a:t>
                </a:r>
                <a:endParaRPr lang="zh-CN" altLang="en-US"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491644" y="2020962"/>
                <a:ext cx="10175846" cy="1239570"/>
              </a:xfrm>
              <a:prstGeom prst="rect">
                <a:avLst/>
              </a:prstGeom>
              <a:blipFill>
                <a:blip r:embed="rId3"/>
                <a:stretch>
                  <a:fillRect l="-779" t="-3448" b="-9360"/>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C79B903D-4FAE-7EA7-714B-6C939CACDC23}"/>
              </a:ext>
            </a:extLst>
          </p:cNvPr>
          <p:cNvPicPr>
            <a:picLocks noChangeAspect="1"/>
          </p:cNvPicPr>
          <p:nvPr/>
        </p:nvPicPr>
        <p:blipFill>
          <a:blip r:embed="rId4"/>
          <a:stretch>
            <a:fillRect/>
          </a:stretch>
        </p:blipFill>
        <p:spPr>
          <a:xfrm>
            <a:off x="2476203" y="3327784"/>
            <a:ext cx="5243014" cy="662997"/>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4B34B94-8F1B-7650-B3E5-8FAD9E50FA7E}"/>
                  </a:ext>
                </a:extLst>
              </p:cNvPr>
              <p:cNvSpPr txBox="1"/>
              <p:nvPr/>
            </p:nvSpPr>
            <p:spPr>
              <a:xfrm>
                <a:off x="409203" y="4019790"/>
                <a:ext cx="10258287" cy="1292790"/>
              </a:xfrm>
              <a:prstGeom prst="rect">
                <a:avLst/>
              </a:prstGeom>
              <a:noFill/>
            </p:spPr>
            <p:txBody>
              <a:bodyPr wrap="square">
                <a:spAutoFit/>
              </a:bodyPr>
              <a:lstStyle/>
              <a:p>
                <a:r>
                  <a:rPr lang="zh-CN" altLang="en-US" sz="2200" dirty="0"/>
                  <a:t>其中，此处 </a:t>
                </a:r>
                <a:r>
                  <a:rPr lang="en-US" altLang="zh-CN" sz="2200" dirty="0"/>
                  <a:t>n </a:t>
                </a:r>
                <a:r>
                  <a:rPr lang="zh-CN" altLang="en-US" sz="2200" dirty="0"/>
                  <a:t>表示第</a:t>
                </a:r>
                <a:r>
                  <a:rPr lang="zh-CN" altLang="en-US" sz="2200" b="1" dirty="0"/>
                  <a:t> </a:t>
                </a:r>
                <a:r>
                  <a:rPr lang="en-US" altLang="zh-CN" sz="2200" b="1" dirty="0"/>
                  <a:t>l-1 </a:t>
                </a:r>
                <a:r>
                  <a:rPr lang="zh-CN" altLang="en-US" sz="2200" dirty="0"/>
                  <a:t>层中节点的数量。 前面已经指出</a:t>
                </a:r>
                <a:r>
                  <a:rPr lang="en-US" altLang="zh-CN" sz="2200" dirty="0"/>
                  <a:t>,</a:t>
                </a:r>
                <a:r>
                  <a:rPr lang="en-US" altLang="zh-CN" sz="2000" dirty="0"/>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b="0" i="1" smtClean="0">
                            <a:latin typeface="Cambria Math" panose="02040503050406030204" pitchFamily="18" charset="0"/>
                          </a:rPr>
                          <m:t>𝑎</m:t>
                        </m:r>
                      </m:e>
                      <m:sub>
                        <m:r>
                          <a:rPr lang="en-US" altLang="zh-CN" sz="2000" b="0" i="1" smtClean="0">
                            <a:latin typeface="Cambria Math" panose="02040503050406030204" pitchFamily="18" charset="0"/>
                          </a:rPr>
                          <m:t>𝑖</m:t>
                        </m:r>
                      </m:sub>
                      <m:sup>
                        <m:r>
                          <a:rPr lang="en-US" altLang="zh-CN" sz="2000" b="0" i="1" smtClean="0">
                            <a:latin typeface="Cambria Math" panose="02040503050406030204" pitchFamily="18" charset="0"/>
                          </a:rPr>
                          <m:t>(</m:t>
                        </m:r>
                        <m:r>
                          <a:rPr lang="en-US" altLang="zh-CN" sz="2000" i="1">
                            <a:latin typeface="Cambria Math" panose="02040503050406030204" pitchFamily="18" charset="0"/>
                          </a:rPr>
                          <m:t>𝑙</m:t>
                        </m:r>
                        <m:r>
                          <a:rPr lang="en-US" altLang="zh-CN" sz="2000" b="0" i="1" smtClean="0">
                            <a:latin typeface="Cambria Math" panose="02040503050406030204" pitchFamily="18" charset="0"/>
                          </a:rPr>
                          <m:t>)</m:t>
                        </m:r>
                      </m:sup>
                    </m:sSubSup>
                  </m:oMath>
                </a14:m>
                <a:r>
                  <a:rPr lang="zh-CN" altLang="en-US" sz="2200" dirty="0"/>
                  <a:t>是对</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𝐼</m:t>
                        </m:r>
                      </m:e>
                      <m:sub>
                        <m:r>
                          <a:rPr lang="en-US" altLang="zh-CN" sz="2000" i="1">
                            <a:latin typeface="Cambria Math" panose="02040503050406030204" pitchFamily="18" charset="0"/>
                          </a:rPr>
                          <m:t>𝑖</m:t>
                        </m:r>
                      </m:sub>
                      <m:sup>
                        <m:r>
                          <a:rPr lang="en-US" altLang="zh-CN" sz="2000" i="1">
                            <a:latin typeface="Cambria Math" panose="02040503050406030204" pitchFamily="18" charset="0"/>
                          </a:rPr>
                          <m:t>(</m:t>
                        </m:r>
                        <m:r>
                          <a:rPr lang="en-US" altLang="zh-CN" sz="2000" i="1">
                            <a:latin typeface="Cambria Math" panose="02040503050406030204" pitchFamily="18" charset="0"/>
                          </a:rPr>
                          <m:t>𝑙</m:t>
                        </m:r>
                        <m:r>
                          <a:rPr lang="en-US" altLang="zh-CN" sz="2000" i="1">
                            <a:latin typeface="Cambria Math" panose="02040503050406030204" pitchFamily="18" charset="0"/>
                          </a:rPr>
                          <m:t>)</m:t>
                        </m:r>
                      </m:sup>
                    </m:sSubSup>
                  </m:oMath>
                </a14:m>
                <a:r>
                  <a:rPr lang="zh-CN" altLang="en-US" sz="2200" dirty="0"/>
                  <a:t>第 </a:t>
                </a:r>
                <a:r>
                  <a:rPr lang="en-US" altLang="zh-CN" sz="2200" dirty="0"/>
                  <a:t>l </a:t>
                </a:r>
                <a:r>
                  <a:rPr lang="zh-CN" altLang="en-US" sz="2200" dirty="0"/>
                  <a:t>层中节点 </a:t>
                </a:r>
                <a:r>
                  <a:rPr lang="en-US" altLang="zh-CN" sz="2200" dirty="0" err="1"/>
                  <a:t>i</a:t>
                </a:r>
                <a:r>
                  <a:rPr lang="en-US" altLang="zh-CN" sz="2200" dirty="0"/>
                  <a:t> </a:t>
                </a:r>
                <a:r>
                  <a:rPr lang="zh-CN" altLang="en-US" sz="2200" dirty="0"/>
                  <a:t>的输出，因此</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𝑎</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是对</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运用激活函数</a:t>
                </a:r>
                <a14:m>
                  <m:oMath xmlns:m="http://schemas.openxmlformats.org/officeDocument/2006/math">
                    <m:r>
                      <a:rPr lang="zh-CN" altLang="en-US" sz="2200" i="1" smtClean="0">
                        <a:latin typeface="Cambria Math" panose="02040503050406030204" pitchFamily="18" charset="0"/>
                      </a:rPr>
                      <m:t>𝜎</m:t>
                    </m:r>
                  </m:oMath>
                </a14:m>
                <a:r>
                  <a:rPr lang="zh-CN" altLang="en-US" sz="2200" dirty="0"/>
                  <a:t>后的结果， 即</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𝑎</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r>
                      <a:rPr lang="en-US" altLang="zh-CN" sz="2400" i="1">
                        <a:latin typeface="Cambria Math" panose="02040503050406030204" pitchFamily="18" charset="0"/>
                      </a:rPr>
                      <m:t> </m:t>
                    </m:r>
                  </m:oMath>
                </a14:m>
                <a:r>
                  <a:rPr lang="en-US" altLang="zh-CN" sz="2200" dirty="0"/>
                  <a:t>=</a:t>
                </a:r>
                <a14:m>
                  <m:oMath xmlns:m="http://schemas.openxmlformats.org/officeDocument/2006/math">
                    <m:r>
                      <a:rPr lang="zh-CN" altLang="en-US" sz="2200" i="1">
                        <a:latin typeface="Cambria Math" panose="02040503050406030204" pitchFamily="18" charset="0"/>
                      </a:rPr>
                      <m:t>𝜎</m:t>
                    </m:r>
                  </m:oMath>
                </a14:m>
                <a:r>
                  <a:rPr lang="en-US" altLang="zh-CN" sz="2200" dirty="0"/>
                  <a:t>(</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𝐼</m:t>
                        </m:r>
                      </m:e>
                      <m:sub>
                        <m:r>
                          <a:rPr lang="en-US" altLang="zh-CN" sz="2000" i="1">
                            <a:latin typeface="Cambria Math" panose="02040503050406030204" pitchFamily="18" charset="0"/>
                          </a:rPr>
                          <m:t>𝑖</m:t>
                        </m:r>
                      </m:sub>
                      <m:sup>
                        <m:r>
                          <a:rPr lang="en-US" altLang="zh-CN" sz="2000" i="1">
                            <a:latin typeface="Cambria Math" panose="02040503050406030204" pitchFamily="18" charset="0"/>
                          </a:rPr>
                          <m:t>(</m:t>
                        </m:r>
                        <m:r>
                          <a:rPr lang="en-US" altLang="zh-CN" sz="2000" i="1">
                            <a:latin typeface="Cambria Math" panose="02040503050406030204" pitchFamily="18" charset="0"/>
                          </a:rPr>
                          <m:t>𝑙</m:t>
                        </m:r>
                        <m:r>
                          <a:rPr lang="en-US" altLang="zh-CN" sz="2000" i="1">
                            <a:latin typeface="Cambria Math" panose="02040503050406030204" pitchFamily="18" charset="0"/>
                          </a:rPr>
                          <m:t>)</m:t>
                        </m:r>
                      </m:sup>
                    </m:sSubSup>
                  </m:oMath>
                </a14:m>
                <a:r>
                  <a:rPr lang="en-US" altLang="zh-CN" sz="2200" dirty="0"/>
                  <a:t>)</a:t>
                </a:r>
                <a:r>
                  <a:rPr lang="zh-CN" altLang="en-US" sz="2200" dirty="0"/>
                  <a:t>。两者之间的关系可用图 </a:t>
                </a:r>
                <a:r>
                  <a:rPr lang="en-US" altLang="zh-CN" sz="2200" dirty="0"/>
                  <a:t>3-13 </a:t>
                </a:r>
                <a:r>
                  <a:rPr lang="zh-CN" altLang="en-US" sz="2200" dirty="0"/>
                  <a:t>表示。</a:t>
                </a:r>
              </a:p>
            </p:txBody>
          </p:sp>
        </mc:Choice>
        <mc:Fallback xmlns="">
          <p:sp>
            <p:nvSpPr>
              <p:cNvPr id="21" name="文本框 20">
                <a:extLst>
                  <a:ext uri="{FF2B5EF4-FFF2-40B4-BE49-F238E27FC236}">
                    <a16:creationId xmlns:a16="http://schemas.microsoft.com/office/drawing/2014/main" id="{54B34B94-8F1B-7650-B3E5-8FAD9E50FA7E}"/>
                  </a:ext>
                </a:extLst>
              </p:cNvPr>
              <p:cNvSpPr txBox="1">
                <a:spLocks noRot="1" noChangeAspect="1" noMove="1" noResize="1" noEditPoints="1" noAdjustHandles="1" noChangeArrowheads="1" noChangeShapeType="1" noTextEdit="1"/>
              </p:cNvSpPr>
              <p:nvPr/>
            </p:nvSpPr>
            <p:spPr>
              <a:xfrm>
                <a:off x="409203" y="4019790"/>
                <a:ext cx="10258287" cy="1292790"/>
              </a:xfrm>
              <a:prstGeom prst="rect">
                <a:avLst/>
              </a:prstGeom>
              <a:blipFill>
                <a:blip r:embed="rId5"/>
                <a:stretch>
                  <a:fillRect l="-772" r="-357" b="-9434"/>
                </a:stretch>
              </a:blipFill>
            </p:spPr>
            <p:txBody>
              <a:bodyPr/>
              <a:lstStyle/>
              <a:p>
                <a:r>
                  <a:rPr lang="zh-CN" altLang="en-US">
                    <a:noFill/>
                  </a:rPr>
                  <a:t> </a:t>
                </a:r>
              </a:p>
            </p:txBody>
          </p:sp>
        </mc:Fallback>
      </mc:AlternateContent>
      <p:pic>
        <p:nvPicPr>
          <p:cNvPr id="23" name="图片 22">
            <a:extLst>
              <a:ext uri="{FF2B5EF4-FFF2-40B4-BE49-F238E27FC236}">
                <a16:creationId xmlns:a16="http://schemas.microsoft.com/office/drawing/2014/main" id="{531FC304-8D87-9A15-8020-AD9108A13EE2}"/>
              </a:ext>
            </a:extLst>
          </p:cNvPr>
          <p:cNvPicPr>
            <a:picLocks noChangeAspect="1"/>
          </p:cNvPicPr>
          <p:nvPr/>
        </p:nvPicPr>
        <p:blipFill>
          <a:blip r:embed="rId6"/>
          <a:stretch>
            <a:fillRect/>
          </a:stretch>
        </p:blipFill>
        <p:spPr>
          <a:xfrm>
            <a:off x="3531764" y="5132111"/>
            <a:ext cx="3009041" cy="1148440"/>
          </a:xfrm>
          <a:prstGeom prst="rect">
            <a:avLst/>
          </a:prstGeom>
        </p:spPr>
      </p:pic>
    </p:spTree>
    <p:extLst>
      <p:ext uri="{BB962C8B-B14F-4D97-AF65-F5344CB8AC3E}">
        <p14:creationId xmlns:p14="http://schemas.microsoft.com/office/powerpoint/2010/main" val="2553974648"/>
      </p:ext>
    </p:extLst>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373801" y="2058794"/>
                <a:ext cx="10175846" cy="430887"/>
              </a:xfrm>
              <a:prstGeom prst="rect">
                <a:avLst/>
              </a:prstGeom>
              <a:noFill/>
            </p:spPr>
            <p:txBody>
              <a:bodyPr wrap="square">
                <a:spAutoFit/>
              </a:bodyPr>
              <a:lstStyle/>
              <a:p>
                <a:r>
                  <a:rPr lang="zh-CN" altLang="en-US" sz="2200" dirty="0"/>
                  <a:t>由于</a:t>
                </a:r>
                <a14:m>
                  <m:oMath xmlns:m="http://schemas.openxmlformats.org/officeDocument/2006/math">
                    <m:r>
                      <a:rPr lang="zh-CN" altLang="en-US" sz="2200" i="1" smtClean="0">
                        <a:latin typeface="Cambria Math" panose="02040503050406030204" pitchFamily="18" charset="0"/>
                      </a:rPr>
                      <m:t>𝜎</m:t>
                    </m:r>
                  </m:oMath>
                </a14:m>
                <a:r>
                  <a:rPr lang="zh-CN" altLang="en-US" sz="2200" dirty="0"/>
                  <a:t>为 </a:t>
                </a:r>
                <a:r>
                  <a:rPr lang="en-US" altLang="zh-CN" sz="2200" dirty="0"/>
                  <a:t>sigmoid </a:t>
                </a:r>
                <a:r>
                  <a:rPr lang="zh-CN" altLang="en-US" sz="2200" dirty="0"/>
                  <a:t>函数，所以有：</a:t>
                </a:r>
                <a:endParaRPr lang="zh-CN" altLang="en-US"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373801" y="2058794"/>
                <a:ext cx="10175846" cy="430887"/>
              </a:xfrm>
              <a:prstGeom prst="rect">
                <a:avLst/>
              </a:prstGeom>
              <a:blipFill>
                <a:blip r:embed="rId3"/>
                <a:stretch>
                  <a:fillRect l="-778" t="-10000" b="-3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3731BB9-9358-AD95-FF93-DE01D5DD86F4}"/>
                  </a:ext>
                </a:extLst>
              </p:cNvPr>
              <p:cNvSpPr txBox="1"/>
              <p:nvPr/>
            </p:nvSpPr>
            <p:spPr>
              <a:xfrm>
                <a:off x="543186" y="3534624"/>
                <a:ext cx="9423179" cy="858377"/>
              </a:xfrm>
              <a:prstGeom prst="rect">
                <a:avLst/>
              </a:prstGeom>
              <a:noFill/>
            </p:spPr>
            <p:txBody>
              <a:bodyPr wrap="square">
                <a:spAutoFit/>
              </a:bodyPr>
              <a:lstStyle/>
              <a:p>
                <a:r>
                  <a:rPr lang="zh-CN" altLang="en-US" sz="2200" dirty="0"/>
                  <a:t>考虑任意一个参数</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oMath>
                </a14:m>
                <a:r>
                  <a:rPr lang="en-US" altLang="zh-CN" sz="2200" dirty="0"/>
                  <a:t>, </a:t>
                </a:r>
                <a:r>
                  <a:rPr lang="zh-CN" altLang="en-US" sz="2200" dirty="0"/>
                  <a:t>其中 </a:t>
                </a:r>
                <a:r>
                  <a:rPr lang="en-US" altLang="zh-CN" sz="2200" dirty="0"/>
                  <a:t>0&lt;</a:t>
                </a:r>
                <a:r>
                  <a:rPr lang="en-US" altLang="zh-CN" sz="2200" dirty="0" err="1"/>
                  <a:t>l≤o</a:t>
                </a:r>
                <a:r>
                  <a:rPr lang="zh-CN" altLang="en-US" sz="2200" dirty="0"/>
                  <a:t>。令</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a:latin typeface="Cambria Math" panose="02040503050406030204" pitchFamily="18" charset="0"/>
                          </a:rPr>
                          <m:t>)</m:t>
                        </m:r>
                      </m:sup>
                    </m:sSubSup>
                  </m:oMath>
                </a14:m>
                <a:r>
                  <a:rPr lang="en-US" altLang="zh-CN" sz="2200" dirty="0"/>
                  <a:t>,</a:t>
                </a:r>
                <a:r>
                  <a:rPr lang="zh-CN" altLang="en-US" sz="2200" dirty="0"/>
                  <a:t>表示目标函数</a:t>
                </a:r>
                <a:r>
                  <a:rPr lang="en-US" altLang="zh-CN" sz="2200" dirty="0"/>
                  <a:t>ℒ</a:t>
                </a:r>
                <a:r>
                  <a:rPr lang="zh-CN" altLang="en-US" sz="2200" dirty="0"/>
                  <a:t>关于加权输入</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𝐼</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a:latin typeface="Cambria Math" panose="02040503050406030204" pitchFamily="18" charset="0"/>
                          </a:rPr>
                          <m:t>)</m:t>
                        </m:r>
                      </m:sup>
                    </m:sSubSup>
                  </m:oMath>
                </a14:m>
                <a:r>
                  <a:rPr lang="zh-CN" altLang="en-US" sz="2200" dirty="0"/>
                  <a:t>的导数，即：</a:t>
                </a:r>
              </a:p>
            </p:txBody>
          </p:sp>
        </mc:Choice>
        <mc:Fallback xmlns="">
          <p:sp>
            <p:nvSpPr>
              <p:cNvPr id="14" name="文本框 13">
                <a:extLst>
                  <a:ext uri="{FF2B5EF4-FFF2-40B4-BE49-F238E27FC236}">
                    <a16:creationId xmlns:a16="http://schemas.microsoft.com/office/drawing/2014/main" id="{93731BB9-9358-AD95-FF93-DE01D5DD86F4}"/>
                  </a:ext>
                </a:extLst>
              </p:cNvPr>
              <p:cNvSpPr txBox="1">
                <a:spLocks noRot="1" noChangeAspect="1" noMove="1" noResize="1" noEditPoints="1" noAdjustHandles="1" noChangeArrowheads="1" noChangeShapeType="1" noTextEdit="1"/>
              </p:cNvSpPr>
              <p:nvPr/>
            </p:nvSpPr>
            <p:spPr>
              <a:xfrm>
                <a:off x="543186" y="3534624"/>
                <a:ext cx="9423179" cy="858377"/>
              </a:xfrm>
              <a:prstGeom prst="rect">
                <a:avLst/>
              </a:prstGeom>
              <a:blipFill>
                <a:blip r:embed="rId4"/>
                <a:stretch>
                  <a:fillRect l="-841" r="-776" b="-13475"/>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9D0E0CF1-F28F-CEF6-37FA-388678B2639F}"/>
              </a:ext>
            </a:extLst>
          </p:cNvPr>
          <p:cNvPicPr>
            <a:picLocks noChangeAspect="1"/>
          </p:cNvPicPr>
          <p:nvPr/>
        </p:nvPicPr>
        <p:blipFill>
          <a:blip r:embed="rId5"/>
          <a:stretch>
            <a:fillRect/>
          </a:stretch>
        </p:blipFill>
        <p:spPr>
          <a:xfrm>
            <a:off x="4027838" y="2638126"/>
            <a:ext cx="2324301" cy="731583"/>
          </a:xfrm>
          <a:prstGeom prst="rect">
            <a:avLst/>
          </a:prstGeom>
        </p:spPr>
      </p:pic>
      <p:pic>
        <p:nvPicPr>
          <p:cNvPr id="6" name="图片 5">
            <a:extLst>
              <a:ext uri="{FF2B5EF4-FFF2-40B4-BE49-F238E27FC236}">
                <a16:creationId xmlns:a16="http://schemas.microsoft.com/office/drawing/2014/main" id="{5866B0AC-209B-FB09-A499-1C99E463CD68}"/>
              </a:ext>
            </a:extLst>
          </p:cNvPr>
          <p:cNvPicPr>
            <a:picLocks noChangeAspect="1"/>
          </p:cNvPicPr>
          <p:nvPr/>
        </p:nvPicPr>
        <p:blipFill>
          <a:blip r:embed="rId6"/>
          <a:stretch>
            <a:fillRect/>
          </a:stretch>
        </p:blipFill>
        <p:spPr>
          <a:xfrm>
            <a:off x="4239554" y="4144469"/>
            <a:ext cx="1531753" cy="868755"/>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F901156-B837-3C7D-23E1-ECFA86C719D1}"/>
                  </a:ext>
                </a:extLst>
              </p:cNvPr>
              <p:cNvSpPr txBox="1"/>
              <p:nvPr/>
            </p:nvSpPr>
            <p:spPr>
              <a:xfrm>
                <a:off x="543186" y="5155770"/>
                <a:ext cx="6119768" cy="519822"/>
              </a:xfrm>
              <a:prstGeom prst="rect">
                <a:avLst/>
              </a:prstGeom>
              <a:noFill/>
            </p:spPr>
            <p:txBody>
              <a:bodyPr wrap="square">
                <a:spAutoFit/>
              </a:bodyPr>
              <a:lstStyle/>
              <a:p>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a:latin typeface="Cambria Math" panose="02040503050406030204" pitchFamily="18" charset="0"/>
                          </a:rPr>
                          <m:t>)</m:t>
                        </m:r>
                      </m:sup>
                    </m:sSubSup>
                  </m:oMath>
                </a14:m>
                <a:r>
                  <a:rPr lang="zh-CN" altLang="en-US" sz="2200" dirty="0"/>
                  <a:t>称为第 </a:t>
                </a:r>
                <a:r>
                  <a:rPr lang="en-US" altLang="zh-CN" sz="2200" dirty="0"/>
                  <a:t>l </a:t>
                </a:r>
                <a:r>
                  <a:rPr lang="zh-CN" altLang="en-US" sz="2200" dirty="0"/>
                  <a:t>层中节点 </a:t>
                </a:r>
                <a:r>
                  <a:rPr lang="en-US" altLang="zh-CN" sz="2200" dirty="0" err="1"/>
                  <a:t>i</a:t>
                </a:r>
                <a:r>
                  <a:rPr lang="en-US" altLang="zh-CN" sz="2200" dirty="0"/>
                  <a:t> </a:t>
                </a:r>
                <a:r>
                  <a:rPr lang="zh-CN" altLang="en-US" sz="2200" dirty="0"/>
                  <a:t>的</a:t>
                </a:r>
                <a:r>
                  <a:rPr lang="zh-CN" altLang="en-US" sz="2200" dirty="0">
                    <a:solidFill>
                      <a:srgbClr val="0033CC"/>
                    </a:solidFill>
                  </a:rPr>
                  <a:t>误差项</a:t>
                </a:r>
                <a:r>
                  <a:rPr lang="zh-CN" altLang="en-US" sz="2200" dirty="0"/>
                  <a:t>。</a:t>
                </a:r>
              </a:p>
            </p:txBody>
          </p:sp>
        </mc:Choice>
        <mc:Fallback xmlns="">
          <p:sp>
            <p:nvSpPr>
              <p:cNvPr id="9" name="文本框 8">
                <a:extLst>
                  <a:ext uri="{FF2B5EF4-FFF2-40B4-BE49-F238E27FC236}">
                    <a16:creationId xmlns:a16="http://schemas.microsoft.com/office/drawing/2014/main" id="{1F901156-B837-3C7D-23E1-ECFA86C719D1}"/>
                  </a:ext>
                </a:extLst>
              </p:cNvPr>
              <p:cNvSpPr txBox="1">
                <a:spLocks noRot="1" noChangeAspect="1" noMove="1" noResize="1" noEditPoints="1" noAdjustHandles="1" noChangeArrowheads="1" noChangeShapeType="1" noTextEdit="1"/>
              </p:cNvSpPr>
              <p:nvPr/>
            </p:nvSpPr>
            <p:spPr>
              <a:xfrm>
                <a:off x="543186" y="5155770"/>
                <a:ext cx="6119768" cy="519822"/>
              </a:xfrm>
              <a:prstGeom prst="rect">
                <a:avLst/>
              </a:prstGeom>
              <a:blipFill>
                <a:blip r:embed="rId7"/>
                <a:stretch>
                  <a:fillRect b="-2117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50400614"/>
      </p:ext>
    </p:extLst>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373801" y="2058794"/>
                <a:ext cx="10175846" cy="604268"/>
              </a:xfrm>
              <a:prstGeom prst="rect">
                <a:avLst/>
              </a:prstGeom>
              <a:noFill/>
            </p:spPr>
            <p:txBody>
              <a:bodyPr wrap="square">
                <a:spAutoFit/>
              </a:bodyPr>
              <a:lstStyle/>
              <a:p>
                <a:r>
                  <a:rPr lang="zh-CN" altLang="en-US" sz="2200" dirty="0"/>
                  <a:t>因为</a:t>
                </a:r>
                <a:r>
                  <a:rPr lang="en-US" altLang="zh-CN" sz="2200" dirty="0"/>
                  <a:t>ℒ</a:t>
                </a:r>
                <a:r>
                  <a:rPr lang="zh-CN" altLang="en-US" sz="2200" dirty="0"/>
                  <a:t>是加权输入</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的函数，而</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r>
                      <a:rPr lang="en-US" altLang="zh-CN" sz="2400" i="1">
                        <a:latin typeface="Cambria Math" panose="02040503050406030204" pitchFamily="18" charset="0"/>
                      </a:rPr>
                      <m:t> </m:t>
                    </m:r>
                  </m:oMath>
                </a14:m>
                <a:r>
                  <a:rPr lang="zh-CN" altLang="en-US" sz="2200" dirty="0"/>
                  <a:t>是</a:t>
                </a:r>
                <a14:m>
                  <m:oMath xmlns:m="http://schemas.openxmlformats.org/officeDocument/2006/math">
                    <m:sSubSup>
                      <m:sSubSupPr>
                        <m:ctrlPr>
                          <a:rPr lang="en-US" altLang="zh-CN" sz="2400" i="1" smtClean="0">
                            <a:latin typeface="Cambria Math" panose="02040503050406030204" pitchFamily="18" charset="0"/>
                          </a:rPr>
                        </m:ctrlPr>
                      </m:sSubSupPr>
                      <m:e>
                        <m:r>
                          <a:rPr lang="en-US" altLang="zh-CN" sz="2400" b="0" i="1" smtClean="0">
                            <a:latin typeface="Cambria Math" panose="02040503050406030204" pitchFamily="18" charset="0"/>
                          </a:rPr>
                          <m:t>𝑊</m:t>
                        </m:r>
                      </m:e>
                      <m:sub>
                        <m:r>
                          <a:rPr lang="en-US" altLang="zh-CN" sz="2400" b="0" i="1" smtClean="0">
                            <a:latin typeface="Cambria Math" panose="02040503050406030204" pitchFamily="18" charset="0"/>
                          </a:rPr>
                          <m:t>𝑖𝑗</m:t>
                        </m:r>
                      </m:sub>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𝑙</m:t>
                        </m:r>
                        <m:r>
                          <a:rPr lang="en-US" altLang="zh-CN" sz="2400" b="0" i="1" smtClean="0">
                            <a:latin typeface="Cambria Math" panose="02040503050406030204" pitchFamily="18" charset="0"/>
                          </a:rPr>
                          <m:t>)</m:t>
                        </m:r>
                      </m:sup>
                    </m:sSubSup>
                  </m:oMath>
                </a14:m>
                <a:r>
                  <a:rPr lang="en-US" altLang="zh-CN" sz="2400" dirty="0"/>
                  <a:t>,</a:t>
                </a:r>
                <a:r>
                  <a:rPr lang="zh-CN" altLang="en-US" sz="2200" dirty="0"/>
                  <a:t>的函数，所以我们可以得到：：</a:t>
                </a:r>
                <a:endParaRPr lang="zh-CN" altLang="en-US"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373801" y="2058794"/>
                <a:ext cx="10175846" cy="604268"/>
              </a:xfrm>
              <a:prstGeom prst="rect">
                <a:avLst/>
              </a:prstGeom>
              <a:blipFill>
                <a:blip r:embed="rId3"/>
                <a:stretch>
                  <a:fillRect l="-778"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3731BB9-9358-AD95-FF93-DE01D5DD86F4}"/>
                  </a:ext>
                </a:extLst>
              </p:cNvPr>
              <p:cNvSpPr txBox="1"/>
              <p:nvPr/>
            </p:nvSpPr>
            <p:spPr>
              <a:xfrm>
                <a:off x="409203" y="3844164"/>
                <a:ext cx="10815508" cy="1601016"/>
              </a:xfrm>
              <a:prstGeom prst="rect">
                <a:avLst/>
              </a:prstGeom>
              <a:noFill/>
            </p:spPr>
            <p:txBody>
              <a:bodyPr wrap="square">
                <a:spAutoFit/>
              </a:bodyPr>
              <a:lstStyle/>
              <a:p>
                <a:r>
                  <a:rPr lang="zh-CN" altLang="en-US" sz="2200" dirty="0"/>
                  <a:t>考虑任意一个参数</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oMath>
                </a14:m>
                <a:r>
                  <a:rPr lang="en-US" altLang="zh-CN" sz="2200" dirty="0"/>
                  <a:t>, </a:t>
                </a:r>
                <a:r>
                  <a:rPr lang="zh-CN" altLang="en-US" sz="2200" dirty="0"/>
                  <a:t>其中 </a:t>
                </a:r>
                <a:r>
                  <a:rPr lang="en-US" altLang="zh-CN" sz="2200" dirty="0"/>
                  <a:t>0&lt;</a:t>
                </a:r>
                <a:r>
                  <a:rPr lang="en-US" altLang="zh-CN" sz="2200" dirty="0" err="1"/>
                  <a:t>l≤o</a:t>
                </a:r>
                <a:r>
                  <a:rPr lang="zh-CN" altLang="en-US" sz="2200" dirty="0"/>
                  <a:t>。令</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a:latin typeface="Cambria Math" panose="02040503050406030204" pitchFamily="18" charset="0"/>
                          </a:rPr>
                          <m:t>)</m:t>
                        </m:r>
                      </m:sup>
                    </m:sSubSup>
                  </m:oMath>
                </a14:m>
                <a:r>
                  <a:rPr lang="en-US" altLang="zh-CN" sz="2200" dirty="0"/>
                  <a:t>,</a:t>
                </a:r>
                <a:r>
                  <a:rPr lang="zh-CN" altLang="en-US" sz="2200" dirty="0"/>
                  <a:t>表示目标函数</a:t>
                </a:r>
                <a:r>
                  <a:rPr lang="en-US" altLang="zh-CN" sz="2200" dirty="0"/>
                  <a:t>ℒ</a:t>
                </a:r>
                <a:r>
                  <a:rPr lang="zh-CN" altLang="en-US" sz="2200" dirty="0"/>
                  <a:t>关于加权输入</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𝐼</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a:latin typeface="Cambria Math" panose="02040503050406030204" pitchFamily="18" charset="0"/>
                          </a:rPr>
                          <m:t>)</m:t>
                        </m:r>
                      </m:sup>
                    </m:sSubSup>
                  </m:oMath>
                </a14:m>
                <a:r>
                  <a:rPr lang="zh-CN" altLang="en-US" sz="2200" dirty="0"/>
                  <a:t>的导数，即：</a:t>
                </a:r>
                <a:endParaRPr lang="en-US" altLang="zh-CN" sz="2200" dirty="0"/>
              </a:p>
              <a:p>
                <a:r>
                  <a:rPr lang="zh-CN" altLang="en-US" sz="2200" dirty="0"/>
                  <a:t>上式中，</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b="0" i="1" smtClean="0">
                            <a:latin typeface="Cambria Math" panose="02040503050406030204" pitchFamily="18" charset="0"/>
                          </a:rPr>
                          <m:t>𝑎</m:t>
                        </m:r>
                      </m:e>
                      <m:sub>
                        <m:r>
                          <a:rPr lang="en-US" altLang="zh-CN" sz="2200" b="0" i="1" smtClean="0">
                            <a:latin typeface="Cambria Math" panose="02040503050406030204" pitchFamily="18" charset="0"/>
                          </a:rPr>
                          <m:t>𝑗</m:t>
                        </m:r>
                      </m:sub>
                      <m:sup>
                        <m:r>
                          <a:rPr lang="en-US" altLang="zh-CN" sz="2200">
                            <a:latin typeface="Cambria Math" panose="02040503050406030204" pitchFamily="18" charset="0"/>
                          </a:rPr>
                          <m:t>(</m:t>
                        </m:r>
                        <m:r>
                          <a:rPr lang="en-US" altLang="zh-CN" sz="2200">
                            <a:latin typeface="Cambria Math" panose="02040503050406030204" pitchFamily="18" charset="0"/>
                          </a:rPr>
                          <m:t>𝑙</m:t>
                        </m:r>
                        <m:r>
                          <a:rPr lang="en-US" altLang="zh-CN" sz="2200" b="0" i="0" smtClean="0">
                            <a:latin typeface="Cambria Math" panose="02040503050406030204" pitchFamily="18" charset="0"/>
                          </a:rPr>
                          <m:t>−</m:t>
                        </m:r>
                        <m:r>
                          <a:rPr lang="en-US" altLang="zh-CN" sz="2200" b="0" i="0" smtClean="0">
                            <a:latin typeface="Cambria Math" panose="02040503050406030204" pitchFamily="18" charset="0"/>
                          </a:rPr>
                          <m:t>1</m:t>
                        </m:r>
                        <m:r>
                          <a:rPr lang="en-US" altLang="zh-CN" sz="2200">
                            <a:latin typeface="Cambria Math" panose="02040503050406030204" pitchFamily="18" charset="0"/>
                          </a:rPr>
                          <m:t>)</m:t>
                        </m:r>
                      </m:sup>
                    </m:sSubSup>
                  </m:oMath>
                </a14:m>
                <a:r>
                  <a:rPr lang="zh-CN" altLang="en-US" sz="2200" dirty="0"/>
                  <a:t>是第 </a:t>
                </a:r>
                <a:r>
                  <a:rPr lang="en-US" altLang="zh-CN" sz="2200" dirty="0"/>
                  <a:t>l-1 </a:t>
                </a:r>
                <a:r>
                  <a:rPr lang="zh-CN" altLang="en-US" sz="2200" dirty="0"/>
                  <a:t>层中节点 </a:t>
                </a:r>
                <a:r>
                  <a:rPr lang="en-US" altLang="zh-CN" sz="2200" dirty="0"/>
                  <a:t>j </a:t>
                </a:r>
                <a:r>
                  <a:rPr lang="zh-CN" altLang="en-US" sz="2200" dirty="0"/>
                  <a:t>的激活输出，在反向传播中是已知的。这样，如果</a:t>
                </a:r>
                <a:r>
                  <a:rPr lang="zh-CN" altLang="en-US" sz="2200" b="1" dirty="0"/>
                  <a:t>误 差项</a:t>
                </a:r>
                <a14:m>
                  <m:oMath xmlns:m="http://schemas.openxmlformats.org/officeDocument/2006/math">
                    <m:sSubSup>
                      <m:sSubSupPr>
                        <m:ctrlPr>
                          <a:rPr lang="en-US" altLang="zh-CN" sz="2200" b="1" i="1">
                            <a:latin typeface="Cambria Math" panose="02040503050406030204" pitchFamily="18" charset="0"/>
                          </a:rPr>
                        </m:ctrlPr>
                      </m:sSubSupPr>
                      <m:e>
                        <m:r>
                          <a:rPr lang="zh-CN" altLang="en-US" sz="2200" b="1" i="1">
                            <a:latin typeface="Cambria Math" panose="02040503050406030204" pitchFamily="18" charset="0"/>
                          </a:rPr>
                          <m:t>𝜹</m:t>
                        </m:r>
                      </m:e>
                      <m:sub>
                        <m:r>
                          <a:rPr lang="en-US" altLang="zh-CN" sz="2200" b="1" i="1">
                            <a:latin typeface="Cambria Math" panose="02040503050406030204" pitchFamily="18" charset="0"/>
                          </a:rPr>
                          <m:t>𝒊</m:t>
                        </m:r>
                      </m:sub>
                      <m:sup>
                        <m:r>
                          <a:rPr lang="en-US" altLang="zh-CN" sz="2200" b="1">
                            <a:latin typeface="Cambria Math" panose="02040503050406030204" pitchFamily="18" charset="0"/>
                          </a:rPr>
                          <m:t>(</m:t>
                        </m:r>
                        <m:r>
                          <a:rPr lang="en-US" altLang="zh-CN" sz="2200" b="1" i="1">
                            <a:latin typeface="Cambria Math" panose="02040503050406030204" pitchFamily="18" charset="0"/>
                          </a:rPr>
                          <m:t>𝐥</m:t>
                        </m:r>
                        <m:r>
                          <a:rPr lang="en-US" altLang="zh-CN" sz="2200" b="1">
                            <a:latin typeface="Cambria Math" panose="02040503050406030204" pitchFamily="18" charset="0"/>
                          </a:rPr>
                          <m:t>)</m:t>
                        </m:r>
                      </m:sup>
                    </m:sSubSup>
                  </m:oMath>
                </a14:m>
                <a:r>
                  <a:rPr lang="zh-CN" altLang="en-US" sz="2200" dirty="0"/>
                  <a:t>能确定下来，那么 </a:t>
                </a:r>
                <a14:m>
                  <m:oMath xmlns:m="http://schemas.openxmlformats.org/officeDocument/2006/math">
                    <m:f>
                      <m:fPr>
                        <m:ctrlPr>
                          <a:rPr lang="en-US" altLang="zh-CN" sz="2200" i="1" smtClean="0">
                            <a:latin typeface="Cambria Math" panose="02040503050406030204" pitchFamily="18" charset="0"/>
                          </a:rPr>
                        </m:ctrlPr>
                      </m:fPr>
                      <m:num>
                        <m:r>
                          <a:rPr lang="en-US" altLang="zh-CN" sz="2200" i="1" smtClean="0">
                            <a:latin typeface="Cambria Math" panose="02040503050406030204" pitchFamily="18" charset="0"/>
                          </a:rPr>
                          <m:t>𝜕</m:t>
                        </m:r>
                        <m:r>
                          <a:rPr lang="en-US" altLang="zh-CN" sz="2200" i="1" smtClean="0">
                            <a:latin typeface="Cambria Math" panose="02040503050406030204" pitchFamily="18" charset="0"/>
                            <a:ea typeface="Cambria Math" panose="02040503050406030204" pitchFamily="18" charset="0"/>
                          </a:rPr>
                          <m:t>ℒ</m:t>
                        </m:r>
                      </m:num>
                      <m:den>
                        <m:r>
                          <a:rPr lang="en-US" altLang="zh-CN" sz="2200" i="1" smtClean="0">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den>
                    </m:f>
                  </m:oMath>
                </a14:m>
                <a:r>
                  <a:rPr lang="zh-CN" altLang="en-US" sz="2200" dirty="0"/>
                  <a:t>就确定了。</a:t>
                </a:r>
                <a:r>
                  <a:rPr lang="zh-CN" altLang="en-US" sz="2400" dirty="0"/>
                  <a:t>令 </a:t>
                </a:r>
                <a:r>
                  <a:rPr lang="en-US" altLang="zh-CN" sz="2400" dirty="0"/>
                  <a:t>l=o</a:t>
                </a:r>
                <a:r>
                  <a:rPr lang="zh-CN" altLang="en-US" sz="2400" dirty="0"/>
                  <a:t>，即考虑最后一层</a:t>
                </a:r>
                <a:r>
                  <a:rPr lang="en-US" altLang="zh-CN" sz="2400" dirty="0"/>
                  <a:t>——</a:t>
                </a:r>
                <a:r>
                  <a:rPr lang="zh-CN" altLang="en-US" sz="2400" b="1" dirty="0"/>
                  <a:t>输出层</a:t>
                </a:r>
                <a:r>
                  <a:rPr lang="zh-CN" altLang="en-US" sz="2400" dirty="0"/>
                  <a:t>。</a:t>
                </a:r>
                <a:endParaRPr lang="zh-CN" altLang="en-US" sz="2200" dirty="0"/>
              </a:p>
            </p:txBody>
          </p:sp>
        </mc:Choice>
        <mc:Fallback xmlns="">
          <p:sp>
            <p:nvSpPr>
              <p:cNvPr id="14" name="文本框 13">
                <a:extLst>
                  <a:ext uri="{FF2B5EF4-FFF2-40B4-BE49-F238E27FC236}">
                    <a16:creationId xmlns:a16="http://schemas.microsoft.com/office/drawing/2014/main" id="{93731BB9-9358-AD95-FF93-DE01D5DD86F4}"/>
                  </a:ext>
                </a:extLst>
              </p:cNvPr>
              <p:cNvSpPr txBox="1">
                <a:spLocks noRot="1" noChangeAspect="1" noMove="1" noResize="1" noEditPoints="1" noAdjustHandles="1" noChangeArrowheads="1" noChangeShapeType="1" noTextEdit="1"/>
              </p:cNvSpPr>
              <p:nvPr/>
            </p:nvSpPr>
            <p:spPr>
              <a:xfrm>
                <a:off x="409203" y="3844164"/>
                <a:ext cx="10815508" cy="1601016"/>
              </a:xfrm>
              <a:prstGeom prst="rect">
                <a:avLst/>
              </a:prstGeom>
              <a:blipFill>
                <a:blip r:embed="rId4"/>
                <a:stretch>
                  <a:fillRect l="-733" r="-3269"/>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0FEDE37B-71A7-8E21-8528-BA9C43C79F58}"/>
              </a:ext>
            </a:extLst>
          </p:cNvPr>
          <p:cNvPicPr>
            <a:picLocks noChangeAspect="1"/>
          </p:cNvPicPr>
          <p:nvPr/>
        </p:nvPicPr>
        <p:blipFill>
          <a:blip r:embed="rId5"/>
          <a:stretch>
            <a:fillRect/>
          </a:stretch>
        </p:blipFill>
        <p:spPr>
          <a:xfrm>
            <a:off x="1747114" y="2951711"/>
            <a:ext cx="3177815" cy="655377"/>
          </a:xfrm>
          <a:prstGeom prst="rect">
            <a:avLst/>
          </a:prstGeom>
        </p:spPr>
      </p:pic>
      <p:pic>
        <p:nvPicPr>
          <p:cNvPr id="13" name="图片 12">
            <a:extLst>
              <a:ext uri="{FF2B5EF4-FFF2-40B4-BE49-F238E27FC236}">
                <a16:creationId xmlns:a16="http://schemas.microsoft.com/office/drawing/2014/main" id="{9C1EBD63-FBD3-FAA5-E27B-E764CCE060EE}"/>
              </a:ext>
            </a:extLst>
          </p:cNvPr>
          <p:cNvPicPr>
            <a:picLocks noChangeAspect="1"/>
          </p:cNvPicPr>
          <p:nvPr/>
        </p:nvPicPr>
        <p:blipFill>
          <a:blip r:embed="rId6"/>
          <a:stretch>
            <a:fillRect/>
          </a:stretch>
        </p:blipFill>
        <p:spPr>
          <a:xfrm>
            <a:off x="6976859" y="2880115"/>
            <a:ext cx="2080440" cy="716342"/>
          </a:xfrm>
          <a:prstGeom prst="rect">
            <a:avLst/>
          </a:prstGeom>
        </p:spPr>
      </p:pic>
      <p:sp>
        <p:nvSpPr>
          <p:cNvPr id="16" name="文本框 15">
            <a:extLst>
              <a:ext uri="{FF2B5EF4-FFF2-40B4-BE49-F238E27FC236}">
                <a16:creationId xmlns:a16="http://schemas.microsoft.com/office/drawing/2014/main" id="{5F67980C-53A5-89D4-137C-DC8873BD8421}"/>
              </a:ext>
            </a:extLst>
          </p:cNvPr>
          <p:cNvSpPr txBox="1"/>
          <p:nvPr/>
        </p:nvSpPr>
        <p:spPr>
          <a:xfrm>
            <a:off x="5490277" y="3068947"/>
            <a:ext cx="471880" cy="430887"/>
          </a:xfrm>
          <a:prstGeom prst="rect">
            <a:avLst/>
          </a:prstGeom>
          <a:noFill/>
        </p:spPr>
        <p:txBody>
          <a:bodyPr wrap="square">
            <a:spAutoFit/>
          </a:bodyPr>
          <a:lstStyle/>
          <a:p>
            <a:r>
              <a:rPr lang="zh-CN" altLang="en-US" sz="2200" dirty="0"/>
              <a:t>即</a:t>
            </a:r>
          </a:p>
        </p:txBody>
      </p:sp>
      <p:pic>
        <p:nvPicPr>
          <p:cNvPr id="19" name="图片 18">
            <a:extLst>
              <a:ext uri="{FF2B5EF4-FFF2-40B4-BE49-F238E27FC236}">
                <a16:creationId xmlns:a16="http://schemas.microsoft.com/office/drawing/2014/main" id="{49182F4E-EE51-8697-FC72-198231B926BA}"/>
              </a:ext>
            </a:extLst>
          </p:cNvPr>
          <p:cNvPicPr>
            <a:picLocks noChangeAspect="1"/>
          </p:cNvPicPr>
          <p:nvPr/>
        </p:nvPicPr>
        <p:blipFill>
          <a:blip r:embed="rId7"/>
          <a:stretch>
            <a:fillRect/>
          </a:stretch>
        </p:blipFill>
        <p:spPr>
          <a:xfrm>
            <a:off x="1392753" y="5492304"/>
            <a:ext cx="7064352" cy="594412"/>
          </a:xfrm>
          <a:prstGeom prst="rect">
            <a:avLst/>
          </a:prstGeom>
        </p:spPr>
      </p:pic>
    </p:spTree>
    <p:extLst>
      <p:ext uri="{BB962C8B-B14F-4D97-AF65-F5344CB8AC3E}">
        <p14:creationId xmlns:p14="http://schemas.microsoft.com/office/powerpoint/2010/main" val="195474845"/>
      </p:ext>
    </p:extLst>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10175846" cy="1362296"/>
              </a:xfrm>
              <a:prstGeom prst="rect">
                <a:avLst/>
              </a:prstGeom>
              <a:noFill/>
            </p:spPr>
            <p:txBody>
              <a:bodyPr wrap="square">
                <a:spAutoFit/>
              </a:bodyPr>
              <a:lstStyle/>
              <a:p>
                <a:r>
                  <a:rPr lang="zh-CN" altLang="en-US" sz="2200" dirty="0"/>
                  <a:t>在</a:t>
                </a:r>
                <a:r>
                  <a:rPr lang="zh-CN" altLang="en-US" sz="2200" b="1" dirty="0"/>
                  <a:t>反向传播</a:t>
                </a:r>
                <a:r>
                  <a:rPr lang="zh-CN" altLang="en-US" sz="2200" dirty="0"/>
                  <a:t>时，</a:t>
                </a:r>
                <a:r>
                  <a:rPr lang="en-US" altLang="zh-CN" sz="2400" dirty="0"/>
                  <a:t> </a:t>
                </a:r>
                <a14:m>
                  <m:oMath xmlns:m="http://schemas.openxmlformats.org/officeDocument/2006/math">
                    <m:sSubSup>
                      <m:sSubSupPr>
                        <m:ctrlPr>
                          <a:rPr lang="en-US" altLang="zh-CN" sz="2400" i="1" smtClean="0">
                            <a:latin typeface="Cambria Math" panose="02040503050406030204" pitchFamily="18" charset="0"/>
                          </a:rPr>
                        </m:ctrlPr>
                      </m:sSubSupPr>
                      <m:e>
                        <m:r>
                          <m:rPr>
                            <m:sty m:val="p"/>
                          </m:rPr>
                          <a:rPr lang="en-US" altLang="zh-CN" sz="2400" i="1">
                            <a:latin typeface="Cambria Math" panose="02040503050406030204" pitchFamily="18" charset="0"/>
                          </a:rPr>
                          <m:t>a</m:t>
                        </m:r>
                      </m:e>
                      <m:sub>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𝑜</m:t>
                        </m:r>
                        <m:r>
                          <a:rPr lang="en-US" altLang="zh-CN" sz="2400" b="0" i="1" smtClean="0">
                            <a:latin typeface="Cambria Math" panose="02040503050406030204" pitchFamily="18" charset="0"/>
                          </a:rPr>
                          <m:t>)</m:t>
                        </m:r>
                      </m:sup>
                    </m:sSubSup>
                  </m:oMath>
                </a14:m>
                <a:r>
                  <a:rPr lang="zh-CN" altLang="en-US" sz="2200" dirty="0"/>
                  <a:t>等于</a:t>
                </a:r>
                <a14:m>
                  <m:oMath xmlns:m="http://schemas.openxmlformats.org/officeDocument/2006/math">
                    <m:acc>
                      <m:accPr>
                        <m:chr m:val="̂"/>
                        <m:ctrlPr>
                          <a:rPr lang="zh-CN" altLang="en-US" sz="2200" i="1" dirty="0" smtClean="0">
                            <a:latin typeface="Cambria Math" panose="02040503050406030204" pitchFamily="18" charset="0"/>
                          </a:rPr>
                        </m:ctrlPr>
                      </m:accPr>
                      <m:e>
                        <m:r>
                          <a:rPr lang="en-US" altLang="zh-CN" sz="2200" b="0" i="1" dirty="0" smtClean="0">
                            <a:latin typeface="Cambria Math" panose="02040503050406030204" pitchFamily="18" charset="0"/>
                          </a:rPr>
                          <m:t>𝑦</m:t>
                        </m:r>
                      </m:e>
                    </m:acc>
                  </m:oMath>
                </a14:m>
                <a:r>
                  <a:rPr lang="zh-CN" altLang="en-US" sz="2200" dirty="0"/>
                  <a:t>，𝑦是已知的样本标记值，因此</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𝛿</m:t>
                        </m:r>
                      </m:e>
                      <m:sub>
                        <m:r>
                          <a:rPr lang="en-US" altLang="zh-CN" sz="2400" b="0" i="1" smtClean="0">
                            <a:latin typeface="Cambria Math" panose="02040503050406030204" pitchFamily="18" charset="0"/>
                          </a:rPr>
                          <m:t>1</m:t>
                        </m:r>
                      </m:sub>
                      <m:sup>
                        <m:r>
                          <a:rPr lang="en-US" altLang="zh-CN" sz="2400" i="1">
                            <a:latin typeface="Cambria Math" panose="02040503050406030204" pitchFamily="18" charset="0"/>
                          </a:rPr>
                          <m:t>(</m:t>
                        </m:r>
                        <m:r>
                          <a:rPr lang="en-US" altLang="zh-CN" sz="2400" b="0" i="1" smtClean="0">
                            <a:latin typeface="Cambria Math" panose="02040503050406030204" pitchFamily="18" charset="0"/>
                          </a:rPr>
                          <m:t>𝑜</m:t>
                        </m:r>
                        <m:r>
                          <a:rPr lang="en-US" altLang="zh-CN" sz="2400" i="1">
                            <a:latin typeface="Cambria Math" panose="02040503050406030204" pitchFamily="18" charset="0"/>
                          </a:rPr>
                          <m:t>)</m:t>
                        </m:r>
                      </m:sup>
                    </m:sSubSup>
                  </m:oMath>
                </a14:m>
                <a:r>
                  <a:rPr lang="zh-CN" altLang="en-US" sz="2200" dirty="0"/>
                  <a:t>是确定的。这样，根据数学</a:t>
                </a:r>
                <a:r>
                  <a:rPr lang="zh-CN" altLang="en-US" sz="2200" b="1" dirty="0"/>
                  <a:t>归纳法</a:t>
                </a:r>
                <a:r>
                  <a:rPr lang="zh-CN" altLang="en-US" sz="2200" dirty="0"/>
                  <a:t>的思想，如果</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𝛿</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可以用</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𝛿</m:t>
                        </m:r>
                      </m:e>
                      <m:sub>
                        <m:r>
                          <a:rPr lang="en-US" altLang="zh-CN" sz="2400" b="0" i="1" smtClean="0">
                            <a:latin typeface="Cambria Math" panose="02040503050406030204" pitchFamily="18" charset="0"/>
                          </a:rPr>
                          <m:t>𝑘</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b="0" i="1" smtClean="0">
                            <a:latin typeface="Cambria Math" panose="02040503050406030204" pitchFamily="18" charset="0"/>
                          </a:rPr>
                          <m:t>+1</m:t>
                        </m:r>
                        <m:r>
                          <a:rPr lang="en-US" altLang="zh-CN" sz="2400" i="1">
                            <a:latin typeface="Cambria Math" panose="02040503050406030204" pitchFamily="18" charset="0"/>
                          </a:rPr>
                          <m:t>)</m:t>
                        </m:r>
                      </m:sup>
                    </m:sSubSup>
                  </m:oMath>
                </a14:m>
                <a:r>
                  <a:rPr lang="zh-CN" altLang="en-US" sz="2200" dirty="0"/>
                  <a:t>来表达，那么</a:t>
                </a:r>
                <a14:m>
                  <m:oMath xmlns:m="http://schemas.openxmlformats.org/officeDocument/2006/math">
                    <m:sSubSup>
                      <m:sSubSupPr>
                        <m:ctrlPr>
                          <a:rPr lang="en-US" altLang="zh-CN" sz="2400" i="1">
                            <a:latin typeface="Cambria Math" panose="02040503050406030204" pitchFamily="18" charset="0"/>
                          </a:rPr>
                        </m:ctrlPr>
                      </m:sSubSupPr>
                      <m:e>
                        <m:r>
                          <a:rPr lang="zh-CN" altLang="en-US" sz="2400" i="1">
                            <a:latin typeface="Cambria Math" panose="02040503050406030204" pitchFamily="18" charset="0"/>
                          </a:rPr>
                          <m:t>𝛿</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就可以确定了，其中 </a:t>
                </a:r>
                <a:r>
                  <a:rPr lang="en-US" altLang="zh-CN" sz="2200" dirty="0"/>
                  <a:t>1≤l≤o-1</a:t>
                </a:r>
                <a:r>
                  <a:rPr lang="zh-CN" altLang="en-US" sz="2200" dirty="0"/>
                  <a:t>，下同。</a:t>
                </a:r>
                <a:endParaRPr lang="zh-CN" altLang="en-US"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585133" y="1866486"/>
                <a:ext cx="10175846" cy="1362296"/>
              </a:xfrm>
              <a:prstGeom prst="rect">
                <a:avLst/>
              </a:prstGeom>
              <a:blipFill>
                <a:blip r:embed="rId3"/>
                <a:stretch>
                  <a:fillRect l="-779" b="-84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AC2E89D-1594-42DB-8062-9766874E79E6}"/>
                  </a:ext>
                </a:extLst>
              </p:cNvPr>
              <p:cNvSpPr txBox="1"/>
              <p:nvPr/>
            </p:nvSpPr>
            <p:spPr>
              <a:xfrm>
                <a:off x="585132" y="3328950"/>
                <a:ext cx="10723227" cy="1424364"/>
              </a:xfrm>
              <a:prstGeom prst="rect">
                <a:avLst/>
              </a:prstGeom>
              <a:noFill/>
            </p:spPr>
            <p:txBody>
              <a:bodyPr wrap="square">
                <a:spAutoFit/>
              </a:bodyPr>
              <a:lstStyle/>
              <a:p>
                <a:r>
                  <a:rPr lang="zh-CN" altLang="en-US" sz="2200" dirty="0"/>
                  <a:t>我们注意到，</a:t>
                </a:r>
                <a:r>
                  <a:rPr lang="en-US" altLang="zh-CN" sz="2400" dirty="0"/>
                  <a:t> </a:t>
                </a:r>
                <a14:m>
                  <m:oMath xmlns:m="http://schemas.openxmlformats.org/officeDocument/2006/math">
                    <m:sSubSup>
                      <m:sSubSupPr>
                        <m:ctrlPr>
                          <a:rPr lang="en-US" altLang="zh-CN" sz="2400" i="1" smtClean="0">
                            <a:latin typeface="Cambria Math" panose="02040503050406030204" pitchFamily="18" charset="0"/>
                          </a:rPr>
                        </m:ctrlPr>
                      </m:sSubSupPr>
                      <m:e>
                        <m:r>
                          <a:rPr lang="zh-CN" altLang="en-US" sz="2400" i="1" smtClean="0">
                            <a:latin typeface="Cambria Math" panose="02040503050406030204" pitchFamily="18" charset="0"/>
                          </a:rPr>
                          <m:t>𝛿</m:t>
                        </m:r>
                      </m:e>
                      <m:sub>
                        <m:r>
                          <a:rPr lang="en-US" altLang="zh-CN" sz="2400" i="1">
                            <a:latin typeface="Cambria Math" panose="02040503050406030204" pitchFamily="18" charset="0"/>
                          </a:rPr>
                          <m:t>𝑖</m:t>
                        </m:r>
                      </m:sub>
                      <m:sup>
                        <m:r>
                          <a:rPr lang="en-US" altLang="zh-CN" sz="2400" b="0" i="1" smtClean="0">
                            <a:latin typeface="Cambria Math" panose="02040503050406030204" pitchFamily="18" charset="0"/>
                          </a:rPr>
                          <m:t>(</m:t>
                        </m:r>
                        <m:r>
                          <a:rPr lang="en-US" altLang="zh-CN" sz="2400" i="1">
                            <a:latin typeface="Cambria Math" panose="02040503050406030204" pitchFamily="18" charset="0"/>
                          </a:rPr>
                          <m:t>𝑙</m:t>
                        </m:r>
                        <m:r>
                          <a:rPr lang="en-US" altLang="zh-CN" sz="2400" b="0" i="1" smtClean="0">
                            <a:latin typeface="Cambria Math" panose="02040503050406030204" pitchFamily="18" charset="0"/>
                          </a:rPr>
                          <m:t>)</m:t>
                        </m:r>
                      </m:sup>
                    </m:sSubSup>
                  </m:oMath>
                </a14:m>
                <a:r>
                  <a:rPr lang="zh-CN" altLang="en-US" sz="2200" dirty="0"/>
                  <a:t>是</a:t>
                </a:r>
                <a:r>
                  <a:rPr lang="en-US" altLang="zh-CN" sz="2200" dirty="0"/>
                  <a:t>ℒ</a:t>
                </a:r>
                <a:r>
                  <a:rPr lang="zh-CN" altLang="en-US" sz="2200" dirty="0"/>
                  <a:t>关于</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的导数，而</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对</a:t>
                </a:r>
                <a:r>
                  <a:rPr lang="en-US" altLang="zh-CN" sz="2200" dirty="0"/>
                  <a:t>ℒ</a:t>
                </a:r>
                <a:r>
                  <a:rPr lang="zh-CN" altLang="en-US" sz="2200" dirty="0"/>
                  <a:t>的影响是通过第 </a:t>
                </a:r>
                <a:r>
                  <a:rPr lang="en-US" altLang="zh-CN" sz="2200" dirty="0"/>
                  <a:t>l+1 </a:t>
                </a:r>
                <a:r>
                  <a:rPr lang="zh-CN" altLang="en-US" sz="2200" dirty="0"/>
                  <a:t>层中的节点来实现的。同时也注意到，第 </a:t>
                </a:r>
                <a:r>
                  <a:rPr lang="en-US" altLang="zh-CN" sz="2200" dirty="0"/>
                  <a:t>l+1 </a:t>
                </a:r>
                <a:r>
                  <a:rPr lang="zh-CN" altLang="en-US" sz="2200" dirty="0"/>
                  <a:t>层中任意节点 </a:t>
                </a:r>
                <a:r>
                  <a:rPr lang="en-US" altLang="zh-CN" sz="2200" dirty="0"/>
                  <a:t>k </a:t>
                </a:r>
                <a:r>
                  <a:rPr lang="zh-CN" altLang="en-US" sz="2200" dirty="0"/>
                  <a:t>的加权输入</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𝐼</m:t>
                        </m:r>
                      </m:e>
                      <m:sub>
                        <m:r>
                          <a:rPr lang="en-US" altLang="zh-CN" sz="2400" b="0" i="1" smtClean="0">
                            <a:latin typeface="Cambria Math" panose="02040503050406030204" pitchFamily="18" charset="0"/>
                          </a:rPr>
                          <m:t>𝑘</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b="0" i="1" smtClean="0">
                            <a:latin typeface="Cambria Math" panose="02040503050406030204" pitchFamily="18" charset="0"/>
                          </a:rPr>
                          <m:t>+1</m:t>
                        </m:r>
                        <m:r>
                          <a:rPr lang="en-US" altLang="zh-CN" sz="2400" i="1">
                            <a:latin typeface="Cambria Math" panose="02040503050406030204" pitchFamily="18" charset="0"/>
                          </a:rPr>
                          <m:t>)</m:t>
                        </m:r>
                      </m:sup>
                    </m:sSubSup>
                  </m:oMath>
                </a14:m>
                <a:r>
                  <a:rPr lang="zh-CN" altLang="en-US" sz="2200" dirty="0"/>
                  <a:t>都是的</a:t>
                </a:r>
                <a14:m>
                  <m:oMath xmlns:m="http://schemas.openxmlformats.org/officeDocument/2006/math">
                    <m:sSubSup>
                      <m:sSubSupPr>
                        <m:ctrlPr>
                          <a:rPr lang="en-US" altLang="zh-CN" sz="2000" i="1">
                            <a:latin typeface="Cambria Math" panose="02040503050406030204" pitchFamily="18" charset="0"/>
                          </a:rPr>
                        </m:ctrlPr>
                      </m:sSubSupPr>
                      <m:e>
                        <m:r>
                          <m:rPr>
                            <m:sty m:val="p"/>
                          </m:rPr>
                          <a:rPr lang="en-US" altLang="zh-CN" sz="2000" i="1">
                            <a:latin typeface="Cambria Math" panose="02040503050406030204" pitchFamily="18" charset="0"/>
                          </a:rPr>
                          <m:t>a</m:t>
                        </m:r>
                      </m:e>
                      <m:sub>
                        <m:r>
                          <a:rPr lang="en-US" altLang="zh-CN" sz="2000" b="0" i="1" smtClean="0">
                            <a:latin typeface="Cambria Math" panose="02040503050406030204" pitchFamily="18" charset="0"/>
                          </a:rPr>
                          <m:t>𝑖</m:t>
                        </m:r>
                      </m:sub>
                      <m:sup>
                        <m:r>
                          <a:rPr lang="en-US" altLang="zh-CN" sz="2000" i="1">
                            <a:latin typeface="Cambria Math" panose="02040503050406030204" pitchFamily="18" charset="0"/>
                          </a:rPr>
                          <m:t>(</m:t>
                        </m:r>
                        <m:r>
                          <a:rPr lang="en-US" altLang="zh-CN" sz="2000" b="0" i="1" smtClean="0">
                            <a:latin typeface="Cambria Math" panose="02040503050406030204" pitchFamily="18" charset="0"/>
                          </a:rPr>
                          <m:t>𝑙</m:t>
                        </m:r>
                        <m:r>
                          <a:rPr lang="en-US" altLang="zh-CN" sz="2000" i="1">
                            <a:latin typeface="Cambria Math" panose="02040503050406030204" pitchFamily="18" charset="0"/>
                          </a:rPr>
                          <m:t>)</m:t>
                        </m:r>
                      </m:sup>
                    </m:sSubSup>
                  </m:oMath>
                </a14:m>
                <a:r>
                  <a:rPr lang="zh-CN" altLang="en-US" sz="2200" dirty="0"/>
                  <a:t>的函数，而</a:t>
                </a:r>
                <a14:m>
                  <m:oMath xmlns:m="http://schemas.openxmlformats.org/officeDocument/2006/math">
                    <m:sSubSup>
                      <m:sSubSupPr>
                        <m:ctrlPr>
                          <a:rPr lang="en-US" altLang="zh-CN" sz="2400" i="1">
                            <a:latin typeface="Cambria Math" panose="02040503050406030204" pitchFamily="18" charset="0"/>
                          </a:rPr>
                        </m:ctrlPr>
                      </m:sSubSupPr>
                      <m:e>
                        <m:r>
                          <m:rPr>
                            <m:sty m:val="p"/>
                          </m:rPr>
                          <a:rPr lang="en-US" altLang="zh-CN" sz="2400" i="1">
                            <a:latin typeface="Cambria Math" panose="02040503050406030204" pitchFamily="18" charset="0"/>
                          </a:rPr>
                          <m:t>a</m:t>
                        </m:r>
                      </m:e>
                      <m:sub>
                        <m:r>
                          <a:rPr lang="en-US" altLang="zh-CN" sz="2400" i="1">
                            <a:latin typeface="Cambria Math" panose="02040503050406030204" pitchFamily="18" charset="0"/>
                          </a:rPr>
                          <m:t>𝑖</m:t>
                        </m:r>
                      </m:sub>
                      <m:sup>
                        <m:r>
                          <a:rPr lang="en-US" altLang="zh-CN" sz="2400" i="1">
                            <a:latin typeface="Cambria Math" panose="02040503050406030204" pitchFamily="18" charset="0"/>
                          </a:rPr>
                          <m:t>(</m:t>
                        </m:r>
                        <m:r>
                          <a:rPr lang="en-US" altLang="zh-CN" sz="2400" i="1">
                            <a:latin typeface="Cambria Math" panose="02040503050406030204" pitchFamily="18" charset="0"/>
                          </a:rPr>
                          <m:t>𝑙</m:t>
                        </m:r>
                        <m:r>
                          <a:rPr lang="en-US" altLang="zh-CN" sz="2400" i="1">
                            <a:latin typeface="Cambria Math" panose="02040503050406030204" pitchFamily="18" charset="0"/>
                          </a:rPr>
                          <m:t>)</m:t>
                        </m:r>
                      </m:sup>
                    </m:sSubSup>
                  </m:oMath>
                </a14:m>
                <a:r>
                  <a:rPr lang="zh-CN" altLang="en-US" sz="2200" dirty="0"/>
                  <a:t>又是</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𝐼</m:t>
                        </m:r>
                      </m:e>
                      <m:sub>
                        <m:r>
                          <a:rPr lang="en-US" altLang="zh-CN" sz="2000" i="1">
                            <a:latin typeface="Cambria Math" panose="02040503050406030204" pitchFamily="18" charset="0"/>
                          </a:rPr>
                          <m:t>𝑖</m:t>
                        </m:r>
                      </m:sub>
                      <m:sup>
                        <m:r>
                          <a:rPr lang="en-US" altLang="zh-CN" sz="2000" i="1">
                            <a:latin typeface="Cambria Math" panose="02040503050406030204" pitchFamily="18" charset="0"/>
                          </a:rPr>
                          <m:t>(</m:t>
                        </m:r>
                        <m:r>
                          <a:rPr lang="en-US" altLang="zh-CN" sz="2000" i="1">
                            <a:latin typeface="Cambria Math" panose="02040503050406030204" pitchFamily="18" charset="0"/>
                          </a:rPr>
                          <m:t>𝑙</m:t>
                        </m:r>
                        <m:r>
                          <a:rPr lang="en-US" altLang="zh-CN" sz="2000" i="1">
                            <a:latin typeface="Cambria Math" panose="02040503050406030204" pitchFamily="18" charset="0"/>
                          </a:rPr>
                          <m:t>)</m:t>
                        </m:r>
                      </m:sup>
                    </m:sSubSup>
                  </m:oMath>
                </a14:m>
                <a:r>
                  <a:rPr lang="zh-CN" altLang="en-US" sz="2200" dirty="0"/>
                  <a:t>的函数。令</a:t>
                </a:r>
                <a14:m>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𝐸</m:t>
                        </m:r>
                      </m:e>
                      <m:sup>
                        <m:r>
                          <a:rPr lang="en-US" altLang="zh-CN" sz="2200" b="0" i="1" smtClean="0">
                            <a:latin typeface="Cambria Math" panose="02040503050406030204" pitchFamily="18" charset="0"/>
                          </a:rPr>
                          <m:t>𝑙</m:t>
                        </m:r>
                        <m:r>
                          <a:rPr lang="en-US" altLang="zh-CN" sz="2200" b="0" i="1" smtClean="0">
                            <a:latin typeface="Cambria Math" panose="02040503050406030204" pitchFamily="18" charset="0"/>
                          </a:rPr>
                          <m:t>+1</m:t>
                        </m:r>
                      </m:sup>
                    </m:sSup>
                  </m:oMath>
                </a14:m>
                <a:r>
                  <a:rPr lang="zh-CN" altLang="en-US" sz="2200" dirty="0"/>
                  <a:t>表示第 </a:t>
                </a:r>
                <a:r>
                  <a:rPr lang="en-US" altLang="zh-CN" sz="2200" dirty="0"/>
                  <a:t>l+1 </a:t>
                </a:r>
                <a:r>
                  <a:rPr lang="zh-CN" altLang="en-US" sz="2200" dirty="0"/>
                  <a:t>层中节点的集合，则根据</a:t>
                </a:r>
                <a:r>
                  <a:rPr lang="zh-CN" altLang="en-US" sz="2200" b="1" dirty="0"/>
                  <a:t>全导数公式</a:t>
                </a:r>
                <a:r>
                  <a:rPr lang="zh-CN" altLang="en-US" sz="2200" dirty="0"/>
                  <a:t>可得到：</a:t>
                </a:r>
              </a:p>
            </p:txBody>
          </p:sp>
        </mc:Choice>
        <mc:Fallback xmlns="">
          <p:sp>
            <p:nvSpPr>
              <p:cNvPr id="4" name="文本框 3">
                <a:extLst>
                  <a:ext uri="{FF2B5EF4-FFF2-40B4-BE49-F238E27FC236}">
                    <a16:creationId xmlns:a16="http://schemas.microsoft.com/office/drawing/2014/main" id="{CAC2E89D-1594-42DB-8062-9766874E79E6}"/>
                  </a:ext>
                </a:extLst>
              </p:cNvPr>
              <p:cNvSpPr txBox="1">
                <a:spLocks noRot="1" noChangeAspect="1" noMove="1" noResize="1" noEditPoints="1" noAdjustHandles="1" noChangeArrowheads="1" noChangeShapeType="1" noTextEdit="1"/>
              </p:cNvSpPr>
              <p:nvPr/>
            </p:nvSpPr>
            <p:spPr>
              <a:xfrm>
                <a:off x="585132" y="3328950"/>
                <a:ext cx="10723227" cy="1424364"/>
              </a:xfrm>
              <a:prstGeom prst="rect">
                <a:avLst/>
              </a:prstGeom>
              <a:blipFill>
                <a:blip r:embed="rId4"/>
                <a:stretch>
                  <a:fillRect l="-739" r="-739" b="-7692"/>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F6C8F414-3E21-68ED-2BA1-63F16681B722}"/>
              </a:ext>
            </a:extLst>
          </p:cNvPr>
          <p:cNvPicPr>
            <a:picLocks noChangeAspect="1"/>
          </p:cNvPicPr>
          <p:nvPr/>
        </p:nvPicPr>
        <p:blipFill>
          <a:blip r:embed="rId5"/>
          <a:stretch>
            <a:fillRect/>
          </a:stretch>
        </p:blipFill>
        <p:spPr>
          <a:xfrm>
            <a:off x="3063729" y="4891979"/>
            <a:ext cx="4000847" cy="708721"/>
          </a:xfrm>
          <a:prstGeom prst="rect">
            <a:avLst/>
          </a:prstGeom>
        </p:spPr>
      </p:pic>
    </p:spTree>
    <p:extLst>
      <p:ext uri="{BB962C8B-B14F-4D97-AF65-F5344CB8AC3E}">
        <p14:creationId xmlns:p14="http://schemas.microsoft.com/office/powerpoint/2010/main" val="3630416812"/>
      </p:ext>
    </p:extLst>
  </p:cSld>
  <p:clrMapOvr>
    <a:masterClrMapping/>
  </p:clrMapOvr>
  <p:transition spd="slow"/>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891329" cy="430887"/>
          </a:xfrm>
          <a:prstGeom prst="rect">
            <a:avLst/>
          </a:prstGeom>
          <a:noFill/>
        </p:spPr>
        <p:txBody>
          <a:bodyPr wrap="square">
            <a:spAutoFit/>
          </a:bodyPr>
          <a:lstStyle/>
          <a:p>
            <a:r>
              <a:rPr lang="zh-CN" altLang="en-US" sz="2200" dirty="0"/>
              <a:t>其中，</a:t>
            </a:r>
            <a:endParaRPr lang="zh-CN" altLang="en-US" dirty="0"/>
          </a:p>
        </p:txBody>
      </p:sp>
      <p:pic>
        <p:nvPicPr>
          <p:cNvPr id="3" name="图片 2">
            <a:extLst>
              <a:ext uri="{FF2B5EF4-FFF2-40B4-BE49-F238E27FC236}">
                <a16:creationId xmlns:a16="http://schemas.microsoft.com/office/drawing/2014/main" id="{E8C1E1F6-F45C-55E6-BE32-BE1C3C77F65D}"/>
              </a:ext>
            </a:extLst>
          </p:cNvPr>
          <p:cNvPicPr>
            <a:picLocks noChangeAspect="1"/>
          </p:cNvPicPr>
          <p:nvPr/>
        </p:nvPicPr>
        <p:blipFill>
          <a:blip r:embed="rId3"/>
          <a:stretch>
            <a:fillRect/>
          </a:stretch>
        </p:blipFill>
        <p:spPr>
          <a:xfrm>
            <a:off x="1476461" y="2092530"/>
            <a:ext cx="2789162" cy="2484335"/>
          </a:xfrm>
          <a:prstGeom prst="rect">
            <a:avLst/>
          </a:prstGeom>
        </p:spPr>
      </p:pic>
      <p:sp>
        <p:nvSpPr>
          <p:cNvPr id="6" name="文本框 5">
            <a:extLst>
              <a:ext uri="{FF2B5EF4-FFF2-40B4-BE49-F238E27FC236}">
                <a16:creationId xmlns:a16="http://schemas.microsoft.com/office/drawing/2014/main" id="{2EE19657-0C47-8E0F-B5FE-94373D1E36A3}"/>
              </a:ext>
            </a:extLst>
          </p:cNvPr>
          <p:cNvSpPr txBox="1"/>
          <p:nvPr/>
        </p:nvSpPr>
        <p:spPr>
          <a:xfrm>
            <a:off x="585133" y="4673431"/>
            <a:ext cx="891329" cy="430887"/>
          </a:xfrm>
          <a:prstGeom prst="rect">
            <a:avLst/>
          </a:prstGeom>
          <a:noFill/>
        </p:spPr>
        <p:txBody>
          <a:bodyPr wrap="square">
            <a:spAutoFit/>
          </a:bodyPr>
          <a:lstStyle/>
          <a:p>
            <a:r>
              <a:rPr lang="zh-CN" altLang="en-US" sz="2200" dirty="0"/>
              <a:t>于是，</a:t>
            </a:r>
            <a:endParaRPr lang="zh-CN" altLang="en-US" dirty="0"/>
          </a:p>
        </p:txBody>
      </p:sp>
      <p:pic>
        <p:nvPicPr>
          <p:cNvPr id="9" name="图片 8">
            <a:extLst>
              <a:ext uri="{FF2B5EF4-FFF2-40B4-BE49-F238E27FC236}">
                <a16:creationId xmlns:a16="http://schemas.microsoft.com/office/drawing/2014/main" id="{3495BEF6-B3DE-8CFD-C231-3264A055354F}"/>
              </a:ext>
            </a:extLst>
          </p:cNvPr>
          <p:cNvPicPr>
            <a:picLocks noChangeAspect="1"/>
          </p:cNvPicPr>
          <p:nvPr/>
        </p:nvPicPr>
        <p:blipFill>
          <a:blip r:embed="rId4"/>
          <a:stretch>
            <a:fillRect/>
          </a:stretch>
        </p:blipFill>
        <p:spPr>
          <a:xfrm>
            <a:off x="1316059" y="5178726"/>
            <a:ext cx="8855207" cy="701101"/>
          </a:xfrm>
          <a:prstGeom prst="rect">
            <a:avLst/>
          </a:prstGeom>
        </p:spPr>
      </p:pic>
    </p:spTree>
    <p:extLst>
      <p:ext uri="{BB962C8B-B14F-4D97-AF65-F5344CB8AC3E}">
        <p14:creationId xmlns:p14="http://schemas.microsoft.com/office/powerpoint/2010/main" val="2109220500"/>
      </p:ext>
    </p:extLst>
  </p:cSld>
  <p:clrMapOvr>
    <a:masterClrMapping/>
  </p:clrMapOvr>
  <p:transition spd="slow"/>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891329" cy="430887"/>
          </a:xfrm>
          <a:prstGeom prst="rect">
            <a:avLst/>
          </a:prstGeom>
          <a:noFill/>
        </p:spPr>
        <p:txBody>
          <a:bodyPr wrap="square">
            <a:spAutoFit/>
          </a:bodyPr>
          <a:lstStyle/>
          <a:p>
            <a:r>
              <a:rPr lang="zh-CN" altLang="en-US" sz="2200" dirty="0"/>
              <a:t>即，</a:t>
            </a:r>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EE19657-0C47-8E0F-B5FE-94373D1E36A3}"/>
                  </a:ext>
                </a:extLst>
              </p:cNvPr>
              <p:cNvSpPr txBox="1"/>
              <p:nvPr/>
            </p:nvSpPr>
            <p:spPr>
              <a:xfrm>
                <a:off x="501243" y="3147394"/>
                <a:ext cx="10614170" cy="1631472"/>
              </a:xfrm>
              <a:prstGeom prst="rect">
                <a:avLst/>
              </a:prstGeom>
              <a:noFill/>
            </p:spPr>
            <p:txBody>
              <a:bodyPr wrap="square">
                <a:spAutoFit/>
              </a:bodyPr>
              <a:lstStyle/>
              <a:p>
                <a:r>
                  <a:rPr lang="zh-CN" altLang="en-US" sz="2200" dirty="0"/>
                  <a:t>在反向传播过程中，</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i="1">
                            <a:latin typeface="Cambria Math" panose="02040503050406030204" pitchFamily="18" charset="0"/>
                          </a:rPr>
                          <m:t>𝑖</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i="1">
                            <a:latin typeface="Cambria Math" panose="02040503050406030204" pitchFamily="18" charset="0"/>
                          </a:rPr>
                          <m:t>)</m:t>
                        </m:r>
                      </m:sup>
                    </m:sSubSup>
                  </m:oMath>
                </a14:m>
                <a:r>
                  <a:rPr lang="zh-CN" altLang="en-US" sz="2200" dirty="0"/>
                  <a:t>和</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b="0" i="1" smtClean="0">
                            <a:latin typeface="Cambria Math" panose="02040503050406030204" pitchFamily="18" charset="0"/>
                          </a:rPr>
                          <m:t>𝑤</m:t>
                        </m:r>
                      </m:e>
                      <m:sub>
                        <m:r>
                          <a:rPr lang="en-US" altLang="zh-CN" sz="2200" b="0" i="1" smtClean="0">
                            <a:latin typeface="Cambria Math" panose="02040503050406030204" pitchFamily="18" charset="0"/>
                          </a:rPr>
                          <m:t>𝑘</m:t>
                        </m:r>
                        <m:r>
                          <a:rPr lang="en-US" altLang="zh-CN" sz="2200" i="1">
                            <a:latin typeface="Cambria Math" panose="02040503050406030204" pitchFamily="18" charset="0"/>
                          </a:rPr>
                          <m:t>𝑖</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b="0" i="1" smtClean="0">
                            <a:latin typeface="Cambria Math" panose="02040503050406030204" pitchFamily="18" charset="0"/>
                          </a:rPr>
                          <m:t>+1</m:t>
                        </m:r>
                        <m:r>
                          <a:rPr lang="en-US" altLang="zh-CN" sz="2200" i="1">
                            <a:latin typeface="Cambria Math" panose="02040503050406030204" pitchFamily="18" charset="0"/>
                          </a:rPr>
                          <m:t>)</m:t>
                        </m:r>
                      </m:sup>
                    </m:sSubSup>
                  </m:oMath>
                </a14:m>
                <a:r>
                  <a:rPr lang="zh-CN" altLang="en-US" sz="2200" dirty="0"/>
                  <a:t>都是已知的，因此</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i="1">
                            <a:latin typeface="Cambria Math" panose="02040503050406030204" pitchFamily="18" charset="0"/>
                          </a:rPr>
                          <m:t>𝛿</m:t>
                        </m:r>
                      </m:e>
                      <m:sub>
                        <m:r>
                          <a:rPr lang="en-US" altLang="zh-CN" sz="2200" i="1">
                            <a:latin typeface="Cambria Math" panose="02040503050406030204" pitchFamily="18" charset="0"/>
                          </a:rPr>
                          <m:t>𝑖</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i="1">
                            <a:latin typeface="Cambria Math" panose="02040503050406030204" pitchFamily="18" charset="0"/>
                          </a:rPr>
                          <m:t>)</m:t>
                        </m:r>
                      </m:sup>
                    </m:sSubSup>
                  </m:oMath>
                </a14:m>
                <a:r>
                  <a:rPr lang="zh-CN" altLang="en-US" sz="2200" dirty="0"/>
                  <a:t>确实可以用</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i="1">
                            <a:latin typeface="Cambria Math" panose="02040503050406030204" pitchFamily="18" charset="0"/>
                          </a:rPr>
                          <m:t>𝛿</m:t>
                        </m:r>
                      </m:e>
                      <m:sub>
                        <m:r>
                          <a:rPr lang="en-US" altLang="zh-CN" sz="2200" i="1">
                            <a:latin typeface="Cambria Math" panose="02040503050406030204" pitchFamily="18" charset="0"/>
                          </a:rPr>
                          <m:t>𝑘</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i="1">
                            <a:latin typeface="Cambria Math" panose="02040503050406030204" pitchFamily="18" charset="0"/>
                          </a:rPr>
                          <m:t>+1)</m:t>
                        </m:r>
                      </m:sup>
                    </m:sSubSup>
                  </m:oMath>
                </a14:m>
                <a:r>
                  <a:rPr lang="zh-CN" altLang="en-US" sz="2200" dirty="0"/>
                  <a:t>来表达。这样，</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i="1">
                            <a:latin typeface="Cambria Math" panose="02040503050406030204" pitchFamily="18" charset="0"/>
                          </a:rPr>
                          <m:t>𝛿</m:t>
                        </m:r>
                      </m:e>
                      <m:sub>
                        <m:r>
                          <a:rPr lang="en-US" altLang="zh-CN" sz="2200" i="1">
                            <a:latin typeface="Cambria Math" panose="02040503050406030204" pitchFamily="18" charset="0"/>
                          </a:rPr>
                          <m:t>𝑖</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i="1">
                            <a:latin typeface="Cambria Math" panose="02040503050406030204" pitchFamily="18" charset="0"/>
                          </a:rPr>
                          <m:t>)</m:t>
                        </m:r>
                      </m:sup>
                    </m:sSubSup>
                  </m:oMath>
                </a14:m>
                <a:r>
                  <a:rPr lang="zh-CN" altLang="en-US" sz="2200" dirty="0"/>
                  <a:t>也是确定的。根据上述推导，对于网络 </a:t>
                </a:r>
                <a:r>
                  <a:rPr lang="en-US" altLang="zh-CN" sz="2200" dirty="0"/>
                  <a:t>f </a:t>
                </a:r>
                <a:r>
                  <a:rPr lang="zh-CN" altLang="en-US" sz="2200" dirty="0"/>
                  <a:t>及其输入 </a:t>
                </a:r>
                <a:r>
                  <a:rPr lang="en-US" altLang="zh-CN" sz="2200" dirty="0"/>
                  <a:t>x </a:t>
                </a:r>
                <a:r>
                  <a:rPr lang="zh-CN" altLang="en-US" sz="2200" dirty="0"/>
                  <a:t>和标记 </a:t>
                </a:r>
                <a:r>
                  <a:rPr lang="en-US" altLang="zh-CN" sz="2200" dirty="0"/>
                  <a:t>y</a:t>
                </a:r>
                <a:r>
                  <a:rPr lang="zh-CN" altLang="en-US" sz="2200" dirty="0"/>
                  <a:t>，我们可以得出如下的</a:t>
                </a:r>
                <a:r>
                  <a:rPr lang="zh-CN" altLang="en-US" sz="2200" b="1" dirty="0"/>
                  <a:t>反向</a:t>
                </a:r>
                <a:r>
                  <a:rPr lang="zh-CN" altLang="en-US" sz="2200" dirty="0"/>
                  <a:t>梯度计算与参数更新过程：</a:t>
                </a:r>
                <a:endParaRPr lang="en-US" altLang="zh-CN" sz="2200" dirty="0"/>
              </a:p>
              <a:p>
                <a:r>
                  <a:rPr lang="zh-CN" altLang="en-US" sz="2200" dirty="0"/>
                  <a:t>首先执行正向计算：</a:t>
                </a:r>
              </a:p>
            </p:txBody>
          </p:sp>
        </mc:Choice>
        <mc:Fallback xmlns="">
          <p:sp>
            <p:nvSpPr>
              <p:cNvPr id="6" name="文本框 5">
                <a:extLst>
                  <a:ext uri="{FF2B5EF4-FFF2-40B4-BE49-F238E27FC236}">
                    <a16:creationId xmlns:a16="http://schemas.microsoft.com/office/drawing/2014/main" id="{2EE19657-0C47-8E0F-B5FE-94373D1E36A3}"/>
                  </a:ext>
                </a:extLst>
              </p:cNvPr>
              <p:cNvSpPr txBox="1">
                <a:spLocks noRot="1" noChangeAspect="1" noMove="1" noResize="1" noEditPoints="1" noAdjustHandles="1" noChangeArrowheads="1" noChangeShapeType="1" noTextEdit="1"/>
              </p:cNvSpPr>
              <p:nvPr/>
            </p:nvSpPr>
            <p:spPr>
              <a:xfrm>
                <a:off x="501243" y="3147394"/>
                <a:ext cx="10614170" cy="1631472"/>
              </a:xfrm>
              <a:prstGeom prst="rect">
                <a:avLst/>
              </a:prstGeom>
              <a:blipFill>
                <a:blip r:embed="rId3"/>
                <a:stretch>
                  <a:fillRect l="-747" b="-7090"/>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74F6A118-AA07-3D02-8A36-0AD6F068619C}"/>
              </a:ext>
            </a:extLst>
          </p:cNvPr>
          <p:cNvPicPr>
            <a:picLocks noChangeAspect="1"/>
          </p:cNvPicPr>
          <p:nvPr/>
        </p:nvPicPr>
        <p:blipFill>
          <a:blip r:embed="rId4"/>
          <a:stretch>
            <a:fillRect/>
          </a:stretch>
        </p:blipFill>
        <p:spPr>
          <a:xfrm>
            <a:off x="1256396" y="2374608"/>
            <a:ext cx="6340389" cy="617273"/>
          </a:xfrm>
          <a:prstGeom prst="rect">
            <a:avLst/>
          </a:prstGeom>
        </p:spPr>
      </p:pic>
      <p:pic>
        <p:nvPicPr>
          <p:cNvPr id="10" name="图片 9">
            <a:extLst>
              <a:ext uri="{FF2B5EF4-FFF2-40B4-BE49-F238E27FC236}">
                <a16:creationId xmlns:a16="http://schemas.microsoft.com/office/drawing/2014/main" id="{CE50B755-533C-737A-DAD4-1BCD81E9B38D}"/>
              </a:ext>
            </a:extLst>
          </p:cNvPr>
          <p:cNvPicPr>
            <a:picLocks noChangeAspect="1"/>
          </p:cNvPicPr>
          <p:nvPr/>
        </p:nvPicPr>
        <p:blipFill>
          <a:blip r:embed="rId5"/>
          <a:stretch>
            <a:fillRect/>
          </a:stretch>
        </p:blipFill>
        <p:spPr>
          <a:xfrm>
            <a:off x="1256396" y="4769474"/>
            <a:ext cx="2895851" cy="838273"/>
          </a:xfrm>
          <a:prstGeom prst="rect">
            <a:avLst/>
          </a:prstGeom>
        </p:spPr>
      </p:pic>
    </p:spTree>
    <p:extLst>
      <p:ext uri="{BB962C8B-B14F-4D97-AF65-F5344CB8AC3E}">
        <p14:creationId xmlns:p14="http://schemas.microsoft.com/office/powerpoint/2010/main" val="1098437775"/>
      </p:ext>
    </p:extLst>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EE19657-0C47-8E0F-B5FE-94373D1E36A3}"/>
                  </a:ext>
                </a:extLst>
              </p:cNvPr>
              <p:cNvSpPr txBox="1"/>
              <p:nvPr/>
            </p:nvSpPr>
            <p:spPr>
              <a:xfrm>
                <a:off x="335805" y="3640564"/>
                <a:ext cx="5146807" cy="1977016"/>
              </a:xfrm>
              <a:prstGeom prst="rect">
                <a:avLst/>
              </a:prstGeom>
              <a:noFill/>
            </p:spPr>
            <p:txBody>
              <a:bodyPr wrap="square">
                <a:spAutoFit/>
              </a:bodyPr>
              <a:lstStyle/>
              <a:p>
                <a:r>
                  <a:rPr lang="zh-CN" altLang="en-US" sz="2200" dirty="0"/>
                  <a:t>其中，</a:t>
                </a:r>
                <a14:m>
                  <m:oMath xmlns:m="http://schemas.openxmlformats.org/officeDocument/2006/math">
                    <m:sSup>
                      <m:sSupPr>
                        <m:ctrlPr>
                          <a:rPr lang="en-US" altLang="zh-CN" sz="2200" i="1" smtClean="0">
                            <a:latin typeface="Cambria Math" panose="02040503050406030204" pitchFamily="18" charset="0"/>
                          </a:rPr>
                        </m:ctrlPr>
                      </m:sSupPr>
                      <m:e>
                        <m:r>
                          <m:rPr>
                            <m:sty m:val="p"/>
                          </m:rPr>
                          <a:rPr lang="en-US" altLang="zh-CN" sz="2200" i="1">
                            <a:latin typeface="Cambria Math" panose="02040503050406030204" pitchFamily="18" charset="0"/>
                          </a:rPr>
                          <m:t>A</m:t>
                        </m:r>
                      </m:e>
                      <m:sup>
                        <m:r>
                          <a:rPr lang="en-US" altLang="zh-CN" sz="2200" b="0" i="1" smtClean="0">
                            <a:latin typeface="Cambria Math" panose="02040503050406030204" pitchFamily="18" charset="0"/>
                          </a:rPr>
                          <m:t>(</m:t>
                        </m:r>
                        <m:r>
                          <m:rPr>
                            <m:sty m:val="p"/>
                          </m:rPr>
                          <a:rPr lang="en-US" altLang="zh-CN" sz="2200" i="1">
                            <a:latin typeface="Cambria Math" panose="02040503050406030204" pitchFamily="18" charset="0"/>
                          </a:rPr>
                          <m:t>l</m:t>
                        </m:r>
                        <m:r>
                          <a:rPr lang="en-US" altLang="zh-CN" sz="2200" b="0" i="1" smtClean="0">
                            <a:latin typeface="Cambria Math" panose="02040503050406030204" pitchFamily="18" charset="0"/>
                          </a:rPr>
                          <m:t>)</m:t>
                        </m:r>
                      </m:sup>
                    </m:sSup>
                  </m:oMath>
                </a14:m>
                <a:r>
                  <a:rPr lang="zh-CN" altLang="en-US" sz="2200" dirty="0"/>
                  <a:t>表示由第 </a:t>
                </a:r>
                <a:r>
                  <a:rPr lang="en-US" altLang="zh-CN" sz="2200" dirty="0"/>
                  <a:t>l </a:t>
                </a:r>
                <a:r>
                  <a:rPr lang="zh-CN" altLang="en-US" sz="2200" dirty="0"/>
                  <a:t>层中各神经元节点输出</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i="1">
                            <a:latin typeface="Cambria Math" panose="02040503050406030204" pitchFamily="18" charset="0"/>
                          </a:rPr>
                          <m:t>𝑖</m:t>
                        </m:r>
                      </m:sub>
                      <m:sup>
                        <m:r>
                          <a:rPr lang="en-US" altLang="zh-CN" sz="2200" i="1">
                            <a:latin typeface="Cambria Math" panose="02040503050406030204" pitchFamily="18" charset="0"/>
                          </a:rPr>
                          <m:t>(</m:t>
                        </m:r>
                        <m:r>
                          <a:rPr lang="en-US" altLang="zh-CN" sz="2200" i="1">
                            <a:latin typeface="Cambria Math" panose="02040503050406030204" pitchFamily="18" charset="0"/>
                          </a:rPr>
                          <m:t>𝑙</m:t>
                        </m:r>
                        <m:r>
                          <a:rPr lang="en-US" altLang="zh-CN" sz="2200" i="1">
                            <a:latin typeface="Cambria Math" panose="02040503050406030204" pitchFamily="18" charset="0"/>
                          </a:rPr>
                          <m:t>)</m:t>
                        </m:r>
                      </m:sup>
                    </m:sSubSup>
                  </m:oMath>
                </a14:m>
                <a:r>
                  <a:rPr lang="zh-CN" altLang="en-US" sz="2200" dirty="0"/>
                  <a:t>构成的向量，</a:t>
                </a:r>
                <a:r>
                  <a:rPr lang="en-US" altLang="zh-CN" sz="2200" dirty="0"/>
                  <a:t> </a:t>
                </a:r>
                <a14:m>
                  <m:oMath xmlns:m="http://schemas.openxmlformats.org/officeDocument/2006/math">
                    <m:sSup>
                      <m:sSupPr>
                        <m:ctrlPr>
                          <a:rPr lang="en-US" altLang="zh-CN" sz="2200" i="1">
                            <a:latin typeface="Cambria Math" panose="02040503050406030204" pitchFamily="18" charset="0"/>
                          </a:rPr>
                        </m:ctrlPr>
                      </m:sSupPr>
                      <m:e>
                        <m:r>
                          <m:rPr>
                            <m:sty m:val="p"/>
                          </m:rPr>
                          <a:rPr lang="en-US" altLang="zh-CN" sz="2200" i="1">
                            <a:latin typeface="Cambria Math" panose="02040503050406030204" pitchFamily="18" charset="0"/>
                          </a:rPr>
                          <m:t>A</m:t>
                        </m:r>
                      </m:e>
                      <m:sup>
                        <m:r>
                          <a:rPr lang="en-US" altLang="zh-CN" sz="2200" i="1">
                            <a:latin typeface="Cambria Math" panose="02040503050406030204" pitchFamily="18" charset="0"/>
                          </a:rPr>
                          <m:t>(</m:t>
                        </m:r>
                        <m:r>
                          <a:rPr lang="en-US" altLang="zh-CN" sz="2200" b="0" i="1" smtClean="0">
                            <a:latin typeface="Cambria Math" panose="02040503050406030204" pitchFamily="18" charset="0"/>
                          </a:rPr>
                          <m:t>𝑜</m:t>
                        </m:r>
                        <m:r>
                          <a:rPr lang="en-US" altLang="zh-CN" sz="2200" i="1">
                            <a:latin typeface="Cambria Math" panose="02040503050406030204" pitchFamily="18" charset="0"/>
                          </a:rPr>
                          <m:t>)</m:t>
                        </m:r>
                      </m:sup>
                    </m:sSup>
                    <m:r>
                      <a:rPr lang="en-US" altLang="zh-CN" sz="2200" i="1">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b="0" i="1" smtClean="0">
                            <a:latin typeface="Cambria Math" panose="02040503050406030204" pitchFamily="18" charset="0"/>
                          </a:rPr>
                          <m:t>1</m:t>
                        </m:r>
                      </m:sub>
                      <m:sup>
                        <m:r>
                          <a:rPr lang="en-US" altLang="zh-CN" sz="2200" i="1">
                            <a:latin typeface="Cambria Math" panose="02040503050406030204" pitchFamily="18" charset="0"/>
                          </a:rPr>
                          <m:t>(</m:t>
                        </m:r>
                        <m:r>
                          <a:rPr lang="en-US" altLang="zh-CN" sz="2200" b="0" i="1" smtClean="0">
                            <a:latin typeface="Cambria Math" panose="02040503050406030204" pitchFamily="18" charset="0"/>
                          </a:rPr>
                          <m:t>𝑜</m:t>
                        </m:r>
                        <m:r>
                          <a:rPr lang="en-US" altLang="zh-CN" sz="2200" i="1">
                            <a:latin typeface="Cambria Math" panose="02040503050406030204" pitchFamily="18" charset="0"/>
                          </a:rPr>
                          <m:t>)</m:t>
                        </m:r>
                      </m:sup>
                    </m:sSubSup>
                  </m:oMath>
                </a14:m>
                <a:r>
                  <a:rPr lang="en-US" altLang="zh-CN" sz="2200" dirty="0"/>
                  <a:t>)</a:t>
                </a:r>
                <a:r>
                  <a:rPr lang="zh-CN" altLang="en-US" sz="2200" dirty="0"/>
                  <a:t>，即</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i="1">
                            <a:latin typeface="Cambria Math" panose="02040503050406030204" pitchFamily="18" charset="0"/>
                          </a:rPr>
                          <m:t>1</m:t>
                        </m:r>
                      </m:sub>
                      <m:sup>
                        <m:r>
                          <a:rPr lang="en-US" altLang="zh-CN" sz="2200" i="1">
                            <a:latin typeface="Cambria Math" panose="02040503050406030204" pitchFamily="18" charset="0"/>
                          </a:rPr>
                          <m:t>(</m:t>
                        </m:r>
                        <m:r>
                          <a:rPr lang="en-US" altLang="zh-CN" sz="2200" i="1">
                            <a:latin typeface="Cambria Math" panose="02040503050406030204" pitchFamily="18" charset="0"/>
                          </a:rPr>
                          <m:t>𝑜</m:t>
                        </m:r>
                        <m:r>
                          <a:rPr lang="en-US" altLang="zh-CN" sz="2200" i="1">
                            <a:latin typeface="Cambria Math" panose="02040503050406030204" pitchFamily="18" charset="0"/>
                          </a:rPr>
                          <m:t>)</m:t>
                        </m:r>
                      </m:sup>
                    </m:sSubSup>
                    <m:r>
                      <a:rPr lang="en-US" altLang="zh-CN" sz="2200" i="1">
                        <a:latin typeface="Cambria Math" panose="02040503050406030204" pitchFamily="18" charset="0"/>
                      </a:rPr>
                      <m:t> </m:t>
                    </m:r>
                  </m:oMath>
                </a14:m>
                <a:r>
                  <a:rPr lang="en-US" altLang="zh-CN" sz="2200" dirty="0"/>
                  <a:t>=</a:t>
                </a:r>
                <a14:m>
                  <m:oMath xmlns:m="http://schemas.openxmlformats.org/officeDocument/2006/math">
                    <m:acc>
                      <m:accPr>
                        <m:chr m:val="̂"/>
                        <m:ctrlPr>
                          <a:rPr lang="zh-CN" altLang="en-US" sz="2200" i="1">
                            <a:latin typeface="Cambria Math" panose="02040503050406030204" pitchFamily="18" charset="0"/>
                          </a:rPr>
                        </m:ctrlPr>
                      </m:accPr>
                      <m:e>
                        <m:r>
                          <a:rPr lang="en-US" altLang="zh-CN" sz="2200" i="1">
                            <a:latin typeface="Cambria Math" panose="02040503050406030204" pitchFamily="18" charset="0"/>
                          </a:rPr>
                          <m:t>𝑦</m:t>
                        </m:r>
                      </m:e>
                    </m:acc>
                    <m:r>
                      <a:rPr lang="en-US" altLang="zh-CN" sz="2200" i="1">
                        <a:latin typeface="Cambria Math" panose="02040503050406030204" pitchFamily="18" charset="0"/>
                      </a:rPr>
                      <m:t> </m:t>
                    </m:r>
                  </m:oMath>
                </a14:m>
                <a:r>
                  <a:rPr lang="zh-CN" altLang="en-US" sz="2200" dirty="0"/>
                  <a:t>。</a:t>
                </a:r>
              </a:p>
              <a:p>
                <a:r>
                  <a:rPr lang="zh-CN" altLang="en-US" sz="2200" dirty="0"/>
                  <a:t>然后利用上述计算结果，执行后向梯度计算和参数更新：</a:t>
                </a:r>
              </a:p>
            </p:txBody>
          </p:sp>
        </mc:Choice>
        <mc:Fallback xmlns="">
          <p:sp>
            <p:nvSpPr>
              <p:cNvPr id="6" name="文本框 5">
                <a:extLst>
                  <a:ext uri="{FF2B5EF4-FFF2-40B4-BE49-F238E27FC236}">
                    <a16:creationId xmlns:a16="http://schemas.microsoft.com/office/drawing/2014/main" id="{2EE19657-0C47-8E0F-B5FE-94373D1E36A3}"/>
                  </a:ext>
                </a:extLst>
              </p:cNvPr>
              <p:cNvSpPr txBox="1">
                <a:spLocks noRot="1" noChangeAspect="1" noMove="1" noResize="1" noEditPoints="1" noAdjustHandles="1" noChangeArrowheads="1" noChangeShapeType="1" noTextEdit="1"/>
              </p:cNvSpPr>
              <p:nvPr/>
            </p:nvSpPr>
            <p:spPr>
              <a:xfrm>
                <a:off x="335805" y="3640564"/>
                <a:ext cx="5146807" cy="1977016"/>
              </a:xfrm>
              <a:prstGeom prst="rect">
                <a:avLst/>
              </a:prstGeom>
              <a:blipFill>
                <a:blip r:embed="rId3"/>
                <a:stretch>
                  <a:fillRect l="-1540" t="-1231" b="-5538"/>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53FC02D5-4162-9D5A-93EB-58AB9F689329}"/>
              </a:ext>
            </a:extLst>
          </p:cNvPr>
          <p:cNvPicPr>
            <a:picLocks noChangeAspect="1"/>
          </p:cNvPicPr>
          <p:nvPr/>
        </p:nvPicPr>
        <p:blipFill>
          <a:blip r:embed="rId4"/>
          <a:stretch>
            <a:fillRect/>
          </a:stretch>
        </p:blipFill>
        <p:spPr>
          <a:xfrm>
            <a:off x="1188439" y="1882546"/>
            <a:ext cx="3261643" cy="1569856"/>
          </a:xfrm>
          <a:prstGeom prst="rect">
            <a:avLst/>
          </a:prstGeom>
        </p:spPr>
      </p:pic>
      <p:pic>
        <p:nvPicPr>
          <p:cNvPr id="3" name="图片 2">
            <a:extLst>
              <a:ext uri="{FF2B5EF4-FFF2-40B4-BE49-F238E27FC236}">
                <a16:creationId xmlns:a16="http://schemas.microsoft.com/office/drawing/2014/main" id="{803B93C5-117D-F27D-16F6-95A8D2A5142C}"/>
              </a:ext>
            </a:extLst>
          </p:cNvPr>
          <p:cNvPicPr>
            <a:picLocks noChangeAspect="1"/>
          </p:cNvPicPr>
          <p:nvPr/>
        </p:nvPicPr>
        <p:blipFill>
          <a:blip r:embed="rId5"/>
          <a:stretch>
            <a:fillRect/>
          </a:stretch>
        </p:blipFill>
        <p:spPr>
          <a:xfrm>
            <a:off x="5728436" y="2180956"/>
            <a:ext cx="6054361" cy="3248681"/>
          </a:xfrm>
          <a:prstGeom prst="rect">
            <a:avLst/>
          </a:prstGeom>
        </p:spPr>
      </p:pic>
    </p:spTree>
    <p:extLst>
      <p:ext uri="{BB962C8B-B14F-4D97-AF65-F5344CB8AC3E}">
        <p14:creationId xmlns:p14="http://schemas.microsoft.com/office/powerpoint/2010/main" val="1514662404"/>
      </p:ext>
    </p:extLst>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10175846" cy="496418"/>
              </a:xfrm>
              <a:prstGeom prst="rect">
                <a:avLst/>
              </a:prstGeom>
              <a:noFill/>
            </p:spPr>
            <p:txBody>
              <a:bodyPr wrap="square">
                <a:spAutoFit/>
              </a:bodyPr>
              <a:lstStyle/>
              <a:p>
                <a:r>
                  <a:rPr lang="zh-CN" altLang="en-US" sz="2200" dirty="0"/>
                  <a:t>在上述计算过程中，每计算完一个误差项</a:t>
                </a:r>
                <a14:m>
                  <m:oMath xmlns:m="http://schemas.openxmlformats.org/officeDocument/2006/math">
                    <m:sSubSup>
                      <m:sSubSupPr>
                        <m:ctrlPr>
                          <a:rPr lang="en-US" altLang="zh-CN" sz="2000" i="1" smtClean="0">
                            <a:latin typeface="Cambria Math" panose="02040503050406030204" pitchFamily="18" charset="0"/>
                          </a:rPr>
                        </m:ctrlPr>
                      </m:sSubSupPr>
                      <m:e>
                        <m:r>
                          <a:rPr lang="zh-CN" altLang="en-US" sz="2000" i="1" smtClean="0">
                            <a:latin typeface="Cambria Math" panose="02040503050406030204" pitchFamily="18" charset="0"/>
                          </a:rPr>
                          <m:t>𝛿</m:t>
                        </m:r>
                      </m:e>
                      <m:sub>
                        <m:r>
                          <a:rPr lang="en-US" altLang="zh-CN" sz="2000" i="1">
                            <a:latin typeface="Cambria Math" panose="02040503050406030204" pitchFamily="18" charset="0"/>
                          </a:rPr>
                          <m:t>𝑖</m:t>
                        </m:r>
                      </m:sub>
                      <m:sup>
                        <m:r>
                          <a:rPr lang="en-US" altLang="zh-CN" sz="2000" b="0" i="1" smtClean="0">
                            <a:latin typeface="Cambria Math" panose="02040503050406030204" pitchFamily="18" charset="0"/>
                          </a:rPr>
                          <m:t>(</m:t>
                        </m:r>
                        <m:r>
                          <a:rPr lang="en-US" altLang="zh-CN" sz="2000" i="1">
                            <a:latin typeface="Cambria Math" panose="02040503050406030204" pitchFamily="18" charset="0"/>
                          </a:rPr>
                          <m:t>𝑙</m:t>
                        </m:r>
                        <m:r>
                          <a:rPr lang="en-US" altLang="zh-CN" sz="2000" b="0" i="1" smtClean="0">
                            <a:latin typeface="Cambria Math" panose="02040503050406030204" pitchFamily="18" charset="0"/>
                          </a:rPr>
                          <m:t>)</m:t>
                        </m:r>
                      </m:sup>
                    </m:sSubSup>
                  </m:oMath>
                </a14:m>
                <a:r>
                  <a:rPr lang="zh-CN" altLang="en-US" sz="2200" dirty="0"/>
                  <a:t>后即可用下式计算</a:t>
                </a:r>
                <a:r>
                  <a:rPr lang="en-US" altLang="zh-CN" sz="2200" dirty="0"/>
                  <a:t>ℒ</a:t>
                </a:r>
                <a:r>
                  <a:rPr lang="zh-CN" altLang="en-US" sz="2200" dirty="0"/>
                  <a:t>关于</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oMath>
                </a14:m>
                <a:r>
                  <a:rPr lang="zh-CN" altLang="en-US" sz="2200" dirty="0"/>
                  <a:t>的导数：</a:t>
                </a:r>
                <a:endParaRPr lang="en-US" altLang="zh-CN" sz="2200" dirty="0"/>
              </a:p>
            </p:txBody>
          </p:sp>
        </mc:Choice>
        <mc:Fallback xmlns="">
          <p:sp>
            <p:nvSpPr>
              <p:cNvPr id="7" name="文本框 6">
                <a:extLst>
                  <a:ext uri="{FF2B5EF4-FFF2-40B4-BE49-F238E27FC236}">
                    <a16:creationId xmlns:a16="http://schemas.microsoft.com/office/drawing/2014/main" id="{70D4D80C-C578-28BE-8D65-A279330C96B8}"/>
                  </a:ext>
                </a:extLst>
              </p:cNvPr>
              <p:cNvSpPr txBox="1">
                <a:spLocks noRot="1" noChangeAspect="1" noMove="1" noResize="1" noEditPoints="1" noAdjustHandles="1" noChangeArrowheads="1" noChangeShapeType="1" noTextEdit="1"/>
              </p:cNvSpPr>
              <p:nvPr/>
            </p:nvSpPr>
            <p:spPr>
              <a:xfrm>
                <a:off x="585133" y="1866486"/>
                <a:ext cx="10175846" cy="496418"/>
              </a:xfrm>
              <a:prstGeom prst="rect">
                <a:avLst/>
              </a:prstGeom>
              <a:blipFill>
                <a:blip r:embed="rId3"/>
                <a:stretch>
                  <a:fillRect l="-779" t="-4878" r="-120" b="-182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AC2E89D-1594-42DB-8062-9766874E79E6}"/>
                  </a:ext>
                </a:extLst>
              </p:cNvPr>
              <p:cNvSpPr txBox="1"/>
              <p:nvPr/>
            </p:nvSpPr>
            <p:spPr>
              <a:xfrm>
                <a:off x="573945" y="4365299"/>
                <a:ext cx="10723227" cy="562462"/>
              </a:xfrm>
              <a:prstGeom prst="rect">
                <a:avLst/>
              </a:prstGeom>
              <a:noFill/>
            </p:spPr>
            <p:txBody>
              <a:bodyPr wrap="square">
                <a:spAutoFit/>
              </a:bodyPr>
              <a:lstStyle/>
              <a:p>
                <a:r>
                  <a:rPr lang="zh-CN" altLang="en-US" sz="2200" dirty="0"/>
                  <a:t>对于偏置项</a:t>
                </a:r>
                <a14:m>
                  <m:oMath xmlns:m="http://schemas.openxmlformats.org/officeDocument/2006/math">
                    <m:sSubSup>
                      <m:sSubSupPr>
                        <m:ctrlPr>
                          <a:rPr lang="en-US" altLang="zh-CN" sz="2400" i="1" smtClean="0">
                            <a:latin typeface="Cambria Math" panose="02040503050406030204" pitchFamily="18" charset="0"/>
                          </a:rPr>
                        </m:ctrlPr>
                      </m:sSubSupPr>
                      <m:e>
                        <m:r>
                          <a:rPr lang="zh-CN" altLang="en-US" sz="2400" i="1" smtClean="0">
                            <a:latin typeface="Cambria Math" panose="02040503050406030204" pitchFamily="18" charset="0"/>
                          </a:rPr>
                          <m:t>𝛿</m:t>
                        </m:r>
                      </m:e>
                      <m:sub>
                        <m:r>
                          <a:rPr lang="en-US" altLang="zh-CN" sz="2400" i="1">
                            <a:latin typeface="Cambria Math" panose="02040503050406030204" pitchFamily="18" charset="0"/>
                          </a:rPr>
                          <m:t>𝑖</m:t>
                        </m:r>
                      </m:sub>
                      <m:sup>
                        <m:r>
                          <a:rPr lang="en-US" altLang="zh-CN" sz="2400" b="0" i="1" smtClean="0">
                            <a:latin typeface="Cambria Math" panose="02040503050406030204" pitchFamily="18" charset="0"/>
                          </a:rPr>
                          <m:t>(</m:t>
                        </m:r>
                        <m:r>
                          <a:rPr lang="en-US" altLang="zh-CN" sz="2400" i="1">
                            <a:latin typeface="Cambria Math" panose="02040503050406030204" pitchFamily="18" charset="0"/>
                          </a:rPr>
                          <m:t>𝑙</m:t>
                        </m:r>
                        <m:r>
                          <a:rPr lang="en-US" altLang="zh-CN" sz="2400" b="0" i="1" smtClean="0">
                            <a:latin typeface="Cambria Math" panose="02040503050406030204" pitchFamily="18" charset="0"/>
                          </a:rPr>
                          <m:t>)</m:t>
                        </m:r>
                      </m:sup>
                    </m:sSubSup>
                  </m:oMath>
                </a14:m>
                <a:r>
                  <a:rPr lang="zh-CN" altLang="en-US" sz="2200" dirty="0"/>
                  <a:t>的更新：</a:t>
                </a:r>
              </a:p>
            </p:txBody>
          </p:sp>
        </mc:Choice>
        <mc:Fallback xmlns="">
          <p:sp>
            <p:nvSpPr>
              <p:cNvPr id="4" name="文本框 3">
                <a:extLst>
                  <a:ext uri="{FF2B5EF4-FFF2-40B4-BE49-F238E27FC236}">
                    <a16:creationId xmlns:a16="http://schemas.microsoft.com/office/drawing/2014/main" id="{CAC2E89D-1594-42DB-8062-9766874E79E6}"/>
                  </a:ext>
                </a:extLst>
              </p:cNvPr>
              <p:cNvSpPr txBox="1">
                <a:spLocks noRot="1" noChangeAspect="1" noMove="1" noResize="1" noEditPoints="1" noAdjustHandles="1" noChangeArrowheads="1" noChangeShapeType="1" noTextEdit="1"/>
              </p:cNvSpPr>
              <p:nvPr/>
            </p:nvSpPr>
            <p:spPr>
              <a:xfrm>
                <a:off x="573945" y="4365299"/>
                <a:ext cx="10723227" cy="562462"/>
              </a:xfrm>
              <a:prstGeom prst="rect">
                <a:avLst/>
              </a:prstGeom>
              <a:blipFill>
                <a:blip r:embed="rId4"/>
                <a:stretch>
                  <a:fillRect l="-739" b="-18478"/>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B835E2D6-0AF5-65FB-B22D-EBDE66678A0B}"/>
              </a:ext>
            </a:extLst>
          </p:cNvPr>
          <p:cNvPicPr>
            <a:picLocks noChangeAspect="1"/>
          </p:cNvPicPr>
          <p:nvPr/>
        </p:nvPicPr>
        <p:blipFill>
          <a:blip r:embed="rId5"/>
          <a:stretch>
            <a:fillRect/>
          </a:stretch>
        </p:blipFill>
        <p:spPr>
          <a:xfrm>
            <a:off x="2803719" y="2448870"/>
            <a:ext cx="2088061" cy="731583"/>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D76C80C-5FA5-6CAE-3BA2-FAA76A1853FE}"/>
                  </a:ext>
                </a:extLst>
              </p:cNvPr>
              <p:cNvSpPr txBox="1"/>
              <p:nvPr/>
            </p:nvSpPr>
            <p:spPr>
              <a:xfrm>
                <a:off x="585131" y="3228148"/>
                <a:ext cx="6956571" cy="496418"/>
              </a:xfrm>
              <a:prstGeom prst="rect">
                <a:avLst/>
              </a:prstGeom>
              <a:noFill/>
            </p:spPr>
            <p:txBody>
              <a:bodyPr wrap="square">
                <a:spAutoFit/>
              </a:bodyPr>
              <a:lstStyle/>
              <a:p>
                <a:r>
                  <a:rPr lang="zh-CN" altLang="en-US" sz="2200" dirty="0"/>
                  <a:t>进而执行下列操作对参数</a:t>
                </a:r>
                <a14:m>
                  <m:oMath xmlns:m="http://schemas.openxmlformats.org/officeDocument/2006/math">
                    <m:sSubSup>
                      <m:sSubSupPr>
                        <m:ctrlPr>
                          <a:rPr lang="en-US" altLang="zh-CN" sz="2200" i="1" smtClean="0">
                            <a:latin typeface="Cambria Math" panose="02040503050406030204" pitchFamily="18" charset="0"/>
                          </a:rPr>
                        </m:ctrlPr>
                      </m:sSubSupPr>
                      <m:e>
                        <m:r>
                          <a:rPr lang="en-US" altLang="zh-CN" sz="2200">
                            <a:latin typeface="Cambria Math" panose="02040503050406030204" pitchFamily="18" charset="0"/>
                          </a:rPr>
                          <m:t>𝑊</m:t>
                        </m:r>
                      </m:e>
                      <m:sub>
                        <m:r>
                          <a:rPr lang="en-US" altLang="zh-CN" sz="2200">
                            <a:latin typeface="Cambria Math" panose="02040503050406030204" pitchFamily="18" charset="0"/>
                          </a:rPr>
                          <m:t>𝑖𝑗</m:t>
                        </m:r>
                      </m:sub>
                      <m:sup>
                        <m:r>
                          <a:rPr lang="en-US" altLang="zh-CN" sz="2200">
                            <a:latin typeface="Cambria Math" panose="02040503050406030204" pitchFamily="18" charset="0"/>
                          </a:rPr>
                          <m:t>𝑙</m:t>
                        </m:r>
                      </m:sup>
                    </m:sSubSup>
                  </m:oMath>
                </a14:m>
                <a:r>
                  <a:rPr lang="zh-CN" altLang="en-US" sz="2200" dirty="0"/>
                  <a:t>进行更新： </a:t>
                </a:r>
              </a:p>
            </p:txBody>
          </p:sp>
        </mc:Choice>
        <mc:Fallback xmlns="">
          <p:sp>
            <p:nvSpPr>
              <p:cNvPr id="8" name="文本框 7">
                <a:extLst>
                  <a:ext uri="{FF2B5EF4-FFF2-40B4-BE49-F238E27FC236}">
                    <a16:creationId xmlns:a16="http://schemas.microsoft.com/office/drawing/2014/main" id="{5D76C80C-5FA5-6CAE-3BA2-FAA76A1853FE}"/>
                  </a:ext>
                </a:extLst>
              </p:cNvPr>
              <p:cNvSpPr txBox="1">
                <a:spLocks noRot="1" noChangeAspect="1" noMove="1" noResize="1" noEditPoints="1" noAdjustHandles="1" noChangeArrowheads="1" noChangeShapeType="1" noTextEdit="1"/>
              </p:cNvSpPr>
              <p:nvPr/>
            </p:nvSpPr>
            <p:spPr>
              <a:xfrm>
                <a:off x="585131" y="3228148"/>
                <a:ext cx="6956571" cy="496418"/>
              </a:xfrm>
              <a:prstGeom prst="rect">
                <a:avLst/>
              </a:prstGeom>
              <a:blipFill>
                <a:blip r:embed="rId6"/>
                <a:stretch>
                  <a:fillRect l="-1139" t="-1235" b="-18519"/>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D9393566-AD22-D0F4-44D2-BE19A34D9D49}"/>
              </a:ext>
            </a:extLst>
          </p:cNvPr>
          <p:cNvPicPr>
            <a:picLocks noChangeAspect="1"/>
          </p:cNvPicPr>
          <p:nvPr/>
        </p:nvPicPr>
        <p:blipFill>
          <a:blip r:embed="rId7"/>
          <a:stretch>
            <a:fillRect/>
          </a:stretch>
        </p:blipFill>
        <p:spPr>
          <a:xfrm>
            <a:off x="2684076" y="3724566"/>
            <a:ext cx="2758679" cy="594412"/>
          </a:xfrm>
          <a:prstGeom prst="rect">
            <a:avLst/>
          </a:prstGeom>
        </p:spPr>
      </p:pic>
      <p:pic>
        <p:nvPicPr>
          <p:cNvPr id="13" name="图片 12">
            <a:extLst>
              <a:ext uri="{FF2B5EF4-FFF2-40B4-BE49-F238E27FC236}">
                <a16:creationId xmlns:a16="http://schemas.microsoft.com/office/drawing/2014/main" id="{A533C7BF-7510-F7D9-34EE-44CDF6A08793}"/>
              </a:ext>
            </a:extLst>
          </p:cNvPr>
          <p:cNvPicPr>
            <a:picLocks noChangeAspect="1"/>
          </p:cNvPicPr>
          <p:nvPr/>
        </p:nvPicPr>
        <p:blipFill>
          <a:blip r:embed="rId8"/>
          <a:stretch>
            <a:fillRect/>
          </a:stretch>
        </p:blipFill>
        <p:spPr>
          <a:xfrm>
            <a:off x="2803719" y="5140170"/>
            <a:ext cx="2263336" cy="586791"/>
          </a:xfrm>
          <a:prstGeom prst="rect">
            <a:avLst/>
          </a:prstGeom>
        </p:spPr>
      </p:pic>
    </p:spTree>
    <p:extLst>
      <p:ext uri="{BB962C8B-B14F-4D97-AF65-F5344CB8AC3E}">
        <p14:creationId xmlns:p14="http://schemas.microsoft.com/office/powerpoint/2010/main" val="649910745"/>
      </p:ext>
    </p:extLst>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10175846" cy="430887"/>
          </a:xfrm>
          <a:prstGeom prst="rect">
            <a:avLst/>
          </a:prstGeom>
          <a:noFill/>
        </p:spPr>
        <p:txBody>
          <a:bodyPr wrap="square">
            <a:spAutoFit/>
          </a:bodyPr>
          <a:lstStyle/>
          <a:p>
            <a:r>
              <a:rPr lang="zh-CN" altLang="en-US" sz="2200" dirty="0"/>
              <a:t>也就是说，根据上述分析和推导，网络权重参数和偏置项的更新公式如下：</a:t>
            </a:r>
            <a:endParaRPr lang="en-US" altLang="zh-CN" sz="2200" dirty="0"/>
          </a:p>
        </p:txBody>
      </p:sp>
      <p:sp>
        <p:nvSpPr>
          <p:cNvPr id="4" name="文本框 3">
            <a:extLst>
              <a:ext uri="{FF2B5EF4-FFF2-40B4-BE49-F238E27FC236}">
                <a16:creationId xmlns:a16="http://schemas.microsoft.com/office/drawing/2014/main" id="{CAC2E89D-1594-42DB-8062-9766874E79E6}"/>
              </a:ext>
            </a:extLst>
          </p:cNvPr>
          <p:cNvSpPr txBox="1"/>
          <p:nvPr/>
        </p:nvSpPr>
        <p:spPr>
          <a:xfrm>
            <a:off x="573945" y="4365299"/>
            <a:ext cx="10723227" cy="769441"/>
          </a:xfrm>
          <a:prstGeom prst="rect">
            <a:avLst/>
          </a:prstGeom>
          <a:noFill/>
        </p:spPr>
        <p:txBody>
          <a:bodyPr wrap="square">
            <a:spAutoFit/>
          </a:bodyPr>
          <a:lstStyle/>
          <a:p>
            <a:r>
              <a:rPr lang="zh-CN" altLang="en-US" sz="2200" dirty="0"/>
              <a:t>依照这个两个公式，从输出层开始，可</a:t>
            </a:r>
            <a:r>
              <a:rPr lang="zh-CN" altLang="en-US" sz="2200" b="1" dirty="0"/>
              <a:t>反向逐层</a:t>
            </a:r>
            <a:r>
              <a:rPr lang="zh-CN" altLang="en-US" sz="2200" dirty="0"/>
              <a:t>对网络中的参数进行更新，从而实现</a:t>
            </a:r>
            <a:r>
              <a:rPr lang="zh-CN" altLang="en-US" sz="2200" b="1" dirty="0"/>
              <a:t>参数的学习</a:t>
            </a:r>
            <a:r>
              <a:rPr lang="zh-CN" altLang="en-US" sz="2200" dirty="0"/>
              <a:t>。</a:t>
            </a:r>
          </a:p>
        </p:txBody>
      </p:sp>
      <p:pic>
        <p:nvPicPr>
          <p:cNvPr id="6" name="图片 5">
            <a:extLst>
              <a:ext uri="{FF2B5EF4-FFF2-40B4-BE49-F238E27FC236}">
                <a16:creationId xmlns:a16="http://schemas.microsoft.com/office/drawing/2014/main" id="{648AA118-E7BE-4872-3B31-701C79545EAD}"/>
              </a:ext>
            </a:extLst>
          </p:cNvPr>
          <p:cNvPicPr>
            <a:picLocks noChangeAspect="1"/>
          </p:cNvPicPr>
          <p:nvPr/>
        </p:nvPicPr>
        <p:blipFill>
          <a:blip r:embed="rId3"/>
          <a:stretch>
            <a:fillRect/>
          </a:stretch>
        </p:blipFill>
        <p:spPr>
          <a:xfrm>
            <a:off x="2342639" y="2687390"/>
            <a:ext cx="2926334" cy="1287892"/>
          </a:xfrm>
          <a:prstGeom prst="rect">
            <a:avLst/>
          </a:prstGeom>
        </p:spPr>
      </p:pic>
    </p:spTree>
    <p:extLst>
      <p:ext uri="{BB962C8B-B14F-4D97-AF65-F5344CB8AC3E}">
        <p14:creationId xmlns:p14="http://schemas.microsoft.com/office/powerpoint/2010/main" val="3474850336"/>
      </p:ext>
    </p:extLst>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9" name="文本框 8">
            <a:extLst>
              <a:ext uri="{FF2B5EF4-FFF2-40B4-BE49-F238E27FC236}">
                <a16:creationId xmlns:a16="http://schemas.microsoft.com/office/drawing/2014/main" id="{CD68B34E-2F87-1836-D268-40144FB2545B}"/>
              </a:ext>
            </a:extLst>
          </p:cNvPr>
          <p:cNvSpPr txBox="1"/>
          <p:nvPr/>
        </p:nvSpPr>
        <p:spPr>
          <a:xfrm>
            <a:off x="409203" y="2001881"/>
            <a:ext cx="11651131" cy="430887"/>
          </a:xfrm>
          <a:prstGeom prst="rect">
            <a:avLst/>
          </a:prstGeom>
          <a:noFill/>
        </p:spPr>
        <p:txBody>
          <a:bodyPr wrap="square">
            <a:spAutoFit/>
          </a:bodyPr>
          <a:lstStyle/>
          <a:p>
            <a:r>
              <a:rPr lang="en-US" altLang="zh-CN" sz="2200" dirty="0">
                <a:solidFill>
                  <a:srgbClr val="0033CC"/>
                </a:solidFill>
              </a:rPr>
              <a:t>2. </a:t>
            </a:r>
            <a:r>
              <a:rPr lang="zh-CN" altLang="en-US" sz="2200" dirty="0">
                <a:solidFill>
                  <a:srgbClr val="0033CC"/>
                </a:solidFill>
              </a:rPr>
              <a:t>面向分类问题的全连接神经网络</a:t>
            </a:r>
            <a:endParaRPr lang="en-US" altLang="zh-CN" sz="2200" dirty="0">
              <a:solidFill>
                <a:srgbClr val="0033CC"/>
              </a:solidFill>
            </a:endParaRPr>
          </a:p>
        </p:txBody>
      </p:sp>
      <p:sp>
        <p:nvSpPr>
          <p:cNvPr id="3" name="文本框 2">
            <a:extLst>
              <a:ext uri="{FF2B5EF4-FFF2-40B4-BE49-F238E27FC236}">
                <a16:creationId xmlns:a16="http://schemas.microsoft.com/office/drawing/2014/main" id="{C3888105-A3DC-9872-86C7-685A788756D5}"/>
              </a:ext>
            </a:extLst>
          </p:cNvPr>
          <p:cNvSpPr txBox="1"/>
          <p:nvPr/>
        </p:nvSpPr>
        <p:spPr>
          <a:xfrm>
            <a:off x="491643" y="2521110"/>
            <a:ext cx="10539879" cy="1107996"/>
          </a:xfrm>
          <a:prstGeom prst="rect">
            <a:avLst/>
          </a:prstGeom>
          <a:noFill/>
        </p:spPr>
        <p:txBody>
          <a:bodyPr wrap="square">
            <a:spAutoFit/>
          </a:bodyPr>
          <a:lstStyle/>
          <a:p>
            <a:r>
              <a:rPr lang="zh-CN" altLang="en-US" sz="2200" dirty="0"/>
              <a:t>对神经网络而言，</a:t>
            </a:r>
            <a:r>
              <a:rPr lang="zh-CN" altLang="en-US" sz="2200" b="1" dirty="0"/>
              <a:t>回归问题</a:t>
            </a:r>
            <a:r>
              <a:rPr lang="zh-CN" altLang="en-US" sz="2200" dirty="0"/>
              <a:t>和</a:t>
            </a:r>
            <a:r>
              <a:rPr lang="zh-CN" altLang="en-US" sz="2200" b="1" dirty="0"/>
              <a:t>分类问题</a:t>
            </a:r>
            <a:r>
              <a:rPr lang="zh-CN" altLang="en-US" sz="2200" dirty="0"/>
              <a:t>的主要不同是目标函数的不同。但这并未在本质上对后向传播中的梯度计算和参数更新造成本质区别。仔细分析后向传播过程可以发现，目标函数只是在最初的误差项计算中使用到，也就是下面这个式子：</a:t>
            </a:r>
            <a:endParaRPr lang="zh-CN" altLang="en-US" dirty="0"/>
          </a:p>
        </p:txBody>
      </p:sp>
      <p:pic>
        <p:nvPicPr>
          <p:cNvPr id="4" name="图片 3">
            <a:extLst>
              <a:ext uri="{FF2B5EF4-FFF2-40B4-BE49-F238E27FC236}">
                <a16:creationId xmlns:a16="http://schemas.microsoft.com/office/drawing/2014/main" id="{A57411D9-F07E-0C3A-8558-386EE5C2F8B2}"/>
              </a:ext>
            </a:extLst>
          </p:cNvPr>
          <p:cNvPicPr>
            <a:picLocks noChangeAspect="1"/>
          </p:cNvPicPr>
          <p:nvPr/>
        </p:nvPicPr>
        <p:blipFill>
          <a:blip r:embed="rId3"/>
          <a:stretch>
            <a:fillRect/>
          </a:stretch>
        </p:blipFill>
        <p:spPr>
          <a:xfrm>
            <a:off x="1732780" y="3717448"/>
            <a:ext cx="5639289" cy="830652"/>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0241F33-8095-ADC9-97AA-CDB28B4D4CD6}"/>
                  </a:ext>
                </a:extLst>
              </p:cNvPr>
              <p:cNvSpPr txBox="1"/>
              <p:nvPr/>
            </p:nvSpPr>
            <p:spPr>
              <a:xfrm>
                <a:off x="335805" y="4426809"/>
                <a:ext cx="11446992" cy="1575944"/>
              </a:xfrm>
              <a:prstGeom prst="rect">
                <a:avLst/>
              </a:prstGeom>
              <a:noFill/>
            </p:spPr>
            <p:txBody>
              <a:bodyPr wrap="square">
                <a:spAutoFit/>
              </a:bodyPr>
              <a:lstStyle/>
              <a:p>
                <a:r>
                  <a:rPr lang="zh-CN" altLang="en-US" sz="2200" dirty="0"/>
                  <a:t>其中，</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b="0" i="1" smtClean="0">
                            <a:latin typeface="Cambria Math" panose="02040503050406030204" pitchFamily="18" charset="0"/>
                          </a:rPr>
                          <m:t>𝑎</m:t>
                        </m:r>
                      </m:e>
                      <m:sub>
                        <m:r>
                          <a:rPr lang="en-US" altLang="zh-CN" sz="2200" b="0" i="1" smtClean="0">
                            <a:latin typeface="Cambria Math" panose="02040503050406030204" pitchFamily="18" charset="0"/>
                          </a:rPr>
                          <m:t>𝑖</m:t>
                        </m:r>
                      </m:sub>
                      <m:sup>
                        <m:r>
                          <a:rPr lang="en-US" altLang="zh-CN" sz="2200">
                            <a:latin typeface="Cambria Math" panose="02040503050406030204" pitchFamily="18" charset="0"/>
                          </a:rPr>
                          <m:t>(</m:t>
                        </m:r>
                        <m:r>
                          <a:rPr lang="en-US" altLang="zh-CN" sz="2200" b="0" i="1" smtClean="0">
                            <a:latin typeface="Cambria Math" panose="02040503050406030204" pitchFamily="18" charset="0"/>
                          </a:rPr>
                          <m:t>𝑜</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en-US" altLang="zh-CN" sz="2200" dirty="0"/>
                  <a:t>=</a:t>
                </a:r>
                <a14:m>
                  <m:oMath xmlns:m="http://schemas.openxmlformats.org/officeDocument/2006/math">
                    <m:acc>
                      <m:accPr>
                        <m:chr m:val="̂"/>
                        <m:ctrlPr>
                          <a:rPr lang="en-US" altLang="zh-CN" sz="2200" i="1" dirty="0" smtClean="0">
                            <a:latin typeface="Cambria Math" panose="02040503050406030204" pitchFamily="18" charset="0"/>
                          </a:rPr>
                        </m:ctrlPr>
                      </m:accPr>
                      <m:e>
                        <m:r>
                          <a:rPr lang="en-US" altLang="zh-CN" sz="2200" b="0" i="1" dirty="0" smtClean="0">
                            <a:latin typeface="Cambria Math" panose="02040503050406030204" pitchFamily="18" charset="0"/>
                          </a:rPr>
                          <m:t>𝑦</m:t>
                        </m:r>
                      </m:e>
                    </m:acc>
                  </m:oMath>
                </a14:m>
                <a:r>
                  <a:rPr lang="zh-CN" altLang="en-US" sz="2200" dirty="0"/>
                  <a:t>，因而 </a:t>
                </a:r>
                <a14:m>
                  <m:oMath xmlns:m="http://schemas.openxmlformats.org/officeDocument/2006/math">
                    <m:f>
                      <m:fPr>
                        <m:ctrlPr>
                          <a:rPr lang="en-US" altLang="zh-CN" sz="2200" i="1">
                            <a:latin typeface="Cambria Math" panose="02040503050406030204" pitchFamily="18" charset="0"/>
                          </a:rPr>
                        </m:ctrlPr>
                      </m:fPr>
                      <m:num>
                        <m:r>
                          <a:rPr lang="en-US" altLang="zh-CN" sz="2200" i="1">
                            <a:latin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ℒ</m:t>
                        </m:r>
                      </m:num>
                      <m:den>
                        <m:r>
                          <a:rPr lang="en-US" altLang="zh-CN" sz="2200" i="1">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i="1">
                                <a:latin typeface="Cambria Math" panose="02040503050406030204" pitchFamily="18" charset="0"/>
                              </a:rPr>
                              <m:t>𝑖</m:t>
                            </m:r>
                          </m:sub>
                          <m:sup>
                            <m:r>
                              <a:rPr lang="en-US" altLang="zh-CN" sz="2200">
                                <a:latin typeface="Cambria Math" panose="02040503050406030204" pitchFamily="18" charset="0"/>
                              </a:rPr>
                              <m:t>(</m:t>
                            </m:r>
                            <m:r>
                              <a:rPr lang="en-US" altLang="zh-CN" sz="2200" i="1">
                                <a:latin typeface="Cambria Math" panose="02040503050406030204" pitchFamily="18" charset="0"/>
                              </a:rPr>
                              <m:t>𝑜</m:t>
                            </m:r>
                            <m:r>
                              <a:rPr lang="en-US" altLang="zh-CN" sz="2200">
                                <a:latin typeface="Cambria Math" panose="02040503050406030204" pitchFamily="18" charset="0"/>
                              </a:rPr>
                              <m:t>)</m:t>
                            </m:r>
                          </m:sup>
                        </m:sSubSup>
                      </m:den>
                    </m:f>
                    <m:r>
                      <a:rPr lang="en-US" altLang="zh-CN" sz="2200" i="1">
                        <a:latin typeface="Cambria Math" panose="02040503050406030204" pitchFamily="18" charset="0"/>
                      </a:rPr>
                      <m:t> </m:t>
                    </m:r>
                  </m:oMath>
                </a14:m>
                <a:r>
                  <a:rPr lang="en-US" altLang="zh-CN" sz="2200" dirty="0"/>
                  <a:t>= </a:t>
                </a:r>
                <a14:m>
                  <m:oMath xmlns:m="http://schemas.openxmlformats.org/officeDocument/2006/math">
                    <m:f>
                      <m:fPr>
                        <m:ctrlPr>
                          <a:rPr lang="en-US" altLang="zh-CN" sz="2200" i="1">
                            <a:latin typeface="Cambria Math" panose="02040503050406030204" pitchFamily="18" charset="0"/>
                          </a:rPr>
                        </m:ctrlPr>
                      </m:fPr>
                      <m:num>
                        <m:r>
                          <a:rPr lang="en-US" altLang="zh-CN" sz="2200" i="1">
                            <a:latin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ℒ</m:t>
                        </m:r>
                      </m:num>
                      <m:den>
                        <m:r>
                          <a:rPr lang="en-US" altLang="zh-CN" sz="2200" i="1">
                            <a:latin typeface="Cambria Math" panose="02040503050406030204" pitchFamily="18" charset="0"/>
                          </a:rPr>
                          <m:t>𝜕</m:t>
                        </m:r>
                        <m:acc>
                          <m:accPr>
                            <m:chr m:val="̂"/>
                            <m:ctrlPr>
                              <a:rPr lang="en-US" altLang="zh-CN" sz="2200" i="1" dirty="0">
                                <a:latin typeface="Cambria Math" panose="02040503050406030204" pitchFamily="18" charset="0"/>
                              </a:rPr>
                            </m:ctrlPr>
                          </m:accPr>
                          <m:e>
                            <m:r>
                              <a:rPr lang="en-US" altLang="zh-CN" sz="2200" i="1" dirty="0">
                                <a:latin typeface="Cambria Math" panose="02040503050406030204" pitchFamily="18" charset="0"/>
                              </a:rPr>
                              <m:t>𝑦</m:t>
                            </m:r>
                          </m:e>
                        </m:acc>
                      </m:den>
                    </m:f>
                    <m:r>
                      <a:rPr lang="en-US" altLang="zh-CN" sz="2200" i="1">
                        <a:latin typeface="Cambria Math" panose="02040503050406030204" pitchFamily="18" charset="0"/>
                      </a:rPr>
                      <m:t> </m:t>
                    </m:r>
                  </m:oMath>
                </a14:m>
                <a:r>
                  <a:rPr lang="zh-CN" altLang="en-US" sz="2200" dirty="0"/>
                  <a:t>，这是计算目标函数</a:t>
                </a:r>
                <a:r>
                  <a:rPr lang="en-US" altLang="zh-CN" sz="2200" dirty="0"/>
                  <a:t>ℒ</a:t>
                </a:r>
                <a:r>
                  <a:rPr lang="zh-CN" altLang="en-US" sz="2200" dirty="0"/>
                  <a:t>关于网络输出</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i="1" dirty="0">
                            <a:latin typeface="Cambria Math" panose="02040503050406030204" pitchFamily="18" charset="0"/>
                          </a:rPr>
                          <m:t>𝑦</m:t>
                        </m:r>
                      </m:e>
                    </m:acc>
                  </m:oMath>
                </a14:m>
                <a:r>
                  <a:rPr lang="zh-CN" altLang="en-US" sz="2200" dirty="0"/>
                  <a:t>的导数。因此，不同的目标函数会得到不同的导数，从而得到不同的最初误差项</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m:rPr>
                            <m:sty m:val="p"/>
                          </m:rPr>
                          <a:rPr lang="en-US" altLang="zh-CN" sz="2200" b="0" i="0" smtClean="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zh-CN" altLang="en-US" sz="2200" dirty="0"/>
                  <a:t>，而其他误差项</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b="0" i="0" smtClean="0">
                            <a:latin typeface="Cambria Math" panose="02040503050406030204" pitchFamily="18" charset="0"/>
                          </a:rPr>
                          <m:t>−</m:t>
                        </m:r>
                        <m:r>
                          <a:rPr lang="en-US" altLang="zh-CN" sz="2200" b="0" i="0" smtClean="0">
                            <a:latin typeface="Cambria Math" panose="02040503050406030204" pitchFamily="18" charset="0"/>
                          </a:rPr>
                          <m:t>1</m:t>
                        </m:r>
                        <m:r>
                          <a:rPr lang="en-US" altLang="zh-CN" sz="2200">
                            <a:latin typeface="Cambria Math" panose="02040503050406030204" pitchFamily="18" charset="0"/>
                          </a:rPr>
                          <m:t>)</m:t>
                        </m:r>
                      </m:sup>
                    </m:sSubSup>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b="0" i="0" smtClean="0">
                            <a:latin typeface="Cambria Math" panose="02040503050406030204" pitchFamily="18" charset="0"/>
                          </a:rPr>
                          <m:t>−</m:t>
                        </m:r>
                        <m:r>
                          <a:rPr lang="en-US" altLang="zh-CN" sz="2200" b="0" i="0" smtClean="0">
                            <a:latin typeface="Cambria Math" panose="02040503050406030204" pitchFamily="18" charset="0"/>
                          </a:rPr>
                          <m:t>2</m:t>
                        </m:r>
                        <m:r>
                          <a:rPr lang="en-US" altLang="zh-CN" sz="2200">
                            <a:latin typeface="Cambria Math" panose="02040503050406030204" pitchFamily="18" charset="0"/>
                          </a:rPr>
                          <m:t>)</m:t>
                        </m:r>
                      </m:sup>
                    </m:sSubSup>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b="0" i="0" smtClean="0">
                            <a:latin typeface="Cambria Math" panose="02040503050406030204" pitchFamily="18" charset="0"/>
                          </a:rPr>
                          <m:t>,</m:t>
                        </m:r>
                        <m:r>
                          <a:rPr lang="zh-CN" altLang="en-US" sz="2200">
                            <a:latin typeface="Cambria Math" panose="02040503050406030204" pitchFamily="18" charset="0"/>
                          </a:rPr>
                          <m:t>𝛿</m:t>
                        </m:r>
                      </m:e>
                      <m:sub>
                        <m:r>
                          <a:rPr lang="en-US" altLang="zh-CN" sz="2200">
                            <a:latin typeface="Cambria Math" panose="02040503050406030204" pitchFamily="18" charset="0"/>
                          </a:rPr>
                          <m:t>𝑖</m:t>
                        </m:r>
                      </m:sub>
                      <m:sup>
                        <m:r>
                          <a:rPr lang="en-US" altLang="zh-CN" sz="2200">
                            <a:latin typeface="Cambria Math" panose="02040503050406030204" pitchFamily="18" charset="0"/>
                          </a:rPr>
                          <m:t>(</m:t>
                        </m:r>
                        <m:r>
                          <a:rPr lang="en-US" altLang="zh-CN" sz="2200" b="0" i="0" smtClean="0">
                            <a:latin typeface="Cambria Math" panose="02040503050406030204" pitchFamily="18" charset="0"/>
                          </a:rPr>
                          <m:t>1</m:t>
                        </m:r>
                        <m:r>
                          <a:rPr lang="en-US" altLang="zh-CN" sz="2200">
                            <a:latin typeface="Cambria Math" panose="02040503050406030204" pitchFamily="18" charset="0"/>
                          </a:rPr>
                          <m:t>)</m:t>
                        </m:r>
                      </m:sup>
                    </m:sSubSup>
                  </m:oMath>
                </a14:m>
                <a:r>
                  <a:rPr lang="zh-CN" altLang="en-US" sz="2200" dirty="0"/>
                  <a:t>的计算方法都不变 ，与目标函数</a:t>
                </a:r>
                <a:r>
                  <a:rPr lang="zh-CN" altLang="en-US" sz="2200" b="1" dirty="0"/>
                  <a:t>没有</a:t>
                </a:r>
                <a:r>
                  <a:rPr lang="zh-CN" altLang="en-US" sz="2200" dirty="0"/>
                  <a:t>关系。</a:t>
                </a:r>
                <a:endParaRPr lang="zh-CN" altLang="en-US" dirty="0"/>
              </a:p>
            </p:txBody>
          </p:sp>
        </mc:Choice>
        <mc:Fallback xmlns="">
          <p:sp>
            <p:nvSpPr>
              <p:cNvPr id="8" name="文本框 7">
                <a:extLst>
                  <a:ext uri="{FF2B5EF4-FFF2-40B4-BE49-F238E27FC236}">
                    <a16:creationId xmlns:a16="http://schemas.microsoft.com/office/drawing/2014/main" id="{30241F33-8095-ADC9-97AA-CDB28B4D4CD6}"/>
                  </a:ext>
                </a:extLst>
              </p:cNvPr>
              <p:cNvSpPr txBox="1">
                <a:spLocks noRot="1" noChangeAspect="1" noMove="1" noResize="1" noEditPoints="1" noAdjustHandles="1" noChangeArrowheads="1" noChangeShapeType="1" noTextEdit="1"/>
              </p:cNvSpPr>
              <p:nvPr/>
            </p:nvSpPr>
            <p:spPr>
              <a:xfrm>
                <a:off x="335805" y="4426809"/>
                <a:ext cx="11446992" cy="1575944"/>
              </a:xfrm>
              <a:prstGeom prst="rect">
                <a:avLst/>
              </a:prstGeom>
              <a:blipFill>
                <a:blip r:embed="rId4"/>
                <a:stretch>
                  <a:fillRect l="-692" b="-61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29079833"/>
      </p:ext>
    </p:extLst>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p:sp>
        <p:nvSpPr>
          <p:cNvPr id="7" name="文本框 6">
            <a:extLst>
              <a:ext uri="{FF2B5EF4-FFF2-40B4-BE49-F238E27FC236}">
                <a16:creationId xmlns:a16="http://schemas.microsoft.com/office/drawing/2014/main" id="{70D4D80C-C578-28BE-8D65-A279330C96B8}"/>
              </a:ext>
            </a:extLst>
          </p:cNvPr>
          <p:cNvSpPr txBox="1"/>
          <p:nvPr/>
        </p:nvSpPr>
        <p:spPr>
          <a:xfrm>
            <a:off x="585133" y="1866486"/>
            <a:ext cx="10175846" cy="430887"/>
          </a:xfrm>
          <a:prstGeom prst="rect">
            <a:avLst/>
          </a:prstGeom>
          <a:noFill/>
        </p:spPr>
        <p:txBody>
          <a:bodyPr wrap="square">
            <a:spAutoFit/>
          </a:bodyPr>
          <a:lstStyle/>
          <a:p>
            <a:r>
              <a:rPr lang="zh-CN" altLang="en-US" sz="2200" dirty="0"/>
              <a:t>对于</a:t>
            </a:r>
            <a:r>
              <a:rPr lang="zh-CN" altLang="en-US" sz="2200" b="1" dirty="0"/>
              <a:t>二分类问题</a:t>
            </a:r>
            <a:r>
              <a:rPr lang="zh-CN" altLang="en-US" sz="2200" dirty="0"/>
              <a:t>而言，常用下面的目标函数：</a:t>
            </a:r>
            <a:endParaRPr lang="en-US" altLang="zh-CN" sz="2200"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AC2E89D-1594-42DB-8062-9766874E79E6}"/>
                  </a:ext>
                </a:extLst>
              </p:cNvPr>
              <p:cNvSpPr txBox="1"/>
              <p:nvPr/>
            </p:nvSpPr>
            <p:spPr>
              <a:xfrm>
                <a:off x="573945" y="3249563"/>
                <a:ext cx="10723227" cy="967829"/>
              </a:xfrm>
              <a:prstGeom prst="rect">
                <a:avLst/>
              </a:prstGeom>
              <a:noFill/>
            </p:spPr>
            <p:txBody>
              <a:bodyPr wrap="square">
                <a:spAutoFit/>
              </a:bodyPr>
              <a:lstStyle/>
              <a:p>
                <a:r>
                  <a:rPr lang="zh-CN" altLang="en-US" sz="2200" dirty="0"/>
                  <a:t>这时，网络只有一个输出节点 </a:t>
                </a:r>
                <a:r>
                  <a:rPr lang="en-US" altLang="zh-CN" sz="2200" dirty="0"/>
                  <a:t>1 </a:t>
                </a:r>
                <a:r>
                  <a:rPr lang="zh-CN" altLang="en-US" sz="2200" dirty="0"/>
                  <a:t>和一个输出</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dirty="0">
                            <a:latin typeface="Cambria Math" panose="02040503050406030204" pitchFamily="18" charset="0"/>
                          </a:rPr>
                          <m:t>𝑦</m:t>
                        </m:r>
                      </m:e>
                    </m:acc>
                    <m:r>
                      <a:rPr lang="en-US" altLang="zh-CN" sz="2200" dirty="0">
                        <a:latin typeface="Cambria Math" panose="02040503050406030204" pitchFamily="18" charset="0"/>
                      </a:rPr>
                      <m:t> </m:t>
                    </m:r>
                  </m:oMath>
                </a14:m>
                <a:r>
                  <a:rPr lang="zh-CN" altLang="en-US" sz="2200" dirty="0"/>
                  <a:t>，</a:t>
                </a:r>
                <a:r>
                  <a:rPr lang="en-US" altLang="zh-CN" sz="2200" dirty="0"/>
                  <a:t>ℒ</a:t>
                </a:r>
                <a:r>
                  <a:rPr lang="zh-CN" altLang="en-US" sz="2200" dirty="0"/>
                  <a:t>关于</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dirty="0">
                            <a:latin typeface="Cambria Math" panose="02040503050406030204" pitchFamily="18" charset="0"/>
                          </a:rPr>
                          <m:t>𝑦</m:t>
                        </m:r>
                      </m:e>
                    </m:acc>
                  </m:oMath>
                </a14:m>
                <a:r>
                  <a:rPr lang="zh-CN" altLang="en-US" sz="2200" dirty="0"/>
                  <a:t>的导数</a:t>
                </a:r>
                <a14:m>
                  <m:oMath xmlns:m="http://schemas.openxmlformats.org/officeDocument/2006/math">
                    <m:f>
                      <m:fPr>
                        <m:ctrlPr>
                          <a:rPr lang="en-US" altLang="zh-CN" sz="2200" i="1">
                            <a:latin typeface="Cambria Math" panose="02040503050406030204" pitchFamily="18" charset="0"/>
                          </a:rPr>
                        </m:ctrlPr>
                      </m:fPr>
                      <m:num>
                        <m:r>
                          <a:rPr lang="en-US" altLang="zh-CN" sz="2200">
                            <a:latin typeface="Cambria Math" panose="02040503050406030204" pitchFamily="18" charset="0"/>
                          </a:rPr>
                          <m:t>𝜕</m:t>
                        </m:r>
                        <m:r>
                          <a:rPr lang="en-US" altLang="zh-CN" sz="2200">
                            <a:latin typeface="Cambria Math" panose="02040503050406030204" pitchFamily="18" charset="0"/>
                          </a:rPr>
                          <m:t>ℒ</m:t>
                        </m:r>
                      </m:num>
                      <m:den>
                        <m:r>
                          <a:rPr lang="en-US" altLang="zh-CN" sz="2200">
                            <a:latin typeface="Cambria Math" panose="02040503050406030204" pitchFamily="18" charset="0"/>
                          </a:rPr>
                          <m:t>𝜕</m:t>
                        </m:r>
                        <m:acc>
                          <m:accPr>
                            <m:chr m:val="̂"/>
                            <m:ctrlPr>
                              <a:rPr lang="en-US" altLang="zh-CN" sz="2200" i="1" dirty="0">
                                <a:latin typeface="Cambria Math" panose="02040503050406030204" pitchFamily="18" charset="0"/>
                              </a:rPr>
                            </m:ctrlPr>
                          </m:accPr>
                          <m:e>
                            <m:r>
                              <a:rPr lang="en-US" altLang="zh-CN" sz="2200" dirty="0">
                                <a:latin typeface="Cambria Math" panose="02040503050406030204" pitchFamily="18" charset="0"/>
                              </a:rPr>
                              <m:t>𝑦</m:t>
                            </m:r>
                          </m:e>
                        </m:acc>
                      </m:den>
                    </m:f>
                  </m:oMath>
                </a14:m>
                <a:r>
                  <a:rPr lang="en-US" altLang="zh-CN" sz="2200" dirty="0"/>
                  <a:t> = [(1-y) </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dirty="0">
                            <a:latin typeface="Cambria Math" panose="02040503050406030204" pitchFamily="18" charset="0"/>
                          </a:rPr>
                          <m:t>𝑦</m:t>
                        </m:r>
                      </m:e>
                    </m:acc>
                    <m:r>
                      <a:rPr lang="en-US" altLang="zh-CN" sz="2200" dirty="0">
                        <a:latin typeface="Cambria Math" panose="02040503050406030204" pitchFamily="18" charset="0"/>
                      </a:rPr>
                      <m:t> </m:t>
                    </m:r>
                  </m:oMath>
                </a14:m>
                <a:r>
                  <a:rPr lang="en-US" altLang="zh-CN" sz="2200" dirty="0"/>
                  <a:t>-(1- </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dirty="0">
                            <a:latin typeface="Cambria Math" panose="02040503050406030204" pitchFamily="18" charset="0"/>
                          </a:rPr>
                          <m:t>𝑦</m:t>
                        </m:r>
                      </m:e>
                    </m:acc>
                    <m:r>
                      <a:rPr lang="en-US" altLang="zh-CN" sz="2200" dirty="0">
                        <a:latin typeface="Cambria Math" panose="02040503050406030204" pitchFamily="18" charset="0"/>
                      </a:rPr>
                      <m:t> </m:t>
                    </m:r>
                  </m:oMath>
                </a14:m>
                <a:r>
                  <a:rPr lang="en-US" altLang="zh-CN" sz="2200" dirty="0"/>
                  <a:t>)y],</a:t>
                </a:r>
                <a:r>
                  <a:rPr lang="zh-CN" altLang="en-US" sz="2200" dirty="0"/>
                  <a:t>因而得到下面</a:t>
                </a:r>
                <a:r>
                  <a:rPr lang="zh-CN" altLang="en-US" sz="2200" b="1" dirty="0"/>
                  <a:t>最初的误差项</a:t>
                </a:r>
                <a:r>
                  <a:rPr lang="zh-CN" altLang="en-US" sz="2200" dirty="0"/>
                  <a:t>：</a:t>
                </a:r>
              </a:p>
            </p:txBody>
          </p:sp>
        </mc:Choice>
        <mc:Fallback xmlns="">
          <p:sp>
            <p:nvSpPr>
              <p:cNvPr id="4" name="文本框 3">
                <a:extLst>
                  <a:ext uri="{FF2B5EF4-FFF2-40B4-BE49-F238E27FC236}">
                    <a16:creationId xmlns:a16="http://schemas.microsoft.com/office/drawing/2014/main" id="{CAC2E89D-1594-42DB-8062-9766874E79E6}"/>
                  </a:ext>
                </a:extLst>
              </p:cNvPr>
              <p:cNvSpPr txBox="1">
                <a:spLocks noRot="1" noChangeAspect="1" noMove="1" noResize="1" noEditPoints="1" noAdjustHandles="1" noChangeArrowheads="1" noChangeShapeType="1" noTextEdit="1"/>
              </p:cNvSpPr>
              <p:nvPr/>
            </p:nvSpPr>
            <p:spPr>
              <a:xfrm>
                <a:off x="573945" y="3249563"/>
                <a:ext cx="10723227" cy="967829"/>
              </a:xfrm>
              <a:prstGeom prst="rect">
                <a:avLst/>
              </a:prstGeom>
              <a:blipFill>
                <a:blip r:embed="rId3"/>
                <a:stretch>
                  <a:fillRect l="-739" r="-569" b="-1257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53540AC-636C-6689-ABDF-55C983D5D415}"/>
              </a:ext>
            </a:extLst>
          </p:cNvPr>
          <p:cNvPicPr>
            <a:picLocks noChangeAspect="1"/>
          </p:cNvPicPr>
          <p:nvPr/>
        </p:nvPicPr>
        <p:blipFill>
          <a:blip r:embed="rId4"/>
          <a:stretch>
            <a:fillRect/>
          </a:stretch>
        </p:blipFill>
        <p:spPr>
          <a:xfrm>
            <a:off x="3034690" y="2624484"/>
            <a:ext cx="3840813" cy="457240"/>
          </a:xfrm>
          <a:prstGeom prst="rect">
            <a:avLst/>
          </a:prstGeom>
        </p:spPr>
      </p:pic>
      <p:pic>
        <p:nvPicPr>
          <p:cNvPr id="9" name="图片 8">
            <a:extLst>
              <a:ext uri="{FF2B5EF4-FFF2-40B4-BE49-F238E27FC236}">
                <a16:creationId xmlns:a16="http://schemas.microsoft.com/office/drawing/2014/main" id="{44532A64-40C5-350D-546D-968EFB9E0B97}"/>
              </a:ext>
            </a:extLst>
          </p:cNvPr>
          <p:cNvPicPr>
            <a:picLocks noChangeAspect="1"/>
          </p:cNvPicPr>
          <p:nvPr/>
        </p:nvPicPr>
        <p:blipFill>
          <a:blip r:embed="rId5"/>
          <a:stretch>
            <a:fillRect/>
          </a:stretch>
        </p:blipFill>
        <p:spPr>
          <a:xfrm>
            <a:off x="2423078" y="4649467"/>
            <a:ext cx="5936494" cy="716342"/>
          </a:xfrm>
          <a:prstGeom prst="rect">
            <a:avLst/>
          </a:prstGeom>
        </p:spPr>
      </p:pic>
    </p:spTree>
    <p:extLst>
      <p:ext uri="{BB962C8B-B14F-4D97-AF65-F5344CB8AC3E}">
        <p14:creationId xmlns:p14="http://schemas.microsoft.com/office/powerpoint/2010/main" val="1866094562"/>
      </p:ext>
    </p:extLst>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AC2E89D-1594-42DB-8062-9766874E79E6}"/>
                  </a:ext>
                </a:extLst>
              </p:cNvPr>
              <p:cNvSpPr txBox="1"/>
              <p:nvPr/>
            </p:nvSpPr>
            <p:spPr>
              <a:xfrm>
                <a:off x="573945" y="2083955"/>
                <a:ext cx="10723227" cy="2959080"/>
              </a:xfrm>
              <a:prstGeom prst="rect">
                <a:avLst/>
              </a:prstGeom>
              <a:noFill/>
            </p:spPr>
            <p:txBody>
              <a:bodyPr wrap="square">
                <a:spAutoFit/>
              </a:bodyPr>
              <a:lstStyle/>
              <a:p>
                <a:r>
                  <a:rPr lang="zh-CN" altLang="en-US" sz="2200" dirty="0"/>
                  <a:t>对于</a:t>
                </a:r>
                <a:r>
                  <a:rPr lang="zh-CN" altLang="en-US" sz="2200" b="1" dirty="0"/>
                  <a:t>多分类问题</a:t>
                </a:r>
                <a:r>
                  <a:rPr lang="zh-CN" altLang="en-US" sz="2200" dirty="0"/>
                  <a:t>，神经网络的输出层一般有多个输出节点，其数量一般跟类别的个数相等，即如果类别个数为 </a:t>
                </a:r>
                <a:r>
                  <a:rPr lang="en-US" altLang="zh-CN" sz="2200" dirty="0"/>
                  <a:t>m</a:t>
                </a:r>
                <a:r>
                  <a:rPr lang="zh-CN" altLang="en-US" sz="2200" dirty="0"/>
                  <a:t>，则</a:t>
                </a:r>
                <a:r>
                  <a:rPr lang="en-US" altLang="zh-CN" sz="2200" dirty="0"/>
                  <a:t>| </a:t>
                </a:r>
                <a14:m>
                  <m:oMath xmlns:m="http://schemas.openxmlformats.org/officeDocument/2006/math">
                    <m:sSup>
                      <m:sSupPr>
                        <m:ctrlPr>
                          <a:rPr lang="en-US" altLang="zh-CN" sz="2200" i="1" smtClean="0">
                            <a:latin typeface="Cambria Math" panose="02040503050406030204" pitchFamily="18" charset="0"/>
                          </a:rPr>
                        </m:ctrlPr>
                      </m:sSupPr>
                      <m:e>
                        <m:r>
                          <a:rPr lang="en-US" altLang="zh-CN" sz="2200" b="0" i="1" smtClean="0">
                            <a:latin typeface="Cambria Math" panose="02040503050406030204" pitchFamily="18" charset="0"/>
                          </a:rPr>
                          <m:t>𝐸</m:t>
                        </m:r>
                      </m:e>
                      <m:sup>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𝑜</m:t>
                        </m:r>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 </m:t>
                    </m:r>
                  </m:oMath>
                </a14:m>
                <a:r>
                  <a:rPr lang="en-US" altLang="zh-CN" sz="2200" dirty="0"/>
                  <a:t>| = m</a:t>
                </a:r>
                <a:r>
                  <a:rPr lang="zh-CN" altLang="en-US" sz="2200" dirty="0"/>
                  <a:t>，其中</a:t>
                </a:r>
                <a14:m>
                  <m:oMath xmlns:m="http://schemas.openxmlformats.org/officeDocument/2006/math">
                    <m:sSup>
                      <m:sSupPr>
                        <m:ctrlPr>
                          <a:rPr lang="en-US" altLang="zh-CN" sz="2200" i="1">
                            <a:latin typeface="Cambria Math" panose="02040503050406030204" pitchFamily="18" charset="0"/>
                          </a:rPr>
                        </m:ctrlPr>
                      </m:sSupPr>
                      <m:e>
                        <m:r>
                          <a:rPr lang="en-US" altLang="zh-CN" sz="2200" i="1">
                            <a:latin typeface="Cambria Math" panose="02040503050406030204" pitchFamily="18" charset="0"/>
                          </a:rPr>
                          <m:t>𝐸</m:t>
                        </m:r>
                      </m:e>
                      <m:sup>
                        <m:r>
                          <a:rPr lang="en-US" altLang="zh-CN" sz="2200" i="1">
                            <a:latin typeface="Cambria Math" panose="02040503050406030204" pitchFamily="18" charset="0"/>
                          </a:rPr>
                          <m:t>(</m:t>
                        </m:r>
                        <m:r>
                          <a:rPr lang="en-US" altLang="zh-CN" sz="2200" i="1">
                            <a:latin typeface="Cambria Math" panose="02040503050406030204" pitchFamily="18" charset="0"/>
                          </a:rPr>
                          <m:t>𝑜</m:t>
                        </m:r>
                        <m:r>
                          <a:rPr lang="en-US" altLang="zh-CN" sz="2200" i="1">
                            <a:latin typeface="Cambria Math" panose="02040503050406030204" pitchFamily="18" charset="0"/>
                          </a:rPr>
                          <m:t>)</m:t>
                        </m:r>
                      </m:sup>
                    </m:sSup>
                  </m:oMath>
                </a14:m>
                <a:r>
                  <a:rPr lang="zh-CN" altLang="en-US" sz="2200" dirty="0"/>
                  <a:t>表示输出层中节点的集合。这样，便有多个最初的误差项：</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b="0" i="1" smtClean="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b="0" i="1" smtClean="0">
                            <a:latin typeface="Cambria Math" panose="02040503050406030204" pitchFamily="18" charset="0"/>
                          </a:rPr>
                          <m:t>2</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b="0" i="1" smtClean="0">
                            <a:latin typeface="Cambria Math" panose="02040503050406030204" pitchFamily="18" charset="0"/>
                          </a:rPr>
                          <m:t>𝑚</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zh-CN" altLang="en-US" sz="2200" dirty="0"/>
                  <a:t>（前面介绍的网络都只有一个输出节点，因而也都只有一个</a:t>
                </a:r>
                <a:r>
                  <a:rPr lang="zh-CN" altLang="en-US" sz="2200" b="1" dirty="0"/>
                  <a:t>最初的误差项</a:t>
                </a:r>
                <a14:m>
                  <m:oMath xmlns:m="http://schemas.openxmlformats.org/officeDocument/2006/math">
                    <m:sSubSup>
                      <m:sSubSupPr>
                        <m:ctrlPr>
                          <a:rPr lang="en-US" altLang="zh-CN" sz="2200" i="1" smtClean="0">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b="0" i="1" smtClean="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zh-CN" altLang="en-US" sz="2200" dirty="0"/>
                  <a:t>。</a:t>
                </a:r>
                <a:endParaRPr lang="en-US" altLang="zh-CN" sz="2200" dirty="0"/>
              </a:p>
              <a:p>
                <a:r>
                  <a:rPr lang="zh-CN" altLang="en-US" sz="2200" dirty="0"/>
                  <a:t>在多分类问题中，预测输出</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i="1" dirty="0">
                            <a:latin typeface="Cambria Math" panose="02040503050406030204" pitchFamily="18" charset="0"/>
                          </a:rPr>
                          <m:t>𝑦</m:t>
                        </m:r>
                      </m:e>
                    </m:acc>
                  </m:oMath>
                </a14:m>
                <a:r>
                  <a:rPr lang="zh-CN" altLang="en-US" sz="2200" dirty="0"/>
                  <a:t>一般为分布式表示，多采用</a:t>
                </a:r>
                <a:r>
                  <a:rPr lang="zh-CN" altLang="en-US" sz="2200" b="1" dirty="0"/>
                  <a:t>交叉熵损失</a:t>
                </a:r>
                <a:r>
                  <a:rPr lang="zh-CN" altLang="en-US" sz="2200" dirty="0"/>
                  <a:t>函数。</a:t>
                </a:r>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b="0" i="1" smtClean="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i="1">
                        <a:latin typeface="Cambria Math" panose="02040503050406030204" pitchFamily="18" charset="0"/>
                      </a:rPr>
                      <m:t> </m:t>
                    </m:r>
                  </m:oMath>
                </a14:m>
                <a:r>
                  <a:rPr lang="en-US" altLang="zh-CN" sz="2200" dirty="0"/>
                  <a:t>,</a:t>
                </a:r>
                <a:r>
                  <a:rPr lang="en-US" altLang="zh-CN" sz="2200" dirty="0" err="1"/>
                  <a:t>i</a:t>
                </a:r>
                <a:r>
                  <a:rPr lang="en-US" altLang="zh-CN" sz="2200" dirty="0"/>
                  <a:t>=1,2,…,m, </a:t>
                </a:r>
                <a14:m>
                  <m:oMath xmlns:m="http://schemas.openxmlformats.org/officeDocument/2006/math">
                    <m:f>
                      <m:fPr>
                        <m:ctrlPr>
                          <a:rPr lang="en-US" altLang="zh-CN" sz="2200" i="1">
                            <a:latin typeface="Cambria Math" panose="02040503050406030204" pitchFamily="18" charset="0"/>
                          </a:rPr>
                        </m:ctrlPr>
                      </m:fPr>
                      <m:num>
                        <m:r>
                          <a:rPr lang="en-US" altLang="zh-CN" sz="2200" i="1">
                            <a:latin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ℒ</m:t>
                        </m:r>
                      </m:num>
                      <m:den>
                        <m:r>
                          <a:rPr lang="en-US" altLang="zh-CN" sz="2200" i="1">
                            <a:latin typeface="Cambria Math" panose="02040503050406030204" pitchFamily="18" charset="0"/>
                          </a:rPr>
                          <m:t>𝜕</m:t>
                        </m:r>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𝑎</m:t>
                            </m:r>
                          </m:e>
                          <m:sub>
                            <m:r>
                              <a:rPr lang="en-US" altLang="zh-CN" sz="2200" i="1">
                                <a:latin typeface="Cambria Math" panose="02040503050406030204" pitchFamily="18" charset="0"/>
                              </a:rPr>
                              <m:t>𝑖</m:t>
                            </m:r>
                          </m:sub>
                          <m:sup>
                            <m:r>
                              <a:rPr lang="en-US" altLang="zh-CN" sz="2200">
                                <a:latin typeface="Cambria Math" panose="02040503050406030204" pitchFamily="18" charset="0"/>
                              </a:rPr>
                              <m:t>(</m:t>
                            </m:r>
                            <m:r>
                              <a:rPr lang="en-US" altLang="zh-CN" sz="2200" i="1">
                                <a:latin typeface="Cambria Math" panose="02040503050406030204" pitchFamily="18" charset="0"/>
                              </a:rPr>
                              <m:t>𝑜</m:t>
                            </m:r>
                            <m:r>
                              <a:rPr lang="en-US" altLang="zh-CN" sz="2200">
                                <a:latin typeface="Cambria Math" panose="02040503050406030204" pitchFamily="18" charset="0"/>
                              </a:rPr>
                              <m:t>)</m:t>
                            </m:r>
                          </m:sup>
                        </m:sSubSup>
                      </m:den>
                    </m:f>
                    <m:r>
                      <a:rPr lang="en-US" altLang="zh-CN" sz="2200" i="1">
                        <a:latin typeface="Cambria Math" panose="02040503050406030204" pitchFamily="18" charset="0"/>
                      </a:rPr>
                      <m:t> </m:t>
                    </m:r>
                  </m:oMath>
                </a14:m>
                <a:r>
                  <a:rPr lang="en-US" altLang="zh-CN" sz="2200" dirty="0"/>
                  <a:t>= </a:t>
                </a:r>
                <a14:m>
                  <m:oMath xmlns:m="http://schemas.openxmlformats.org/officeDocument/2006/math">
                    <m:f>
                      <m:fPr>
                        <m:ctrlPr>
                          <a:rPr lang="en-US" altLang="zh-CN" sz="2200" i="1">
                            <a:latin typeface="Cambria Math" panose="02040503050406030204" pitchFamily="18" charset="0"/>
                          </a:rPr>
                        </m:ctrlPr>
                      </m:fPr>
                      <m:num>
                        <m:r>
                          <a:rPr lang="en-US" altLang="zh-CN" sz="2200" i="1">
                            <a:latin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ℒ</m:t>
                        </m:r>
                      </m:num>
                      <m:den>
                        <m:r>
                          <a:rPr lang="en-US" altLang="zh-CN" sz="2200" i="1">
                            <a:latin typeface="Cambria Math" panose="02040503050406030204" pitchFamily="18" charset="0"/>
                          </a:rPr>
                          <m:t>𝜕</m:t>
                        </m:r>
                        <m:acc>
                          <m:accPr>
                            <m:chr m:val="̂"/>
                            <m:ctrlPr>
                              <a:rPr lang="en-US" altLang="zh-CN" sz="2200" i="1" dirty="0">
                                <a:latin typeface="Cambria Math" panose="02040503050406030204" pitchFamily="18" charset="0"/>
                              </a:rPr>
                            </m:ctrlPr>
                          </m:accPr>
                          <m:e>
                            <m:r>
                              <a:rPr lang="en-US" altLang="zh-CN" sz="2200" i="1" dirty="0">
                                <a:latin typeface="Cambria Math" panose="02040503050406030204" pitchFamily="18" charset="0"/>
                              </a:rPr>
                              <m:t>𝑦</m:t>
                            </m:r>
                          </m:e>
                        </m:acc>
                      </m:den>
                    </m:f>
                    <m:r>
                      <a:rPr lang="en-US" altLang="zh-CN" sz="2200" i="1" dirty="0">
                        <a:latin typeface="Cambria Math" panose="02040503050406030204" pitchFamily="18" charset="0"/>
                      </a:rPr>
                      <m:t> </m:t>
                    </m:r>
                  </m:oMath>
                </a14:m>
                <a:r>
                  <a:rPr lang="zh-CN" altLang="en-US" sz="2200" dirty="0"/>
                  <a:t>。</a:t>
                </a:r>
                <a:r>
                  <a:rPr lang="en-US" altLang="zh-CN" sz="2200" dirty="0"/>
                  <a:t>ℒ</a:t>
                </a:r>
                <a:r>
                  <a:rPr lang="zh-CN" altLang="en-US" sz="2200" dirty="0"/>
                  <a:t>关于</a:t>
                </a:r>
                <a14:m>
                  <m:oMath xmlns:m="http://schemas.openxmlformats.org/officeDocument/2006/math">
                    <m:acc>
                      <m:accPr>
                        <m:chr m:val="̂"/>
                        <m:ctrlPr>
                          <a:rPr lang="en-US" altLang="zh-CN" sz="2200" i="1" dirty="0">
                            <a:latin typeface="Cambria Math" panose="02040503050406030204" pitchFamily="18" charset="0"/>
                          </a:rPr>
                        </m:ctrlPr>
                      </m:accPr>
                      <m:e>
                        <m:r>
                          <a:rPr lang="en-US" altLang="zh-CN" sz="2200" i="1" dirty="0">
                            <a:latin typeface="Cambria Math" panose="02040503050406030204" pitchFamily="18" charset="0"/>
                          </a:rPr>
                          <m:t>𝑦</m:t>
                        </m:r>
                      </m:e>
                    </m:acc>
                  </m:oMath>
                </a14:m>
                <a:r>
                  <a:rPr lang="zh-CN" altLang="en-US" sz="2200" dirty="0"/>
                  <a:t>的求导过程比较复杂，纯属于数学问题，我们在这里不展开介绍了，有兴趣的读者可自行参考相关资料。</a:t>
                </a:r>
              </a:p>
            </p:txBody>
          </p:sp>
        </mc:Choice>
        <mc:Fallback xmlns="">
          <p:sp>
            <p:nvSpPr>
              <p:cNvPr id="4" name="文本框 3">
                <a:extLst>
                  <a:ext uri="{FF2B5EF4-FFF2-40B4-BE49-F238E27FC236}">
                    <a16:creationId xmlns:a16="http://schemas.microsoft.com/office/drawing/2014/main" id="{CAC2E89D-1594-42DB-8062-9766874E79E6}"/>
                  </a:ext>
                </a:extLst>
              </p:cNvPr>
              <p:cNvSpPr txBox="1">
                <a:spLocks noRot="1" noChangeAspect="1" noMove="1" noResize="1" noEditPoints="1" noAdjustHandles="1" noChangeArrowheads="1" noChangeShapeType="1" noTextEdit="1"/>
              </p:cNvSpPr>
              <p:nvPr/>
            </p:nvSpPr>
            <p:spPr>
              <a:xfrm>
                <a:off x="573945" y="2083955"/>
                <a:ext cx="10723227" cy="2959080"/>
              </a:xfrm>
              <a:prstGeom prst="rect">
                <a:avLst/>
              </a:prstGeom>
              <a:blipFill>
                <a:blip r:embed="rId3"/>
                <a:stretch>
                  <a:fillRect l="-739" t="-1237" r="-3297" b="-24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36591616"/>
      </p:ext>
    </p:extLst>
  </p:cSld>
  <p:clrMapOvr>
    <a:masterClrMapping/>
  </p:clrMapOvr>
  <p:transition spd="slow"/>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3.5 </a:t>
            </a:r>
            <a:r>
              <a:rPr lang="zh-CN" altLang="en-US" sz="3200" b="1" dirty="0">
                <a:solidFill>
                  <a:prstClr val="white"/>
                </a:solidFill>
                <a:latin typeface="微软雅黑" panose="020B0503020204020204" pitchFamily="34" charset="-122"/>
                <a:ea typeface="微软雅黑" panose="020B0503020204020204" pitchFamily="34" charset="-122"/>
              </a:rPr>
              <a:t>正向计算和反向梯度传播的理论分析</a:t>
            </a:r>
          </a:p>
        </p:txBody>
      </p:sp>
      <p:sp>
        <p:nvSpPr>
          <p:cNvPr id="5" name="文本框 4">
            <a:extLst>
              <a:ext uri="{FF2B5EF4-FFF2-40B4-BE49-F238E27FC236}">
                <a16:creationId xmlns:a16="http://schemas.microsoft.com/office/drawing/2014/main" id="{A790631C-6C22-44C5-9E85-78EA1D708148}"/>
              </a:ext>
            </a:extLst>
          </p:cNvPr>
          <p:cNvSpPr txBox="1"/>
          <p:nvPr/>
        </p:nvSpPr>
        <p:spPr>
          <a:xfrm>
            <a:off x="409203" y="1257300"/>
            <a:ext cx="11373594" cy="523220"/>
          </a:xfrm>
          <a:prstGeom prst="rect">
            <a:avLst/>
          </a:prstGeom>
          <a:noFill/>
        </p:spPr>
        <p:txBody>
          <a:bodyPr wrap="square" rtlCol="0">
            <a:spAutoFit/>
          </a:bodyPr>
          <a:lstStyle/>
          <a:p>
            <a:r>
              <a:rPr lang="en-US" altLang="zh-CN" sz="2800" b="1" dirty="0">
                <a:solidFill>
                  <a:srgbClr val="C00000"/>
                </a:solidFill>
              </a:rPr>
              <a:t>3.5.2 </a:t>
            </a:r>
            <a:r>
              <a:rPr lang="zh-CN" altLang="en-US" sz="2800" b="1" dirty="0">
                <a:solidFill>
                  <a:srgbClr val="C00000"/>
                </a:solidFill>
              </a:rPr>
              <a:t>梯度反向传播与参数更新</a:t>
            </a:r>
            <a:endParaRPr lang="zh-CN" altLang="zh-CN" dirty="0">
              <a:solidFill>
                <a:srgbClr val="00B050"/>
              </a:solidFill>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0241F33-8095-ADC9-97AA-CDB28B4D4CD6}"/>
                  </a:ext>
                </a:extLst>
              </p:cNvPr>
              <p:cNvSpPr txBox="1"/>
              <p:nvPr/>
            </p:nvSpPr>
            <p:spPr>
              <a:xfrm>
                <a:off x="409203" y="2021565"/>
                <a:ext cx="10539879" cy="3223639"/>
              </a:xfrm>
              <a:prstGeom prst="rect">
                <a:avLst/>
              </a:prstGeom>
              <a:noFill/>
            </p:spPr>
            <p:txBody>
              <a:bodyPr wrap="square">
                <a:spAutoFit/>
              </a:bodyPr>
              <a:lstStyle/>
              <a:p>
                <a:r>
                  <a:rPr lang="zh-CN" altLang="en-US" sz="2200" dirty="0"/>
                  <a:t>上面介绍的有关梯度计算和参数更新的方法都是基于单个样本进行的，实际上也很容易 扩展到多个样本的情况，参数更新采用平均梯度来完成即可。</a:t>
                </a:r>
                <a:endParaRPr lang="en-US" altLang="zh-CN" sz="2200" dirty="0"/>
              </a:p>
              <a:p>
                <a:r>
                  <a:rPr lang="zh-CN" altLang="en-US" sz="2200" dirty="0"/>
                  <a:t> 需要</a:t>
                </a:r>
                <a:r>
                  <a:rPr lang="zh-CN" altLang="en-US" sz="2200" b="1" dirty="0"/>
                  <a:t>注意</a:t>
                </a:r>
                <a:r>
                  <a:rPr lang="zh-CN" altLang="en-US" sz="2200" dirty="0"/>
                  <a:t>的是，在全连接神经网络中，由于采用 </a:t>
                </a:r>
                <a:r>
                  <a:rPr lang="en-US" altLang="zh-CN" sz="2200" dirty="0"/>
                  <a:t>sigmoid </a:t>
                </a:r>
                <a:r>
                  <a:rPr lang="zh-CN" altLang="en-US" sz="2200" dirty="0"/>
                  <a:t>函数作为激活函数，其输出在 </a:t>
                </a:r>
                <a:r>
                  <a:rPr lang="en-US" altLang="zh-CN" sz="2200" dirty="0"/>
                  <a:t>(0, 1)</a:t>
                </a:r>
                <a:r>
                  <a:rPr lang="zh-CN" altLang="en-US" sz="2200" dirty="0"/>
                  <a:t>范围内，因而最初误差项</a:t>
                </a:r>
                <a14:m>
                  <m:oMath xmlns:m="http://schemas.openxmlformats.org/officeDocument/2006/math">
                    <m:sSubSup>
                      <m:sSubSupPr>
                        <m:ctrlPr>
                          <a:rPr lang="en-US" altLang="zh-CN" sz="2200" i="1">
                            <a:latin typeface="Cambria Math" panose="02040503050406030204" pitchFamily="18" charset="0"/>
                          </a:rPr>
                        </m:ctrlPr>
                      </m:sSubSupPr>
                      <m:e>
                        <m:r>
                          <a:rPr lang="zh-CN" altLang="en-US" sz="2200">
                            <a:latin typeface="Cambria Math" panose="02040503050406030204" pitchFamily="18" charset="0"/>
                          </a:rPr>
                          <m:t>𝛿</m:t>
                        </m:r>
                      </m:e>
                      <m:sub>
                        <m:r>
                          <a:rPr lang="en-US" altLang="zh-CN" sz="220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m:rPr>
                            <m:sty m:val="p"/>
                          </m:rPr>
                          <a:rPr lang="en-US" altLang="zh-CN" sz="2200">
                            <a:latin typeface="Cambria Math" panose="02040503050406030204" pitchFamily="18" charset="0"/>
                          </a:rPr>
                          <m:t>a</m:t>
                        </m:r>
                      </m:e>
                      <m:sub>
                        <m:r>
                          <a:rPr lang="en-US" altLang="zh-CN" sz="220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r>
                      <a:rPr lang="en-US" altLang="zh-CN" sz="2200">
                        <a:latin typeface="Cambria Math" panose="02040503050406030204" pitchFamily="18" charset="0"/>
                      </a:rPr>
                      <m:t>−</m:t>
                    </m:r>
                    <m:r>
                      <a:rPr lang="en-US" altLang="zh-CN" sz="2200">
                        <a:latin typeface="Cambria Math" panose="02040503050406030204" pitchFamily="18" charset="0"/>
                      </a:rPr>
                      <m:t>𝑦</m:t>
                    </m:r>
                    <m:r>
                      <a:rPr lang="en-US" altLang="zh-CN" sz="2200">
                        <a:latin typeface="Cambria Math" panose="02040503050406030204" pitchFamily="18" charset="0"/>
                      </a:rPr>
                      <m:t> </m:t>
                    </m:r>
                  </m:oMath>
                </a14:m>
                <a:r>
                  <a:rPr lang="en-US" altLang="zh-CN" sz="2200" dirty="0"/>
                  <a:t>) </a:t>
                </a:r>
                <a14:m>
                  <m:oMath xmlns:m="http://schemas.openxmlformats.org/officeDocument/2006/math">
                    <m:sSubSup>
                      <m:sSubSupPr>
                        <m:ctrlPr>
                          <a:rPr lang="en-US" altLang="zh-CN" sz="2200" i="1">
                            <a:latin typeface="Cambria Math" panose="02040503050406030204" pitchFamily="18" charset="0"/>
                          </a:rPr>
                        </m:ctrlPr>
                      </m:sSubSupPr>
                      <m:e>
                        <m:r>
                          <m:rPr>
                            <m:sty m:val="p"/>
                          </m:rPr>
                          <a:rPr lang="en-US" altLang="zh-CN" sz="2200">
                            <a:latin typeface="Cambria Math" panose="02040503050406030204" pitchFamily="18" charset="0"/>
                          </a:rPr>
                          <m:t>a</m:t>
                        </m:r>
                      </m:e>
                      <m:sub>
                        <m:r>
                          <a:rPr lang="en-US" altLang="zh-CN" sz="220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oMath>
                </a14:m>
                <a:r>
                  <a:rPr lang="en-US" altLang="zh-CN" sz="2200" dirty="0"/>
                  <a:t>(1- </a:t>
                </a:r>
                <a14:m>
                  <m:oMath xmlns:m="http://schemas.openxmlformats.org/officeDocument/2006/math">
                    <m:sSubSup>
                      <m:sSubSupPr>
                        <m:ctrlPr>
                          <a:rPr lang="en-US" altLang="zh-CN" sz="2200" i="1">
                            <a:latin typeface="Cambria Math" panose="02040503050406030204" pitchFamily="18" charset="0"/>
                          </a:rPr>
                        </m:ctrlPr>
                      </m:sSubSupPr>
                      <m:e>
                        <m:r>
                          <m:rPr>
                            <m:sty m:val="p"/>
                          </m:rPr>
                          <a:rPr lang="en-US" altLang="zh-CN" sz="2200">
                            <a:latin typeface="Cambria Math" panose="02040503050406030204" pitchFamily="18" charset="0"/>
                          </a:rPr>
                          <m:t>a</m:t>
                        </m:r>
                      </m:e>
                      <m:sub>
                        <m:r>
                          <a:rPr lang="en-US" altLang="zh-CN" sz="2200">
                            <a:latin typeface="Cambria Math" panose="02040503050406030204" pitchFamily="18" charset="0"/>
                          </a:rPr>
                          <m:t>1</m:t>
                        </m:r>
                      </m:sub>
                      <m:sup>
                        <m:r>
                          <a:rPr lang="en-US" altLang="zh-CN" sz="2200">
                            <a:latin typeface="Cambria Math" panose="02040503050406030204" pitchFamily="18" charset="0"/>
                          </a:rPr>
                          <m:t>(</m:t>
                        </m:r>
                        <m:r>
                          <m:rPr>
                            <m:sty m:val="p"/>
                          </m:rPr>
                          <a:rPr lang="en-US" altLang="zh-CN" sz="2200">
                            <a:latin typeface="Cambria Math" panose="02040503050406030204" pitchFamily="18" charset="0"/>
                          </a:rPr>
                          <m:t>o</m:t>
                        </m:r>
                        <m:r>
                          <a:rPr lang="en-US" altLang="zh-CN" sz="2200">
                            <a:latin typeface="Cambria Math" panose="02040503050406030204" pitchFamily="18" charset="0"/>
                          </a:rPr>
                          <m:t>)</m:t>
                        </m:r>
                      </m:sup>
                    </m:sSubSup>
                  </m:oMath>
                </a14:m>
                <a:r>
                  <a:rPr lang="en-US" altLang="zh-CN" sz="2200" dirty="0"/>
                  <a:t>)</a:t>
                </a:r>
                <a:r>
                  <a:rPr lang="zh-CN" altLang="en-US" sz="2200" dirty="0"/>
                  <a:t>显然小于 </a:t>
                </a:r>
                <a:r>
                  <a:rPr lang="en-US" altLang="zh-CN" sz="2200" dirty="0"/>
                  <a:t>1</a:t>
                </a:r>
                <a:r>
                  <a:rPr lang="zh-CN" altLang="en-US" sz="2200" dirty="0"/>
                  <a:t>，而在后面的迭代中 也不断乘以网络的输出值以及在此之前形成的误差项的加权和，如果各个乘法项都小于 </a:t>
                </a:r>
                <a:r>
                  <a:rPr lang="en-US" altLang="zh-CN" sz="2200" dirty="0"/>
                  <a:t>1 </a:t>
                </a:r>
                <a:r>
                  <a:rPr lang="zh-CN" altLang="en-US" sz="2200" dirty="0"/>
                  <a:t>（或长时间小于 </a:t>
                </a:r>
                <a:r>
                  <a:rPr lang="en-US" altLang="zh-CN" sz="2200" dirty="0"/>
                  <a:t>1</a:t>
                </a:r>
                <a:r>
                  <a:rPr lang="zh-CN" altLang="en-US" sz="2200" dirty="0"/>
                  <a:t>），则在反向传播到后面时梯度会变得小，甚至等于 </a:t>
                </a:r>
                <a:r>
                  <a:rPr lang="en-US" altLang="zh-CN" sz="2200" dirty="0"/>
                  <a:t>0</a:t>
                </a:r>
                <a:r>
                  <a:rPr lang="zh-CN" altLang="en-US" sz="2200" dirty="0"/>
                  <a:t>，这样就容易导致低层网络的参数无法得到更新。这种问题就是所谓的</a:t>
                </a:r>
                <a:r>
                  <a:rPr lang="zh-CN" altLang="en-US" sz="2200" b="1" dirty="0"/>
                  <a:t>梯度消失</a:t>
                </a:r>
                <a:r>
                  <a:rPr lang="zh-CN" altLang="en-US" sz="2200" dirty="0"/>
                  <a:t>问题。网络的层数越多，这种问题就越严重，因此全连接神经网络的网络层不会太多，一般不超过 </a:t>
                </a:r>
                <a:r>
                  <a:rPr lang="en-US" altLang="zh-CN" sz="2200" dirty="0"/>
                  <a:t>3-4 </a:t>
                </a:r>
                <a:r>
                  <a:rPr lang="zh-CN" altLang="en-US" sz="2200" dirty="0"/>
                  <a:t>层。</a:t>
                </a:r>
              </a:p>
            </p:txBody>
          </p:sp>
        </mc:Choice>
        <mc:Fallback xmlns="">
          <p:sp>
            <p:nvSpPr>
              <p:cNvPr id="8" name="文本框 7">
                <a:extLst>
                  <a:ext uri="{FF2B5EF4-FFF2-40B4-BE49-F238E27FC236}">
                    <a16:creationId xmlns:a16="http://schemas.microsoft.com/office/drawing/2014/main" id="{30241F33-8095-ADC9-97AA-CDB28B4D4CD6}"/>
                  </a:ext>
                </a:extLst>
              </p:cNvPr>
              <p:cNvSpPr txBox="1">
                <a:spLocks noRot="1" noChangeAspect="1" noMove="1" noResize="1" noEditPoints="1" noAdjustHandles="1" noChangeArrowheads="1" noChangeShapeType="1" noTextEdit="1"/>
              </p:cNvSpPr>
              <p:nvPr/>
            </p:nvSpPr>
            <p:spPr>
              <a:xfrm>
                <a:off x="409203" y="2021565"/>
                <a:ext cx="10539879" cy="3223639"/>
              </a:xfrm>
              <a:prstGeom prst="rect">
                <a:avLst/>
              </a:prstGeom>
              <a:blipFill>
                <a:blip r:embed="rId3"/>
                <a:stretch>
                  <a:fillRect l="-752" t="-1136" r="-752" b="-32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90376398"/>
      </p:ext>
    </p:extLst>
  </p:cSld>
  <p:clrMapOvr>
    <a:masterClrMapping/>
  </p:clrMapOvr>
  <p:transition spd="slow"/>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8"/>
          <p:cNvSpPr>
            <a:spLocks noChangeArrowheads="1"/>
          </p:cNvSpPr>
          <p:nvPr/>
        </p:nvSpPr>
        <p:spPr bwMode="auto">
          <a:xfrm>
            <a:off x="335805" y="258366"/>
            <a:ext cx="10487525" cy="598498"/>
          </a:xfrm>
          <a:prstGeom prst="rect">
            <a:avLst/>
          </a:prstGeom>
          <a:noFill/>
          <a:ln>
            <a:noFill/>
          </a:ln>
        </p:spPr>
        <p:txBody>
          <a:bodyPr wrap="square" lIns="105031" tIns="52515" rIns="105031" bIns="52515">
            <a:spAutoFit/>
          </a:bodyPr>
          <a:lstStyle/>
          <a:p>
            <a:pPr defTabSz="1130900">
              <a:spcBef>
                <a:spcPct val="20000"/>
              </a:spcBef>
            </a:pPr>
            <a:r>
              <a:rPr lang="en-US" altLang="zh-CN" sz="3200" b="1" dirty="0">
                <a:solidFill>
                  <a:prstClr val="white"/>
                </a:solidFill>
                <a:latin typeface="微软雅黑" panose="020B0503020204020204" pitchFamily="34" charset="-122"/>
                <a:ea typeface="微软雅黑" panose="020B0503020204020204" pitchFamily="34" charset="-122"/>
              </a:rPr>
              <a:t>3.6  </a:t>
            </a:r>
            <a:r>
              <a:rPr lang="zh-CN" altLang="zh-CN" sz="3200" b="1" dirty="0">
                <a:solidFill>
                  <a:prstClr val="white"/>
                </a:solidFill>
                <a:latin typeface="微软雅黑" panose="020B0503020204020204" pitchFamily="34" charset="-122"/>
                <a:ea typeface="微软雅黑" panose="020B0503020204020204" pitchFamily="34" charset="-122"/>
              </a:rPr>
              <a:t>本章小结</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8E7D1F2F-FEA1-43AF-B75D-DEEE17518DC1}"/>
              </a:ext>
            </a:extLst>
          </p:cNvPr>
          <p:cNvSpPr txBox="1"/>
          <p:nvPr/>
        </p:nvSpPr>
        <p:spPr>
          <a:xfrm>
            <a:off x="1178621" y="1477248"/>
            <a:ext cx="9104709" cy="3903504"/>
          </a:xfrm>
          <a:prstGeom prst="rect">
            <a:avLst/>
          </a:prstGeom>
          <a:noFill/>
        </p:spPr>
        <p:txBody>
          <a:bodyPr wrap="square" rtlCol="0">
            <a:spAutoFit/>
          </a:bodyPr>
          <a:lstStyle/>
          <a:p>
            <a:pPr>
              <a:lnSpc>
                <a:spcPct val="150000"/>
              </a:lnSpc>
            </a:pPr>
            <a:r>
              <a:rPr lang="zh-CN" altLang="zh-CN" sz="2800" b="1" dirty="0"/>
              <a:t>本章内容：</a:t>
            </a:r>
          </a:p>
          <a:p>
            <a:pPr marL="457200" indent="-457200">
              <a:lnSpc>
                <a:spcPct val="150000"/>
              </a:lnSpc>
              <a:buFont typeface="Wingdings" panose="05000000000000000000" pitchFamily="2" charset="2"/>
              <a:buChar char="l"/>
            </a:pPr>
            <a:r>
              <a:rPr lang="zh-CN" altLang="en-US" sz="2800" dirty="0"/>
              <a:t>全连接神经网络的构建和训练方法</a:t>
            </a:r>
            <a:endParaRPr lang="zh-CN" altLang="zh-CN" sz="2800" dirty="0"/>
          </a:p>
          <a:p>
            <a:pPr marL="457200" indent="-457200">
              <a:lnSpc>
                <a:spcPct val="150000"/>
              </a:lnSpc>
              <a:buFont typeface="Wingdings" panose="05000000000000000000" pitchFamily="2" charset="2"/>
              <a:buChar char="l"/>
            </a:pPr>
            <a:r>
              <a:rPr lang="zh-CN" altLang="en-US" sz="2800" dirty="0"/>
              <a:t>回归、分类问题的损失函数的基本原理和设计方法</a:t>
            </a:r>
            <a:endParaRPr lang="en-US" altLang="zh-CN" sz="2800" dirty="0"/>
          </a:p>
          <a:p>
            <a:pPr marL="457200" indent="-457200">
              <a:lnSpc>
                <a:spcPct val="150000"/>
              </a:lnSpc>
              <a:buFont typeface="Wingdings" panose="05000000000000000000" pitchFamily="2" charset="2"/>
              <a:buChar char="l"/>
            </a:pPr>
            <a:r>
              <a:rPr lang="zh-CN" altLang="en-US" sz="2800" dirty="0"/>
              <a:t>数据集的分割方法、数据打包方法、模型训练方法</a:t>
            </a:r>
            <a:endParaRPr lang="en-US" altLang="zh-CN" sz="2800" dirty="0"/>
          </a:p>
          <a:p>
            <a:pPr marL="457200" indent="-457200">
              <a:lnSpc>
                <a:spcPct val="150000"/>
              </a:lnSpc>
              <a:buFont typeface="Wingdings" panose="05000000000000000000" pitchFamily="2" charset="2"/>
              <a:buChar char="l"/>
            </a:pPr>
            <a:r>
              <a:rPr lang="zh-CN" altLang="en-US" sz="2800" dirty="0"/>
              <a:t>网络的反向传播过程的理论基础</a:t>
            </a:r>
            <a:endParaRPr lang="en-US" altLang="zh-CN" sz="2800" dirty="0"/>
          </a:p>
          <a:p>
            <a:pPr>
              <a:lnSpc>
                <a:spcPct val="150000"/>
              </a:lnSpc>
            </a:pPr>
            <a:endParaRPr lang="zh-CN" altLang="zh-CN" sz="2800" b="1" dirty="0"/>
          </a:p>
        </p:txBody>
      </p:sp>
    </p:spTree>
    <p:extLst>
      <p:ext uri="{BB962C8B-B14F-4D97-AF65-F5344CB8AC3E}">
        <p14:creationId xmlns:p14="http://schemas.microsoft.com/office/powerpoint/2010/main" val="2386031645"/>
      </p:ext>
    </p:extLst>
  </p:cSld>
  <p:clrMapOvr>
    <a:masterClrMapping/>
  </p:clrMapOvr>
  <p:transition spd="slow"/>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indent="266700" algn="just">
          <a:spcAft>
            <a:spcPts val="0"/>
          </a:spcAft>
          <a:defRPr sz="2200" kern="100" dirty="0">
            <a:latin typeface="Times New Roman" panose="02020603050405020304" pitchFamily="18" charset="0"/>
            <a:ea typeface="宋体" panose="02010600030101010101" pitchFamily="2" charset="-122"/>
            <a:cs typeface="Times New Roman" panose="02020603050405020304" pitchFamily="18" charset="0"/>
          </a:defRPr>
        </a:defPPr>
      </a:lstStyle>
    </a:spDef>
    <a:txDef>
      <a:spPr>
        <a:noFill/>
      </a:spPr>
      <a:bodyPr wrap="square" rtlCol="0">
        <a:spAutoFit/>
      </a:bodyPr>
      <a:lstStyle>
        <a:defPPr algn="l">
          <a:lnSpc>
            <a:spcPct val="150000"/>
          </a:lnSpc>
          <a:defRPr sz="2800" b="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6835</TotalTime>
  <Words>12785</Words>
  <Application>Microsoft Office PowerPoint</Application>
  <PresentationFormat>宽屏</PresentationFormat>
  <Paragraphs>801</Paragraphs>
  <Slides>97</Slides>
  <Notes>97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97</vt:i4>
      </vt:variant>
    </vt:vector>
  </HeadingPairs>
  <TitlesOfParts>
    <vt:vector size="106" baseType="lpstr">
      <vt:lpstr>等线</vt:lpstr>
      <vt:lpstr>微软雅黑</vt:lpstr>
      <vt:lpstr>Arial</vt:lpstr>
      <vt:lpstr>Calibri</vt:lpstr>
      <vt:lpstr>Calibri Light</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 Zupeng</dc:creator>
  <cp:lastModifiedBy>祖强 蒙</cp:lastModifiedBy>
  <cp:revision>812</cp:revision>
  <cp:lastPrinted>2023-06-09T00:39:37Z</cp:lastPrinted>
  <dcterms:created xsi:type="dcterms:W3CDTF">2021-09-16T07:49:00Z</dcterms:created>
  <dcterms:modified xsi:type="dcterms:W3CDTF">2023-07-03T00:44:52Z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61C4F435FECE4C85AAF4AB73BC1EE6EA</vt:lpwstr>
  </property>
  <property fmtid="{D5CDD505-2E9C-101B-9397-08002B2CF9AE}" pid="3" name="KSOProductBuildVer">
    <vt:lpwstr>2052-11.1.0.10938</vt:lpwstr>
  </property>
</Properties>
</file>